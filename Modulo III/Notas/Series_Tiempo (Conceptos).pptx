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23"/>
  </p:notesMasterIdLst>
  <p:sldIdLst>
    <p:sldId id="257" r:id="rId3"/>
    <p:sldId id="258" r:id="rId4"/>
    <p:sldId id="260" r:id="rId5"/>
    <p:sldId id="262" r:id="rId6"/>
    <p:sldId id="290" r:id="rId7"/>
    <p:sldId id="291" r:id="rId8"/>
    <p:sldId id="267" r:id="rId9"/>
    <p:sldId id="269" r:id="rId10"/>
    <p:sldId id="270" r:id="rId11"/>
    <p:sldId id="272" r:id="rId12"/>
    <p:sldId id="273" r:id="rId13"/>
    <p:sldId id="274" r:id="rId14"/>
    <p:sldId id="275" r:id="rId15"/>
    <p:sldId id="279" r:id="rId16"/>
    <p:sldId id="280" r:id="rId17"/>
    <p:sldId id="281" r:id="rId18"/>
    <p:sldId id="282" r:id="rId19"/>
    <p:sldId id="283" r:id="rId20"/>
    <p:sldId id="284" r:id="rId21"/>
    <p:sldId id="285" r:id="rId2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385" autoAdjust="0"/>
  </p:normalViewPr>
  <p:slideViewPr>
    <p:cSldViewPr snapToGrid="0">
      <p:cViewPr varScale="1">
        <p:scale>
          <a:sx n="64" d="100"/>
          <a:sy n="64" d="100"/>
        </p:scale>
        <p:origin x="97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C1E264-97B9-4A0B-9BC9-F8C2B8C4ABDB}" type="datetimeFigureOut">
              <a:rPr lang="es-MX" smtClean="0"/>
              <a:t>27/05/2025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ADA5A7-7529-43DC-8DAC-5249DBF6ACF3}" type="slidenum">
              <a:rPr lang="es-MX" smtClean="0"/>
              <a:t>‹Nº›</a:t>
            </a:fld>
            <a:endParaRPr lang="es-MX"/>
          </a:p>
        </p:txBody>
      </p:sp>
    </p:spTree>
    <p:extLst>
      <p:ext uri="{BB962C8B-B14F-4D97-AF65-F5344CB8AC3E}">
        <p14:creationId xmlns:p14="http://schemas.microsoft.com/office/powerpoint/2010/main" val="3405763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69D1E7B2-5894-9300-0CC2-E63C1D0C0A7D}"/>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6A405E0D-C4B3-41DF-9501-83DF90DDA207}"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37889" name="Rectangle 1">
            <a:extLst>
              <a:ext uri="{FF2B5EF4-FFF2-40B4-BE49-F238E27FC236}">
                <a16:creationId xmlns:a16="http://schemas.microsoft.com/office/drawing/2014/main" id="{B380DB90-3EF8-ED02-6073-92A1C4968FA5}"/>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0" name="Rectangle 2">
            <a:extLst>
              <a:ext uri="{FF2B5EF4-FFF2-40B4-BE49-F238E27FC236}">
                <a16:creationId xmlns:a16="http://schemas.microsoft.com/office/drawing/2014/main" id="{0CDA4259-576C-1596-CE32-9775930E7388}"/>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1AB869CE-9670-D3F8-F1C0-04F8A6B9ACC9}"/>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D39E04AF-F022-4863-A1CB-FD45A48EFEE7}"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38913" name="Rectangle 1">
            <a:extLst>
              <a:ext uri="{FF2B5EF4-FFF2-40B4-BE49-F238E27FC236}">
                <a16:creationId xmlns:a16="http://schemas.microsoft.com/office/drawing/2014/main" id="{7BC2F5D4-CC9C-43DD-5F44-A0A7FBC1D828}"/>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914" name="Rectangle 2">
            <a:extLst>
              <a:ext uri="{FF2B5EF4-FFF2-40B4-BE49-F238E27FC236}">
                <a16:creationId xmlns:a16="http://schemas.microsoft.com/office/drawing/2014/main" id="{6FB18715-A7F3-D2DA-02DB-0C5749BC342F}"/>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AA1E4CA6-9395-2CD5-FE05-FB43275826C0}"/>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110AB114-7A97-4B54-8189-CB4D8032C4FF}"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3</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40961" name="Rectangle 1">
            <a:extLst>
              <a:ext uri="{FF2B5EF4-FFF2-40B4-BE49-F238E27FC236}">
                <a16:creationId xmlns:a16="http://schemas.microsoft.com/office/drawing/2014/main" id="{A3297C75-70AD-C85A-D0E9-3B2B8E16C8F9}"/>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2" name="Rectangle 2">
            <a:extLst>
              <a:ext uri="{FF2B5EF4-FFF2-40B4-BE49-F238E27FC236}">
                <a16:creationId xmlns:a16="http://schemas.microsoft.com/office/drawing/2014/main" id="{53DA1A04-4DB9-FDF2-DDC9-290D1EFBFA25}"/>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C9F736A3-BA68-781B-E0A7-6A06B4C0CBAD}"/>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8ED08734-D152-4BF8-B67C-87FDF9E86395}"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4</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43009" name="Rectangle 1">
            <a:extLst>
              <a:ext uri="{FF2B5EF4-FFF2-40B4-BE49-F238E27FC236}">
                <a16:creationId xmlns:a16="http://schemas.microsoft.com/office/drawing/2014/main" id="{58B78AAA-DF18-F5DC-08BE-BF6D82F28C9C}"/>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0" name="Rectangle 2">
            <a:extLst>
              <a:ext uri="{FF2B5EF4-FFF2-40B4-BE49-F238E27FC236}">
                <a16:creationId xmlns:a16="http://schemas.microsoft.com/office/drawing/2014/main" id="{446530AD-E15C-200B-6ACC-4684ECF2B20F}"/>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8B5A04A5-3C41-C0FC-0FBC-AE73D3E128C9}"/>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86EB4194-6352-4CA3-9F9C-0276283C1570}"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7</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48129" name="Rectangle 1">
            <a:extLst>
              <a:ext uri="{FF2B5EF4-FFF2-40B4-BE49-F238E27FC236}">
                <a16:creationId xmlns:a16="http://schemas.microsoft.com/office/drawing/2014/main" id="{B7760C2F-D86F-6CF1-764E-CA9657F275E3}"/>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0" name="Rectangle 2">
            <a:extLst>
              <a:ext uri="{FF2B5EF4-FFF2-40B4-BE49-F238E27FC236}">
                <a16:creationId xmlns:a16="http://schemas.microsoft.com/office/drawing/2014/main" id="{03E7DEF8-60FE-4FA1-FD31-7D9013C5465A}"/>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8F2CDC39-1C6E-AA1D-E7C1-90E0649692EC}"/>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AA9A4D5E-6959-4441-8A24-DF471CE35D26}"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8</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50177" name="Rectangle 1">
            <a:extLst>
              <a:ext uri="{FF2B5EF4-FFF2-40B4-BE49-F238E27FC236}">
                <a16:creationId xmlns:a16="http://schemas.microsoft.com/office/drawing/2014/main" id="{17159C40-B5A1-3A78-6CF4-C43211805F82}"/>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78" name="Rectangle 2">
            <a:extLst>
              <a:ext uri="{FF2B5EF4-FFF2-40B4-BE49-F238E27FC236}">
                <a16:creationId xmlns:a16="http://schemas.microsoft.com/office/drawing/2014/main" id="{144047F0-5EA9-C3F8-7D33-29652460A10F}"/>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0ED57651-377C-84A7-9622-1DAD1AE27E95}"/>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CA10259F-BD69-4130-808C-4F578B993E57}"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9</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51201" name="Rectangle 1">
            <a:extLst>
              <a:ext uri="{FF2B5EF4-FFF2-40B4-BE49-F238E27FC236}">
                <a16:creationId xmlns:a16="http://schemas.microsoft.com/office/drawing/2014/main" id="{06EFC92F-84A5-5D83-E832-EF3DECA59235}"/>
              </a:ext>
            </a:extLst>
          </p:cNvPr>
          <p:cNvSpPr txBox="1">
            <a:spLocks noGrp="1" noRot="1" noChangeAspect="1" noChangeArrowheads="1"/>
          </p:cNvSpPr>
          <p:nvPr>
            <p:ph type="sldImg"/>
          </p:nvPr>
        </p:nvSpPr>
        <p:spPr bwMode="auto">
          <a:xfrm>
            <a:off x="685800" y="1143000"/>
            <a:ext cx="5486400" cy="30861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2" name="Text Box 2">
            <a:extLst>
              <a:ext uri="{FF2B5EF4-FFF2-40B4-BE49-F238E27FC236}">
                <a16:creationId xmlns:a16="http://schemas.microsoft.com/office/drawing/2014/main" id="{0C2805A3-68EB-8DA6-9C25-72749CA38798}"/>
              </a:ext>
            </a:extLst>
          </p:cNvPr>
          <p:cNvSpPr txBox="1">
            <a:spLocks noGrp="1" noChangeArrowheads="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2000">
                <a:latin typeface="Arial" panose="020B0604020202020204" pitchFamily="34" charset="0"/>
                <a:cs typeface="DejaVu Sans" charset="0"/>
              </a:rPr>
              <a:t>Observaciones  muestrales, c/una correspondiente a una variable del proceso</a:t>
            </a:r>
          </a:p>
        </p:txBody>
      </p:sp>
      <p:sp>
        <p:nvSpPr>
          <p:cNvPr id="51203" name="Text Box 3">
            <a:extLst>
              <a:ext uri="{FF2B5EF4-FFF2-40B4-BE49-F238E27FC236}">
                <a16:creationId xmlns:a16="http://schemas.microsoft.com/office/drawing/2014/main" id="{45E2C392-F138-DFEE-4920-B42704262314}"/>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914400" algn="l"/>
                <a:tab pos="1828800" algn="l"/>
                <a:tab pos="2743200" algn="l"/>
              </a:tabLst>
              <a:defRPr>
                <a:solidFill>
                  <a:srgbClr val="000000"/>
                </a:solidFill>
                <a:latin typeface="Arial" panose="020B0604020202020204" pitchFamily="34" charset="0"/>
                <a:cs typeface="DejaVu Sans" charset="0"/>
              </a:defRPr>
            </a:lvl1pPr>
            <a:lvl2pPr>
              <a:tabLst>
                <a:tab pos="914400" algn="l"/>
                <a:tab pos="1828800" algn="l"/>
                <a:tab pos="2743200" algn="l"/>
              </a:tabLst>
              <a:defRPr>
                <a:solidFill>
                  <a:srgbClr val="000000"/>
                </a:solidFill>
                <a:latin typeface="Arial" panose="020B0604020202020204" pitchFamily="34" charset="0"/>
                <a:cs typeface="DejaVu Sans" charset="0"/>
              </a:defRPr>
            </a:lvl2pPr>
            <a:lvl3pPr>
              <a:tabLst>
                <a:tab pos="914400" algn="l"/>
                <a:tab pos="1828800" algn="l"/>
                <a:tab pos="2743200" algn="l"/>
              </a:tabLst>
              <a:defRPr>
                <a:solidFill>
                  <a:srgbClr val="000000"/>
                </a:solidFill>
                <a:latin typeface="Arial" panose="020B0604020202020204" pitchFamily="34" charset="0"/>
                <a:cs typeface="DejaVu Sans" charset="0"/>
              </a:defRPr>
            </a:lvl3pPr>
            <a:lvl4pPr>
              <a:tabLst>
                <a:tab pos="914400" algn="l"/>
                <a:tab pos="1828800" algn="l"/>
                <a:tab pos="2743200" algn="l"/>
              </a:tabLst>
              <a:defRPr>
                <a:solidFill>
                  <a:srgbClr val="000000"/>
                </a:solidFill>
                <a:latin typeface="Arial" panose="020B0604020202020204" pitchFamily="34" charset="0"/>
                <a:cs typeface="DejaVu Sans" charset="0"/>
              </a:defRPr>
            </a:lvl4pPr>
            <a:lvl5pPr>
              <a:tabLst>
                <a:tab pos="914400" algn="l"/>
                <a:tab pos="1828800" algn="l"/>
                <a:tab pos="27432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C73DAC77-C779-4EBD-9256-596229782249}"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9</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62A46452-C319-BD3E-F359-A3F81BD8E616}"/>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8AF6F6B2-F75B-423D-83A2-5F1953B3C71C}"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10</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53249" name="Rectangle 1">
            <a:extLst>
              <a:ext uri="{FF2B5EF4-FFF2-40B4-BE49-F238E27FC236}">
                <a16:creationId xmlns:a16="http://schemas.microsoft.com/office/drawing/2014/main" id="{1BB3B22A-1598-AA00-DED5-39A550FA84EC}"/>
              </a:ext>
            </a:extLst>
          </p:cNvPr>
          <p:cNvSpPr txBox="1">
            <a:spLocks noGrp="1" noRot="1" noChangeAspect="1" noChangeArrowheads="1"/>
          </p:cNvSpPr>
          <p:nvPr>
            <p:ph type="sldImg"/>
          </p:nvPr>
        </p:nvSpPr>
        <p:spPr bwMode="auto">
          <a:xfrm>
            <a:off x="685800" y="1143000"/>
            <a:ext cx="5486400" cy="30861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3250" name="Text Box 2">
            <a:extLst>
              <a:ext uri="{FF2B5EF4-FFF2-40B4-BE49-F238E27FC236}">
                <a16:creationId xmlns:a16="http://schemas.microsoft.com/office/drawing/2014/main" id="{F53A1206-0509-C134-07A2-C1CB2ED0131E}"/>
              </a:ext>
            </a:extLst>
          </p:cNvPr>
          <p:cNvSpPr txBox="1">
            <a:spLocks noGrp="1" noChangeArrowheads="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5900" eaLnBrk="1">
              <a:spcBef>
                <a:spcPts val="13"/>
              </a:spcBef>
              <a:spcAft>
                <a:spcPts val="13"/>
              </a:spcAft>
              <a:tabLst>
                <a:tab pos="914400" algn="l"/>
                <a:tab pos="1828800" algn="l"/>
                <a:tab pos="2743200" algn="l"/>
                <a:tab pos="3657600" algn="l"/>
                <a:tab pos="4572000" algn="l"/>
                <a:tab pos="5486400" algn="l"/>
              </a:tabLst>
            </a:pPr>
            <a:endParaRPr lang="en-US" altLang="es-MX" sz="2000" dirty="0">
              <a:latin typeface="Arial" panose="020B0604020202020204" pitchFamily="34" charset="0"/>
              <a:cs typeface="DejaVu Sans" charset="0"/>
            </a:endParaRPr>
          </a:p>
        </p:txBody>
      </p:sp>
      <p:sp>
        <p:nvSpPr>
          <p:cNvPr id="53251" name="Text Box 3">
            <a:extLst>
              <a:ext uri="{FF2B5EF4-FFF2-40B4-BE49-F238E27FC236}">
                <a16:creationId xmlns:a16="http://schemas.microsoft.com/office/drawing/2014/main" id="{B07361A8-80AB-260C-9337-12897890C860}"/>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914400" algn="l"/>
                <a:tab pos="1828800" algn="l"/>
                <a:tab pos="2743200" algn="l"/>
              </a:tabLst>
              <a:defRPr>
                <a:solidFill>
                  <a:srgbClr val="000000"/>
                </a:solidFill>
                <a:latin typeface="Arial" panose="020B0604020202020204" pitchFamily="34" charset="0"/>
                <a:cs typeface="DejaVu Sans" charset="0"/>
              </a:defRPr>
            </a:lvl1pPr>
            <a:lvl2pPr>
              <a:tabLst>
                <a:tab pos="914400" algn="l"/>
                <a:tab pos="1828800" algn="l"/>
                <a:tab pos="2743200" algn="l"/>
              </a:tabLst>
              <a:defRPr>
                <a:solidFill>
                  <a:srgbClr val="000000"/>
                </a:solidFill>
                <a:latin typeface="Arial" panose="020B0604020202020204" pitchFamily="34" charset="0"/>
                <a:cs typeface="DejaVu Sans" charset="0"/>
              </a:defRPr>
            </a:lvl2pPr>
            <a:lvl3pPr>
              <a:tabLst>
                <a:tab pos="914400" algn="l"/>
                <a:tab pos="1828800" algn="l"/>
                <a:tab pos="2743200" algn="l"/>
              </a:tabLst>
              <a:defRPr>
                <a:solidFill>
                  <a:srgbClr val="000000"/>
                </a:solidFill>
                <a:latin typeface="Arial" panose="020B0604020202020204" pitchFamily="34" charset="0"/>
                <a:cs typeface="DejaVu Sans" charset="0"/>
              </a:defRPr>
            </a:lvl3pPr>
            <a:lvl4pPr>
              <a:tabLst>
                <a:tab pos="914400" algn="l"/>
                <a:tab pos="1828800" algn="l"/>
                <a:tab pos="2743200" algn="l"/>
              </a:tabLst>
              <a:defRPr>
                <a:solidFill>
                  <a:srgbClr val="000000"/>
                </a:solidFill>
                <a:latin typeface="Arial" panose="020B0604020202020204" pitchFamily="34" charset="0"/>
                <a:cs typeface="DejaVu Sans" charset="0"/>
              </a:defRPr>
            </a:lvl4pPr>
            <a:lvl5pPr>
              <a:tabLst>
                <a:tab pos="914400" algn="l"/>
                <a:tab pos="1828800" algn="l"/>
                <a:tab pos="27432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1E2597BF-A3F1-47B3-8998-71D64A079029}"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10</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0F2474C2-C718-9DBD-2101-3E852C9F22B6}"/>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9FF05595-0789-4B40-B50E-A7156FB4A175}"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11</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54273" name="Rectangle 1">
            <a:extLst>
              <a:ext uri="{FF2B5EF4-FFF2-40B4-BE49-F238E27FC236}">
                <a16:creationId xmlns:a16="http://schemas.microsoft.com/office/drawing/2014/main" id="{3FF3B05C-7A2A-4A48-37D1-5E911BCD664D}"/>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4274" name="Rectangle 2">
            <a:extLst>
              <a:ext uri="{FF2B5EF4-FFF2-40B4-BE49-F238E27FC236}">
                <a16:creationId xmlns:a16="http://schemas.microsoft.com/office/drawing/2014/main" id="{35677C4D-6D2F-CAD8-6BB7-85F8190C3BFD}"/>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A378CC3E-3416-707C-EAE6-FBEF78ABF610}"/>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851E5A2F-D785-4BD8-8F79-7F4CD8A1563A}"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12</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55297" name="Rectangle 1">
            <a:extLst>
              <a:ext uri="{FF2B5EF4-FFF2-40B4-BE49-F238E27FC236}">
                <a16:creationId xmlns:a16="http://schemas.microsoft.com/office/drawing/2014/main" id="{0A18D7E2-A54D-4172-985D-6D79377E24E9}"/>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5298" name="Rectangle 2">
            <a:extLst>
              <a:ext uri="{FF2B5EF4-FFF2-40B4-BE49-F238E27FC236}">
                <a16:creationId xmlns:a16="http://schemas.microsoft.com/office/drawing/2014/main" id="{150DF084-36AE-349B-2ACC-F8B173DA3172}"/>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72296AF-9090-BF2C-89A3-8740F83C226F}"/>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37DBB37E-29C1-435A-A68D-36D84716F5D9}"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13</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56321" name="Rectangle 1">
            <a:extLst>
              <a:ext uri="{FF2B5EF4-FFF2-40B4-BE49-F238E27FC236}">
                <a16:creationId xmlns:a16="http://schemas.microsoft.com/office/drawing/2014/main" id="{917959BA-A7BB-9E2A-3733-11F5C16270B4}"/>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6322" name="Rectangle 2">
            <a:extLst>
              <a:ext uri="{FF2B5EF4-FFF2-40B4-BE49-F238E27FC236}">
                <a16:creationId xmlns:a16="http://schemas.microsoft.com/office/drawing/2014/main" id="{BE433380-05C0-6080-ADAA-AE87A70C4D94}"/>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B3D27CFF-8989-74CD-B021-5A3F1967E6C3}"/>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9E74831D-DE2E-412C-A0BB-ABA2D30C6C1A}"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14</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60417" name="Rectangle 1">
            <a:extLst>
              <a:ext uri="{FF2B5EF4-FFF2-40B4-BE49-F238E27FC236}">
                <a16:creationId xmlns:a16="http://schemas.microsoft.com/office/drawing/2014/main" id="{00D1D9C9-44B1-0ECA-A8F9-D6933CF4493F}"/>
              </a:ext>
            </a:extLst>
          </p:cNvPr>
          <p:cNvSpPr txBox="1">
            <a:spLocks noGrp="1" noRot="1" noChangeAspect="1" noChangeArrowheads="1"/>
          </p:cNvSpPr>
          <p:nvPr>
            <p:ph type="sldImg"/>
          </p:nvPr>
        </p:nvSpPr>
        <p:spPr bwMode="auto">
          <a:xfrm>
            <a:off x="685800" y="1143000"/>
            <a:ext cx="5486400" cy="30861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0418" name="Text Box 2">
            <a:extLst>
              <a:ext uri="{FF2B5EF4-FFF2-40B4-BE49-F238E27FC236}">
                <a16:creationId xmlns:a16="http://schemas.microsoft.com/office/drawing/2014/main" id="{EFB124F7-BA92-D089-290F-B9AAC41602B1}"/>
              </a:ext>
            </a:extLst>
          </p:cNvPr>
          <p:cNvSpPr txBox="1">
            <a:spLocks noGrp="1" noChangeArrowheads="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a:latin typeface="TimesNewRomanPSMT" charset="0"/>
                <a:cs typeface="DejaVu Sans" charset="0"/>
              </a:rPr>
              <a:t>Si hay duda sobre diferenciar o no, o sobre cuántas veces hay que</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a:latin typeface="TimesNewRomanPSMT" charset="0"/>
                <a:cs typeface="DejaVu Sans" charset="0"/>
              </a:rPr>
              <a:t>diferenciar, se calcula la varianza de la serie original y de la serie sometida a</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a:latin typeface="TimesNewRomanPSMT" charset="0"/>
                <a:cs typeface="DejaVu Sans" charset="0"/>
              </a:rPr>
              <a:t>diferentes diferenciaciones, tomando como diferenciación adecuada aquella para al</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a:latin typeface="TimesNewRomanPSMT" charset="0"/>
                <a:cs typeface="DejaVu Sans" charset="0"/>
              </a:rPr>
              <a:t>que la varianza es mínima. El método es tanto más adecuado cuanto mayor sea la</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a:latin typeface="TimesNewRomanPSMT" charset="0"/>
                <a:cs typeface="DejaVu Sans" charset="0"/>
              </a:rPr>
              <a:t>diferencia entre las varianzas anteriores. </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a:latin typeface="TimesNewRomanPSMT" charset="0"/>
                <a:cs typeface="DejaVu Sans" charset="0"/>
              </a:rPr>
              <a:t>La </a:t>
            </a:r>
            <a:r>
              <a:rPr lang="es-MX" altLang="es-MX" sz="1800" i="1">
                <a:latin typeface="TimesNewRomanPS-ItalicMT" charset="0"/>
                <a:cs typeface="DejaVu Sans" charset="0"/>
              </a:rPr>
              <a:t>sobrediferenciación </a:t>
            </a:r>
            <a:r>
              <a:rPr lang="es-MX" altLang="es-MX" sz="1800">
                <a:latin typeface="TimesNewRomanPSMT" charset="0"/>
                <a:cs typeface="DejaVu Sans" charset="0"/>
              </a:rPr>
              <a:t>suele evitarse observando si en la parte de medias móviles alguna raíz es próxima a la unidad.</a:t>
            </a:r>
          </a:p>
        </p:txBody>
      </p:sp>
      <p:sp>
        <p:nvSpPr>
          <p:cNvPr id="60419" name="Text Box 3">
            <a:extLst>
              <a:ext uri="{FF2B5EF4-FFF2-40B4-BE49-F238E27FC236}">
                <a16:creationId xmlns:a16="http://schemas.microsoft.com/office/drawing/2014/main" id="{F561882C-0742-5726-B066-71EE45F3258F}"/>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914400" algn="l"/>
                <a:tab pos="1828800" algn="l"/>
                <a:tab pos="2743200" algn="l"/>
              </a:tabLst>
              <a:defRPr>
                <a:solidFill>
                  <a:srgbClr val="000000"/>
                </a:solidFill>
                <a:latin typeface="Arial" panose="020B0604020202020204" pitchFamily="34" charset="0"/>
                <a:cs typeface="DejaVu Sans" charset="0"/>
              </a:defRPr>
            </a:lvl1pPr>
            <a:lvl2pPr>
              <a:tabLst>
                <a:tab pos="914400" algn="l"/>
                <a:tab pos="1828800" algn="l"/>
                <a:tab pos="2743200" algn="l"/>
              </a:tabLst>
              <a:defRPr>
                <a:solidFill>
                  <a:srgbClr val="000000"/>
                </a:solidFill>
                <a:latin typeface="Arial" panose="020B0604020202020204" pitchFamily="34" charset="0"/>
                <a:cs typeface="DejaVu Sans" charset="0"/>
              </a:defRPr>
            </a:lvl2pPr>
            <a:lvl3pPr>
              <a:tabLst>
                <a:tab pos="914400" algn="l"/>
                <a:tab pos="1828800" algn="l"/>
                <a:tab pos="2743200" algn="l"/>
              </a:tabLst>
              <a:defRPr>
                <a:solidFill>
                  <a:srgbClr val="000000"/>
                </a:solidFill>
                <a:latin typeface="Arial" panose="020B0604020202020204" pitchFamily="34" charset="0"/>
                <a:cs typeface="DejaVu Sans" charset="0"/>
              </a:defRPr>
            </a:lvl3pPr>
            <a:lvl4pPr>
              <a:tabLst>
                <a:tab pos="914400" algn="l"/>
                <a:tab pos="1828800" algn="l"/>
                <a:tab pos="2743200" algn="l"/>
              </a:tabLst>
              <a:defRPr>
                <a:solidFill>
                  <a:srgbClr val="000000"/>
                </a:solidFill>
                <a:latin typeface="Arial" panose="020B0604020202020204" pitchFamily="34" charset="0"/>
                <a:cs typeface="DejaVu Sans" charset="0"/>
              </a:defRPr>
            </a:lvl4pPr>
            <a:lvl5pPr>
              <a:tabLst>
                <a:tab pos="914400" algn="l"/>
                <a:tab pos="1828800" algn="l"/>
                <a:tab pos="27432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A5219830-ACCE-4D3F-8FE0-D1A0D556D13E}"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14</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5318074-CEDC-2971-C6A6-E62C2ED3DE8C}"/>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48DABD4A-3333-43B0-95B4-F6CCBCF72E7D}"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15</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61441" name="Rectangle 1">
            <a:extLst>
              <a:ext uri="{FF2B5EF4-FFF2-40B4-BE49-F238E27FC236}">
                <a16:creationId xmlns:a16="http://schemas.microsoft.com/office/drawing/2014/main" id="{B13805E0-1128-AE74-49C5-6A6514BD3396}"/>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42" name="Rectangle 2">
            <a:extLst>
              <a:ext uri="{FF2B5EF4-FFF2-40B4-BE49-F238E27FC236}">
                <a16:creationId xmlns:a16="http://schemas.microsoft.com/office/drawing/2014/main" id="{01D6A005-965C-FF3B-EA1D-19938358879A}"/>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200" dirty="0">
                <a:latin typeface="TimesNewRomanPSMT" charset="0"/>
                <a:cs typeface="DejaVu Sans" charset="0"/>
              </a:rPr>
              <a:t>La </a:t>
            </a:r>
            <a:r>
              <a:rPr lang="es-MX" altLang="es-MX" sz="1200" i="1" dirty="0">
                <a:latin typeface="TimesNewRomanPS-ItalicMT" charset="0"/>
                <a:cs typeface="DejaVu Sans" charset="0"/>
              </a:rPr>
              <a:t>transformación de Box-Cox </a:t>
            </a:r>
            <a:r>
              <a:rPr lang="es-MX" altLang="es-MX" sz="1200" dirty="0">
                <a:latin typeface="TimesNewRomanPSMT" charset="0"/>
                <a:cs typeface="DejaVu Sans" charset="0"/>
              </a:rPr>
              <a:t>consigue estabilizar la varianza de una serie temporal (</a:t>
            </a:r>
            <a:r>
              <a:rPr lang="es-MX" altLang="es-MX" sz="1200" i="1" dirty="0">
                <a:latin typeface="TimesNewRomanPS-ItalicMT" charset="0"/>
                <a:cs typeface="DejaVu Sans" charset="0"/>
              </a:rPr>
              <a:t>serie estacionaria en</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200" i="1" dirty="0">
                <a:latin typeface="TimesNewRomanPS-ItalicMT" charset="0"/>
                <a:cs typeface="DejaVu Sans" charset="0"/>
              </a:rPr>
              <a:t>varianza</a:t>
            </a:r>
            <a:r>
              <a:rPr lang="es-MX" altLang="es-MX" sz="1200" dirty="0">
                <a:latin typeface="TimesNewRomanPSMT" charset="0"/>
                <a:cs typeface="DejaVu Sans" charset="0"/>
              </a:rPr>
              <a:t>) y aproximar su distribución a una normal.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23E2DAD7-7D7B-8ACE-19BF-B55296FD2C61}"/>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1C907C01-4A1D-4242-9940-6D5BEE6EA9E6}"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16</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62465" name="Rectangle 1">
            <a:extLst>
              <a:ext uri="{FF2B5EF4-FFF2-40B4-BE49-F238E27FC236}">
                <a16:creationId xmlns:a16="http://schemas.microsoft.com/office/drawing/2014/main" id="{50369C4D-C7FF-5500-809B-F1EA50B17738}"/>
              </a:ext>
            </a:extLst>
          </p:cNvPr>
          <p:cNvSpPr txBox="1">
            <a:spLocks noGrp="1" noRot="1" noChangeAspect="1" noChangeArrowheads="1"/>
          </p:cNvSpPr>
          <p:nvPr>
            <p:ph type="sldImg"/>
          </p:nvPr>
        </p:nvSpPr>
        <p:spPr bwMode="auto">
          <a:xfrm>
            <a:off x="685800" y="1143000"/>
            <a:ext cx="5486400" cy="30861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2466" name="Text Box 2">
            <a:extLst>
              <a:ext uri="{FF2B5EF4-FFF2-40B4-BE49-F238E27FC236}">
                <a16:creationId xmlns:a16="http://schemas.microsoft.com/office/drawing/2014/main" id="{27E1DCCE-0471-CC43-4CD9-9ACFFFFF5627}"/>
              </a:ext>
            </a:extLst>
          </p:cNvPr>
          <p:cNvSpPr txBox="1">
            <a:spLocks noGrp="1" noChangeArrowheads="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5900" eaLnBrk="1">
              <a:spcBef>
                <a:spcPts val="13"/>
              </a:spcBef>
              <a:spcAft>
                <a:spcPts val="13"/>
              </a:spcAft>
              <a:tabLst>
                <a:tab pos="914400" algn="l"/>
                <a:tab pos="1828800" algn="l"/>
                <a:tab pos="2743200" algn="l"/>
                <a:tab pos="3657600" algn="l"/>
                <a:tab pos="4572000" algn="l"/>
                <a:tab pos="5486400" algn="l"/>
              </a:tabLst>
            </a:pPr>
            <a:endParaRPr lang="en-US" altLang="es-MX" sz="1800" dirty="0">
              <a:latin typeface="TimesNewRomanPSMT" charset="0"/>
              <a:cs typeface="DejaVu Sans" charset="0"/>
            </a:endParaRPr>
          </a:p>
          <a:p>
            <a:pPr marL="215900" indent="-215900" eaLnBrk="1">
              <a:spcBef>
                <a:spcPts val="13"/>
              </a:spcBef>
              <a:spcAft>
                <a:spcPts val="13"/>
              </a:spcAft>
              <a:tabLst>
                <a:tab pos="914400" algn="l"/>
                <a:tab pos="1828800" algn="l"/>
                <a:tab pos="2743200" algn="l"/>
                <a:tab pos="3657600" algn="l"/>
                <a:tab pos="4572000" algn="l"/>
                <a:tab pos="5486400" algn="l"/>
              </a:tabLst>
            </a:pPr>
            <a:endParaRPr lang="es-MX" altLang="es-MX" sz="1800" dirty="0">
              <a:latin typeface="TimesNewRomanPSMT" charset="0"/>
              <a:cs typeface="DejaVu Sans" charset="0"/>
            </a:endParaRPr>
          </a:p>
        </p:txBody>
      </p:sp>
      <p:sp>
        <p:nvSpPr>
          <p:cNvPr id="62467" name="Text Box 3">
            <a:extLst>
              <a:ext uri="{FF2B5EF4-FFF2-40B4-BE49-F238E27FC236}">
                <a16:creationId xmlns:a16="http://schemas.microsoft.com/office/drawing/2014/main" id="{F51E842B-6666-C061-52D7-4AA00145E8B0}"/>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914400" algn="l"/>
                <a:tab pos="1828800" algn="l"/>
                <a:tab pos="2743200" algn="l"/>
              </a:tabLst>
              <a:defRPr>
                <a:solidFill>
                  <a:srgbClr val="000000"/>
                </a:solidFill>
                <a:latin typeface="Arial" panose="020B0604020202020204" pitchFamily="34" charset="0"/>
                <a:cs typeface="DejaVu Sans" charset="0"/>
              </a:defRPr>
            </a:lvl1pPr>
            <a:lvl2pPr>
              <a:tabLst>
                <a:tab pos="914400" algn="l"/>
                <a:tab pos="1828800" algn="l"/>
                <a:tab pos="2743200" algn="l"/>
              </a:tabLst>
              <a:defRPr>
                <a:solidFill>
                  <a:srgbClr val="000000"/>
                </a:solidFill>
                <a:latin typeface="Arial" panose="020B0604020202020204" pitchFamily="34" charset="0"/>
                <a:cs typeface="DejaVu Sans" charset="0"/>
              </a:defRPr>
            </a:lvl2pPr>
            <a:lvl3pPr>
              <a:tabLst>
                <a:tab pos="914400" algn="l"/>
                <a:tab pos="1828800" algn="l"/>
                <a:tab pos="2743200" algn="l"/>
              </a:tabLst>
              <a:defRPr>
                <a:solidFill>
                  <a:srgbClr val="000000"/>
                </a:solidFill>
                <a:latin typeface="Arial" panose="020B0604020202020204" pitchFamily="34" charset="0"/>
                <a:cs typeface="DejaVu Sans" charset="0"/>
              </a:defRPr>
            </a:lvl3pPr>
            <a:lvl4pPr>
              <a:tabLst>
                <a:tab pos="914400" algn="l"/>
                <a:tab pos="1828800" algn="l"/>
                <a:tab pos="2743200" algn="l"/>
              </a:tabLst>
              <a:defRPr>
                <a:solidFill>
                  <a:srgbClr val="000000"/>
                </a:solidFill>
                <a:latin typeface="Arial" panose="020B0604020202020204" pitchFamily="34" charset="0"/>
                <a:cs typeface="DejaVu Sans" charset="0"/>
              </a:defRPr>
            </a:lvl4pPr>
            <a:lvl5pPr>
              <a:tabLst>
                <a:tab pos="914400" algn="l"/>
                <a:tab pos="1828800" algn="l"/>
                <a:tab pos="27432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D4A10A38-A2CA-4DD0-963C-E00FFF5B1FEE}"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16</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DAA5E232-C542-6FB0-7ED0-FAE26353DB45}"/>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771C83A1-E97F-4892-B845-08B9CDEE5A3F}"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17</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63489" name="Rectangle 1">
            <a:extLst>
              <a:ext uri="{FF2B5EF4-FFF2-40B4-BE49-F238E27FC236}">
                <a16:creationId xmlns:a16="http://schemas.microsoft.com/office/drawing/2014/main" id="{CB7331CD-AB19-353B-3357-6602B8B151AF}"/>
              </a:ext>
            </a:extLst>
          </p:cNvPr>
          <p:cNvSpPr txBox="1">
            <a:spLocks noGrp="1" noRot="1" noChangeAspect="1" noChangeArrowheads="1"/>
          </p:cNvSpPr>
          <p:nvPr>
            <p:ph type="sldImg"/>
          </p:nvPr>
        </p:nvSpPr>
        <p:spPr bwMode="auto">
          <a:xfrm>
            <a:off x="217488" y="812800"/>
            <a:ext cx="7124700"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3490" name="Rectangle 2">
            <a:extLst>
              <a:ext uri="{FF2B5EF4-FFF2-40B4-BE49-F238E27FC236}">
                <a16:creationId xmlns:a16="http://schemas.microsoft.com/office/drawing/2014/main" id="{CED6F2BA-371F-0A38-CFA9-102CD54C1B00}"/>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MX" altLang="es-MX"/>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F0B7B8BA-AA61-7CAF-FDDF-DDB7FA259BDE}"/>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8765E02D-0C09-4665-9F85-0E2507B84685}"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18</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64513" name="Rectangle 1">
            <a:extLst>
              <a:ext uri="{FF2B5EF4-FFF2-40B4-BE49-F238E27FC236}">
                <a16:creationId xmlns:a16="http://schemas.microsoft.com/office/drawing/2014/main" id="{D4BC1FF1-032C-270E-7A0C-6D55689D544B}"/>
              </a:ext>
            </a:extLst>
          </p:cNvPr>
          <p:cNvSpPr txBox="1">
            <a:spLocks noGrp="1" noRot="1" noChangeAspect="1" noChangeArrowheads="1"/>
          </p:cNvSpPr>
          <p:nvPr>
            <p:ph type="sldImg"/>
          </p:nvPr>
        </p:nvSpPr>
        <p:spPr bwMode="auto">
          <a:xfrm>
            <a:off x="685800" y="1143000"/>
            <a:ext cx="5486400" cy="30861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4514" name="Text Box 2">
            <a:extLst>
              <a:ext uri="{FF2B5EF4-FFF2-40B4-BE49-F238E27FC236}">
                <a16:creationId xmlns:a16="http://schemas.microsoft.com/office/drawing/2014/main" id="{862EFB35-51F2-E00E-D519-9A4FF86250F7}"/>
              </a:ext>
            </a:extLst>
          </p:cNvPr>
          <p:cNvSpPr txBox="1">
            <a:spLocks noGrp="1" noChangeArrowheads="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2000" dirty="0">
                <a:latin typeface="Arial" panose="020B0604020202020204" pitchFamily="34" charset="0"/>
                <a:cs typeface="DejaVu Sans" charset="0"/>
              </a:rPr>
              <a:t>Derecha serie original</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2000" dirty="0">
                <a:latin typeface="Arial" panose="020B0604020202020204" pitchFamily="34" charset="0"/>
                <a:cs typeface="DejaVu Sans" charset="0"/>
              </a:rPr>
              <a:t>Izquierda </a:t>
            </a:r>
            <a:r>
              <a:rPr lang="es-MX" altLang="es-MX" sz="2000" dirty="0" err="1">
                <a:latin typeface="Arial" panose="020B0604020202020204" pitchFamily="34" charset="0"/>
                <a:cs typeface="DejaVu Sans" charset="0"/>
              </a:rPr>
              <a:t>periodograma</a:t>
            </a:r>
            <a:r>
              <a:rPr lang="es-MX" altLang="es-MX" sz="2000" dirty="0">
                <a:latin typeface="Arial" panose="020B0604020202020204" pitchFamily="34" charset="0"/>
                <a:cs typeface="DejaVu Sans" charset="0"/>
              </a:rPr>
              <a:t> </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dirty="0">
                <a:latin typeface="TimesNewRomanPSMT" charset="0"/>
                <a:cs typeface="DejaVu Sans" charset="0"/>
              </a:rPr>
              <a:t>El </a:t>
            </a:r>
            <a:r>
              <a:rPr lang="es-MX" altLang="es-MX" sz="1800" b="1" i="1" dirty="0" err="1">
                <a:latin typeface="TimesNewRomanPS-BoldItalicMT" charset="0"/>
                <a:cs typeface="DejaVu Sans" charset="0"/>
              </a:rPr>
              <a:t>periodograma</a:t>
            </a:r>
            <a:r>
              <a:rPr lang="es-MX" altLang="es-MX" sz="1800" b="1" i="1" dirty="0">
                <a:latin typeface="TimesNewRomanPS-BoldItalicMT" charset="0"/>
                <a:cs typeface="DejaVu Sans" charset="0"/>
              </a:rPr>
              <a:t> </a:t>
            </a:r>
            <a:r>
              <a:rPr lang="es-MX" altLang="es-MX" sz="1800" dirty="0">
                <a:latin typeface="TimesNewRomanPSMT" charset="0"/>
                <a:cs typeface="DejaVu Sans" charset="0"/>
              </a:rPr>
              <a:t>transforma la serie temporal de su dominio natural, que</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dirty="0">
                <a:latin typeface="TimesNewRomanPSMT" charset="0"/>
                <a:cs typeface="DejaVu Sans" charset="0"/>
              </a:rPr>
              <a:t>es el tiempo, al dominio de las frecuencias (a los valores de la serie se le aplican</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dirty="0">
                <a:latin typeface="TimesNewRomanPSMT" charset="0"/>
                <a:cs typeface="DejaVu Sans" charset="0"/>
              </a:rPr>
              <a:t>transformadas de Fourier). Si no hay picos destacables en el </a:t>
            </a:r>
            <a:r>
              <a:rPr lang="es-MX" altLang="es-MX" sz="1800" dirty="0" err="1">
                <a:latin typeface="TimesNewRomanPSMT" charset="0"/>
                <a:cs typeface="DejaVu Sans" charset="0"/>
              </a:rPr>
              <a:t>periodograma</a:t>
            </a:r>
            <a:r>
              <a:rPr lang="es-MX" altLang="es-MX" sz="1800" dirty="0">
                <a:latin typeface="TimesNewRomanPSMT" charset="0"/>
                <a:cs typeface="DejaVu Sans" charset="0"/>
              </a:rPr>
              <a:t> no hay</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dirty="0">
                <a:latin typeface="TimesNewRomanPSMT" charset="0"/>
                <a:cs typeface="DejaVu Sans" charset="0"/>
              </a:rPr>
              <a:t>estacionalidad y cada pico destacable identifica un período que incluso puede ser</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dirty="0">
                <a:latin typeface="TimesNewRomanPSMT" charset="0"/>
                <a:cs typeface="DejaVu Sans" charset="0"/>
              </a:rPr>
              <a:t>un ciclo. A cada amplitud destacable le corresponde una frecuencia cuya inversa es</a:t>
            </a:r>
          </a:p>
          <a:p>
            <a:pPr marL="215900" indent="-215900" eaLnBrk="1">
              <a:spcBef>
                <a:spcPts val="13"/>
              </a:spcBef>
              <a:spcAft>
                <a:spcPts val="13"/>
              </a:spcAft>
              <a:tabLst>
                <a:tab pos="914400" algn="l"/>
                <a:tab pos="1828800" algn="l"/>
                <a:tab pos="2743200" algn="l"/>
                <a:tab pos="3657600" algn="l"/>
                <a:tab pos="4572000" algn="l"/>
                <a:tab pos="5486400" algn="l"/>
              </a:tabLst>
            </a:pPr>
            <a:r>
              <a:rPr lang="pt-BR" altLang="es-MX" sz="1800" dirty="0" err="1">
                <a:latin typeface="TimesNewRomanPSMT" charset="0"/>
                <a:cs typeface="DejaVu Sans" charset="0"/>
              </a:rPr>
              <a:t>el</a:t>
            </a:r>
            <a:r>
              <a:rPr lang="pt-BR" altLang="es-MX" sz="1800" dirty="0">
                <a:latin typeface="TimesNewRomanPSMT" charset="0"/>
                <a:cs typeface="DejaVu Sans" charset="0"/>
              </a:rPr>
              <a:t> período estacional o cíclico.</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dirty="0">
                <a:latin typeface="TimesNewRomanPSMT" charset="0"/>
                <a:cs typeface="DejaVu Sans" charset="0"/>
              </a:rPr>
              <a:t>Luego </a:t>
            </a:r>
            <a:r>
              <a:rPr lang="es-MX" altLang="es-MX" sz="1800" b="1" i="1" dirty="0">
                <a:latin typeface="TimesNewRomanPS-BoldItalicMT" charset="0"/>
                <a:cs typeface="DejaVu Sans" charset="0"/>
              </a:rPr>
              <a:t>el </a:t>
            </a:r>
            <a:r>
              <a:rPr lang="es-MX" altLang="es-MX" sz="1800" b="1" i="1" dirty="0" err="1">
                <a:latin typeface="TimesNewRomanPS-BoldItalicMT" charset="0"/>
                <a:cs typeface="DejaVu Sans" charset="0"/>
              </a:rPr>
              <a:t>periodograma</a:t>
            </a:r>
            <a:r>
              <a:rPr lang="es-MX" altLang="es-MX" sz="1800" b="1" i="1" dirty="0">
                <a:latin typeface="TimesNewRomanPS-BoldItalicMT" charset="0"/>
                <a:cs typeface="DejaVu Sans" charset="0"/>
              </a:rPr>
              <a:t> es un instrumento que identifica la longitud del</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b="1" i="1" dirty="0">
                <a:latin typeface="TimesNewRomanPS-BoldItalicMT" charset="0"/>
                <a:cs typeface="DejaVu Sans" charset="0"/>
              </a:rPr>
              <a:t>período estacional y en su caso la del ciclo</a:t>
            </a:r>
            <a:r>
              <a:rPr lang="es-MX" altLang="es-MX" sz="1800" dirty="0">
                <a:latin typeface="TimesNewRomanPSMT" charset="0"/>
                <a:cs typeface="DejaVu Sans" charset="0"/>
              </a:rPr>
              <a:t>. Las amplitudes más fuertes</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dirty="0">
                <a:latin typeface="TimesNewRomanPSMT" charset="0"/>
                <a:cs typeface="DejaVu Sans" charset="0"/>
              </a:rPr>
              <a:t>(correspondientes a valores más bajos de las frecuencias </a:t>
            </a:r>
            <a:r>
              <a:rPr lang="es-MX" altLang="es-MX" sz="1800" i="1" dirty="0">
                <a:latin typeface="TimesNewRomanPS-ItalicMT" charset="0"/>
                <a:cs typeface="DejaVu Sans" charset="0"/>
              </a:rPr>
              <a:t>p</a:t>
            </a:r>
            <a:r>
              <a:rPr lang="es-MX" altLang="es-MX" sz="1800" dirty="0">
                <a:latin typeface="TimesNewRomanPSMT" charset="0"/>
                <a:cs typeface="DejaVu Sans" charset="0"/>
              </a:rPr>
              <a:t>) suelen corresponder a</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dirty="0">
                <a:latin typeface="TimesNewRomanPSMT" charset="0"/>
                <a:cs typeface="DejaVu Sans" charset="0"/>
              </a:rPr>
              <a:t>ciclos, y las menos fuertes (correspondientes a valores no tan bajos de las</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dirty="0">
                <a:latin typeface="TimesNewRomanPSMT" charset="0"/>
                <a:cs typeface="DejaVu Sans" charset="0"/>
              </a:rPr>
              <a:t>frecuencias) suelen corresponder a estaciones.</a:t>
            </a:r>
          </a:p>
        </p:txBody>
      </p:sp>
      <p:sp>
        <p:nvSpPr>
          <p:cNvPr id="64515" name="Text Box 3">
            <a:extLst>
              <a:ext uri="{FF2B5EF4-FFF2-40B4-BE49-F238E27FC236}">
                <a16:creationId xmlns:a16="http://schemas.microsoft.com/office/drawing/2014/main" id="{16BC99A5-2F3D-1338-B166-519FDCF7A189}"/>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914400" algn="l"/>
                <a:tab pos="1828800" algn="l"/>
                <a:tab pos="2743200" algn="l"/>
              </a:tabLst>
              <a:defRPr>
                <a:solidFill>
                  <a:srgbClr val="000000"/>
                </a:solidFill>
                <a:latin typeface="Arial" panose="020B0604020202020204" pitchFamily="34" charset="0"/>
                <a:cs typeface="DejaVu Sans" charset="0"/>
              </a:defRPr>
            </a:lvl1pPr>
            <a:lvl2pPr>
              <a:tabLst>
                <a:tab pos="914400" algn="l"/>
                <a:tab pos="1828800" algn="l"/>
                <a:tab pos="2743200" algn="l"/>
              </a:tabLst>
              <a:defRPr>
                <a:solidFill>
                  <a:srgbClr val="000000"/>
                </a:solidFill>
                <a:latin typeface="Arial" panose="020B0604020202020204" pitchFamily="34" charset="0"/>
                <a:cs typeface="DejaVu Sans" charset="0"/>
              </a:defRPr>
            </a:lvl2pPr>
            <a:lvl3pPr>
              <a:tabLst>
                <a:tab pos="914400" algn="l"/>
                <a:tab pos="1828800" algn="l"/>
                <a:tab pos="2743200" algn="l"/>
              </a:tabLst>
              <a:defRPr>
                <a:solidFill>
                  <a:srgbClr val="000000"/>
                </a:solidFill>
                <a:latin typeface="Arial" panose="020B0604020202020204" pitchFamily="34" charset="0"/>
                <a:cs typeface="DejaVu Sans" charset="0"/>
              </a:defRPr>
            </a:lvl3pPr>
            <a:lvl4pPr>
              <a:tabLst>
                <a:tab pos="914400" algn="l"/>
                <a:tab pos="1828800" algn="l"/>
                <a:tab pos="2743200" algn="l"/>
              </a:tabLst>
              <a:defRPr>
                <a:solidFill>
                  <a:srgbClr val="000000"/>
                </a:solidFill>
                <a:latin typeface="Arial" panose="020B0604020202020204" pitchFamily="34" charset="0"/>
                <a:cs typeface="DejaVu Sans" charset="0"/>
              </a:defRPr>
            </a:lvl4pPr>
            <a:lvl5pPr>
              <a:tabLst>
                <a:tab pos="914400" algn="l"/>
                <a:tab pos="1828800" algn="l"/>
                <a:tab pos="27432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B9090A16-CF79-427D-940A-CE92F08CCC53}"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18</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46F41F78-1135-9635-AE9A-A992E0A8A856}"/>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2E04DE3B-9CE9-4FFD-A652-8A4335FCEC2E}"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19</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65537" name="Rectangle 1">
            <a:extLst>
              <a:ext uri="{FF2B5EF4-FFF2-40B4-BE49-F238E27FC236}">
                <a16:creationId xmlns:a16="http://schemas.microsoft.com/office/drawing/2014/main" id="{0A158B39-F68F-6ABA-5B1C-C8B51B90E4CD}"/>
              </a:ext>
            </a:extLst>
          </p:cNvPr>
          <p:cNvSpPr txBox="1">
            <a:spLocks noGrp="1" noRot="1" noChangeAspect="1" noChangeArrowheads="1"/>
          </p:cNvSpPr>
          <p:nvPr>
            <p:ph type="sldImg"/>
          </p:nvPr>
        </p:nvSpPr>
        <p:spPr bwMode="auto">
          <a:xfrm>
            <a:off x="685800" y="1143000"/>
            <a:ext cx="5486400" cy="30861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5538" name="Text Box 2">
            <a:extLst>
              <a:ext uri="{FF2B5EF4-FFF2-40B4-BE49-F238E27FC236}">
                <a16:creationId xmlns:a16="http://schemas.microsoft.com/office/drawing/2014/main" id="{C295B7D3-EA4E-4E28-DB9B-8C7C8BC0C818}"/>
              </a:ext>
            </a:extLst>
          </p:cNvPr>
          <p:cNvSpPr txBox="1">
            <a:spLocks noGrp="1" noChangeArrowheads="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5900" eaLnBrk="1">
              <a:spcBef>
                <a:spcPts val="13"/>
              </a:spcBef>
              <a:spcAft>
                <a:spcPts val="13"/>
              </a:spcAft>
              <a:tabLst>
                <a:tab pos="914400" algn="l"/>
                <a:tab pos="1828800" algn="l"/>
                <a:tab pos="2743200" algn="l"/>
                <a:tab pos="3657600" algn="l"/>
                <a:tab pos="4572000" algn="l"/>
                <a:tab pos="5486400" algn="l"/>
              </a:tabLst>
            </a:pPr>
            <a:endParaRPr lang="es-MX" altLang="es-MX" sz="1800" dirty="0">
              <a:latin typeface="TimesNewRomanPSMT" charset="0"/>
              <a:cs typeface="DejaVu Sans" charset="0"/>
            </a:endParaRPr>
          </a:p>
        </p:txBody>
      </p:sp>
      <p:sp>
        <p:nvSpPr>
          <p:cNvPr id="65539" name="Text Box 3">
            <a:extLst>
              <a:ext uri="{FF2B5EF4-FFF2-40B4-BE49-F238E27FC236}">
                <a16:creationId xmlns:a16="http://schemas.microsoft.com/office/drawing/2014/main" id="{C5F399D3-1F01-58F3-00F8-ADACF792C3BE}"/>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914400" algn="l"/>
                <a:tab pos="1828800" algn="l"/>
                <a:tab pos="2743200" algn="l"/>
              </a:tabLst>
              <a:defRPr>
                <a:solidFill>
                  <a:srgbClr val="000000"/>
                </a:solidFill>
                <a:latin typeface="Arial" panose="020B0604020202020204" pitchFamily="34" charset="0"/>
                <a:cs typeface="DejaVu Sans" charset="0"/>
              </a:defRPr>
            </a:lvl1pPr>
            <a:lvl2pPr>
              <a:tabLst>
                <a:tab pos="914400" algn="l"/>
                <a:tab pos="1828800" algn="l"/>
                <a:tab pos="2743200" algn="l"/>
              </a:tabLst>
              <a:defRPr>
                <a:solidFill>
                  <a:srgbClr val="000000"/>
                </a:solidFill>
                <a:latin typeface="Arial" panose="020B0604020202020204" pitchFamily="34" charset="0"/>
                <a:cs typeface="DejaVu Sans" charset="0"/>
              </a:defRPr>
            </a:lvl2pPr>
            <a:lvl3pPr>
              <a:tabLst>
                <a:tab pos="914400" algn="l"/>
                <a:tab pos="1828800" algn="l"/>
                <a:tab pos="2743200" algn="l"/>
              </a:tabLst>
              <a:defRPr>
                <a:solidFill>
                  <a:srgbClr val="000000"/>
                </a:solidFill>
                <a:latin typeface="Arial" panose="020B0604020202020204" pitchFamily="34" charset="0"/>
                <a:cs typeface="DejaVu Sans" charset="0"/>
              </a:defRPr>
            </a:lvl3pPr>
            <a:lvl4pPr>
              <a:tabLst>
                <a:tab pos="914400" algn="l"/>
                <a:tab pos="1828800" algn="l"/>
                <a:tab pos="2743200" algn="l"/>
              </a:tabLst>
              <a:defRPr>
                <a:solidFill>
                  <a:srgbClr val="000000"/>
                </a:solidFill>
                <a:latin typeface="Arial" panose="020B0604020202020204" pitchFamily="34" charset="0"/>
                <a:cs typeface="DejaVu Sans" charset="0"/>
              </a:defRPr>
            </a:lvl4pPr>
            <a:lvl5pPr>
              <a:tabLst>
                <a:tab pos="914400" algn="l"/>
                <a:tab pos="1828800" algn="l"/>
                <a:tab pos="27432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CE4655D2-004B-4298-AFE4-D336D0DEAD43}"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19</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43D0BA71-9A33-9DD9-30F5-9EB066E3BEF7}"/>
              </a:ext>
            </a:extLst>
          </p:cNvPr>
          <p:cNvSpPr>
            <a:spLocks noGrp="1" noChangeArrowheads="1"/>
          </p:cNvSpPr>
          <p:nvPr>
            <p:ph type="sldNum"/>
          </p:nvPr>
        </p:nvSpPr>
        <p:spPr>
          <a:ln/>
        </p:spPr>
        <p:txBody>
          <a:bodyPr/>
          <a:lstStyle/>
          <a:p>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B3498119-844A-4133-A871-CC31CCE3B06B}" type="slidenum">
              <a:rPr kumimoji="0" lang="en-US" altLang="es-MX"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20</a:t>
            </a:fld>
            <a:endParaRPr kumimoji="0" lang="en-US" altLang="es-MX"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66561" name="Rectangle 1">
            <a:extLst>
              <a:ext uri="{FF2B5EF4-FFF2-40B4-BE49-F238E27FC236}">
                <a16:creationId xmlns:a16="http://schemas.microsoft.com/office/drawing/2014/main" id="{5EE3A554-80C2-EC3C-F475-F347BDAA22A4}"/>
              </a:ext>
            </a:extLst>
          </p:cNvPr>
          <p:cNvSpPr txBox="1">
            <a:spLocks noGrp="1" noRot="1" noChangeAspect="1" noChangeArrowheads="1"/>
          </p:cNvSpPr>
          <p:nvPr>
            <p:ph type="sldImg"/>
          </p:nvPr>
        </p:nvSpPr>
        <p:spPr bwMode="auto">
          <a:xfrm>
            <a:off x="685800" y="1143000"/>
            <a:ext cx="5486400" cy="30861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6562" name="Text Box 2">
            <a:extLst>
              <a:ext uri="{FF2B5EF4-FFF2-40B4-BE49-F238E27FC236}">
                <a16:creationId xmlns:a16="http://schemas.microsoft.com/office/drawing/2014/main" id="{E33F57E3-B305-FA47-77A0-882598FF970A}"/>
              </a:ext>
            </a:extLst>
          </p:cNvPr>
          <p:cNvSpPr txBox="1">
            <a:spLocks noGrp="1" noChangeArrowheads="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5900" eaLnBrk="1">
              <a:spcBef>
                <a:spcPts val="13"/>
              </a:spcBef>
              <a:spcAft>
                <a:spcPts val="13"/>
              </a:spcAft>
              <a:tabLst>
                <a:tab pos="914400" algn="l"/>
                <a:tab pos="1828800" algn="l"/>
                <a:tab pos="2743200" algn="l"/>
                <a:tab pos="3657600" algn="l"/>
                <a:tab pos="4572000" algn="l"/>
                <a:tab pos="5486400" algn="l"/>
              </a:tabLst>
            </a:pPr>
            <a:endParaRPr lang="es-MX" altLang="es-MX" sz="1800" dirty="0">
              <a:latin typeface="TimesNewRomanPSMT" charset="0"/>
              <a:cs typeface="DejaVu Sans" charset="0"/>
            </a:endParaRPr>
          </a:p>
        </p:txBody>
      </p:sp>
      <p:sp>
        <p:nvSpPr>
          <p:cNvPr id="66563" name="Text Box 3">
            <a:extLst>
              <a:ext uri="{FF2B5EF4-FFF2-40B4-BE49-F238E27FC236}">
                <a16:creationId xmlns:a16="http://schemas.microsoft.com/office/drawing/2014/main" id="{0C78013C-6F1C-7A22-A70B-E536843FFF82}"/>
              </a:ext>
            </a:extLst>
          </p:cNvPr>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914400" algn="l"/>
                <a:tab pos="1828800" algn="l"/>
                <a:tab pos="2743200" algn="l"/>
              </a:tabLst>
              <a:defRPr>
                <a:solidFill>
                  <a:srgbClr val="000000"/>
                </a:solidFill>
                <a:latin typeface="Arial" panose="020B0604020202020204" pitchFamily="34" charset="0"/>
                <a:cs typeface="DejaVu Sans" charset="0"/>
              </a:defRPr>
            </a:lvl1pPr>
            <a:lvl2pPr>
              <a:tabLst>
                <a:tab pos="914400" algn="l"/>
                <a:tab pos="1828800" algn="l"/>
                <a:tab pos="2743200" algn="l"/>
              </a:tabLst>
              <a:defRPr>
                <a:solidFill>
                  <a:srgbClr val="000000"/>
                </a:solidFill>
                <a:latin typeface="Arial" panose="020B0604020202020204" pitchFamily="34" charset="0"/>
                <a:cs typeface="DejaVu Sans" charset="0"/>
              </a:defRPr>
            </a:lvl2pPr>
            <a:lvl3pPr>
              <a:tabLst>
                <a:tab pos="914400" algn="l"/>
                <a:tab pos="1828800" algn="l"/>
                <a:tab pos="2743200" algn="l"/>
              </a:tabLst>
              <a:defRPr>
                <a:solidFill>
                  <a:srgbClr val="000000"/>
                </a:solidFill>
                <a:latin typeface="Arial" panose="020B0604020202020204" pitchFamily="34" charset="0"/>
                <a:cs typeface="DejaVu Sans" charset="0"/>
              </a:defRPr>
            </a:lvl3pPr>
            <a:lvl4pPr>
              <a:tabLst>
                <a:tab pos="914400" algn="l"/>
                <a:tab pos="1828800" algn="l"/>
                <a:tab pos="2743200" algn="l"/>
              </a:tabLst>
              <a:defRPr>
                <a:solidFill>
                  <a:srgbClr val="000000"/>
                </a:solidFill>
                <a:latin typeface="Arial" panose="020B0604020202020204" pitchFamily="34" charset="0"/>
                <a:cs typeface="DejaVu Sans" charset="0"/>
              </a:defRPr>
            </a:lvl4pPr>
            <a:lvl5pPr>
              <a:tabLst>
                <a:tab pos="914400" algn="l"/>
                <a:tab pos="1828800" algn="l"/>
                <a:tab pos="27432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Lst>
              <a:defRPr>
                <a:solidFill>
                  <a:srgbClr val="000000"/>
                </a:solidFill>
                <a:latin typeface="Arial" panose="020B0604020202020204" pitchFamily="34" charset="0"/>
                <a:cs typeface="DejaVu Sans" charset="0"/>
              </a:defRPr>
            </a:lvl9pPr>
          </a:lstStyle>
          <a:p>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fld id="{D0A8DCC0-602A-4B77-B64E-B5AC1AE80FD8}" type="slidenum">
              <a:rPr kumimoji="0" lang="es-MX" altLang="es-MX"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914400" rtl="0" eaLnBrk="1" fontAlgn="base" latinLnBrk="0" hangingPunct="0">
                <a:lnSpc>
                  <a:spcPct val="100000"/>
                </a:lnSpc>
                <a:spcBef>
                  <a:spcPts val="13"/>
                </a:spcBef>
                <a:spcAft>
                  <a:spcPts val="13"/>
                </a:spcAft>
                <a:buClr>
                  <a:srgbClr val="000000"/>
                </a:buClr>
                <a:buSzPct val="100000"/>
                <a:buFont typeface="Times New Roman" panose="02020603050405020304" pitchFamily="18" charset="0"/>
                <a:buNone/>
                <a:tabLst>
                  <a:tab pos="914400" algn="l"/>
                  <a:tab pos="1828800" algn="l"/>
                  <a:tab pos="2743200" algn="l"/>
                </a:tabLst>
                <a:defRPr/>
              </a:pPr>
              <a:t>20</a:t>
            </a:fld>
            <a:endParaRPr kumimoji="0" lang="es-MX" altLang="es-MX" sz="12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2AB813-C0AD-D5DF-AA2F-A2CF614E5DB0}"/>
              </a:ext>
            </a:extLst>
          </p:cNvPr>
          <p:cNvSpPr>
            <a:spLocks noGrp="1"/>
          </p:cNvSpPr>
          <p:nvPr>
            <p:ph type="ctrTitle"/>
          </p:nvPr>
        </p:nvSpPr>
        <p:spPr>
          <a:xfrm>
            <a:off x="1524000" y="1122363"/>
            <a:ext cx="9144000" cy="2387600"/>
          </a:xfrm>
        </p:spPr>
        <p:txBody>
          <a:bodyPr/>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A4C2E19A-3813-2F0F-3B42-B3EC1EEA87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A9E157C3-75CD-4128-A692-3897403D0B0D}"/>
              </a:ext>
            </a:extLst>
          </p:cNvPr>
          <p:cNvSpPr>
            <a:spLocks noGrp="1"/>
          </p:cNvSpPr>
          <p:nvPr>
            <p:ph type="dt" idx="10"/>
          </p:nvPr>
        </p:nvSpPr>
        <p:spPr/>
        <p:txBody>
          <a:bodyPr/>
          <a:lstStyle>
            <a:lvl1pPr>
              <a:defRPr/>
            </a:lvl1pPr>
          </a:lstStyle>
          <a:p>
            <a:endParaRPr lang="es-MX" altLang="es-MX"/>
          </a:p>
        </p:txBody>
      </p:sp>
      <p:sp>
        <p:nvSpPr>
          <p:cNvPr id="5" name="Marcador de pie de página 4">
            <a:extLst>
              <a:ext uri="{FF2B5EF4-FFF2-40B4-BE49-F238E27FC236}">
                <a16:creationId xmlns:a16="http://schemas.microsoft.com/office/drawing/2014/main" id="{06FCB30F-7FCE-42BC-AC6B-BEE2629ACCBC}"/>
              </a:ext>
            </a:extLst>
          </p:cNvPr>
          <p:cNvSpPr>
            <a:spLocks noGrp="1"/>
          </p:cNvSpPr>
          <p:nvPr>
            <p:ph type="ftr" idx="11"/>
          </p:nvPr>
        </p:nvSpPr>
        <p:spPr/>
        <p:txBody>
          <a:bodyPr/>
          <a:lstStyle>
            <a:lvl1pPr>
              <a:defRPr/>
            </a:lvl1pPr>
          </a:lstStyle>
          <a:p>
            <a:endParaRPr lang="en-US" altLang="es-MX"/>
          </a:p>
        </p:txBody>
      </p:sp>
      <p:sp>
        <p:nvSpPr>
          <p:cNvPr id="6" name="Marcador de número de diapositiva 5">
            <a:extLst>
              <a:ext uri="{FF2B5EF4-FFF2-40B4-BE49-F238E27FC236}">
                <a16:creationId xmlns:a16="http://schemas.microsoft.com/office/drawing/2014/main" id="{CF251DD6-AA3B-11DD-B7F8-6B7C963762F9}"/>
              </a:ext>
            </a:extLst>
          </p:cNvPr>
          <p:cNvSpPr>
            <a:spLocks noGrp="1"/>
          </p:cNvSpPr>
          <p:nvPr>
            <p:ph type="sldNum" idx="12"/>
          </p:nvPr>
        </p:nvSpPr>
        <p:spPr/>
        <p:txBody>
          <a:bodyPr/>
          <a:lstStyle>
            <a:lvl1pPr>
              <a:defRPr/>
            </a:lvl1pPr>
          </a:lstStyle>
          <a:p>
            <a:fld id="{8C8CCA3F-B10C-491E-8928-A9619C7A8B49}" type="slidenum">
              <a:rPr lang="es-MX" altLang="es-MX"/>
              <a:pPr/>
              <a:t>‹Nº›</a:t>
            </a:fld>
            <a:endParaRPr lang="es-MX" altLang="es-MX"/>
          </a:p>
        </p:txBody>
      </p:sp>
    </p:spTree>
    <p:extLst>
      <p:ext uri="{BB962C8B-B14F-4D97-AF65-F5344CB8AC3E}">
        <p14:creationId xmlns:p14="http://schemas.microsoft.com/office/powerpoint/2010/main" val="444243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06BF1E-3C37-10D0-FEFF-DC07BDA4175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7FDC246-217E-638B-2B05-F6F43D93CA8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0A02074-C7DC-63FE-B6D1-311BB3528F5D}"/>
              </a:ext>
            </a:extLst>
          </p:cNvPr>
          <p:cNvSpPr>
            <a:spLocks noGrp="1"/>
          </p:cNvSpPr>
          <p:nvPr>
            <p:ph type="dt" idx="10"/>
          </p:nvPr>
        </p:nvSpPr>
        <p:spPr/>
        <p:txBody>
          <a:bodyPr/>
          <a:lstStyle>
            <a:lvl1pPr>
              <a:defRPr/>
            </a:lvl1pPr>
          </a:lstStyle>
          <a:p>
            <a:endParaRPr lang="es-MX" altLang="es-MX"/>
          </a:p>
        </p:txBody>
      </p:sp>
      <p:sp>
        <p:nvSpPr>
          <p:cNvPr id="5" name="Marcador de pie de página 4">
            <a:extLst>
              <a:ext uri="{FF2B5EF4-FFF2-40B4-BE49-F238E27FC236}">
                <a16:creationId xmlns:a16="http://schemas.microsoft.com/office/drawing/2014/main" id="{D4ECB2FC-E113-5B03-BE64-F526DDF10954}"/>
              </a:ext>
            </a:extLst>
          </p:cNvPr>
          <p:cNvSpPr>
            <a:spLocks noGrp="1"/>
          </p:cNvSpPr>
          <p:nvPr>
            <p:ph type="ftr" idx="11"/>
          </p:nvPr>
        </p:nvSpPr>
        <p:spPr/>
        <p:txBody>
          <a:bodyPr/>
          <a:lstStyle>
            <a:lvl1pPr>
              <a:defRPr/>
            </a:lvl1pPr>
          </a:lstStyle>
          <a:p>
            <a:endParaRPr lang="en-US" altLang="es-MX"/>
          </a:p>
        </p:txBody>
      </p:sp>
      <p:sp>
        <p:nvSpPr>
          <p:cNvPr id="6" name="Marcador de número de diapositiva 5">
            <a:extLst>
              <a:ext uri="{FF2B5EF4-FFF2-40B4-BE49-F238E27FC236}">
                <a16:creationId xmlns:a16="http://schemas.microsoft.com/office/drawing/2014/main" id="{C77D44E2-0229-171F-ED3F-8C8A81E2D8C5}"/>
              </a:ext>
            </a:extLst>
          </p:cNvPr>
          <p:cNvSpPr>
            <a:spLocks noGrp="1"/>
          </p:cNvSpPr>
          <p:nvPr>
            <p:ph type="sldNum" idx="12"/>
          </p:nvPr>
        </p:nvSpPr>
        <p:spPr/>
        <p:txBody>
          <a:bodyPr/>
          <a:lstStyle>
            <a:lvl1pPr>
              <a:defRPr/>
            </a:lvl1pPr>
          </a:lstStyle>
          <a:p>
            <a:fld id="{633187C7-89AB-46A2-9D35-5278CEC08A0D}" type="slidenum">
              <a:rPr lang="es-MX" altLang="es-MX"/>
              <a:pPr/>
              <a:t>‹Nº›</a:t>
            </a:fld>
            <a:endParaRPr lang="es-MX" altLang="es-MX"/>
          </a:p>
        </p:txBody>
      </p:sp>
    </p:spTree>
    <p:extLst>
      <p:ext uri="{BB962C8B-B14F-4D97-AF65-F5344CB8AC3E}">
        <p14:creationId xmlns:p14="http://schemas.microsoft.com/office/powerpoint/2010/main" val="462647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58984B-93A9-13BF-5B46-48A6BC72D830}"/>
              </a:ext>
            </a:extLst>
          </p:cNvPr>
          <p:cNvSpPr>
            <a:spLocks noGrp="1"/>
          </p:cNvSpPr>
          <p:nvPr>
            <p:ph type="title"/>
          </p:nvPr>
        </p:nvSpPr>
        <p:spPr>
          <a:xfrm>
            <a:off x="831850" y="1709738"/>
            <a:ext cx="10515600" cy="2852737"/>
          </a:xfrm>
        </p:spPr>
        <p:txBody>
          <a:bodyPr/>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1249B05-2167-B167-413C-8C9FFDEB8114}"/>
              </a:ext>
            </a:extLst>
          </p:cNvPr>
          <p:cNvSpPr>
            <a:spLocks noGrp="1"/>
          </p:cNvSpPr>
          <p:nvPr>
            <p:ph type="body" idx="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44E4DD5-3083-9570-C584-24310BC60DED}"/>
              </a:ext>
            </a:extLst>
          </p:cNvPr>
          <p:cNvSpPr>
            <a:spLocks noGrp="1"/>
          </p:cNvSpPr>
          <p:nvPr>
            <p:ph type="dt" idx="10"/>
          </p:nvPr>
        </p:nvSpPr>
        <p:spPr/>
        <p:txBody>
          <a:bodyPr/>
          <a:lstStyle>
            <a:lvl1pPr>
              <a:defRPr/>
            </a:lvl1pPr>
          </a:lstStyle>
          <a:p>
            <a:endParaRPr lang="es-MX" altLang="es-MX"/>
          </a:p>
        </p:txBody>
      </p:sp>
      <p:sp>
        <p:nvSpPr>
          <p:cNvPr id="5" name="Marcador de pie de página 4">
            <a:extLst>
              <a:ext uri="{FF2B5EF4-FFF2-40B4-BE49-F238E27FC236}">
                <a16:creationId xmlns:a16="http://schemas.microsoft.com/office/drawing/2014/main" id="{4135EA82-237D-3C9E-72CE-FC606200C7E9}"/>
              </a:ext>
            </a:extLst>
          </p:cNvPr>
          <p:cNvSpPr>
            <a:spLocks noGrp="1"/>
          </p:cNvSpPr>
          <p:nvPr>
            <p:ph type="ftr" idx="11"/>
          </p:nvPr>
        </p:nvSpPr>
        <p:spPr/>
        <p:txBody>
          <a:bodyPr/>
          <a:lstStyle>
            <a:lvl1pPr>
              <a:defRPr/>
            </a:lvl1pPr>
          </a:lstStyle>
          <a:p>
            <a:endParaRPr lang="en-US" altLang="es-MX"/>
          </a:p>
        </p:txBody>
      </p:sp>
      <p:sp>
        <p:nvSpPr>
          <p:cNvPr id="6" name="Marcador de número de diapositiva 5">
            <a:extLst>
              <a:ext uri="{FF2B5EF4-FFF2-40B4-BE49-F238E27FC236}">
                <a16:creationId xmlns:a16="http://schemas.microsoft.com/office/drawing/2014/main" id="{960405CE-5F6F-9B85-3800-FF043BE128A8}"/>
              </a:ext>
            </a:extLst>
          </p:cNvPr>
          <p:cNvSpPr>
            <a:spLocks noGrp="1"/>
          </p:cNvSpPr>
          <p:nvPr>
            <p:ph type="sldNum" idx="12"/>
          </p:nvPr>
        </p:nvSpPr>
        <p:spPr/>
        <p:txBody>
          <a:bodyPr/>
          <a:lstStyle>
            <a:lvl1pPr>
              <a:defRPr/>
            </a:lvl1pPr>
          </a:lstStyle>
          <a:p>
            <a:fld id="{866802B3-08BC-4A45-A428-7185B22CE414}" type="slidenum">
              <a:rPr lang="es-MX" altLang="es-MX"/>
              <a:pPr/>
              <a:t>‹Nº›</a:t>
            </a:fld>
            <a:endParaRPr lang="es-MX" altLang="es-MX"/>
          </a:p>
        </p:txBody>
      </p:sp>
    </p:spTree>
    <p:extLst>
      <p:ext uri="{BB962C8B-B14F-4D97-AF65-F5344CB8AC3E}">
        <p14:creationId xmlns:p14="http://schemas.microsoft.com/office/powerpoint/2010/main" val="1245724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264484-F1A7-0654-A38B-47309CD2504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91586DE-3FE1-F7F8-DD1E-73FEA7BC002E}"/>
              </a:ext>
            </a:extLst>
          </p:cNvPr>
          <p:cNvSpPr>
            <a:spLocks noGrp="1"/>
          </p:cNvSpPr>
          <p:nvPr>
            <p:ph sz="half" idx="1"/>
          </p:nvPr>
        </p:nvSpPr>
        <p:spPr>
          <a:xfrm>
            <a:off x="609600" y="1604963"/>
            <a:ext cx="5408613" cy="39751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C43F051B-CA9C-EE5E-F91C-87CEC4CDA259}"/>
              </a:ext>
            </a:extLst>
          </p:cNvPr>
          <p:cNvSpPr>
            <a:spLocks noGrp="1"/>
          </p:cNvSpPr>
          <p:nvPr>
            <p:ph sz="half" idx="2"/>
          </p:nvPr>
        </p:nvSpPr>
        <p:spPr>
          <a:xfrm>
            <a:off x="6170613" y="1604963"/>
            <a:ext cx="5410200" cy="39751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7297C696-DBCF-7A95-980A-BD18D22E391E}"/>
              </a:ext>
            </a:extLst>
          </p:cNvPr>
          <p:cNvSpPr>
            <a:spLocks noGrp="1"/>
          </p:cNvSpPr>
          <p:nvPr>
            <p:ph type="dt" idx="10"/>
          </p:nvPr>
        </p:nvSpPr>
        <p:spPr/>
        <p:txBody>
          <a:bodyPr/>
          <a:lstStyle>
            <a:lvl1pPr>
              <a:defRPr/>
            </a:lvl1pPr>
          </a:lstStyle>
          <a:p>
            <a:endParaRPr lang="es-MX" altLang="es-MX"/>
          </a:p>
        </p:txBody>
      </p:sp>
      <p:sp>
        <p:nvSpPr>
          <p:cNvPr id="6" name="Marcador de pie de página 5">
            <a:extLst>
              <a:ext uri="{FF2B5EF4-FFF2-40B4-BE49-F238E27FC236}">
                <a16:creationId xmlns:a16="http://schemas.microsoft.com/office/drawing/2014/main" id="{FB62B0A6-D4CD-F9AF-FD37-72EBAE759E96}"/>
              </a:ext>
            </a:extLst>
          </p:cNvPr>
          <p:cNvSpPr>
            <a:spLocks noGrp="1"/>
          </p:cNvSpPr>
          <p:nvPr>
            <p:ph type="ftr" idx="11"/>
          </p:nvPr>
        </p:nvSpPr>
        <p:spPr/>
        <p:txBody>
          <a:bodyPr/>
          <a:lstStyle>
            <a:lvl1pPr>
              <a:defRPr/>
            </a:lvl1pPr>
          </a:lstStyle>
          <a:p>
            <a:endParaRPr lang="en-US" altLang="es-MX"/>
          </a:p>
        </p:txBody>
      </p:sp>
      <p:sp>
        <p:nvSpPr>
          <p:cNvPr id="7" name="Marcador de número de diapositiva 6">
            <a:extLst>
              <a:ext uri="{FF2B5EF4-FFF2-40B4-BE49-F238E27FC236}">
                <a16:creationId xmlns:a16="http://schemas.microsoft.com/office/drawing/2014/main" id="{13D46F40-3314-F760-FC92-95F9D897A1CF}"/>
              </a:ext>
            </a:extLst>
          </p:cNvPr>
          <p:cNvSpPr>
            <a:spLocks noGrp="1"/>
          </p:cNvSpPr>
          <p:nvPr>
            <p:ph type="sldNum" idx="12"/>
          </p:nvPr>
        </p:nvSpPr>
        <p:spPr/>
        <p:txBody>
          <a:bodyPr/>
          <a:lstStyle>
            <a:lvl1pPr>
              <a:defRPr/>
            </a:lvl1pPr>
          </a:lstStyle>
          <a:p>
            <a:fld id="{39EF609B-F26A-44FA-8CAD-494D912AAAB7}" type="slidenum">
              <a:rPr lang="es-MX" altLang="es-MX"/>
              <a:pPr/>
              <a:t>‹Nº›</a:t>
            </a:fld>
            <a:endParaRPr lang="es-MX" altLang="es-MX"/>
          </a:p>
        </p:txBody>
      </p:sp>
    </p:spTree>
    <p:extLst>
      <p:ext uri="{BB962C8B-B14F-4D97-AF65-F5344CB8AC3E}">
        <p14:creationId xmlns:p14="http://schemas.microsoft.com/office/powerpoint/2010/main" val="187003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7FF340-A88F-EB05-E091-818FE795AF8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B9EE82C-AEED-20E9-3F78-D31BA0859F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C8235C9-F381-132E-C016-8EF236A3DE3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70D3CC60-DD9D-BD03-86CB-C7F4116E7A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4CDCFB6-07EF-A5EB-68D2-D3DA668C06F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7E50A92-BE1C-B740-9EAA-FB20A97A2426}"/>
              </a:ext>
            </a:extLst>
          </p:cNvPr>
          <p:cNvSpPr>
            <a:spLocks noGrp="1"/>
          </p:cNvSpPr>
          <p:nvPr>
            <p:ph type="dt" idx="10"/>
          </p:nvPr>
        </p:nvSpPr>
        <p:spPr/>
        <p:txBody>
          <a:bodyPr/>
          <a:lstStyle>
            <a:lvl1pPr>
              <a:defRPr/>
            </a:lvl1pPr>
          </a:lstStyle>
          <a:p>
            <a:endParaRPr lang="es-MX" altLang="es-MX"/>
          </a:p>
        </p:txBody>
      </p:sp>
      <p:sp>
        <p:nvSpPr>
          <p:cNvPr id="8" name="Marcador de pie de página 7">
            <a:extLst>
              <a:ext uri="{FF2B5EF4-FFF2-40B4-BE49-F238E27FC236}">
                <a16:creationId xmlns:a16="http://schemas.microsoft.com/office/drawing/2014/main" id="{7BB27C97-F90D-2D57-FF94-A13B90B8EB6A}"/>
              </a:ext>
            </a:extLst>
          </p:cNvPr>
          <p:cNvSpPr>
            <a:spLocks noGrp="1"/>
          </p:cNvSpPr>
          <p:nvPr>
            <p:ph type="ftr" idx="11"/>
          </p:nvPr>
        </p:nvSpPr>
        <p:spPr/>
        <p:txBody>
          <a:bodyPr/>
          <a:lstStyle>
            <a:lvl1pPr>
              <a:defRPr/>
            </a:lvl1pPr>
          </a:lstStyle>
          <a:p>
            <a:endParaRPr lang="en-US" altLang="es-MX"/>
          </a:p>
        </p:txBody>
      </p:sp>
      <p:sp>
        <p:nvSpPr>
          <p:cNvPr id="9" name="Marcador de número de diapositiva 8">
            <a:extLst>
              <a:ext uri="{FF2B5EF4-FFF2-40B4-BE49-F238E27FC236}">
                <a16:creationId xmlns:a16="http://schemas.microsoft.com/office/drawing/2014/main" id="{8D7C88DC-A87A-5503-F3A0-7E278FA349B0}"/>
              </a:ext>
            </a:extLst>
          </p:cNvPr>
          <p:cNvSpPr>
            <a:spLocks noGrp="1"/>
          </p:cNvSpPr>
          <p:nvPr>
            <p:ph type="sldNum" idx="12"/>
          </p:nvPr>
        </p:nvSpPr>
        <p:spPr/>
        <p:txBody>
          <a:bodyPr/>
          <a:lstStyle>
            <a:lvl1pPr>
              <a:defRPr/>
            </a:lvl1pPr>
          </a:lstStyle>
          <a:p>
            <a:fld id="{CEBB2B7D-556D-45A0-8A67-243B0AF57ECE}" type="slidenum">
              <a:rPr lang="es-MX" altLang="es-MX"/>
              <a:pPr/>
              <a:t>‹Nº›</a:t>
            </a:fld>
            <a:endParaRPr lang="es-MX" altLang="es-MX"/>
          </a:p>
        </p:txBody>
      </p:sp>
    </p:spTree>
    <p:extLst>
      <p:ext uri="{BB962C8B-B14F-4D97-AF65-F5344CB8AC3E}">
        <p14:creationId xmlns:p14="http://schemas.microsoft.com/office/powerpoint/2010/main" val="1612695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D02E3E-93B8-66EF-5806-92A28FF9DA9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0BE6E07B-68C0-D1F3-E965-BC309827B5BE}"/>
              </a:ext>
            </a:extLst>
          </p:cNvPr>
          <p:cNvSpPr>
            <a:spLocks noGrp="1"/>
          </p:cNvSpPr>
          <p:nvPr>
            <p:ph type="dt" idx="10"/>
          </p:nvPr>
        </p:nvSpPr>
        <p:spPr/>
        <p:txBody>
          <a:bodyPr/>
          <a:lstStyle>
            <a:lvl1pPr>
              <a:defRPr/>
            </a:lvl1pPr>
          </a:lstStyle>
          <a:p>
            <a:endParaRPr lang="es-MX" altLang="es-MX"/>
          </a:p>
        </p:txBody>
      </p:sp>
      <p:sp>
        <p:nvSpPr>
          <p:cNvPr id="4" name="Marcador de pie de página 3">
            <a:extLst>
              <a:ext uri="{FF2B5EF4-FFF2-40B4-BE49-F238E27FC236}">
                <a16:creationId xmlns:a16="http://schemas.microsoft.com/office/drawing/2014/main" id="{5517A4E6-BE51-C0C5-3CB5-BF40964C28CE}"/>
              </a:ext>
            </a:extLst>
          </p:cNvPr>
          <p:cNvSpPr>
            <a:spLocks noGrp="1"/>
          </p:cNvSpPr>
          <p:nvPr>
            <p:ph type="ftr" idx="11"/>
          </p:nvPr>
        </p:nvSpPr>
        <p:spPr/>
        <p:txBody>
          <a:bodyPr/>
          <a:lstStyle>
            <a:lvl1pPr>
              <a:defRPr/>
            </a:lvl1pPr>
          </a:lstStyle>
          <a:p>
            <a:endParaRPr lang="en-US" altLang="es-MX"/>
          </a:p>
        </p:txBody>
      </p:sp>
      <p:sp>
        <p:nvSpPr>
          <p:cNvPr id="5" name="Marcador de número de diapositiva 4">
            <a:extLst>
              <a:ext uri="{FF2B5EF4-FFF2-40B4-BE49-F238E27FC236}">
                <a16:creationId xmlns:a16="http://schemas.microsoft.com/office/drawing/2014/main" id="{047BFF9F-9B34-95A8-4CA2-1CBDAB146129}"/>
              </a:ext>
            </a:extLst>
          </p:cNvPr>
          <p:cNvSpPr>
            <a:spLocks noGrp="1"/>
          </p:cNvSpPr>
          <p:nvPr>
            <p:ph type="sldNum" idx="12"/>
          </p:nvPr>
        </p:nvSpPr>
        <p:spPr/>
        <p:txBody>
          <a:bodyPr/>
          <a:lstStyle>
            <a:lvl1pPr>
              <a:defRPr/>
            </a:lvl1pPr>
          </a:lstStyle>
          <a:p>
            <a:fld id="{EFD2E111-B36A-42C1-9E0A-111CEA607733}" type="slidenum">
              <a:rPr lang="es-MX" altLang="es-MX"/>
              <a:pPr/>
              <a:t>‹Nº›</a:t>
            </a:fld>
            <a:endParaRPr lang="es-MX" altLang="es-MX"/>
          </a:p>
        </p:txBody>
      </p:sp>
    </p:spTree>
    <p:extLst>
      <p:ext uri="{BB962C8B-B14F-4D97-AF65-F5344CB8AC3E}">
        <p14:creationId xmlns:p14="http://schemas.microsoft.com/office/powerpoint/2010/main" val="3909438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DDAD612-79A0-687F-9D49-D37D948BDC25}"/>
              </a:ext>
            </a:extLst>
          </p:cNvPr>
          <p:cNvSpPr>
            <a:spLocks noGrp="1"/>
          </p:cNvSpPr>
          <p:nvPr>
            <p:ph type="dt" idx="10"/>
          </p:nvPr>
        </p:nvSpPr>
        <p:spPr/>
        <p:txBody>
          <a:bodyPr/>
          <a:lstStyle>
            <a:lvl1pPr>
              <a:defRPr/>
            </a:lvl1pPr>
          </a:lstStyle>
          <a:p>
            <a:endParaRPr lang="es-MX" altLang="es-MX"/>
          </a:p>
        </p:txBody>
      </p:sp>
      <p:sp>
        <p:nvSpPr>
          <p:cNvPr id="3" name="Marcador de pie de página 2">
            <a:extLst>
              <a:ext uri="{FF2B5EF4-FFF2-40B4-BE49-F238E27FC236}">
                <a16:creationId xmlns:a16="http://schemas.microsoft.com/office/drawing/2014/main" id="{F0CDB856-E589-2CB1-3795-9C603BF1A82A}"/>
              </a:ext>
            </a:extLst>
          </p:cNvPr>
          <p:cNvSpPr>
            <a:spLocks noGrp="1"/>
          </p:cNvSpPr>
          <p:nvPr>
            <p:ph type="ftr" idx="11"/>
          </p:nvPr>
        </p:nvSpPr>
        <p:spPr/>
        <p:txBody>
          <a:bodyPr/>
          <a:lstStyle>
            <a:lvl1pPr>
              <a:defRPr/>
            </a:lvl1pPr>
          </a:lstStyle>
          <a:p>
            <a:endParaRPr lang="en-US" altLang="es-MX"/>
          </a:p>
        </p:txBody>
      </p:sp>
      <p:sp>
        <p:nvSpPr>
          <p:cNvPr id="4" name="Marcador de número de diapositiva 3">
            <a:extLst>
              <a:ext uri="{FF2B5EF4-FFF2-40B4-BE49-F238E27FC236}">
                <a16:creationId xmlns:a16="http://schemas.microsoft.com/office/drawing/2014/main" id="{CC0538DF-A50B-8057-7688-DEBCA0C73479}"/>
              </a:ext>
            </a:extLst>
          </p:cNvPr>
          <p:cNvSpPr>
            <a:spLocks noGrp="1"/>
          </p:cNvSpPr>
          <p:nvPr>
            <p:ph type="sldNum" idx="12"/>
          </p:nvPr>
        </p:nvSpPr>
        <p:spPr/>
        <p:txBody>
          <a:bodyPr/>
          <a:lstStyle>
            <a:lvl1pPr>
              <a:defRPr/>
            </a:lvl1pPr>
          </a:lstStyle>
          <a:p>
            <a:fld id="{BCD594C7-C582-42A2-9956-A364A74C7665}" type="slidenum">
              <a:rPr lang="es-MX" altLang="es-MX"/>
              <a:pPr/>
              <a:t>‹Nº›</a:t>
            </a:fld>
            <a:endParaRPr lang="es-MX" altLang="es-MX"/>
          </a:p>
        </p:txBody>
      </p:sp>
    </p:spTree>
    <p:extLst>
      <p:ext uri="{BB962C8B-B14F-4D97-AF65-F5344CB8AC3E}">
        <p14:creationId xmlns:p14="http://schemas.microsoft.com/office/powerpoint/2010/main" val="4283889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E915E4-3478-E563-C64E-724338A74315}"/>
              </a:ext>
            </a:extLst>
          </p:cNvPr>
          <p:cNvSpPr>
            <a:spLocks noGrp="1"/>
          </p:cNvSpPr>
          <p:nvPr>
            <p:ph type="title"/>
          </p:nvPr>
        </p:nvSpPr>
        <p:spPr>
          <a:xfrm>
            <a:off x="839788" y="457200"/>
            <a:ext cx="3932237" cy="1600200"/>
          </a:xfrm>
        </p:spPr>
        <p:txBody>
          <a:bodyPr/>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7B9A8E7-A3B4-DAFD-AC07-39E0F9C567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D7E294F-4855-7427-983A-ACE5F0F9E3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1F58C0C-6C95-199B-430F-777A655632CE}"/>
              </a:ext>
            </a:extLst>
          </p:cNvPr>
          <p:cNvSpPr>
            <a:spLocks noGrp="1"/>
          </p:cNvSpPr>
          <p:nvPr>
            <p:ph type="dt" idx="10"/>
          </p:nvPr>
        </p:nvSpPr>
        <p:spPr/>
        <p:txBody>
          <a:bodyPr/>
          <a:lstStyle>
            <a:lvl1pPr>
              <a:defRPr/>
            </a:lvl1pPr>
          </a:lstStyle>
          <a:p>
            <a:endParaRPr lang="es-MX" altLang="es-MX"/>
          </a:p>
        </p:txBody>
      </p:sp>
      <p:sp>
        <p:nvSpPr>
          <p:cNvPr id="6" name="Marcador de pie de página 5">
            <a:extLst>
              <a:ext uri="{FF2B5EF4-FFF2-40B4-BE49-F238E27FC236}">
                <a16:creationId xmlns:a16="http://schemas.microsoft.com/office/drawing/2014/main" id="{FA891795-9EAF-5E94-1A9F-0152D3DC3C18}"/>
              </a:ext>
            </a:extLst>
          </p:cNvPr>
          <p:cNvSpPr>
            <a:spLocks noGrp="1"/>
          </p:cNvSpPr>
          <p:nvPr>
            <p:ph type="ftr" idx="11"/>
          </p:nvPr>
        </p:nvSpPr>
        <p:spPr/>
        <p:txBody>
          <a:bodyPr/>
          <a:lstStyle>
            <a:lvl1pPr>
              <a:defRPr/>
            </a:lvl1pPr>
          </a:lstStyle>
          <a:p>
            <a:endParaRPr lang="en-US" altLang="es-MX"/>
          </a:p>
        </p:txBody>
      </p:sp>
      <p:sp>
        <p:nvSpPr>
          <p:cNvPr id="7" name="Marcador de número de diapositiva 6">
            <a:extLst>
              <a:ext uri="{FF2B5EF4-FFF2-40B4-BE49-F238E27FC236}">
                <a16:creationId xmlns:a16="http://schemas.microsoft.com/office/drawing/2014/main" id="{8C1E5A8A-8F21-1926-24A2-EA271F542928}"/>
              </a:ext>
            </a:extLst>
          </p:cNvPr>
          <p:cNvSpPr>
            <a:spLocks noGrp="1"/>
          </p:cNvSpPr>
          <p:nvPr>
            <p:ph type="sldNum" idx="12"/>
          </p:nvPr>
        </p:nvSpPr>
        <p:spPr/>
        <p:txBody>
          <a:bodyPr/>
          <a:lstStyle>
            <a:lvl1pPr>
              <a:defRPr/>
            </a:lvl1pPr>
          </a:lstStyle>
          <a:p>
            <a:fld id="{019FBE0A-D452-4486-8E8A-99A0EA2BBF4F}" type="slidenum">
              <a:rPr lang="es-MX" altLang="es-MX"/>
              <a:pPr/>
              <a:t>‹Nº›</a:t>
            </a:fld>
            <a:endParaRPr lang="es-MX" altLang="es-MX"/>
          </a:p>
        </p:txBody>
      </p:sp>
    </p:spTree>
    <p:extLst>
      <p:ext uri="{BB962C8B-B14F-4D97-AF65-F5344CB8AC3E}">
        <p14:creationId xmlns:p14="http://schemas.microsoft.com/office/powerpoint/2010/main" val="1306885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DCF94E-D85D-115F-0064-F96B07B03B05}"/>
              </a:ext>
            </a:extLst>
          </p:cNvPr>
          <p:cNvSpPr>
            <a:spLocks noGrp="1"/>
          </p:cNvSpPr>
          <p:nvPr>
            <p:ph type="title"/>
          </p:nvPr>
        </p:nvSpPr>
        <p:spPr>
          <a:xfrm>
            <a:off x="839788" y="457200"/>
            <a:ext cx="3932237" cy="1600200"/>
          </a:xfrm>
        </p:spPr>
        <p:txBody>
          <a:bodyPr/>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88614AB5-D8C6-2EBE-C792-BBA8586452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118571F-34D7-1FF1-2C0C-5648BC9EF5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41C0106-0E4D-0D66-8824-98D8B3CAC0D2}"/>
              </a:ext>
            </a:extLst>
          </p:cNvPr>
          <p:cNvSpPr>
            <a:spLocks noGrp="1"/>
          </p:cNvSpPr>
          <p:nvPr>
            <p:ph type="dt" idx="10"/>
          </p:nvPr>
        </p:nvSpPr>
        <p:spPr/>
        <p:txBody>
          <a:bodyPr/>
          <a:lstStyle>
            <a:lvl1pPr>
              <a:defRPr/>
            </a:lvl1pPr>
          </a:lstStyle>
          <a:p>
            <a:endParaRPr lang="es-MX" altLang="es-MX"/>
          </a:p>
        </p:txBody>
      </p:sp>
      <p:sp>
        <p:nvSpPr>
          <p:cNvPr id="6" name="Marcador de pie de página 5">
            <a:extLst>
              <a:ext uri="{FF2B5EF4-FFF2-40B4-BE49-F238E27FC236}">
                <a16:creationId xmlns:a16="http://schemas.microsoft.com/office/drawing/2014/main" id="{6546B525-F5BD-0117-843D-BB8A6B0D38A0}"/>
              </a:ext>
            </a:extLst>
          </p:cNvPr>
          <p:cNvSpPr>
            <a:spLocks noGrp="1"/>
          </p:cNvSpPr>
          <p:nvPr>
            <p:ph type="ftr" idx="11"/>
          </p:nvPr>
        </p:nvSpPr>
        <p:spPr/>
        <p:txBody>
          <a:bodyPr/>
          <a:lstStyle>
            <a:lvl1pPr>
              <a:defRPr/>
            </a:lvl1pPr>
          </a:lstStyle>
          <a:p>
            <a:endParaRPr lang="en-US" altLang="es-MX"/>
          </a:p>
        </p:txBody>
      </p:sp>
      <p:sp>
        <p:nvSpPr>
          <p:cNvPr id="7" name="Marcador de número de diapositiva 6">
            <a:extLst>
              <a:ext uri="{FF2B5EF4-FFF2-40B4-BE49-F238E27FC236}">
                <a16:creationId xmlns:a16="http://schemas.microsoft.com/office/drawing/2014/main" id="{05EC6D17-3DCE-72D1-97A6-75D2B9FC84A5}"/>
              </a:ext>
            </a:extLst>
          </p:cNvPr>
          <p:cNvSpPr>
            <a:spLocks noGrp="1"/>
          </p:cNvSpPr>
          <p:nvPr>
            <p:ph type="sldNum" idx="12"/>
          </p:nvPr>
        </p:nvSpPr>
        <p:spPr/>
        <p:txBody>
          <a:bodyPr/>
          <a:lstStyle>
            <a:lvl1pPr>
              <a:defRPr/>
            </a:lvl1pPr>
          </a:lstStyle>
          <a:p>
            <a:fld id="{2A97FE44-8A82-4A4A-9373-63131ECB181F}" type="slidenum">
              <a:rPr lang="es-MX" altLang="es-MX"/>
              <a:pPr/>
              <a:t>‹Nº›</a:t>
            </a:fld>
            <a:endParaRPr lang="es-MX" altLang="es-MX"/>
          </a:p>
        </p:txBody>
      </p:sp>
    </p:spTree>
    <p:extLst>
      <p:ext uri="{BB962C8B-B14F-4D97-AF65-F5344CB8AC3E}">
        <p14:creationId xmlns:p14="http://schemas.microsoft.com/office/powerpoint/2010/main" val="1713453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3D82BF-633E-7431-B917-7609DEFE829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182AF9DE-12AF-BBB9-85F4-7F696C5DF16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DB2FE46-B1E0-5E21-A892-EB0A74ADD1EA}"/>
              </a:ext>
            </a:extLst>
          </p:cNvPr>
          <p:cNvSpPr>
            <a:spLocks noGrp="1"/>
          </p:cNvSpPr>
          <p:nvPr>
            <p:ph type="dt" idx="10"/>
          </p:nvPr>
        </p:nvSpPr>
        <p:spPr/>
        <p:txBody>
          <a:bodyPr/>
          <a:lstStyle>
            <a:lvl1pPr>
              <a:defRPr/>
            </a:lvl1pPr>
          </a:lstStyle>
          <a:p>
            <a:endParaRPr lang="es-MX" altLang="es-MX"/>
          </a:p>
        </p:txBody>
      </p:sp>
      <p:sp>
        <p:nvSpPr>
          <p:cNvPr id="5" name="Marcador de pie de página 4">
            <a:extLst>
              <a:ext uri="{FF2B5EF4-FFF2-40B4-BE49-F238E27FC236}">
                <a16:creationId xmlns:a16="http://schemas.microsoft.com/office/drawing/2014/main" id="{C29C051E-78DF-1352-9E04-34A7241B5CFC}"/>
              </a:ext>
            </a:extLst>
          </p:cNvPr>
          <p:cNvSpPr>
            <a:spLocks noGrp="1"/>
          </p:cNvSpPr>
          <p:nvPr>
            <p:ph type="ftr" idx="11"/>
          </p:nvPr>
        </p:nvSpPr>
        <p:spPr/>
        <p:txBody>
          <a:bodyPr/>
          <a:lstStyle>
            <a:lvl1pPr>
              <a:defRPr/>
            </a:lvl1pPr>
          </a:lstStyle>
          <a:p>
            <a:endParaRPr lang="en-US" altLang="es-MX"/>
          </a:p>
        </p:txBody>
      </p:sp>
      <p:sp>
        <p:nvSpPr>
          <p:cNvPr id="6" name="Marcador de número de diapositiva 5">
            <a:extLst>
              <a:ext uri="{FF2B5EF4-FFF2-40B4-BE49-F238E27FC236}">
                <a16:creationId xmlns:a16="http://schemas.microsoft.com/office/drawing/2014/main" id="{8BCE3E6A-6A1B-4DF0-DA73-C3C6D413AD9A}"/>
              </a:ext>
            </a:extLst>
          </p:cNvPr>
          <p:cNvSpPr>
            <a:spLocks noGrp="1"/>
          </p:cNvSpPr>
          <p:nvPr>
            <p:ph type="sldNum" idx="12"/>
          </p:nvPr>
        </p:nvSpPr>
        <p:spPr/>
        <p:txBody>
          <a:bodyPr/>
          <a:lstStyle>
            <a:lvl1pPr>
              <a:defRPr/>
            </a:lvl1pPr>
          </a:lstStyle>
          <a:p>
            <a:fld id="{BAB6DB56-1EAA-401B-B9BD-CC8910C8D3F7}" type="slidenum">
              <a:rPr lang="es-MX" altLang="es-MX"/>
              <a:pPr/>
              <a:t>‹Nº›</a:t>
            </a:fld>
            <a:endParaRPr lang="es-MX" altLang="es-MX"/>
          </a:p>
        </p:txBody>
      </p:sp>
    </p:spTree>
    <p:extLst>
      <p:ext uri="{BB962C8B-B14F-4D97-AF65-F5344CB8AC3E}">
        <p14:creationId xmlns:p14="http://schemas.microsoft.com/office/powerpoint/2010/main" val="3751506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B593A15-E282-67FD-FB67-23AD17902E9E}"/>
              </a:ext>
            </a:extLst>
          </p:cNvPr>
          <p:cNvSpPr>
            <a:spLocks noGrp="1"/>
          </p:cNvSpPr>
          <p:nvPr>
            <p:ph type="title" orient="vert"/>
          </p:nvPr>
        </p:nvSpPr>
        <p:spPr>
          <a:xfrm>
            <a:off x="8839200" y="1604963"/>
            <a:ext cx="2741613" cy="3975100"/>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CB86606-3AB1-E7B3-9987-8B599890C553}"/>
              </a:ext>
            </a:extLst>
          </p:cNvPr>
          <p:cNvSpPr>
            <a:spLocks noGrp="1"/>
          </p:cNvSpPr>
          <p:nvPr>
            <p:ph type="body" orient="vert" idx="1"/>
          </p:nvPr>
        </p:nvSpPr>
        <p:spPr>
          <a:xfrm>
            <a:off x="609600" y="1604963"/>
            <a:ext cx="8077200" cy="39751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49394E7-650E-8BD2-DD05-ADB27BD0EDFF}"/>
              </a:ext>
            </a:extLst>
          </p:cNvPr>
          <p:cNvSpPr>
            <a:spLocks noGrp="1"/>
          </p:cNvSpPr>
          <p:nvPr>
            <p:ph type="dt" idx="10"/>
          </p:nvPr>
        </p:nvSpPr>
        <p:spPr/>
        <p:txBody>
          <a:bodyPr/>
          <a:lstStyle>
            <a:lvl1pPr>
              <a:defRPr/>
            </a:lvl1pPr>
          </a:lstStyle>
          <a:p>
            <a:endParaRPr lang="es-MX" altLang="es-MX"/>
          </a:p>
        </p:txBody>
      </p:sp>
      <p:sp>
        <p:nvSpPr>
          <p:cNvPr id="5" name="Marcador de pie de página 4">
            <a:extLst>
              <a:ext uri="{FF2B5EF4-FFF2-40B4-BE49-F238E27FC236}">
                <a16:creationId xmlns:a16="http://schemas.microsoft.com/office/drawing/2014/main" id="{1B7A5762-FB18-517A-80CA-900084DC4D4B}"/>
              </a:ext>
            </a:extLst>
          </p:cNvPr>
          <p:cNvSpPr>
            <a:spLocks noGrp="1"/>
          </p:cNvSpPr>
          <p:nvPr>
            <p:ph type="ftr" idx="11"/>
          </p:nvPr>
        </p:nvSpPr>
        <p:spPr/>
        <p:txBody>
          <a:bodyPr/>
          <a:lstStyle>
            <a:lvl1pPr>
              <a:defRPr/>
            </a:lvl1pPr>
          </a:lstStyle>
          <a:p>
            <a:endParaRPr lang="en-US" altLang="es-MX"/>
          </a:p>
        </p:txBody>
      </p:sp>
      <p:sp>
        <p:nvSpPr>
          <p:cNvPr id="6" name="Marcador de número de diapositiva 5">
            <a:extLst>
              <a:ext uri="{FF2B5EF4-FFF2-40B4-BE49-F238E27FC236}">
                <a16:creationId xmlns:a16="http://schemas.microsoft.com/office/drawing/2014/main" id="{EDF85F7B-824E-DA05-AADB-ADFCB026AF7B}"/>
              </a:ext>
            </a:extLst>
          </p:cNvPr>
          <p:cNvSpPr>
            <a:spLocks noGrp="1"/>
          </p:cNvSpPr>
          <p:nvPr>
            <p:ph type="sldNum" idx="12"/>
          </p:nvPr>
        </p:nvSpPr>
        <p:spPr/>
        <p:txBody>
          <a:bodyPr/>
          <a:lstStyle>
            <a:lvl1pPr>
              <a:defRPr/>
            </a:lvl1pPr>
          </a:lstStyle>
          <a:p>
            <a:fld id="{7E375064-CAF7-4C5D-B163-84867719F83C}" type="slidenum">
              <a:rPr lang="es-MX" altLang="es-MX"/>
              <a:pPr/>
              <a:t>‹Nº›</a:t>
            </a:fld>
            <a:endParaRPr lang="es-MX" altLang="es-MX"/>
          </a:p>
        </p:txBody>
      </p:sp>
    </p:spTree>
    <p:extLst>
      <p:ext uri="{BB962C8B-B14F-4D97-AF65-F5344CB8AC3E}">
        <p14:creationId xmlns:p14="http://schemas.microsoft.com/office/powerpoint/2010/main" val="21883412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4A4227-9F6C-0C9D-766E-926C741289E4}"/>
              </a:ext>
            </a:extLst>
          </p:cNvPr>
          <p:cNvSpPr>
            <a:spLocks noGrp="1"/>
          </p:cNvSpPr>
          <p:nvPr>
            <p:ph type="title"/>
          </p:nvPr>
        </p:nvSpPr>
        <p:spPr>
          <a:xfrm>
            <a:off x="3962400" y="1963738"/>
            <a:ext cx="7196138" cy="2419350"/>
          </a:xfrm>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4909B509-2CE6-4A57-1AB2-BBCAA4504C7D}"/>
              </a:ext>
            </a:extLst>
          </p:cNvPr>
          <p:cNvSpPr>
            <a:spLocks noGrp="1"/>
          </p:cNvSpPr>
          <p:nvPr>
            <p:ph type="dt" idx="10"/>
          </p:nvPr>
        </p:nvSpPr>
        <p:spPr>
          <a:xfrm>
            <a:off x="8932863" y="5870575"/>
            <a:ext cx="1598612" cy="376238"/>
          </a:xfrm>
        </p:spPr>
        <p:txBody>
          <a:bodyPr/>
          <a:lstStyle>
            <a:lvl1pPr>
              <a:defRPr/>
            </a:lvl1pPr>
          </a:lstStyle>
          <a:p>
            <a:endParaRPr lang="es-MX" altLang="es-MX"/>
          </a:p>
        </p:txBody>
      </p:sp>
      <p:sp>
        <p:nvSpPr>
          <p:cNvPr id="4" name="Marcador de pie de página 3">
            <a:extLst>
              <a:ext uri="{FF2B5EF4-FFF2-40B4-BE49-F238E27FC236}">
                <a16:creationId xmlns:a16="http://schemas.microsoft.com/office/drawing/2014/main" id="{8A8EF61A-4422-5807-B538-91B41C55D6C3}"/>
              </a:ext>
            </a:extLst>
          </p:cNvPr>
          <p:cNvSpPr>
            <a:spLocks noGrp="1"/>
          </p:cNvSpPr>
          <p:nvPr>
            <p:ph type="ftr" idx="11"/>
          </p:nvPr>
        </p:nvSpPr>
        <p:spPr>
          <a:xfrm>
            <a:off x="3962400" y="5870575"/>
            <a:ext cx="4892675" cy="376238"/>
          </a:xfrm>
        </p:spPr>
        <p:txBody>
          <a:bodyPr/>
          <a:lstStyle>
            <a:lvl1pPr>
              <a:defRPr/>
            </a:lvl1pPr>
          </a:lstStyle>
          <a:p>
            <a:endParaRPr lang="en-US" altLang="es-MX"/>
          </a:p>
        </p:txBody>
      </p:sp>
      <p:sp>
        <p:nvSpPr>
          <p:cNvPr id="5" name="Marcador de número de diapositiva 4">
            <a:extLst>
              <a:ext uri="{FF2B5EF4-FFF2-40B4-BE49-F238E27FC236}">
                <a16:creationId xmlns:a16="http://schemas.microsoft.com/office/drawing/2014/main" id="{B03D08EB-E577-8CC0-94D4-0832F4332267}"/>
              </a:ext>
            </a:extLst>
          </p:cNvPr>
          <p:cNvSpPr>
            <a:spLocks noGrp="1"/>
          </p:cNvSpPr>
          <p:nvPr>
            <p:ph type="sldNum" idx="12"/>
          </p:nvPr>
        </p:nvSpPr>
        <p:spPr>
          <a:xfrm>
            <a:off x="10609263" y="5870575"/>
            <a:ext cx="549275" cy="376238"/>
          </a:xfrm>
        </p:spPr>
        <p:txBody>
          <a:bodyPr/>
          <a:lstStyle>
            <a:lvl1pPr>
              <a:defRPr/>
            </a:lvl1pPr>
          </a:lstStyle>
          <a:p>
            <a:fld id="{444E8E07-3CAB-400C-A911-B298FA541354}" type="slidenum">
              <a:rPr lang="es-MX" altLang="es-MX"/>
              <a:pPr/>
              <a:t>‹Nº›</a:t>
            </a:fld>
            <a:endParaRPr lang="es-MX" altLang="es-MX"/>
          </a:p>
        </p:txBody>
      </p:sp>
    </p:spTree>
    <p:extLst>
      <p:ext uri="{BB962C8B-B14F-4D97-AF65-F5344CB8AC3E}">
        <p14:creationId xmlns:p14="http://schemas.microsoft.com/office/powerpoint/2010/main" val="3414062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5622BD-93B8-CB25-2A6E-CB49E9EC383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779F248C-8434-A10D-C0A1-DD6B2C845E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62BAFC85-F38D-5113-4B88-F34E1C52195F}"/>
              </a:ext>
            </a:extLst>
          </p:cNvPr>
          <p:cNvSpPr>
            <a:spLocks noGrp="1"/>
          </p:cNvSpPr>
          <p:nvPr>
            <p:ph type="dt" idx="10"/>
          </p:nvPr>
        </p:nvSpPr>
        <p:spPr/>
        <p:txBody>
          <a:bodyPr/>
          <a:lstStyle>
            <a:lvl1pPr>
              <a:defRPr/>
            </a:lvl1pPr>
          </a:lstStyle>
          <a:p>
            <a:endParaRPr lang="es-MX" altLang="es-MX"/>
          </a:p>
        </p:txBody>
      </p:sp>
      <p:sp>
        <p:nvSpPr>
          <p:cNvPr id="5" name="Marcador de pie de página 4">
            <a:extLst>
              <a:ext uri="{FF2B5EF4-FFF2-40B4-BE49-F238E27FC236}">
                <a16:creationId xmlns:a16="http://schemas.microsoft.com/office/drawing/2014/main" id="{679E64BA-12F8-4BCB-5D2A-4279CC7EF14E}"/>
              </a:ext>
            </a:extLst>
          </p:cNvPr>
          <p:cNvSpPr>
            <a:spLocks noGrp="1"/>
          </p:cNvSpPr>
          <p:nvPr>
            <p:ph type="ftr" idx="11"/>
          </p:nvPr>
        </p:nvSpPr>
        <p:spPr/>
        <p:txBody>
          <a:bodyPr/>
          <a:lstStyle>
            <a:lvl1pPr>
              <a:defRPr/>
            </a:lvl1pPr>
          </a:lstStyle>
          <a:p>
            <a:endParaRPr lang="en-US" altLang="es-MX"/>
          </a:p>
        </p:txBody>
      </p:sp>
      <p:sp>
        <p:nvSpPr>
          <p:cNvPr id="6" name="Marcador de número de diapositiva 5">
            <a:extLst>
              <a:ext uri="{FF2B5EF4-FFF2-40B4-BE49-F238E27FC236}">
                <a16:creationId xmlns:a16="http://schemas.microsoft.com/office/drawing/2014/main" id="{5006F035-462C-6BFB-A426-A0F46A80DB00}"/>
              </a:ext>
            </a:extLst>
          </p:cNvPr>
          <p:cNvSpPr>
            <a:spLocks noGrp="1"/>
          </p:cNvSpPr>
          <p:nvPr>
            <p:ph type="sldNum" idx="12"/>
          </p:nvPr>
        </p:nvSpPr>
        <p:spPr/>
        <p:txBody>
          <a:bodyPr/>
          <a:lstStyle>
            <a:lvl1pPr>
              <a:defRPr/>
            </a:lvl1pPr>
          </a:lstStyle>
          <a:p>
            <a:fld id="{06A610C2-6795-4C8C-9C5A-537E7BA09581}" type="slidenum">
              <a:rPr lang="es-MX" altLang="es-MX"/>
              <a:pPr/>
              <a:t>‹Nº›</a:t>
            </a:fld>
            <a:endParaRPr lang="es-MX" altLang="es-MX"/>
          </a:p>
        </p:txBody>
      </p:sp>
    </p:spTree>
    <p:extLst>
      <p:ext uri="{BB962C8B-B14F-4D97-AF65-F5344CB8AC3E}">
        <p14:creationId xmlns:p14="http://schemas.microsoft.com/office/powerpoint/2010/main" val="79926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4E33F7-4DA2-2B95-CDD5-502789E61AF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8DBDC66-8396-98E7-9803-494F15962A7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EF02116-9704-D4E0-C9AF-147F7D5A9538}"/>
              </a:ext>
            </a:extLst>
          </p:cNvPr>
          <p:cNvSpPr>
            <a:spLocks noGrp="1"/>
          </p:cNvSpPr>
          <p:nvPr>
            <p:ph type="dt" idx="10"/>
          </p:nvPr>
        </p:nvSpPr>
        <p:spPr/>
        <p:txBody>
          <a:bodyPr/>
          <a:lstStyle>
            <a:lvl1pPr>
              <a:defRPr/>
            </a:lvl1pPr>
          </a:lstStyle>
          <a:p>
            <a:endParaRPr lang="es-MX" altLang="es-MX"/>
          </a:p>
        </p:txBody>
      </p:sp>
      <p:sp>
        <p:nvSpPr>
          <p:cNvPr id="5" name="Marcador de pie de página 4">
            <a:extLst>
              <a:ext uri="{FF2B5EF4-FFF2-40B4-BE49-F238E27FC236}">
                <a16:creationId xmlns:a16="http://schemas.microsoft.com/office/drawing/2014/main" id="{6BC8CEB5-4545-7D31-8CDF-7CEDA392F4DB}"/>
              </a:ext>
            </a:extLst>
          </p:cNvPr>
          <p:cNvSpPr>
            <a:spLocks noGrp="1"/>
          </p:cNvSpPr>
          <p:nvPr>
            <p:ph type="ftr" idx="11"/>
          </p:nvPr>
        </p:nvSpPr>
        <p:spPr/>
        <p:txBody>
          <a:bodyPr/>
          <a:lstStyle>
            <a:lvl1pPr>
              <a:defRPr/>
            </a:lvl1pPr>
          </a:lstStyle>
          <a:p>
            <a:endParaRPr lang="en-US" altLang="es-MX"/>
          </a:p>
        </p:txBody>
      </p:sp>
      <p:sp>
        <p:nvSpPr>
          <p:cNvPr id="6" name="Marcador de número de diapositiva 5">
            <a:extLst>
              <a:ext uri="{FF2B5EF4-FFF2-40B4-BE49-F238E27FC236}">
                <a16:creationId xmlns:a16="http://schemas.microsoft.com/office/drawing/2014/main" id="{A4FB3ECA-72E4-9B61-A4B9-F5A8A7E0EFCC}"/>
              </a:ext>
            </a:extLst>
          </p:cNvPr>
          <p:cNvSpPr>
            <a:spLocks noGrp="1"/>
          </p:cNvSpPr>
          <p:nvPr>
            <p:ph type="sldNum" idx="12"/>
          </p:nvPr>
        </p:nvSpPr>
        <p:spPr/>
        <p:txBody>
          <a:bodyPr/>
          <a:lstStyle>
            <a:lvl1pPr>
              <a:defRPr/>
            </a:lvl1pPr>
          </a:lstStyle>
          <a:p>
            <a:fld id="{4B18C72D-A602-407F-8E0A-C66333790020}" type="slidenum">
              <a:rPr lang="es-MX" altLang="es-MX"/>
              <a:pPr/>
              <a:t>‹Nº›</a:t>
            </a:fld>
            <a:endParaRPr lang="es-MX" altLang="es-MX"/>
          </a:p>
        </p:txBody>
      </p:sp>
    </p:spTree>
    <p:extLst>
      <p:ext uri="{BB962C8B-B14F-4D97-AF65-F5344CB8AC3E}">
        <p14:creationId xmlns:p14="http://schemas.microsoft.com/office/powerpoint/2010/main" val="31904394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2FFDE3-DE27-27B5-8362-55B7C60D440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80181BD-B5F8-83BF-48F5-1857F8A9751D}"/>
              </a:ext>
            </a:extLst>
          </p:cNvPr>
          <p:cNvSpPr>
            <a:spLocks noGrp="1"/>
          </p:cNvSpPr>
          <p:nvPr>
            <p:ph type="body" idx="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BF32B2D-1466-2E44-721A-38E1F0082D96}"/>
              </a:ext>
            </a:extLst>
          </p:cNvPr>
          <p:cNvSpPr>
            <a:spLocks noGrp="1"/>
          </p:cNvSpPr>
          <p:nvPr>
            <p:ph type="dt" idx="10"/>
          </p:nvPr>
        </p:nvSpPr>
        <p:spPr/>
        <p:txBody>
          <a:bodyPr/>
          <a:lstStyle>
            <a:lvl1pPr>
              <a:defRPr/>
            </a:lvl1pPr>
          </a:lstStyle>
          <a:p>
            <a:endParaRPr lang="es-MX" altLang="es-MX"/>
          </a:p>
        </p:txBody>
      </p:sp>
      <p:sp>
        <p:nvSpPr>
          <p:cNvPr id="5" name="Marcador de pie de página 4">
            <a:extLst>
              <a:ext uri="{FF2B5EF4-FFF2-40B4-BE49-F238E27FC236}">
                <a16:creationId xmlns:a16="http://schemas.microsoft.com/office/drawing/2014/main" id="{4BBD36F4-E795-3949-BE61-5AEE38A7424F}"/>
              </a:ext>
            </a:extLst>
          </p:cNvPr>
          <p:cNvSpPr>
            <a:spLocks noGrp="1"/>
          </p:cNvSpPr>
          <p:nvPr>
            <p:ph type="ftr" idx="11"/>
          </p:nvPr>
        </p:nvSpPr>
        <p:spPr/>
        <p:txBody>
          <a:bodyPr/>
          <a:lstStyle>
            <a:lvl1pPr>
              <a:defRPr/>
            </a:lvl1pPr>
          </a:lstStyle>
          <a:p>
            <a:endParaRPr lang="en-US" altLang="es-MX"/>
          </a:p>
        </p:txBody>
      </p:sp>
      <p:sp>
        <p:nvSpPr>
          <p:cNvPr id="6" name="Marcador de número de diapositiva 5">
            <a:extLst>
              <a:ext uri="{FF2B5EF4-FFF2-40B4-BE49-F238E27FC236}">
                <a16:creationId xmlns:a16="http://schemas.microsoft.com/office/drawing/2014/main" id="{100F7598-6A64-67C4-2530-3CBA428949B0}"/>
              </a:ext>
            </a:extLst>
          </p:cNvPr>
          <p:cNvSpPr>
            <a:spLocks noGrp="1"/>
          </p:cNvSpPr>
          <p:nvPr>
            <p:ph type="sldNum" idx="12"/>
          </p:nvPr>
        </p:nvSpPr>
        <p:spPr/>
        <p:txBody>
          <a:bodyPr/>
          <a:lstStyle>
            <a:lvl1pPr>
              <a:defRPr/>
            </a:lvl1pPr>
          </a:lstStyle>
          <a:p>
            <a:fld id="{9010BB44-0D88-4CD6-AE23-AF6676061146}" type="slidenum">
              <a:rPr lang="es-MX" altLang="es-MX"/>
              <a:pPr/>
              <a:t>‹Nº›</a:t>
            </a:fld>
            <a:endParaRPr lang="es-MX" altLang="es-MX"/>
          </a:p>
        </p:txBody>
      </p:sp>
    </p:spTree>
    <p:extLst>
      <p:ext uri="{BB962C8B-B14F-4D97-AF65-F5344CB8AC3E}">
        <p14:creationId xmlns:p14="http://schemas.microsoft.com/office/powerpoint/2010/main" val="40039774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2EF019-A0B6-D0F9-3D02-9FAE4119ABA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603D31C-FD2D-F43B-5BDD-A141C38E131B}"/>
              </a:ext>
            </a:extLst>
          </p:cNvPr>
          <p:cNvSpPr>
            <a:spLocks noGrp="1"/>
          </p:cNvSpPr>
          <p:nvPr>
            <p:ph sz="half" idx="1"/>
          </p:nvPr>
        </p:nvSpPr>
        <p:spPr>
          <a:xfrm>
            <a:off x="685800" y="2141538"/>
            <a:ext cx="4987925" cy="36464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C53145C0-C147-5D1F-4BB7-948CCDD4E5DE}"/>
              </a:ext>
            </a:extLst>
          </p:cNvPr>
          <p:cNvSpPr>
            <a:spLocks noGrp="1"/>
          </p:cNvSpPr>
          <p:nvPr>
            <p:ph sz="half" idx="2"/>
          </p:nvPr>
        </p:nvSpPr>
        <p:spPr>
          <a:xfrm>
            <a:off x="5826125" y="2141538"/>
            <a:ext cx="4989513" cy="36464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B6ABF693-012B-D511-4B26-790719100522}"/>
              </a:ext>
            </a:extLst>
          </p:cNvPr>
          <p:cNvSpPr>
            <a:spLocks noGrp="1"/>
          </p:cNvSpPr>
          <p:nvPr>
            <p:ph type="dt" idx="10"/>
          </p:nvPr>
        </p:nvSpPr>
        <p:spPr/>
        <p:txBody>
          <a:bodyPr/>
          <a:lstStyle>
            <a:lvl1pPr>
              <a:defRPr/>
            </a:lvl1pPr>
          </a:lstStyle>
          <a:p>
            <a:endParaRPr lang="es-MX" altLang="es-MX"/>
          </a:p>
        </p:txBody>
      </p:sp>
      <p:sp>
        <p:nvSpPr>
          <p:cNvPr id="6" name="Marcador de pie de página 5">
            <a:extLst>
              <a:ext uri="{FF2B5EF4-FFF2-40B4-BE49-F238E27FC236}">
                <a16:creationId xmlns:a16="http://schemas.microsoft.com/office/drawing/2014/main" id="{6B4542C5-1BF9-DAFB-65EE-FFF26CBC9808}"/>
              </a:ext>
            </a:extLst>
          </p:cNvPr>
          <p:cNvSpPr>
            <a:spLocks noGrp="1"/>
          </p:cNvSpPr>
          <p:nvPr>
            <p:ph type="ftr" idx="11"/>
          </p:nvPr>
        </p:nvSpPr>
        <p:spPr/>
        <p:txBody>
          <a:bodyPr/>
          <a:lstStyle>
            <a:lvl1pPr>
              <a:defRPr/>
            </a:lvl1pPr>
          </a:lstStyle>
          <a:p>
            <a:endParaRPr lang="en-US" altLang="es-MX"/>
          </a:p>
        </p:txBody>
      </p:sp>
      <p:sp>
        <p:nvSpPr>
          <p:cNvPr id="7" name="Marcador de número de diapositiva 6">
            <a:extLst>
              <a:ext uri="{FF2B5EF4-FFF2-40B4-BE49-F238E27FC236}">
                <a16:creationId xmlns:a16="http://schemas.microsoft.com/office/drawing/2014/main" id="{AABC7AA2-5681-E252-A5CB-6DDCF988B58C}"/>
              </a:ext>
            </a:extLst>
          </p:cNvPr>
          <p:cNvSpPr>
            <a:spLocks noGrp="1"/>
          </p:cNvSpPr>
          <p:nvPr>
            <p:ph type="sldNum" idx="12"/>
          </p:nvPr>
        </p:nvSpPr>
        <p:spPr/>
        <p:txBody>
          <a:bodyPr/>
          <a:lstStyle>
            <a:lvl1pPr>
              <a:defRPr/>
            </a:lvl1pPr>
          </a:lstStyle>
          <a:p>
            <a:fld id="{3FD1D7C4-1632-43AE-8C70-D9FD4B337038}" type="slidenum">
              <a:rPr lang="es-MX" altLang="es-MX"/>
              <a:pPr/>
              <a:t>‹Nº›</a:t>
            </a:fld>
            <a:endParaRPr lang="es-MX" altLang="es-MX"/>
          </a:p>
        </p:txBody>
      </p:sp>
    </p:spTree>
    <p:extLst>
      <p:ext uri="{BB962C8B-B14F-4D97-AF65-F5344CB8AC3E}">
        <p14:creationId xmlns:p14="http://schemas.microsoft.com/office/powerpoint/2010/main" val="2987899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560DFB-9CF1-D3EB-222C-86012DC975D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0019130-8E31-119D-2FDE-1E990987A8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DBF286D-BD80-F051-E386-B750BDCAB62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A618D0AD-CCC9-E56A-1C7C-986908422E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49BC6C6-E422-4970-1B39-7664B41DF2B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4ECAA3D8-FE78-E618-3328-D329991E1628}"/>
              </a:ext>
            </a:extLst>
          </p:cNvPr>
          <p:cNvSpPr>
            <a:spLocks noGrp="1"/>
          </p:cNvSpPr>
          <p:nvPr>
            <p:ph type="dt" idx="10"/>
          </p:nvPr>
        </p:nvSpPr>
        <p:spPr/>
        <p:txBody>
          <a:bodyPr/>
          <a:lstStyle>
            <a:lvl1pPr>
              <a:defRPr/>
            </a:lvl1pPr>
          </a:lstStyle>
          <a:p>
            <a:endParaRPr lang="es-MX" altLang="es-MX"/>
          </a:p>
        </p:txBody>
      </p:sp>
      <p:sp>
        <p:nvSpPr>
          <p:cNvPr id="8" name="Marcador de pie de página 7">
            <a:extLst>
              <a:ext uri="{FF2B5EF4-FFF2-40B4-BE49-F238E27FC236}">
                <a16:creationId xmlns:a16="http://schemas.microsoft.com/office/drawing/2014/main" id="{B180F18F-6E85-0EC8-FDB2-F3E1AAADC452}"/>
              </a:ext>
            </a:extLst>
          </p:cNvPr>
          <p:cNvSpPr>
            <a:spLocks noGrp="1"/>
          </p:cNvSpPr>
          <p:nvPr>
            <p:ph type="ftr" idx="11"/>
          </p:nvPr>
        </p:nvSpPr>
        <p:spPr/>
        <p:txBody>
          <a:bodyPr/>
          <a:lstStyle>
            <a:lvl1pPr>
              <a:defRPr/>
            </a:lvl1pPr>
          </a:lstStyle>
          <a:p>
            <a:endParaRPr lang="en-US" altLang="es-MX"/>
          </a:p>
        </p:txBody>
      </p:sp>
      <p:sp>
        <p:nvSpPr>
          <p:cNvPr id="9" name="Marcador de número de diapositiva 8">
            <a:extLst>
              <a:ext uri="{FF2B5EF4-FFF2-40B4-BE49-F238E27FC236}">
                <a16:creationId xmlns:a16="http://schemas.microsoft.com/office/drawing/2014/main" id="{FCBEB539-6AB9-C632-9AAC-6A31CED1890B}"/>
              </a:ext>
            </a:extLst>
          </p:cNvPr>
          <p:cNvSpPr>
            <a:spLocks noGrp="1"/>
          </p:cNvSpPr>
          <p:nvPr>
            <p:ph type="sldNum" idx="12"/>
          </p:nvPr>
        </p:nvSpPr>
        <p:spPr/>
        <p:txBody>
          <a:bodyPr/>
          <a:lstStyle>
            <a:lvl1pPr>
              <a:defRPr/>
            </a:lvl1pPr>
          </a:lstStyle>
          <a:p>
            <a:fld id="{58795BC8-5BBC-4D5F-AE3B-80961B292F8B}" type="slidenum">
              <a:rPr lang="es-MX" altLang="es-MX"/>
              <a:pPr/>
              <a:t>‹Nº›</a:t>
            </a:fld>
            <a:endParaRPr lang="es-MX" altLang="es-MX"/>
          </a:p>
        </p:txBody>
      </p:sp>
    </p:spTree>
    <p:extLst>
      <p:ext uri="{BB962C8B-B14F-4D97-AF65-F5344CB8AC3E}">
        <p14:creationId xmlns:p14="http://schemas.microsoft.com/office/powerpoint/2010/main" val="41547418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2C0F4A-ECBD-B2EC-4A29-A8F374F7ABE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BCBF8396-C210-978C-D374-E0274D235C53}"/>
              </a:ext>
            </a:extLst>
          </p:cNvPr>
          <p:cNvSpPr>
            <a:spLocks noGrp="1"/>
          </p:cNvSpPr>
          <p:nvPr>
            <p:ph type="dt" idx="10"/>
          </p:nvPr>
        </p:nvSpPr>
        <p:spPr/>
        <p:txBody>
          <a:bodyPr/>
          <a:lstStyle>
            <a:lvl1pPr>
              <a:defRPr/>
            </a:lvl1pPr>
          </a:lstStyle>
          <a:p>
            <a:endParaRPr lang="es-MX" altLang="es-MX"/>
          </a:p>
        </p:txBody>
      </p:sp>
      <p:sp>
        <p:nvSpPr>
          <p:cNvPr id="4" name="Marcador de pie de página 3">
            <a:extLst>
              <a:ext uri="{FF2B5EF4-FFF2-40B4-BE49-F238E27FC236}">
                <a16:creationId xmlns:a16="http://schemas.microsoft.com/office/drawing/2014/main" id="{97785B8F-7EF5-1AA1-F074-C39AC4969F90}"/>
              </a:ext>
            </a:extLst>
          </p:cNvPr>
          <p:cNvSpPr>
            <a:spLocks noGrp="1"/>
          </p:cNvSpPr>
          <p:nvPr>
            <p:ph type="ftr" idx="11"/>
          </p:nvPr>
        </p:nvSpPr>
        <p:spPr/>
        <p:txBody>
          <a:bodyPr/>
          <a:lstStyle>
            <a:lvl1pPr>
              <a:defRPr/>
            </a:lvl1pPr>
          </a:lstStyle>
          <a:p>
            <a:endParaRPr lang="en-US" altLang="es-MX"/>
          </a:p>
        </p:txBody>
      </p:sp>
      <p:sp>
        <p:nvSpPr>
          <p:cNvPr id="5" name="Marcador de número de diapositiva 4">
            <a:extLst>
              <a:ext uri="{FF2B5EF4-FFF2-40B4-BE49-F238E27FC236}">
                <a16:creationId xmlns:a16="http://schemas.microsoft.com/office/drawing/2014/main" id="{D2FDB43A-6D51-CEFF-C1D0-EED629AE61C4}"/>
              </a:ext>
            </a:extLst>
          </p:cNvPr>
          <p:cNvSpPr>
            <a:spLocks noGrp="1"/>
          </p:cNvSpPr>
          <p:nvPr>
            <p:ph type="sldNum" idx="12"/>
          </p:nvPr>
        </p:nvSpPr>
        <p:spPr/>
        <p:txBody>
          <a:bodyPr/>
          <a:lstStyle>
            <a:lvl1pPr>
              <a:defRPr/>
            </a:lvl1pPr>
          </a:lstStyle>
          <a:p>
            <a:fld id="{BC22011B-C461-4449-BC76-69186C6E8379}" type="slidenum">
              <a:rPr lang="es-MX" altLang="es-MX"/>
              <a:pPr/>
              <a:t>‹Nº›</a:t>
            </a:fld>
            <a:endParaRPr lang="es-MX" altLang="es-MX"/>
          </a:p>
        </p:txBody>
      </p:sp>
    </p:spTree>
    <p:extLst>
      <p:ext uri="{BB962C8B-B14F-4D97-AF65-F5344CB8AC3E}">
        <p14:creationId xmlns:p14="http://schemas.microsoft.com/office/powerpoint/2010/main" val="14722726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2D50A9F-2261-CA3C-32F7-40C9A3B2188D}"/>
              </a:ext>
            </a:extLst>
          </p:cNvPr>
          <p:cNvSpPr>
            <a:spLocks noGrp="1"/>
          </p:cNvSpPr>
          <p:nvPr>
            <p:ph type="dt" idx="10"/>
          </p:nvPr>
        </p:nvSpPr>
        <p:spPr/>
        <p:txBody>
          <a:bodyPr/>
          <a:lstStyle>
            <a:lvl1pPr>
              <a:defRPr/>
            </a:lvl1pPr>
          </a:lstStyle>
          <a:p>
            <a:endParaRPr lang="es-MX" altLang="es-MX"/>
          </a:p>
        </p:txBody>
      </p:sp>
      <p:sp>
        <p:nvSpPr>
          <p:cNvPr id="3" name="Marcador de pie de página 2">
            <a:extLst>
              <a:ext uri="{FF2B5EF4-FFF2-40B4-BE49-F238E27FC236}">
                <a16:creationId xmlns:a16="http://schemas.microsoft.com/office/drawing/2014/main" id="{BB71E9E8-B989-F7D7-6B39-A51D7B7AE78B}"/>
              </a:ext>
            </a:extLst>
          </p:cNvPr>
          <p:cNvSpPr>
            <a:spLocks noGrp="1"/>
          </p:cNvSpPr>
          <p:nvPr>
            <p:ph type="ftr" idx="11"/>
          </p:nvPr>
        </p:nvSpPr>
        <p:spPr/>
        <p:txBody>
          <a:bodyPr/>
          <a:lstStyle>
            <a:lvl1pPr>
              <a:defRPr/>
            </a:lvl1pPr>
          </a:lstStyle>
          <a:p>
            <a:endParaRPr lang="en-US" altLang="es-MX"/>
          </a:p>
        </p:txBody>
      </p:sp>
      <p:sp>
        <p:nvSpPr>
          <p:cNvPr id="4" name="Marcador de número de diapositiva 3">
            <a:extLst>
              <a:ext uri="{FF2B5EF4-FFF2-40B4-BE49-F238E27FC236}">
                <a16:creationId xmlns:a16="http://schemas.microsoft.com/office/drawing/2014/main" id="{E5B00B25-21FD-C546-1C85-92A279E4424C}"/>
              </a:ext>
            </a:extLst>
          </p:cNvPr>
          <p:cNvSpPr>
            <a:spLocks noGrp="1"/>
          </p:cNvSpPr>
          <p:nvPr>
            <p:ph type="sldNum" idx="12"/>
          </p:nvPr>
        </p:nvSpPr>
        <p:spPr/>
        <p:txBody>
          <a:bodyPr/>
          <a:lstStyle>
            <a:lvl1pPr>
              <a:defRPr/>
            </a:lvl1pPr>
          </a:lstStyle>
          <a:p>
            <a:fld id="{0A54FE9E-2A6F-44B4-B177-EFBF7F4E2C79}" type="slidenum">
              <a:rPr lang="es-MX" altLang="es-MX"/>
              <a:pPr/>
              <a:t>‹Nº›</a:t>
            </a:fld>
            <a:endParaRPr lang="es-MX" altLang="es-MX"/>
          </a:p>
        </p:txBody>
      </p:sp>
    </p:spTree>
    <p:extLst>
      <p:ext uri="{BB962C8B-B14F-4D97-AF65-F5344CB8AC3E}">
        <p14:creationId xmlns:p14="http://schemas.microsoft.com/office/powerpoint/2010/main" val="1564762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6EF06E-4C76-E5F5-9E6A-775E82E61D9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B84F802-242C-31A5-2ABB-0FBA50F25F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E126A22-A456-041B-7EBA-B2DA921317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F56B77D-8041-CE56-BFBF-087735B815FD}"/>
              </a:ext>
            </a:extLst>
          </p:cNvPr>
          <p:cNvSpPr>
            <a:spLocks noGrp="1"/>
          </p:cNvSpPr>
          <p:nvPr>
            <p:ph type="dt" idx="10"/>
          </p:nvPr>
        </p:nvSpPr>
        <p:spPr/>
        <p:txBody>
          <a:bodyPr/>
          <a:lstStyle>
            <a:lvl1pPr>
              <a:defRPr/>
            </a:lvl1pPr>
          </a:lstStyle>
          <a:p>
            <a:endParaRPr lang="es-MX" altLang="es-MX"/>
          </a:p>
        </p:txBody>
      </p:sp>
      <p:sp>
        <p:nvSpPr>
          <p:cNvPr id="6" name="Marcador de pie de página 5">
            <a:extLst>
              <a:ext uri="{FF2B5EF4-FFF2-40B4-BE49-F238E27FC236}">
                <a16:creationId xmlns:a16="http://schemas.microsoft.com/office/drawing/2014/main" id="{0C115C7A-4E15-7C2E-1A57-86CF2F1100C6}"/>
              </a:ext>
            </a:extLst>
          </p:cNvPr>
          <p:cNvSpPr>
            <a:spLocks noGrp="1"/>
          </p:cNvSpPr>
          <p:nvPr>
            <p:ph type="ftr" idx="11"/>
          </p:nvPr>
        </p:nvSpPr>
        <p:spPr/>
        <p:txBody>
          <a:bodyPr/>
          <a:lstStyle>
            <a:lvl1pPr>
              <a:defRPr/>
            </a:lvl1pPr>
          </a:lstStyle>
          <a:p>
            <a:endParaRPr lang="en-US" altLang="es-MX"/>
          </a:p>
        </p:txBody>
      </p:sp>
      <p:sp>
        <p:nvSpPr>
          <p:cNvPr id="7" name="Marcador de número de diapositiva 6">
            <a:extLst>
              <a:ext uri="{FF2B5EF4-FFF2-40B4-BE49-F238E27FC236}">
                <a16:creationId xmlns:a16="http://schemas.microsoft.com/office/drawing/2014/main" id="{0DBD0B09-3383-7C36-209C-47E0FBE4C961}"/>
              </a:ext>
            </a:extLst>
          </p:cNvPr>
          <p:cNvSpPr>
            <a:spLocks noGrp="1"/>
          </p:cNvSpPr>
          <p:nvPr>
            <p:ph type="sldNum" idx="12"/>
          </p:nvPr>
        </p:nvSpPr>
        <p:spPr/>
        <p:txBody>
          <a:bodyPr/>
          <a:lstStyle>
            <a:lvl1pPr>
              <a:defRPr/>
            </a:lvl1pPr>
          </a:lstStyle>
          <a:p>
            <a:fld id="{E46F2A00-231A-46EA-91CA-A5CC7E48F374}" type="slidenum">
              <a:rPr lang="es-MX" altLang="es-MX"/>
              <a:pPr/>
              <a:t>‹Nº›</a:t>
            </a:fld>
            <a:endParaRPr lang="es-MX" altLang="es-MX"/>
          </a:p>
        </p:txBody>
      </p:sp>
    </p:spTree>
    <p:extLst>
      <p:ext uri="{BB962C8B-B14F-4D97-AF65-F5344CB8AC3E}">
        <p14:creationId xmlns:p14="http://schemas.microsoft.com/office/powerpoint/2010/main" val="42623592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944E97-2AB8-7810-F788-EE2D7C4A469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89E904CA-6AA2-0504-09FB-A391B532BE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7D3FE26-A54D-351C-6A17-DF24B014BF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84B088D-AEC5-0B02-40AC-17671E2E5C6C}"/>
              </a:ext>
            </a:extLst>
          </p:cNvPr>
          <p:cNvSpPr>
            <a:spLocks noGrp="1"/>
          </p:cNvSpPr>
          <p:nvPr>
            <p:ph type="dt" idx="10"/>
          </p:nvPr>
        </p:nvSpPr>
        <p:spPr/>
        <p:txBody>
          <a:bodyPr/>
          <a:lstStyle>
            <a:lvl1pPr>
              <a:defRPr/>
            </a:lvl1pPr>
          </a:lstStyle>
          <a:p>
            <a:endParaRPr lang="es-MX" altLang="es-MX"/>
          </a:p>
        </p:txBody>
      </p:sp>
      <p:sp>
        <p:nvSpPr>
          <p:cNvPr id="6" name="Marcador de pie de página 5">
            <a:extLst>
              <a:ext uri="{FF2B5EF4-FFF2-40B4-BE49-F238E27FC236}">
                <a16:creationId xmlns:a16="http://schemas.microsoft.com/office/drawing/2014/main" id="{E0F3E4AF-6FBB-5DE9-CFB7-89C84041DE3A}"/>
              </a:ext>
            </a:extLst>
          </p:cNvPr>
          <p:cNvSpPr>
            <a:spLocks noGrp="1"/>
          </p:cNvSpPr>
          <p:nvPr>
            <p:ph type="ftr" idx="11"/>
          </p:nvPr>
        </p:nvSpPr>
        <p:spPr/>
        <p:txBody>
          <a:bodyPr/>
          <a:lstStyle>
            <a:lvl1pPr>
              <a:defRPr/>
            </a:lvl1pPr>
          </a:lstStyle>
          <a:p>
            <a:endParaRPr lang="en-US" altLang="es-MX"/>
          </a:p>
        </p:txBody>
      </p:sp>
      <p:sp>
        <p:nvSpPr>
          <p:cNvPr id="7" name="Marcador de número de diapositiva 6">
            <a:extLst>
              <a:ext uri="{FF2B5EF4-FFF2-40B4-BE49-F238E27FC236}">
                <a16:creationId xmlns:a16="http://schemas.microsoft.com/office/drawing/2014/main" id="{EE42A0BA-C467-992C-3771-3ED3007BB44F}"/>
              </a:ext>
            </a:extLst>
          </p:cNvPr>
          <p:cNvSpPr>
            <a:spLocks noGrp="1"/>
          </p:cNvSpPr>
          <p:nvPr>
            <p:ph type="sldNum" idx="12"/>
          </p:nvPr>
        </p:nvSpPr>
        <p:spPr/>
        <p:txBody>
          <a:bodyPr/>
          <a:lstStyle>
            <a:lvl1pPr>
              <a:defRPr/>
            </a:lvl1pPr>
          </a:lstStyle>
          <a:p>
            <a:fld id="{CB668977-6F36-4884-8A71-1A8FDB6A9402}" type="slidenum">
              <a:rPr lang="es-MX" altLang="es-MX"/>
              <a:pPr/>
              <a:t>‹Nº›</a:t>
            </a:fld>
            <a:endParaRPr lang="es-MX" altLang="es-MX"/>
          </a:p>
        </p:txBody>
      </p:sp>
    </p:spTree>
    <p:extLst>
      <p:ext uri="{BB962C8B-B14F-4D97-AF65-F5344CB8AC3E}">
        <p14:creationId xmlns:p14="http://schemas.microsoft.com/office/powerpoint/2010/main" val="9000787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AF283B-F8C1-609E-5689-9178BC7EBF3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4C4D692-16A1-0B41-8A37-1A65D9C92EB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3DFF4D3-DB95-AA64-DB44-E38D73529C32}"/>
              </a:ext>
            </a:extLst>
          </p:cNvPr>
          <p:cNvSpPr>
            <a:spLocks noGrp="1"/>
          </p:cNvSpPr>
          <p:nvPr>
            <p:ph type="dt" idx="10"/>
          </p:nvPr>
        </p:nvSpPr>
        <p:spPr/>
        <p:txBody>
          <a:bodyPr/>
          <a:lstStyle>
            <a:lvl1pPr>
              <a:defRPr/>
            </a:lvl1pPr>
          </a:lstStyle>
          <a:p>
            <a:endParaRPr lang="es-MX" altLang="es-MX"/>
          </a:p>
        </p:txBody>
      </p:sp>
      <p:sp>
        <p:nvSpPr>
          <p:cNvPr id="5" name="Marcador de pie de página 4">
            <a:extLst>
              <a:ext uri="{FF2B5EF4-FFF2-40B4-BE49-F238E27FC236}">
                <a16:creationId xmlns:a16="http://schemas.microsoft.com/office/drawing/2014/main" id="{E7E86B7D-C85B-E553-3403-E27B16C4D21A}"/>
              </a:ext>
            </a:extLst>
          </p:cNvPr>
          <p:cNvSpPr>
            <a:spLocks noGrp="1"/>
          </p:cNvSpPr>
          <p:nvPr>
            <p:ph type="ftr" idx="11"/>
          </p:nvPr>
        </p:nvSpPr>
        <p:spPr/>
        <p:txBody>
          <a:bodyPr/>
          <a:lstStyle>
            <a:lvl1pPr>
              <a:defRPr/>
            </a:lvl1pPr>
          </a:lstStyle>
          <a:p>
            <a:endParaRPr lang="en-US" altLang="es-MX"/>
          </a:p>
        </p:txBody>
      </p:sp>
      <p:sp>
        <p:nvSpPr>
          <p:cNvPr id="6" name="Marcador de número de diapositiva 5">
            <a:extLst>
              <a:ext uri="{FF2B5EF4-FFF2-40B4-BE49-F238E27FC236}">
                <a16:creationId xmlns:a16="http://schemas.microsoft.com/office/drawing/2014/main" id="{8113C96A-32E8-891B-C10D-A3A735112176}"/>
              </a:ext>
            </a:extLst>
          </p:cNvPr>
          <p:cNvSpPr>
            <a:spLocks noGrp="1"/>
          </p:cNvSpPr>
          <p:nvPr>
            <p:ph type="sldNum" idx="12"/>
          </p:nvPr>
        </p:nvSpPr>
        <p:spPr/>
        <p:txBody>
          <a:bodyPr/>
          <a:lstStyle>
            <a:lvl1pPr>
              <a:defRPr/>
            </a:lvl1pPr>
          </a:lstStyle>
          <a:p>
            <a:fld id="{519FE19C-3DD3-4298-9496-759A26454496}" type="slidenum">
              <a:rPr lang="es-MX" altLang="es-MX"/>
              <a:pPr/>
              <a:t>‹Nº›</a:t>
            </a:fld>
            <a:endParaRPr lang="es-MX" altLang="es-MX"/>
          </a:p>
        </p:txBody>
      </p:sp>
    </p:spTree>
    <p:extLst>
      <p:ext uri="{BB962C8B-B14F-4D97-AF65-F5344CB8AC3E}">
        <p14:creationId xmlns:p14="http://schemas.microsoft.com/office/powerpoint/2010/main" val="33443279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05D5D4A-850F-A412-F1AA-34868F8E6935}"/>
              </a:ext>
            </a:extLst>
          </p:cNvPr>
          <p:cNvSpPr>
            <a:spLocks noGrp="1"/>
          </p:cNvSpPr>
          <p:nvPr>
            <p:ph type="title" orient="vert"/>
          </p:nvPr>
        </p:nvSpPr>
        <p:spPr>
          <a:xfrm>
            <a:off x="8283575" y="609600"/>
            <a:ext cx="2532063" cy="5178425"/>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F20E3E8-14D7-B474-FE8A-BC92A01E5839}"/>
              </a:ext>
            </a:extLst>
          </p:cNvPr>
          <p:cNvSpPr>
            <a:spLocks noGrp="1"/>
          </p:cNvSpPr>
          <p:nvPr>
            <p:ph type="body" orient="vert" idx="1"/>
          </p:nvPr>
        </p:nvSpPr>
        <p:spPr>
          <a:xfrm>
            <a:off x="685800" y="609600"/>
            <a:ext cx="7445375" cy="517842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971437D-1D65-E8BD-1F2C-38A7D1139ACF}"/>
              </a:ext>
            </a:extLst>
          </p:cNvPr>
          <p:cNvSpPr>
            <a:spLocks noGrp="1"/>
          </p:cNvSpPr>
          <p:nvPr>
            <p:ph type="dt" idx="10"/>
          </p:nvPr>
        </p:nvSpPr>
        <p:spPr/>
        <p:txBody>
          <a:bodyPr/>
          <a:lstStyle>
            <a:lvl1pPr>
              <a:defRPr/>
            </a:lvl1pPr>
          </a:lstStyle>
          <a:p>
            <a:endParaRPr lang="es-MX" altLang="es-MX"/>
          </a:p>
        </p:txBody>
      </p:sp>
      <p:sp>
        <p:nvSpPr>
          <p:cNvPr id="5" name="Marcador de pie de página 4">
            <a:extLst>
              <a:ext uri="{FF2B5EF4-FFF2-40B4-BE49-F238E27FC236}">
                <a16:creationId xmlns:a16="http://schemas.microsoft.com/office/drawing/2014/main" id="{57A08ECB-9331-EF20-3DAA-F8A919542009}"/>
              </a:ext>
            </a:extLst>
          </p:cNvPr>
          <p:cNvSpPr>
            <a:spLocks noGrp="1"/>
          </p:cNvSpPr>
          <p:nvPr>
            <p:ph type="ftr" idx="11"/>
          </p:nvPr>
        </p:nvSpPr>
        <p:spPr/>
        <p:txBody>
          <a:bodyPr/>
          <a:lstStyle>
            <a:lvl1pPr>
              <a:defRPr/>
            </a:lvl1pPr>
          </a:lstStyle>
          <a:p>
            <a:endParaRPr lang="en-US" altLang="es-MX"/>
          </a:p>
        </p:txBody>
      </p:sp>
      <p:sp>
        <p:nvSpPr>
          <p:cNvPr id="6" name="Marcador de número de diapositiva 5">
            <a:extLst>
              <a:ext uri="{FF2B5EF4-FFF2-40B4-BE49-F238E27FC236}">
                <a16:creationId xmlns:a16="http://schemas.microsoft.com/office/drawing/2014/main" id="{B31331A9-B03D-8BF2-7C49-15DF17D774F8}"/>
              </a:ext>
            </a:extLst>
          </p:cNvPr>
          <p:cNvSpPr>
            <a:spLocks noGrp="1"/>
          </p:cNvSpPr>
          <p:nvPr>
            <p:ph type="sldNum" idx="12"/>
          </p:nvPr>
        </p:nvSpPr>
        <p:spPr/>
        <p:txBody>
          <a:bodyPr/>
          <a:lstStyle>
            <a:lvl1pPr>
              <a:defRPr/>
            </a:lvl1pPr>
          </a:lstStyle>
          <a:p>
            <a:fld id="{B15B2FE9-ADAF-4FF3-B727-470AE8CDCC75}" type="slidenum">
              <a:rPr lang="es-MX" altLang="es-MX"/>
              <a:pPr/>
              <a:t>‹Nº›</a:t>
            </a:fld>
            <a:endParaRPr lang="es-MX" altLang="es-MX"/>
          </a:p>
        </p:txBody>
      </p:sp>
    </p:spTree>
    <p:extLst>
      <p:ext uri="{BB962C8B-B14F-4D97-AF65-F5344CB8AC3E}">
        <p14:creationId xmlns:p14="http://schemas.microsoft.com/office/powerpoint/2010/main" val="795652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pic>
        <p:nvPicPr>
          <p:cNvPr id="1025" name="Picture 1">
            <a:extLst>
              <a:ext uri="{FF2B5EF4-FFF2-40B4-BE49-F238E27FC236}">
                <a16:creationId xmlns:a16="http://schemas.microsoft.com/office/drawing/2014/main" id="{F20588E9-3145-111B-86D1-61573E489F2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2188825" cy="68564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6" name="Rectangle 2">
            <a:extLst>
              <a:ext uri="{FF2B5EF4-FFF2-40B4-BE49-F238E27FC236}">
                <a16:creationId xmlns:a16="http://schemas.microsoft.com/office/drawing/2014/main" id="{E3B010A4-302A-1610-2C82-9047F65A966A}"/>
              </a:ext>
            </a:extLst>
          </p:cNvPr>
          <p:cNvSpPr>
            <a:spLocks noGrp="1" noChangeArrowheads="1"/>
          </p:cNvSpPr>
          <p:nvPr>
            <p:ph type="title"/>
          </p:nvPr>
        </p:nvSpPr>
        <p:spPr bwMode="auto">
          <a:xfrm>
            <a:off x="3962400" y="1963738"/>
            <a:ext cx="7196138" cy="2419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GB" altLang="es-MX"/>
              <a:t>Haz clic para modificar el estilo de título del patrón</a:t>
            </a:r>
          </a:p>
        </p:txBody>
      </p:sp>
      <p:sp>
        <p:nvSpPr>
          <p:cNvPr id="1027" name="Rectangle 3">
            <a:extLst>
              <a:ext uri="{FF2B5EF4-FFF2-40B4-BE49-F238E27FC236}">
                <a16:creationId xmlns:a16="http://schemas.microsoft.com/office/drawing/2014/main" id="{C089D7A1-EC89-9F59-7673-B924F25DD75F}"/>
              </a:ext>
            </a:extLst>
          </p:cNvPr>
          <p:cNvSpPr>
            <a:spLocks noGrp="1" noChangeArrowheads="1"/>
          </p:cNvSpPr>
          <p:nvPr>
            <p:ph type="dt"/>
          </p:nvPr>
        </p:nvSpPr>
        <p:spPr bwMode="auto">
          <a:xfrm>
            <a:off x="8932863" y="5870575"/>
            <a:ext cx="1598612"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r" hangingPunct="1">
              <a:lnSpc>
                <a:spcPct val="100000"/>
              </a:lnSpc>
              <a:tabLst>
                <a:tab pos="914400" algn="l"/>
              </a:tabLst>
              <a:defRPr sz="1000">
                <a:solidFill>
                  <a:srgbClr val="FFFFFF"/>
                </a:solidFill>
                <a:latin typeface="+mn-lt"/>
              </a:defRPr>
            </a:lvl1pPr>
          </a:lstStyle>
          <a:p>
            <a:endParaRPr lang="es-MX" altLang="es-MX"/>
          </a:p>
        </p:txBody>
      </p:sp>
      <p:sp>
        <p:nvSpPr>
          <p:cNvPr id="1028" name="Rectangle 4">
            <a:extLst>
              <a:ext uri="{FF2B5EF4-FFF2-40B4-BE49-F238E27FC236}">
                <a16:creationId xmlns:a16="http://schemas.microsoft.com/office/drawing/2014/main" id="{205A66EE-0832-728C-BA15-EE27C7368540}"/>
              </a:ext>
            </a:extLst>
          </p:cNvPr>
          <p:cNvSpPr>
            <a:spLocks noGrp="1" noChangeArrowheads="1"/>
          </p:cNvSpPr>
          <p:nvPr>
            <p:ph type="ftr"/>
          </p:nvPr>
        </p:nvSpPr>
        <p:spPr bwMode="auto">
          <a:xfrm>
            <a:off x="3962400" y="5870575"/>
            <a:ext cx="4892675"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a:lnSpc>
                <a:spcPct val="100000"/>
              </a:lnSpc>
              <a:tabLst>
                <a:tab pos="914400" algn="l"/>
                <a:tab pos="1828800" algn="l"/>
                <a:tab pos="2743200" algn="l"/>
                <a:tab pos="3657600" algn="l"/>
                <a:tab pos="4572000" algn="l"/>
              </a:tabLst>
              <a:defRPr sz="1400">
                <a:solidFill>
                  <a:srgbClr val="FFFFFF"/>
                </a:solidFill>
                <a:latin typeface="Times New Roman" panose="02020603050405020304" pitchFamily="18" charset="0"/>
              </a:defRPr>
            </a:lvl1pPr>
          </a:lstStyle>
          <a:p>
            <a:endParaRPr lang="en-US" altLang="es-MX"/>
          </a:p>
        </p:txBody>
      </p:sp>
      <p:sp>
        <p:nvSpPr>
          <p:cNvPr id="1029" name="Rectangle 5">
            <a:extLst>
              <a:ext uri="{FF2B5EF4-FFF2-40B4-BE49-F238E27FC236}">
                <a16:creationId xmlns:a16="http://schemas.microsoft.com/office/drawing/2014/main" id="{FDD7DBF9-B682-E5F2-3A3E-E78133880CB6}"/>
              </a:ext>
            </a:extLst>
          </p:cNvPr>
          <p:cNvSpPr>
            <a:spLocks noGrp="1" noChangeArrowheads="1"/>
          </p:cNvSpPr>
          <p:nvPr>
            <p:ph type="sldNum"/>
          </p:nvPr>
        </p:nvSpPr>
        <p:spPr bwMode="auto">
          <a:xfrm>
            <a:off x="10609263" y="5870575"/>
            <a:ext cx="549275"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r" hangingPunct="1">
              <a:lnSpc>
                <a:spcPct val="100000"/>
              </a:lnSpc>
              <a:defRPr sz="1000">
                <a:solidFill>
                  <a:srgbClr val="FFFFFF"/>
                </a:solidFill>
                <a:latin typeface="+mn-lt"/>
              </a:defRPr>
            </a:lvl1pPr>
          </a:lstStyle>
          <a:p>
            <a:fld id="{8E4E3B43-DAFF-4766-8639-94E20451CCAA}" type="slidenum">
              <a:rPr lang="es-MX" altLang="es-MX"/>
              <a:pPr/>
              <a:t>‹Nº›</a:t>
            </a:fld>
            <a:endParaRPr lang="es-MX" altLang="es-MX"/>
          </a:p>
        </p:txBody>
      </p:sp>
      <p:sp>
        <p:nvSpPr>
          <p:cNvPr id="1030" name="Rectangle 6">
            <a:extLst>
              <a:ext uri="{FF2B5EF4-FFF2-40B4-BE49-F238E27FC236}">
                <a16:creationId xmlns:a16="http://schemas.microsoft.com/office/drawing/2014/main" id="{0CFA868F-2F32-4D17-3DD8-C56433084417}"/>
              </a:ext>
            </a:extLst>
          </p:cNvPr>
          <p:cNvSpPr>
            <a:spLocks noGrp="1" noChangeArrowheads="1"/>
          </p:cNvSpPr>
          <p:nvPr>
            <p:ph type="body" idx="1"/>
          </p:nvPr>
        </p:nvSpPr>
        <p:spPr bwMode="auto">
          <a:xfrm>
            <a:off x="609600" y="1604963"/>
            <a:ext cx="10971213" cy="397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8862" rIns="0" bIns="0" numCol="1" anchor="t" anchorCtr="0" compatLnSpc="1">
            <a:prstTxWarp prst="textNoShape">
              <a:avLst/>
            </a:prstTxWarp>
          </a:bodyPr>
          <a:lstStyle/>
          <a:p>
            <a:pPr lvl="0"/>
            <a:r>
              <a:rPr lang="en-GB" altLang="es-MX"/>
              <a:t>Click to edit the outline text format</a:t>
            </a:r>
          </a:p>
          <a:p>
            <a:pPr lvl="1"/>
            <a:r>
              <a:rPr lang="en-GB" altLang="es-MX"/>
              <a:t>Second Outline Level</a:t>
            </a:r>
          </a:p>
          <a:p>
            <a:pPr lvl="2"/>
            <a:r>
              <a:rPr lang="en-GB" altLang="es-MX"/>
              <a:t>Third Outline Level</a:t>
            </a:r>
          </a:p>
          <a:p>
            <a:pPr lvl="3"/>
            <a:r>
              <a:rPr lang="en-GB" altLang="es-MX"/>
              <a:t>Fourth Outline Level</a:t>
            </a:r>
          </a:p>
          <a:p>
            <a:pPr lvl="4"/>
            <a:r>
              <a:rPr lang="en-GB" altLang="es-MX"/>
              <a:t>Fifth Outline Level</a:t>
            </a:r>
          </a:p>
          <a:p>
            <a:pPr lvl="4"/>
            <a:r>
              <a:rPr lang="en-GB" altLang="es-MX"/>
              <a:t>Sixth Outline Level</a:t>
            </a:r>
          </a:p>
          <a:p>
            <a:pPr lvl="4"/>
            <a:r>
              <a:rPr lang="en-GB" altLang="es-MX"/>
              <a:t>Seventh Outline Level</a:t>
            </a:r>
          </a:p>
        </p:txBody>
      </p:sp>
    </p:spTree>
    <p:extLst>
      <p:ext uri="{BB962C8B-B14F-4D97-AF65-F5344CB8AC3E}">
        <p14:creationId xmlns:p14="http://schemas.microsoft.com/office/powerpoint/2010/main" val="30501572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fontAlgn="base">
        <a:lnSpc>
          <a:spcPct val="83000"/>
        </a:lnSpc>
        <a:spcBef>
          <a:spcPts val="13"/>
        </a:spcBef>
        <a:spcAft>
          <a:spcPts val="13"/>
        </a:spcAft>
        <a:buClr>
          <a:srgbClr val="000000"/>
        </a:buClr>
        <a:buSzPct val="100000"/>
        <a:buFont typeface="Times New Roman" panose="02020603050405020304" pitchFamily="18" charset="0"/>
        <a:defRPr kern="1200">
          <a:solidFill>
            <a:srgbClr val="FFFFFF"/>
          </a:solidFill>
          <a:latin typeface="+mj-lt"/>
          <a:ea typeface="+mj-ea"/>
          <a:cs typeface="+mj-cs"/>
        </a:defRPr>
      </a:lvl1pPr>
      <a:lvl2pPr marL="742950" indent="-28575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2pPr>
      <a:lvl3pPr marL="1143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3pPr>
      <a:lvl4pPr marL="1600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4pPr>
      <a:lvl5pPr marL="20574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5pPr>
      <a:lvl6pPr marL="25146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6pPr>
      <a:lvl7pPr marL="29718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7pPr>
      <a:lvl8pPr marL="3429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8pPr>
      <a:lvl9pPr marL="3886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9pPr>
    </p:titleStyle>
    <p:bodyStyle>
      <a:lvl1pPr marL="342900" indent="-342900" algn="l" rtl="0" fontAlgn="base">
        <a:lnSpc>
          <a:spcPct val="83000"/>
        </a:lnSpc>
        <a:spcBef>
          <a:spcPts val="1425"/>
        </a:spcBef>
        <a:spcAft>
          <a:spcPts val="13"/>
        </a:spcAft>
        <a:buClr>
          <a:srgbClr val="000000"/>
        </a:buClr>
        <a:buSzPct val="100000"/>
        <a:buFont typeface="Times New Roman" panose="02020603050405020304" pitchFamily="18" charset="0"/>
        <a:defRPr kern="1200">
          <a:solidFill>
            <a:srgbClr val="FFFFFF"/>
          </a:solidFill>
          <a:latin typeface="+mn-lt"/>
          <a:ea typeface="+mn-ea"/>
          <a:cs typeface="+mn-cs"/>
        </a:defRPr>
      </a:lvl1pPr>
      <a:lvl2pPr marL="742950" indent="-285750" algn="l" rtl="0" fontAlgn="base">
        <a:lnSpc>
          <a:spcPct val="83000"/>
        </a:lnSpc>
        <a:spcBef>
          <a:spcPts val="1138"/>
        </a:spcBef>
        <a:spcAft>
          <a:spcPts val="13"/>
        </a:spcAft>
        <a:buClr>
          <a:srgbClr val="000000"/>
        </a:buClr>
        <a:buSzPct val="100000"/>
        <a:buFont typeface="Times New Roman" panose="02020603050405020304" pitchFamily="18" charset="0"/>
        <a:defRPr sz="1400" kern="1200">
          <a:solidFill>
            <a:srgbClr val="FFFFFF"/>
          </a:solidFill>
          <a:latin typeface="+mn-lt"/>
          <a:ea typeface="+mn-ea"/>
          <a:cs typeface="+mn-cs"/>
        </a:defRPr>
      </a:lvl2pPr>
      <a:lvl3pPr marL="1143000" indent="-228600" algn="l" rtl="0" fontAlgn="base">
        <a:lnSpc>
          <a:spcPct val="83000"/>
        </a:lnSpc>
        <a:spcBef>
          <a:spcPts val="863"/>
        </a:spcBef>
        <a:spcAft>
          <a:spcPts val="13"/>
        </a:spcAft>
        <a:buClr>
          <a:srgbClr val="000000"/>
        </a:buClr>
        <a:buSzPct val="100000"/>
        <a:buFont typeface="Times New Roman" panose="02020603050405020304" pitchFamily="18" charset="0"/>
        <a:defRPr sz="1200" kern="1200">
          <a:solidFill>
            <a:srgbClr val="FFFFFF"/>
          </a:solidFill>
          <a:latin typeface="+mn-lt"/>
          <a:ea typeface="+mn-ea"/>
          <a:cs typeface="+mn-cs"/>
        </a:defRPr>
      </a:lvl3pPr>
      <a:lvl4pPr marL="1600200" indent="-228600" algn="l" rtl="0" fontAlgn="base">
        <a:lnSpc>
          <a:spcPct val="83000"/>
        </a:lnSpc>
        <a:spcBef>
          <a:spcPts val="575"/>
        </a:spcBef>
        <a:spcAft>
          <a:spcPts val="13"/>
        </a:spcAft>
        <a:buClr>
          <a:srgbClr val="000000"/>
        </a:buClr>
        <a:buSzPct val="100000"/>
        <a:buFont typeface="Times New Roman" panose="02020603050405020304" pitchFamily="18" charset="0"/>
        <a:defRPr sz="1200" kern="1200">
          <a:solidFill>
            <a:srgbClr val="FFFFFF"/>
          </a:solidFill>
          <a:latin typeface="+mn-lt"/>
          <a:ea typeface="+mn-ea"/>
          <a:cs typeface="+mn-cs"/>
        </a:defRPr>
      </a:lvl4pPr>
      <a:lvl5pPr marL="2057400" indent="-228600" algn="l" rtl="0" fontAlgn="base">
        <a:lnSpc>
          <a:spcPct val="83000"/>
        </a:lnSpc>
        <a:spcBef>
          <a:spcPts val="288"/>
        </a:spcBef>
        <a:spcAft>
          <a:spcPts val="13"/>
        </a:spcAft>
        <a:buClr>
          <a:srgbClr val="000000"/>
        </a:buClr>
        <a:buSzPct val="100000"/>
        <a:buFont typeface="Times New Roman" panose="02020603050405020304" pitchFamily="18" charset="0"/>
        <a:defRPr sz="20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pic>
        <p:nvPicPr>
          <p:cNvPr id="2049" name="Picture 1">
            <a:extLst>
              <a:ext uri="{FF2B5EF4-FFF2-40B4-BE49-F238E27FC236}">
                <a16:creationId xmlns:a16="http://schemas.microsoft.com/office/drawing/2014/main" id="{25B85FF0-C1A4-AEFE-EEB0-8B863786E8C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2188825" cy="68564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0" name="Rectangle 2">
            <a:extLst>
              <a:ext uri="{FF2B5EF4-FFF2-40B4-BE49-F238E27FC236}">
                <a16:creationId xmlns:a16="http://schemas.microsoft.com/office/drawing/2014/main" id="{BCD5E67D-2B92-F8A6-7547-81491BD0CC7E}"/>
              </a:ext>
            </a:extLst>
          </p:cNvPr>
          <p:cNvSpPr>
            <a:spLocks noGrp="1" noChangeArrowheads="1"/>
          </p:cNvSpPr>
          <p:nvPr>
            <p:ph type="title"/>
          </p:nvPr>
        </p:nvSpPr>
        <p:spPr bwMode="auto">
          <a:xfrm>
            <a:off x="685800" y="609600"/>
            <a:ext cx="10129838" cy="1454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ltLang="es-MX"/>
              <a:t>Haz clic para modificar el estilo de título del patrón</a:t>
            </a:r>
          </a:p>
        </p:txBody>
      </p:sp>
      <p:sp>
        <p:nvSpPr>
          <p:cNvPr id="2051" name="Rectangle 3">
            <a:extLst>
              <a:ext uri="{FF2B5EF4-FFF2-40B4-BE49-F238E27FC236}">
                <a16:creationId xmlns:a16="http://schemas.microsoft.com/office/drawing/2014/main" id="{58F0655E-1C03-11BB-CC78-AC3757E17889}"/>
              </a:ext>
            </a:extLst>
          </p:cNvPr>
          <p:cNvSpPr>
            <a:spLocks noGrp="1" noChangeArrowheads="1"/>
          </p:cNvSpPr>
          <p:nvPr>
            <p:ph type="body" idx="1"/>
          </p:nvPr>
        </p:nvSpPr>
        <p:spPr bwMode="auto">
          <a:xfrm>
            <a:off x="685800" y="2141538"/>
            <a:ext cx="10129838" cy="3646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ltLang="es-MX"/>
              <a:t>Haga clic para modificar los estilos de texto del patrón</a:t>
            </a:r>
          </a:p>
          <a:p>
            <a:pPr lvl="1"/>
            <a:r>
              <a:rPr lang="en-GB" altLang="es-MX"/>
              <a:t>Segundo nivel</a:t>
            </a:r>
          </a:p>
          <a:p>
            <a:pPr lvl="2"/>
            <a:r>
              <a:rPr lang="en-GB" altLang="es-MX"/>
              <a:t>Tercer nivel</a:t>
            </a:r>
          </a:p>
          <a:p>
            <a:pPr lvl="3"/>
            <a:r>
              <a:rPr lang="en-GB" altLang="es-MX"/>
              <a:t>Cuarto nivel</a:t>
            </a:r>
          </a:p>
          <a:p>
            <a:pPr lvl="4"/>
            <a:r>
              <a:rPr lang="en-GB" altLang="es-MX"/>
              <a:t>Quinto nivel</a:t>
            </a:r>
          </a:p>
        </p:txBody>
      </p:sp>
      <p:sp>
        <p:nvSpPr>
          <p:cNvPr id="2052" name="Rectangle 4">
            <a:extLst>
              <a:ext uri="{FF2B5EF4-FFF2-40B4-BE49-F238E27FC236}">
                <a16:creationId xmlns:a16="http://schemas.microsoft.com/office/drawing/2014/main" id="{115DE7D2-B2D9-9F18-FF9C-B41A1E14500F}"/>
              </a:ext>
            </a:extLst>
          </p:cNvPr>
          <p:cNvSpPr>
            <a:spLocks noGrp="1" noChangeArrowheads="1"/>
          </p:cNvSpPr>
          <p:nvPr>
            <p:ph type="dt"/>
          </p:nvPr>
        </p:nvSpPr>
        <p:spPr bwMode="auto">
          <a:xfrm>
            <a:off x="8589963" y="5870575"/>
            <a:ext cx="1598612"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r" hangingPunct="1">
              <a:lnSpc>
                <a:spcPct val="100000"/>
              </a:lnSpc>
              <a:tabLst>
                <a:tab pos="914400" algn="l"/>
              </a:tabLst>
              <a:defRPr sz="1000">
                <a:solidFill>
                  <a:srgbClr val="FFFFFF"/>
                </a:solidFill>
                <a:latin typeface="+mn-lt"/>
              </a:defRPr>
            </a:lvl1pPr>
          </a:lstStyle>
          <a:p>
            <a:endParaRPr lang="es-MX" altLang="es-MX"/>
          </a:p>
        </p:txBody>
      </p:sp>
      <p:sp>
        <p:nvSpPr>
          <p:cNvPr id="2053" name="Rectangle 5">
            <a:extLst>
              <a:ext uri="{FF2B5EF4-FFF2-40B4-BE49-F238E27FC236}">
                <a16:creationId xmlns:a16="http://schemas.microsoft.com/office/drawing/2014/main" id="{84DAAC68-36B4-0A0C-9E12-ABE2E1FB4E19}"/>
              </a:ext>
            </a:extLst>
          </p:cNvPr>
          <p:cNvSpPr>
            <a:spLocks noGrp="1" noChangeArrowheads="1"/>
          </p:cNvSpPr>
          <p:nvPr>
            <p:ph type="ftr"/>
          </p:nvPr>
        </p:nvSpPr>
        <p:spPr bwMode="auto">
          <a:xfrm>
            <a:off x="685800" y="5870575"/>
            <a:ext cx="7824788"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a:lnSpc>
                <a:spcPct val="100000"/>
              </a:lnSpc>
              <a:tabLst>
                <a:tab pos="914400" algn="l"/>
                <a:tab pos="1828800" algn="l"/>
                <a:tab pos="2743200" algn="l"/>
                <a:tab pos="3657600" algn="l"/>
                <a:tab pos="4572000" algn="l"/>
                <a:tab pos="5486400" algn="l"/>
                <a:tab pos="6400800" algn="l"/>
                <a:tab pos="7315200" algn="l"/>
              </a:tabLst>
              <a:defRPr sz="1400">
                <a:solidFill>
                  <a:srgbClr val="FFFFFF"/>
                </a:solidFill>
                <a:latin typeface="Times New Roman" panose="02020603050405020304" pitchFamily="18" charset="0"/>
              </a:defRPr>
            </a:lvl1pPr>
          </a:lstStyle>
          <a:p>
            <a:endParaRPr lang="en-US" altLang="es-MX"/>
          </a:p>
        </p:txBody>
      </p:sp>
      <p:sp>
        <p:nvSpPr>
          <p:cNvPr id="2054" name="Rectangle 6">
            <a:extLst>
              <a:ext uri="{FF2B5EF4-FFF2-40B4-BE49-F238E27FC236}">
                <a16:creationId xmlns:a16="http://schemas.microsoft.com/office/drawing/2014/main" id="{226BA3B1-03E4-1A42-0C27-7CF17AFD6EC2}"/>
              </a:ext>
            </a:extLst>
          </p:cNvPr>
          <p:cNvSpPr>
            <a:spLocks noGrp="1" noChangeArrowheads="1"/>
          </p:cNvSpPr>
          <p:nvPr>
            <p:ph type="sldNum"/>
          </p:nvPr>
        </p:nvSpPr>
        <p:spPr bwMode="auto">
          <a:xfrm>
            <a:off x="10266363" y="5870575"/>
            <a:ext cx="549275"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r" hangingPunct="1">
              <a:lnSpc>
                <a:spcPct val="100000"/>
              </a:lnSpc>
              <a:defRPr sz="1000">
                <a:solidFill>
                  <a:srgbClr val="FFFFFF"/>
                </a:solidFill>
                <a:latin typeface="+mn-lt"/>
              </a:defRPr>
            </a:lvl1pPr>
          </a:lstStyle>
          <a:p>
            <a:fld id="{2AC59BC7-0FEC-45AD-B9CC-38FADF00DEBE}" type="slidenum">
              <a:rPr lang="es-MX" altLang="es-MX"/>
              <a:pPr/>
              <a:t>‹Nº›</a:t>
            </a:fld>
            <a:endParaRPr lang="es-MX" altLang="es-MX"/>
          </a:p>
        </p:txBody>
      </p:sp>
    </p:spTree>
    <p:extLst>
      <p:ext uri="{BB962C8B-B14F-4D97-AF65-F5344CB8AC3E}">
        <p14:creationId xmlns:p14="http://schemas.microsoft.com/office/powerpoint/2010/main" val="72324890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rtl="0" fontAlgn="base">
        <a:lnSpc>
          <a:spcPct val="83000"/>
        </a:lnSpc>
        <a:spcBef>
          <a:spcPts val="13"/>
        </a:spcBef>
        <a:spcAft>
          <a:spcPts val="13"/>
        </a:spcAft>
        <a:buClr>
          <a:srgbClr val="000000"/>
        </a:buClr>
        <a:buSzPct val="100000"/>
        <a:buFont typeface="Times New Roman" panose="02020603050405020304" pitchFamily="18" charset="0"/>
        <a:defRPr kern="1200">
          <a:solidFill>
            <a:srgbClr val="FFFFFF"/>
          </a:solidFill>
          <a:latin typeface="+mj-lt"/>
          <a:ea typeface="+mj-ea"/>
          <a:cs typeface="+mj-cs"/>
        </a:defRPr>
      </a:lvl1pPr>
      <a:lvl2pPr marL="742950" indent="-28575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2pPr>
      <a:lvl3pPr marL="1143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3pPr>
      <a:lvl4pPr marL="1600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4pPr>
      <a:lvl5pPr marL="20574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5pPr>
      <a:lvl6pPr marL="25146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6pPr>
      <a:lvl7pPr marL="29718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7pPr>
      <a:lvl8pPr marL="3429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8pPr>
      <a:lvl9pPr marL="3886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9pPr>
    </p:titleStyle>
    <p:bodyStyle>
      <a:lvl1pPr marL="342900" indent="-342900" algn="l" rtl="0" fontAlgn="base">
        <a:lnSpc>
          <a:spcPct val="83000"/>
        </a:lnSpc>
        <a:spcBef>
          <a:spcPts val="1425"/>
        </a:spcBef>
        <a:spcAft>
          <a:spcPts val="13"/>
        </a:spcAft>
        <a:buClr>
          <a:srgbClr val="000000"/>
        </a:buClr>
        <a:buSzPct val="100000"/>
        <a:buFont typeface="Times New Roman" panose="02020603050405020304" pitchFamily="18" charset="0"/>
        <a:defRPr kern="1200">
          <a:solidFill>
            <a:srgbClr val="FFFFFF"/>
          </a:solidFill>
          <a:latin typeface="+mn-lt"/>
          <a:ea typeface="+mn-ea"/>
          <a:cs typeface="+mn-cs"/>
        </a:defRPr>
      </a:lvl1pPr>
      <a:lvl2pPr marL="742950" indent="-285750" algn="l" rtl="0" fontAlgn="base">
        <a:lnSpc>
          <a:spcPct val="83000"/>
        </a:lnSpc>
        <a:spcBef>
          <a:spcPts val="1138"/>
        </a:spcBef>
        <a:spcAft>
          <a:spcPts val="13"/>
        </a:spcAft>
        <a:buClr>
          <a:srgbClr val="000000"/>
        </a:buClr>
        <a:buSzPct val="100000"/>
        <a:buFont typeface="Times New Roman" panose="02020603050405020304" pitchFamily="18" charset="0"/>
        <a:defRPr sz="1400" kern="1200">
          <a:solidFill>
            <a:srgbClr val="FFFFFF"/>
          </a:solidFill>
          <a:latin typeface="+mn-lt"/>
          <a:ea typeface="+mn-ea"/>
          <a:cs typeface="+mn-cs"/>
        </a:defRPr>
      </a:lvl2pPr>
      <a:lvl3pPr marL="1143000" indent="-228600" algn="l" rtl="0" fontAlgn="base">
        <a:lnSpc>
          <a:spcPct val="83000"/>
        </a:lnSpc>
        <a:spcBef>
          <a:spcPts val="863"/>
        </a:spcBef>
        <a:spcAft>
          <a:spcPts val="13"/>
        </a:spcAft>
        <a:buClr>
          <a:srgbClr val="000000"/>
        </a:buClr>
        <a:buSzPct val="100000"/>
        <a:buFont typeface="Times New Roman" panose="02020603050405020304" pitchFamily="18" charset="0"/>
        <a:defRPr sz="1200" kern="1200">
          <a:solidFill>
            <a:srgbClr val="FFFFFF"/>
          </a:solidFill>
          <a:latin typeface="+mn-lt"/>
          <a:ea typeface="+mn-ea"/>
          <a:cs typeface="+mn-cs"/>
        </a:defRPr>
      </a:lvl3pPr>
      <a:lvl4pPr marL="1600200" indent="-228600" algn="l" rtl="0" fontAlgn="base">
        <a:lnSpc>
          <a:spcPct val="83000"/>
        </a:lnSpc>
        <a:spcBef>
          <a:spcPts val="575"/>
        </a:spcBef>
        <a:spcAft>
          <a:spcPts val="13"/>
        </a:spcAft>
        <a:buClr>
          <a:srgbClr val="000000"/>
        </a:buClr>
        <a:buSzPct val="100000"/>
        <a:buFont typeface="Times New Roman" panose="02020603050405020304" pitchFamily="18" charset="0"/>
        <a:defRPr sz="1200" kern="1200">
          <a:solidFill>
            <a:srgbClr val="FFFFFF"/>
          </a:solidFill>
          <a:latin typeface="+mn-lt"/>
          <a:ea typeface="+mn-ea"/>
          <a:cs typeface="+mn-cs"/>
        </a:defRPr>
      </a:lvl4pPr>
      <a:lvl5pPr marL="2057400" indent="-228600" algn="l" rtl="0" fontAlgn="base">
        <a:lnSpc>
          <a:spcPct val="83000"/>
        </a:lnSpc>
        <a:spcBef>
          <a:spcPts val="288"/>
        </a:spcBef>
        <a:spcAft>
          <a:spcPts val="13"/>
        </a:spcAft>
        <a:buClr>
          <a:srgbClr val="000000"/>
        </a:buClr>
        <a:buSzPct val="100000"/>
        <a:buFont typeface="Times New Roman" panose="02020603050405020304" pitchFamily="18" charset="0"/>
        <a:defRPr sz="20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20.jpe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36.png"/><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44.png"/><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a:extLst>
              <a:ext uri="{FF2B5EF4-FFF2-40B4-BE49-F238E27FC236}">
                <a16:creationId xmlns:a16="http://schemas.microsoft.com/office/drawing/2014/main" id="{005CA9C9-98A9-261B-A8AF-25B6FA2D3FDC}"/>
              </a:ext>
            </a:extLst>
          </p:cNvPr>
          <p:cNvSpPr>
            <a:spLocks noGrp="1" noChangeArrowheads="1"/>
          </p:cNvSpPr>
          <p:nvPr>
            <p:ph type="title" idx="4294967295"/>
          </p:nvPr>
        </p:nvSpPr>
        <p:spPr>
          <a:xfrm>
            <a:off x="1376597" y="2023672"/>
            <a:ext cx="9438806" cy="1735554"/>
          </a:xfrm>
          <a:ln/>
        </p:spPr>
        <p:txBody>
          <a:bodyPr/>
          <a:lstStyle/>
          <a:p>
            <a:pPr algn="ctr">
              <a:lnSpc>
                <a:spcPct val="100000"/>
              </a:lnSpc>
              <a:tabLst>
                <a:tab pos="914400" algn="l"/>
                <a:tab pos="1828800" algn="l"/>
                <a:tab pos="2743200" algn="l"/>
                <a:tab pos="3657600" algn="l"/>
                <a:tab pos="4572000" algn="l"/>
                <a:tab pos="5486400" algn="l"/>
                <a:tab pos="6400800" algn="l"/>
              </a:tabLst>
            </a:pPr>
            <a:r>
              <a:rPr lang="es-MX" altLang="es-MX" sz="4800" b="1" dirty="0">
                <a:latin typeface="Calibri Light" panose="020F0302020204030204" pitchFamily="34" charset="0"/>
              </a:rPr>
              <a:t>Tema II:</a:t>
            </a:r>
            <a:r>
              <a:rPr lang="es-MX" altLang="es-MX" sz="4800" dirty="0">
                <a:latin typeface="Calibri Light" panose="020F0302020204030204" pitchFamily="34" charset="0"/>
              </a:rPr>
              <a:t> Modelos lineales de Series de tiempo</a:t>
            </a:r>
          </a:p>
        </p:txBody>
      </p:sp>
      <p:sp>
        <p:nvSpPr>
          <p:cNvPr id="4098" name="Rectangle 2">
            <a:extLst>
              <a:ext uri="{FF2B5EF4-FFF2-40B4-BE49-F238E27FC236}">
                <a16:creationId xmlns:a16="http://schemas.microsoft.com/office/drawing/2014/main" id="{3302BB3D-8301-EB20-E13D-020E37BE50E8}"/>
              </a:ext>
            </a:extLst>
          </p:cNvPr>
          <p:cNvSpPr>
            <a:spLocks noGrp="1" noChangeArrowheads="1"/>
          </p:cNvSpPr>
          <p:nvPr>
            <p:ph type="subTitle" idx="4294967295"/>
          </p:nvPr>
        </p:nvSpPr>
        <p:spPr>
          <a:xfrm>
            <a:off x="9881015" y="3348637"/>
            <a:ext cx="1189219" cy="410589"/>
          </a:xfrm>
          <a:ln/>
        </p:spPr>
        <p:txBody>
          <a:bodyPr lIns="91440" tIns="45720" rIns="91440" bIns="45720"/>
          <a:lstStyle/>
          <a:p>
            <a:pPr marL="0" indent="0" algn="ctr">
              <a:lnSpc>
                <a:spcPct val="100000"/>
              </a:lnSpc>
              <a:spcBef>
                <a:spcPts val="13"/>
              </a:spcBef>
              <a:spcAft>
                <a:spcPts val="1013"/>
              </a:spcAft>
              <a:tabLst>
                <a:tab pos="0" algn="l"/>
                <a:tab pos="914400" algn="l"/>
                <a:tab pos="1828800" algn="l"/>
                <a:tab pos="2743200" algn="l"/>
                <a:tab pos="3657600" algn="l"/>
                <a:tab pos="4572000" algn="l"/>
                <a:tab pos="5486400" algn="l"/>
                <a:tab pos="6400800" algn="l"/>
              </a:tabLst>
            </a:pPr>
            <a:r>
              <a:rPr lang="es-MX" altLang="es-MX" b="1" i="1" dirty="0"/>
              <a:t>(PRÁXIS)</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A9D7D229-EEDB-443E-0B79-911E5F52CE0B}"/>
              </a:ext>
            </a:extLst>
          </p:cNvPr>
          <p:cNvSpPr>
            <a:spLocks noGrp="1" noChangeArrowheads="1"/>
          </p:cNvSpPr>
          <p:nvPr>
            <p:ph type="title"/>
          </p:nvPr>
        </p:nvSpPr>
        <p:spPr>
          <a:xfrm>
            <a:off x="615638" y="105947"/>
            <a:ext cx="2697189" cy="690978"/>
          </a:xfrm>
          <a:ln/>
        </p:spPr>
        <p:txBody>
          <a:bodyPr/>
          <a:lstStyle/>
          <a:p>
            <a:pPr>
              <a:lnSpc>
                <a:spcPct val="100000"/>
              </a:lnSpc>
              <a:tabLst>
                <a:tab pos="914400" algn="l"/>
                <a:tab pos="1828800" algn="l"/>
                <a:tab pos="2743200" algn="l"/>
                <a:tab pos="3657600" algn="l"/>
              </a:tabLst>
            </a:pPr>
            <a:r>
              <a:rPr lang="es-MX" altLang="es-MX" sz="3600" b="1" dirty="0">
                <a:solidFill>
                  <a:schemeClr val="accent1">
                    <a:lumMod val="60000"/>
                    <a:lumOff val="40000"/>
                  </a:schemeClr>
                </a:solidFill>
                <a:latin typeface="Calibri Light" panose="020F0302020204030204" pitchFamily="34" charset="0"/>
              </a:rPr>
              <a:t>Preliminares</a:t>
            </a:r>
          </a:p>
        </p:txBody>
      </p:sp>
      <p:pic>
        <p:nvPicPr>
          <p:cNvPr id="5123" name="Picture 3">
            <a:extLst>
              <a:ext uri="{FF2B5EF4-FFF2-40B4-BE49-F238E27FC236}">
                <a16:creationId xmlns:a16="http://schemas.microsoft.com/office/drawing/2014/main" id="{F468E87D-2CAC-370C-C3AA-2A2477FA506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030" t="4511" r="5887" b="50206"/>
          <a:stretch/>
        </p:blipFill>
        <p:spPr bwMode="auto">
          <a:xfrm>
            <a:off x="6096000" y="1109272"/>
            <a:ext cx="4990681" cy="2533338"/>
          </a:xfrm>
          <a:prstGeom prst="rect">
            <a:avLst/>
          </a:prstGeom>
          <a:noFill/>
          <a:effectLst>
            <a:outerShdw algn="ctr" rotWithShape="0">
              <a:srgbClr val="000000">
                <a:alpha val="43031"/>
              </a:srgbClr>
            </a:outerShdw>
          </a:effectLst>
          <a:extLst>
            <a:ext uri="{909E8E84-426E-40DD-AFC4-6F175D3DCCD1}">
              <a14:hiddenFill xmlns:a14="http://schemas.microsoft.com/office/drawing/2010/main">
                <a:blipFill dpi="0" rotWithShape="0">
                  <a:blip/>
                  <a:srcRect/>
                  <a:stretch>
                    <a:fillRect/>
                  </a:stretch>
                </a:blipFill>
              </a14:hiddenFill>
            </a:ext>
          </a:extLst>
        </p:spPr>
      </p:pic>
      <p:sp>
        <p:nvSpPr>
          <p:cNvPr id="2" name="Text Box 2">
            <a:extLst>
              <a:ext uri="{FF2B5EF4-FFF2-40B4-BE49-F238E27FC236}">
                <a16:creationId xmlns:a16="http://schemas.microsoft.com/office/drawing/2014/main" id="{27F59C97-9E80-B69A-A91E-A43756595293}"/>
              </a:ext>
            </a:extLst>
          </p:cNvPr>
          <p:cNvSpPr txBox="1">
            <a:spLocks noChangeArrowheads="1"/>
          </p:cNvSpPr>
          <p:nvPr/>
        </p:nvSpPr>
        <p:spPr bwMode="auto">
          <a:xfrm>
            <a:off x="615637" y="1917634"/>
            <a:ext cx="4002087" cy="17829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9pPr>
          </a:lstStyle>
          <a:p>
            <a:pPr marL="0" marR="0" lvl="0" indent="0" algn="l" defTabSz="914400" rtl="0" eaLnBrk="1" fontAlgn="base" latinLnBrk="0" hangingPunct="1">
              <a:lnSpc>
                <a:spcPct val="90000"/>
              </a:lnSpc>
              <a:spcBef>
                <a:spcPts val="13"/>
              </a:spcBef>
              <a:spcAft>
                <a:spcPts val="1013"/>
              </a:spcAft>
              <a:buClr>
                <a:srgbClr val="FFFFFF"/>
              </a:buClr>
              <a:buSzPct val="100000"/>
              <a:tabLst>
                <a:tab pos="914400" algn="l"/>
                <a:tab pos="1828800" algn="l"/>
                <a:tab pos="2743200" algn="l"/>
                <a:tab pos="3657600" algn="l"/>
              </a:tabLst>
              <a:defRPr/>
            </a:pPr>
            <a:r>
              <a:rPr kumimoji="0" lang="es-MX" altLang="es-MX" sz="1700" b="1" i="0" u="none" strike="noStrike" kern="1200" cap="none" spc="0" normalizeH="0" baseline="0" noProof="0" dirty="0">
                <a:ln>
                  <a:noFill/>
                </a:ln>
                <a:solidFill>
                  <a:srgbClr val="FFFFFF"/>
                </a:solidFill>
                <a:effectLst/>
                <a:uLnTx/>
                <a:uFillTx/>
                <a:latin typeface="Calibri" panose="020F0502020204030204" pitchFamily="34" charset="0"/>
                <a:ea typeface="+mn-ea"/>
              </a:rPr>
              <a:t>Ejemplos típicos: </a:t>
            </a:r>
          </a:p>
          <a:p>
            <a:pPr marR="0" lvl="0" algn="l" defTabSz="914400" rtl="0" eaLnBrk="1" fontAlgn="base" latinLnBrk="0" hangingPunct="1">
              <a:lnSpc>
                <a:spcPct val="9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Lst>
              <a:defRPr/>
            </a:pPr>
            <a:r>
              <a:rPr kumimoji="0" lang="es-MX" altLang="es-MX" sz="1700" b="0" i="0" u="none" strike="noStrike" kern="1200" cap="none" spc="0" normalizeH="0" baseline="0" noProof="0" dirty="0">
                <a:ln>
                  <a:noFill/>
                </a:ln>
                <a:solidFill>
                  <a:srgbClr val="FFFFFF"/>
                </a:solidFill>
                <a:effectLst/>
                <a:uLnTx/>
                <a:uFillTx/>
                <a:latin typeface="Calibri" panose="020F0502020204030204" pitchFamily="34" charset="0"/>
                <a:ea typeface="+mn-ea"/>
              </a:rPr>
              <a:t>IPC</a:t>
            </a:r>
          </a:p>
          <a:p>
            <a:pPr marR="0" lvl="0" algn="l" defTabSz="914400" rtl="0" eaLnBrk="1" fontAlgn="base" latinLnBrk="0" hangingPunct="1">
              <a:lnSpc>
                <a:spcPct val="9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Lst>
              <a:defRPr/>
            </a:pPr>
            <a:r>
              <a:rPr kumimoji="0" lang="es-MX" altLang="es-MX" sz="1700" b="0" i="0" u="none" strike="noStrike" kern="1200" cap="none" spc="0" normalizeH="0" baseline="0" noProof="0" dirty="0">
                <a:ln>
                  <a:noFill/>
                </a:ln>
                <a:solidFill>
                  <a:srgbClr val="FFFFFF"/>
                </a:solidFill>
                <a:effectLst/>
                <a:uLnTx/>
                <a:uFillTx/>
                <a:latin typeface="Calibri" panose="020F0502020204030204" pitchFamily="34" charset="0"/>
                <a:ea typeface="+mn-ea"/>
              </a:rPr>
              <a:t>PIB</a:t>
            </a:r>
          </a:p>
          <a:p>
            <a:pPr marR="0" lvl="0" algn="l" defTabSz="914400" rtl="0" eaLnBrk="1" fontAlgn="base" latinLnBrk="0" hangingPunct="1">
              <a:lnSpc>
                <a:spcPct val="9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Lst>
              <a:defRPr/>
            </a:pPr>
            <a:r>
              <a:rPr kumimoji="0" lang="es-MX" altLang="es-MX" sz="1700" b="0" i="0" u="none" strike="noStrike" kern="1200" cap="none" spc="0" normalizeH="0" baseline="0" noProof="0" dirty="0">
                <a:ln>
                  <a:noFill/>
                </a:ln>
                <a:solidFill>
                  <a:srgbClr val="FFFFFF"/>
                </a:solidFill>
                <a:effectLst/>
                <a:uLnTx/>
                <a:uFillTx/>
                <a:latin typeface="Calibri" panose="020F0502020204030204" pitchFamily="34" charset="0"/>
                <a:ea typeface="+mn-ea"/>
              </a:rPr>
              <a:t>oferta monetaria</a:t>
            </a:r>
            <a:endParaRPr lang="es-MX" altLang="es-MX" sz="1700" dirty="0">
              <a:solidFill>
                <a:srgbClr val="FFFFFF"/>
              </a:solidFill>
              <a:latin typeface="Calibri" panose="020F0502020204030204" pitchFamily="34" charset="0"/>
            </a:endParaRPr>
          </a:p>
        </p:txBody>
      </p:sp>
      <p:sp>
        <p:nvSpPr>
          <p:cNvPr id="3" name="Text Box 2">
            <a:extLst>
              <a:ext uri="{FF2B5EF4-FFF2-40B4-BE49-F238E27FC236}">
                <a16:creationId xmlns:a16="http://schemas.microsoft.com/office/drawing/2014/main" id="{428128BA-FA59-9CD3-B640-7CB9CDDEA95E}"/>
              </a:ext>
            </a:extLst>
          </p:cNvPr>
          <p:cNvSpPr txBox="1">
            <a:spLocks noChangeArrowheads="1"/>
          </p:cNvSpPr>
          <p:nvPr/>
        </p:nvSpPr>
        <p:spPr bwMode="auto">
          <a:xfrm>
            <a:off x="615637" y="853886"/>
            <a:ext cx="4990683" cy="1006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9pPr>
          </a:lstStyle>
          <a:p>
            <a:pPr marL="0" marR="0" lvl="0" indent="0" defTabSz="914400" rtl="0" eaLnBrk="1" fontAlgn="base" latinLnBrk="0" hangingPunct="1">
              <a:lnSpc>
                <a:spcPct val="90000"/>
              </a:lnSpc>
              <a:spcBef>
                <a:spcPts val="13"/>
              </a:spcBef>
              <a:spcAft>
                <a:spcPts val="1013"/>
              </a:spcAft>
              <a:buClr>
                <a:srgbClr val="FFFFFF"/>
              </a:buClr>
              <a:buSzPct val="100000"/>
              <a:tabLst>
                <a:tab pos="914400" algn="l"/>
                <a:tab pos="1828800" algn="l"/>
                <a:tab pos="2743200" algn="l"/>
                <a:tab pos="3657600" algn="l"/>
              </a:tabLst>
              <a:defRPr/>
            </a:pPr>
            <a:r>
              <a:rPr lang="es-MX" altLang="es-MX" dirty="0">
                <a:solidFill>
                  <a:srgbClr val="FFFFFF"/>
                </a:solidFill>
                <a:latin typeface="Calibri" panose="020F0502020204030204" pitchFamily="34" charset="0"/>
              </a:rPr>
              <a:t>También llamadas </a:t>
            </a:r>
            <a:r>
              <a:rPr lang="es-MX" altLang="es-MX" b="1" dirty="0">
                <a:solidFill>
                  <a:srgbClr val="FFFFFF"/>
                </a:solidFill>
                <a:latin typeface="Calibri" panose="020F0502020204030204" pitchFamily="34" charset="0"/>
              </a:rPr>
              <a:t>Datos Longitudinales </a:t>
            </a:r>
            <a:r>
              <a:rPr lang="es-MX" altLang="es-MX" dirty="0">
                <a:solidFill>
                  <a:srgbClr val="FFFFFF"/>
                </a:solidFill>
                <a:latin typeface="Calibri" panose="020F0502020204030204" pitchFamily="34" charset="0"/>
              </a:rPr>
              <a:t>son secuencias de datos observados en intervalos de tiempo y ordenados cronológicamente. </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rPr>
              <a:t> </a:t>
            </a:r>
          </a:p>
        </p:txBody>
      </p:sp>
      <p:sp>
        <p:nvSpPr>
          <p:cNvPr id="5" name="CuadroTexto 4">
            <a:extLst>
              <a:ext uri="{FF2B5EF4-FFF2-40B4-BE49-F238E27FC236}">
                <a16:creationId xmlns:a16="http://schemas.microsoft.com/office/drawing/2014/main" id="{57A34BAA-4A59-8169-B79D-7FEE9D76C7CC}"/>
              </a:ext>
            </a:extLst>
          </p:cNvPr>
          <p:cNvSpPr txBox="1"/>
          <p:nvPr/>
        </p:nvSpPr>
        <p:spPr>
          <a:xfrm>
            <a:off x="5119871" y="374277"/>
            <a:ext cx="6093500" cy="590931"/>
          </a:xfrm>
          <a:prstGeom prst="rect">
            <a:avLst/>
          </a:prstGeom>
          <a:noFill/>
        </p:spPr>
        <p:txBody>
          <a:bodyPr wrap="square">
            <a:spAutoFit/>
          </a:bodyPr>
          <a:lstStyle/>
          <a:p>
            <a:pPr marL="0" marR="0" lvl="0" indent="0" algn="l" defTabSz="914400" rtl="0" eaLnBrk="1" fontAlgn="base" latinLnBrk="0" hangingPunct="1">
              <a:lnSpc>
                <a:spcPct val="90000"/>
              </a:lnSpc>
              <a:spcBef>
                <a:spcPts val="13"/>
              </a:spcBef>
              <a:spcAft>
                <a:spcPts val="1013"/>
              </a:spcAft>
              <a:buClr>
                <a:srgbClr val="FFFFFF"/>
              </a:buClr>
              <a:buSzPct val="100000"/>
              <a:tabLst>
                <a:tab pos="914400" algn="l"/>
                <a:tab pos="1828800" algn="l"/>
                <a:tab pos="2743200" algn="l"/>
                <a:tab pos="3657600" algn="l"/>
              </a:tabLst>
              <a:defRPr/>
            </a:pPr>
            <a:r>
              <a:rPr lang="es-MX" altLang="es-MX" sz="1800" dirty="0">
                <a:solidFill>
                  <a:srgbClr val="FFFFFF"/>
                </a:solidFill>
                <a:latin typeface="Calibri" panose="020F0502020204030204" pitchFamily="34" charset="0"/>
              </a:rPr>
              <a:t>Normalmente las series de tiempo se representan en gráficos para analizar la evolución temporal de los datos.</a:t>
            </a:r>
            <a:endPar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p:sp>
        <p:nvSpPr>
          <p:cNvPr id="7" name="CuadroTexto 6">
            <a:extLst>
              <a:ext uri="{FF2B5EF4-FFF2-40B4-BE49-F238E27FC236}">
                <a16:creationId xmlns:a16="http://schemas.microsoft.com/office/drawing/2014/main" id="{47D44214-BF75-0DBE-64C6-A505214682EA}"/>
              </a:ext>
            </a:extLst>
          </p:cNvPr>
          <p:cNvSpPr txBox="1"/>
          <p:nvPr/>
        </p:nvSpPr>
        <p:spPr>
          <a:xfrm>
            <a:off x="2751944" y="2454872"/>
            <a:ext cx="3099216" cy="1474250"/>
          </a:xfrm>
          <a:prstGeom prst="rect">
            <a:avLst/>
          </a:prstGeom>
          <a:noFill/>
        </p:spPr>
        <p:txBody>
          <a:bodyPr wrap="square">
            <a:spAutoFit/>
          </a:bodyPr>
          <a:lstStyle/>
          <a:p>
            <a:pPr marL="285750" marR="0" lvl="0" indent="-285750" algn="l" defTabSz="914400" rtl="0" eaLnBrk="1" fontAlgn="base" latinLnBrk="0" hangingPunct="1">
              <a:lnSpc>
                <a:spcPct val="9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evolución de un organismo</a:t>
            </a:r>
            <a:endParaRPr lang="es-MX" altLang="es-MX" sz="1800" dirty="0">
              <a:solidFill>
                <a:srgbClr val="FFFFFF"/>
              </a:solidFill>
              <a:latin typeface="Calibri" panose="020F0502020204030204" pitchFamily="34" charset="0"/>
            </a:endParaRPr>
          </a:p>
          <a:p>
            <a:pPr marL="285750" marR="0" lvl="0" indent="-285750" algn="l" defTabSz="914400" rtl="0" eaLnBrk="1" fontAlgn="base" latinLnBrk="0" hangingPunct="1">
              <a:lnSpc>
                <a:spcPct val="9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índices bursátiles</a:t>
            </a:r>
            <a:endParaRPr lang="es-MX" altLang="es-MX" sz="1800" dirty="0">
              <a:solidFill>
                <a:srgbClr val="FFFFFF"/>
              </a:solidFill>
              <a:latin typeface="Calibri" panose="020F0502020204030204" pitchFamily="34" charset="0"/>
            </a:endParaRPr>
          </a:p>
          <a:p>
            <a:pPr marL="285750" marR="0" lvl="0" indent="-285750" algn="l" defTabSz="914400" rtl="0" eaLnBrk="1" fontAlgn="base" latinLnBrk="0" hangingPunct="1">
              <a:lnSpc>
                <a:spcPct val="9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tasas anuales de delitos</a:t>
            </a:r>
            <a:r>
              <a:rPr lang="es-MX" altLang="es-MX" sz="1800" dirty="0">
                <a:solidFill>
                  <a:srgbClr val="FFFFFF"/>
                </a:solidFill>
                <a:latin typeface="Calibri" panose="020F0502020204030204" pitchFamily="34" charset="0"/>
              </a:rPr>
              <a:t> </a:t>
            </a:r>
          </a:p>
          <a:p>
            <a:pPr marL="285750" marR="0" lvl="0" indent="-285750" algn="l" defTabSz="914400" rtl="0" eaLnBrk="1" fontAlgn="base" latinLnBrk="0" hangingPunct="1">
              <a:lnSpc>
                <a:spcPct val="9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cifras sobre ventas, etc.  </a:t>
            </a:r>
          </a:p>
        </p:txBody>
      </p:sp>
      <p:sp>
        <p:nvSpPr>
          <p:cNvPr id="8" name="Rectangle 1">
            <a:extLst>
              <a:ext uri="{FF2B5EF4-FFF2-40B4-BE49-F238E27FC236}">
                <a16:creationId xmlns:a16="http://schemas.microsoft.com/office/drawing/2014/main" id="{BB24F4C0-953D-5FA5-3CFA-2F1342B11ABC}"/>
              </a:ext>
            </a:extLst>
          </p:cNvPr>
          <p:cNvSpPr txBox="1">
            <a:spLocks noChangeArrowheads="1"/>
          </p:cNvSpPr>
          <p:nvPr/>
        </p:nvSpPr>
        <p:spPr bwMode="auto">
          <a:xfrm>
            <a:off x="7296176" y="3929122"/>
            <a:ext cx="4486094"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lnSpc>
                <a:spcPct val="83000"/>
              </a:lnSpc>
              <a:spcBef>
                <a:spcPts val="13"/>
              </a:spcBef>
              <a:spcAft>
                <a:spcPts val="13"/>
              </a:spcAft>
              <a:buClr>
                <a:srgbClr val="000000"/>
              </a:buClr>
              <a:buSzPct val="100000"/>
              <a:buFont typeface="Times New Roman" panose="02020603050405020304" pitchFamily="18" charset="0"/>
              <a:defRPr kern="1200">
                <a:solidFill>
                  <a:srgbClr val="FFFFFF"/>
                </a:solidFill>
                <a:latin typeface="+mj-lt"/>
                <a:ea typeface="+mj-ea"/>
                <a:cs typeface="+mj-cs"/>
              </a:defRPr>
            </a:lvl1pPr>
            <a:lvl2pPr marL="742950" indent="-28575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2pPr>
            <a:lvl3pPr marL="1143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3pPr>
            <a:lvl4pPr marL="1600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4pPr>
            <a:lvl5pPr marL="20574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5pPr>
            <a:lvl6pPr marL="25146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6pPr>
            <a:lvl7pPr marL="29718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7pPr>
            <a:lvl8pPr marL="3429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8pPr>
            <a:lvl9pPr marL="3886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9pPr>
          </a:lstStyle>
          <a:p>
            <a:pP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lumMod val="60000"/>
                    <a:lumOff val="40000"/>
                  </a:schemeClr>
                </a:solidFill>
                <a:latin typeface="Calibri Light" panose="020F0302020204030204" pitchFamily="34" charset="0"/>
              </a:rPr>
              <a:t>Algunas características</a:t>
            </a:r>
          </a:p>
        </p:txBody>
      </p:sp>
      <p:sp>
        <p:nvSpPr>
          <p:cNvPr id="9" name="Text Box 2">
            <a:extLst>
              <a:ext uri="{FF2B5EF4-FFF2-40B4-BE49-F238E27FC236}">
                <a16:creationId xmlns:a16="http://schemas.microsoft.com/office/drawing/2014/main" id="{A1F8450D-D506-409D-4044-07929B24AF13}"/>
              </a:ext>
            </a:extLst>
          </p:cNvPr>
          <p:cNvSpPr txBox="1">
            <a:spLocks noChangeArrowheads="1"/>
          </p:cNvSpPr>
          <p:nvPr/>
        </p:nvSpPr>
        <p:spPr bwMode="auto">
          <a:xfrm>
            <a:off x="955256" y="4520053"/>
            <a:ext cx="10131425" cy="17829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285750" marR="0" lvl="0" indent="-285750" algn="l" defTabSz="914400" rtl="0" eaLnBrk="1" fontAlgn="base" latinLnBrk="0" hangingPunct="1">
              <a:lnSpc>
                <a:spcPct val="100000"/>
              </a:lnSpc>
              <a:spcBef>
                <a:spcPts val="13"/>
              </a:spcBef>
              <a:spcAft>
                <a:spcPts val="1013"/>
              </a:spcAft>
              <a:buClr>
                <a:srgbClr val="FFFFFF"/>
              </a:buClr>
              <a:buSzPct val="100000"/>
              <a:buFont typeface="Wingdings" panose="05000000000000000000"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La mayoría de las series temporales </a:t>
            </a:r>
            <a:r>
              <a:rPr kumimoji="0" lang="es-MX" altLang="es-MX" b="0" i="1" u="none" strike="noStrike" kern="1200" cap="none" spc="0" normalizeH="0" baseline="0" noProof="0" dirty="0">
                <a:ln>
                  <a:noFill/>
                </a:ln>
                <a:solidFill>
                  <a:srgbClr val="FFFFFF"/>
                </a:solidFill>
                <a:effectLst/>
                <a:uLnTx/>
                <a:uFillTx/>
                <a:latin typeface="Calibri" panose="020F0502020204030204" pitchFamily="34" charset="0"/>
                <a:ea typeface="+mn-ea"/>
              </a:rPr>
              <a:t>(económicas o no)</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están relacionadas con su historia reciente </a:t>
            </a:r>
            <a:r>
              <a:rPr kumimoji="0" lang="es-MX" altLang="es-MX" b="0" i="1" u="none" strike="noStrike" kern="1200" cap="none" spc="0" normalizeH="0" baseline="0" noProof="0" dirty="0">
                <a:ln>
                  <a:noFill/>
                </a:ln>
                <a:solidFill>
                  <a:srgbClr val="FFFFFF"/>
                </a:solidFill>
                <a:effectLst/>
                <a:uLnTx/>
                <a:uFillTx/>
                <a:latin typeface="Calibri" panose="020F0502020204030204" pitchFamily="34" charset="0"/>
                <a:ea typeface="+mn-ea"/>
              </a:rPr>
              <a:t>(generalmente muy correlacionadas)</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p>
          <a:p>
            <a:pPr marL="285750" marR="0" lvl="0" indent="-285750" algn="l" defTabSz="914400" rtl="0" eaLnBrk="1" fontAlgn="base" latinLnBrk="0" hangingPunct="1">
              <a:lnSpc>
                <a:spcPct val="100000"/>
              </a:lnSpc>
              <a:spcBef>
                <a:spcPts val="13"/>
              </a:spcBef>
              <a:spcAft>
                <a:spcPts val="1013"/>
              </a:spcAft>
              <a:buClr>
                <a:srgbClr val="FFFFFF"/>
              </a:buClr>
              <a:buSzPct val="100000"/>
              <a:buFont typeface="Wingdings" panose="05000000000000000000"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Periodicidad suelen ser en minuto, hora, diario, semanal, mensual, bimestral, etc.</a:t>
            </a:r>
          </a:p>
          <a:p>
            <a:pPr marL="285750" marR="0" lvl="0" indent="-285750" algn="l" defTabSz="914400" rtl="0" eaLnBrk="1" fontAlgn="base" latinLnBrk="0" hangingPunct="1">
              <a:lnSpc>
                <a:spcPct val="100000"/>
              </a:lnSpc>
              <a:spcBef>
                <a:spcPts val="13"/>
              </a:spcBef>
              <a:spcAft>
                <a:spcPts val="1013"/>
              </a:spcAft>
              <a:buClr>
                <a:srgbClr val="FFFFFF"/>
              </a:buClr>
              <a:buSzPct val="100000"/>
              <a:buFont typeface="Wingdings" panose="05000000000000000000"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s-MX" altLang="es-MX" dirty="0">
                <a:solidFill>
                  <a:srgbClr val="FFFFFF"/>
                </a:solidFill>
                <a:latin typeface="Calibri" panose="020F0502020204030204" pitchFamily="34" charset="0"/>
              </a:rPr>
              <a:t>Para este caso la Variable Explicativa no estará en función de una Cualitativa o Cuantitativa; sino en función del tiempo.</a:t>
            </a:r>
            <a:endPar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a:extLst>
              <a:ext uri="{FF2B5EF4-FFF2-40B4-BE49-F238E27FC236}">
                <a16:creationId xmlns:a16="http://schemas.microsoft.com/office/drawing/2014/main" id="{C21326EB-5FF4-7B0B-2B1A-165E02DADC48}"/>
              </a:ext>
            </a:extLst>
          </p:cNvPr>
          <p:cNvSpPr>
            <a:spLocks noGrp="1" noChangeArrowheads="1"/>
          </p:cNvSpPr>
          <p:nvPr>
            <p:ph type="title"/>
          </p:nvPr>
        </p:nvSpPr>
        <p:spPr>
          <a:xfrm>
            <a:off x="490928" y="358853"/>
            <a:ext cx="7798633" cy="709534"/>
          </a:xfrm>
          <a:ln/>
        </p:spPr>
        <p:txBody>
          <a:bodyPr/>
          <a:lstStyle/>
          <a:p>
            <a:pP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lumMod val="60000"/>
                    <a:lumOff val="40000"/>
                  </a:schemeClr>
                </a:solidFill>
                <a:latin typeface="Calibri Light" panose="020F0302020204030204" pitchFamily="34" charset="0"/>
              </a:rPr>
              <a:t>Descomposición de una serie de tiempo</a:t>
            </a:r>
          </a:p>
        </p:txBody>
      </p:sp>
      <mc:AlternateContent xmlns:mc="http://schemas.openxmlformats.org/markup-compatibility/2006" xmlns:a14="http://schemas.microsoft.com/office/drawing/2010/main">
        <mc:Choice Requires="a14">
          <p:sp>
            <p:nvSpPr>
              <p:cNvPr id="7170" name="Text Box 2">
                <a:extLst>
                  <a:ext uri="{FF2B5EF4-FFF2-40B4-BE49-F238E27FC236}">
                    <a16:creationId xmlns:a16="http://schemas.microsoft.com/office/drawing/2014/main" id="{D4DA9FFF-E99E-8EA2-9F7E-47F31446C3EE}"/>
                  </a:ext>
                </a:extLst>
              </p:cNvPr>
              <p:cNvSpPr txBox="1">
                <a:spLocks noChangeArrowheads="1"/>
              </p:cNvSpPr>
              <p:nvPr/>
            </p:nvSpPr>
            <p:spPr bwMode="auto">
              <a:xfrm>
                <a:off x="281067" y="1645130"/>
                <a:ext cx="11186407" cy="1234893"/>
              </a:xfrm>
              <a:prstGeom prst="rect">
                <a:avLst/>
              </a:prstGeom>
              <a:noFill/>
              <a:ln>
                <a:noFill/>
              </a:ln>
              <a:effectLst/>
              <a:extLst>
                <a:ext uri="{909E8E84-426E-40DD-AFC4-6F175D3DCCD1}">
                  <a14:hiddenFill>
                    <a:solidFill>
                      <a:srgbClr val="FFFFFF"/>
                    </a:solidFill>
                  </a14:hiddenFill>
                </a:ext>
                <a:ext uri="{91240B29-F687-4F45-9708-019B960494DF}">
                  <a14:hiddenLine w="9525" cap="flat">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nchor="ctr"/>
              <a:lstStyle>
                <a:lvl1pPr marL="2857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342900" indent="-342900" fontAlgn="base">
                  <a:spcBef>
                    <a:spcPts val="13"/>
                  </a:spcBef>
                  <a:spcAft>
                    <a:spcPts val="1013"/>
                  </a:spcAft>
                  <a:buClr>
                    <a:srgbClr val="000000"/>
                  </a:buClr>
                  <a:buSzPct val="100000"/>
                  <a:buFont typeface="Wingdings" panose="05000000000000000000" pitchFamily="2" charset="2"/>
                  <a:buChar char="q"/>
                  <a:defRPr/>
                </a:pPr>
                <a:r>
                  <a:rPr kumimoji="0" lang="es-MX" altLang="es-MX" b="1" i="0" u="none" strike="noStrike" kern="1200" cap="none" spc="0" normalizeH="0" baseline="0" noProof="0" dirty="0">
                    <a:ln>
                      <a:noFill/>
                    </a:ln>
                    <a:solidFill>
                      <a:srgbClr val="FFFFFF"/>
                    </a:solidFill>
                    <a:effectLst/>
                    <a:highlight>
                      <a:srgbClr val="800080"/>
                    </a:highlight>
                    <a:uLnTx/>
                    <a:uFillTx/>
                    <a:latin typeface="Calibri" panose="020F0502020204030204" pitchFamily="34" charset="0"/>
                  </a:rPr>
                  <a:t>Tendencia:</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rPr>
                  <a:t> la conocemos como la evolución que tiene nuestra serie;</a:t>
                </a:r>
                <a:r>
                  <a:rPr kumimoji="0" lang="es-MX" altLang="es-MX" b="0" i="0" u="none" strike="noStrike" kern="1200" cap="none" spc="0" normalizeH="0" noProof="0" dirty="0">
                    <a:ln>
                      <a:noFill/>
                    </a:ln>
                    <a:solidFill>
                      <a:srgbClr val="FFFFFF"/>
                    </a:solidFill>
                    <a:effectLst/>
                    <a:uLnTx/>
                    <a:uFillTx/>
                    <a:latin typeface="Calibri" panose="020F0502020204030204" pitchFamily="34" charset="0"/>
                  </a:rPr>
                  <a:t> es decir, v</a:t>
                </a:r>
                <a:r>
                  <a:rPr lang="es-MX" altLang="es-MX" dirty="0" err="1">
                    <a:solidFill>
                      <a:srgbClr val="FFFFFF"/>
                    </a:solidFill>
                    <a:latin typeface="Calibri" panose="020F0502020204030204" pitchFamily="34" charset="0"/>
                  </a:rPr>
                  <a:t>iene</a:t>
                </a:r>
                <a:r>
                  <a:rPr lang="es-MX" altLang="es-MX" dirty="0">
                    <a:solidFill>
                      <a:srgbClr val="FFFFFF"/>
                    </a:solidFill>
                    <a:latin typeface="Calibri" panose="020F0502020204030204" pitchFamily="34" charset="0"/>
                  </a:rPr>
                  <a:t> dada por el movimiento general a largo plazo de la serie. P</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rPr>
                  <a:t>ero para nuestro caso será nada mas que la pendiente que representa </a:t>
                </a:r>
                <a14:m>
                  <m:oMath xmlns:m="http://schemas.openxmlformats.org/officeDocument/2006/math">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𝐸</m:t>
                    </m:r>
                    <m:d>
                      <m:dPr>
                        <m:begChr m:val="["/>
                        <m:endChr m:val="]"/>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d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𝑌</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𝑋</m:t>
                        </m:r>
                      </m:e>
                    </m:d>
                  </m:oMath>
                </a14:m>
                <a:r>
                  <a:rPr lang="es-MX" altLang="es-MX" dirty="0">
                    <a:solidFill>
                      <a:srgbClr val="FFFFFF"/>
                    </a:solidFill>
                    <a:latin typeface="Calibri" panose="020F0502020204030204" pitchFamily="34" charset="0"/>
                  </a:rPr>
                  <a:t>.</a:t>
                </a:r>
              </a:p>
              <a:p>
                <a:pPr marL="342900" marR="0" lvl="0" indent="-342900" algn="l" defTabSz="914400" rtl="0" eaLnBrk="1" fontAlgn="base" latinLnBrk="0" hangingPunct="1">
                  <a:lnSpc>
                    <a:spcPct val="100000"/>
                  </a:lnSpc>
                  <a:spcBef>
                    <a:spcPts val="13"/>
                  </a:spcBef>
                  <a:spcAft>
                    <a:spcPts val="1013"/>
                  </a:spcAft>
                  <a:buClr>
                    <a:srgbClr val="000000"/>
                  </a:buClr>
                  <a:buSzPct val="100000"/>
                  <a:buFont typeface="Wingdings" panose="05000000000000000000" pitchFamily="2" charset="2"/>
                  <a:buChar char="q"/>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1" i="0" u="none" strike="noStrike" kern="1200" cap="none" spc="0" normalizeH="0" baseline="0" noProof="0" dirty="0">
                    <a:ln>
                      <a:noFill/>
                    </a:ln>
                    <a:solidFill>
                      <a:srgbClr val="FFFFFF"/>
                    </a:solidFill>
                    <a:effectLst/>
                    <a:highlight>
                      <a:srgbClr val="800080"/>
                    </a:highlight>
                    <a:uLnTx/>
                    <a:uFillTx/>
                    <a:latin typeface="Calibri" panose="020F0502020204030204" pitchFamily="34" charset="0"/>
                  </a:rPr>
                  <a:t>Variación:</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rPr>
                  <a:t> en palabras simples será un cambio de valor con respecto a la tendencia de los datos. </a:t>
                </a:r>
              </a:p>
            </p:txBody>
          </p:sp>
        </mc:Choice>
        <mc:Fallback xmlns="">
          <p:sp>
            <p:nvSpPr>
              <p:cNvPr id="7170" name="Text Box 2">
                <a:extLst>
                  <a:ext uri="{FF2B5EF4-FFF2-40B4-BE49-F238E27FC236}">
                    <a16:creationId xmlns:a16="http://schemas.microsoft.com/office/drawing/2014/main" id="{D4DA9FFF-E99E-8EA2-9F7E-47F31446C3EE}"/>
                  </a:ext>
                </a:extLst>
              </p:cNvPr>
              <p:cNvSpPr txBox="1">
                <a:spLocks noRot="1" noChangeAspect="1" noMove="1" noResize="1" noEditPoints="1" noAdjustHandles="1" noChangeArrowheads="1" noChangeShapeType="1" noTextEdit="1"/>
              </p:cNvSpPr>
              <p:nvPr/>
            </p:nvSpPr>
            <p:spPr bwMode="auto">
              <a:xfrm>
                <a:off x="281067" y="1645130"/>
                <a:ext cx="11186407" cy="1234893"/>
              </a:xfrm>
              <a:prstGeom prst="rect">
                <a:avLst/>
              </a:prstGeom>
              <a:blipFill>
                <a:blip r:embed="rId3"/>
                <a:stretch>
                  <a:fillRect l="-327" b="-495"/>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p:sp>
        <p:nvSpPr>
          <p:cNvPr id="7171" name="AutoShape 3">
            <a:extLst>
              <a:ext uri="{FF2B5EF4-FFF2-40B4-BE49-F238E27FC236}">
                <a16:creationId xmlns:a16="http://schemas.microsoft.com/office/drawing/2014/main" id="{97136082-F023-D6E2-D02D-8F7E94501C7C}"/>
              </a:ext>
            </a:extLst>
          </p:cNvPr>
          <p:cNvSpPr>
            <a:spLocks noChangeArrowheads="1"/>
          </p:cNvSpPr>
          <p:nvPr/>
        </p:nvSpPr>
        <p:spPr bwMode="auto">
          <a:xfrm>
            <a:off x="2290763" y="3913188"/>
            <a:ext cx="363537" cy="1406525"/>
          </a:xfrm>
          <a:custGeom>
            <a:avLst/>
            <a:gdLst>
              <a:gd name="G0" fmla="+- 0 0 50000"/>
              <a:gd name="G1" fmla="+- 32767 0 50000"/>
              <a:gd name="G2" fmla="?: G1 50000 32767"/>
              <a:gd name="G3" fmla="?: G0 0 G1"/>
              <a:gd name="G4" fmla="+- 32767 0 G3"/>
              <a:gd name="G5" fmla="min G4 G3"/>
              <a:gd name="G6" fmla="*/ G5 1 2"/>
              <a:gd name="G7" fmla="min 1011 3906"/>
              <a:gd name="G8" fmla="*/ G6 3906 1"/>
              <a:gd name="G9" fmla="*/ G8 1 G7"/>
              <a:gd name="G10" fmla="+- 0 0 8333"/>
              <a:gd name="G11" fmla="+- G9 0 8333"/>
              <a:gd name="G12" fmla="?: G11 8333 G9"/>
              <a:gd name="G13" fmla="?: G10 0 G11"/>
              <a:gd name="G14" fmla="*/ G7 G13 1"/>
              <a:gd name="G15" fmla="*/ G14 1 32767"/>
              <a:gd name="G16" fmla="*/ 3906 G3 1"/>
              <a:gd name="G17" fmla="*/ G16 1 32767"/>
              <a:gd name="G18" fmla="+- G17 G15 0"/>
              <a:gd name="G19" fmla="+- G18 0 0"/>
              <a:gd name="G20" fmla="*/ 1011 1 2"/>
              <a:gd name="G21" fmla="*/ 1 48365 11520"/>
              <a:gd name="G22" fmla="*/ G21 32767 1"/>
              <a:gd name="G23" fmla="*/ G22 1 32767"/>
              <a:gd name="G24" fmla="cos G20 G23"/>
              <a:gd name="G25" fmla="*/ 1 48365 11520"/>
              <a:gd name="G26" fmla="*/ G25 32767 1"/>
              <a:gd name="G27" fmla="*/ G26 1 32767"/>
              <a:gd name="G28" fmla="sin G15 G27"/>
              <a:gd name="G29" fmla="+- 1011 0 G24"/>
              <a:gd name="G30" fmla="+- G15 0 G28"/>
              <a:gd name="G31" fmla="+- 3906 G28 0"/>
              <a:gd name="G32" fmla="+- G31 0 G15"/>
              <a:gd name="G33" fmla="*/ 1011 1 2"/>
              <a:gd name="G34" fmla="+- 1011 0 0"/>
              <a:gd name="G35" fmla="+- 3906 0 0"/>
              <a:gd name="G36" fmla="+- 90 0 0"/>
              <a:gd name="G37" fmla="+- 90 0 0"/>
              <a:gd name="G38" fmla="+- 0 0 0"/>
              <a:gd name="G39" fmla="+- 65446 0 0"/>
              <a:gd name="G40" fmla="+- 90 0 0"/>
              <a:gd name="G41" fmla="+- 65446 0 0"/>
              <a:gd name="G42" fmla="+- 180 0 0"/>
              <a:gd name="G43" fmla="+- 90 0 0"/>
              <a:gd name="G44" fmla="+- 90 0 0"/>
              <a:gd name="G45" fmla="+- 90 0 0"/>
              <a:gd name="G46" fmla="+- 0 0 0"/>
              <a:gd name="G47" fmla="+- 65446 0 0"/>
              <a:gd name="G48" fmla="+- 90 0 0"/>
              <a:gd name="G49" fmla="+- 65446 0 0"/>
              <a:gd name="G50" fmla="+- 180 0 0"/>
              <a:gd name="G51" fmla="+- 90 0 0"/>
            </a:gdLst>
            <a:ahLst/>
            <a:cxnLst>
              <a:cxn ang="0">
                <a:pos x="r" y="vc"/>
              </a:cxn>
              <a:cxn ang="5400000">
                <a:pos x="hc" y="b"/>
              </a:cxn>
              <a:cxn ang="10800000">
                <a:pos x="l" y="vc"/>
              </a:cxn>
              <a:cxn ang="16200000">
                <a:pos x="hc" y="t"/>
              </a:cxn>
            </a:cxnLst>
            <a:rect l="0" t="0" r="0" b="0"/>
            <a:pathLst>
              <a:path stroke="0">
                <a:moveTo>
                  <a:pt x="1011" y="3906"/>
                </a:moveTo>
                <a:lnTo>
                  <a:pt x="506" y="-1284"/>
                </a:lnTo>
                <a:lnTo>
                  <a:pt x="90" y="90"/>
                </a:lnTo>
                <a:lnTo>
                  <a:pt x="506" y="-3338"/>
                </a:lnTo>
                <a:lnTo>
                  <a:pt x="506" y="-1284"/>
                </a:lnTo>
                <a:lnTo>
                  <a:pt x="0" y="65446"/>
                </a:lnTo>
                <a:lnTo>
                  <a:pt x="506" y="-1284"/>
                </a:lnTo>
                <a:close/>
              </a:path>
              <a:path fill="none">
                <a:moveTo>
                  <a:pt x="90" y="65446"/>
                </a:moveTo>
                <a:lnTo>
                  <a:pt x="506" y="-1284"/>
                </a:lnTo>
                <a:lnTo>
                  <a:pt x="180" y="90"/>
                </a:lnTo>
                <a:lnTo>
                  <a:pt x="1011" y="3906"/>
                </a:lnTo>
                <a:lnTo>
                  <a:pt x="506" y="-1284"/>
                </a:lnTo>
                <a:lnTo>
                  <a:pt x="90" y="90"/>
                </a:lnTo>
              </a:path>
            </a:pathLst>
          </a:custGeom>
          <a:noFill/>
          <a:ln w="19080" cap="rnd">
            <a:solidFill>
              <a:srgbClr val="DD9D3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a:pPr>
            <a:endParaRPr kumimoji="0" lang="es-MX" sz="1800" b="0" i="0" u="none" strike="noStrike" kern="1200" cap="none" spc="0" normalizeH="0" baseline="0" noProof="0">
              <a:ln>
                <a:noFill/>
              </a:ln>
              <a:solidFill>
                <a:srgbClr val="000000"/>
              </a:solidFill>
              <a:effectLst/>
              <a:uLnTx/>
              <a:uFillTx/>
              <a:latin typeface="Arial" panose="020B0604020202020204" pitchFamily="34" charset="0"/>
              <a:ea typeface="+mn-ea"/>
            </a:endParaRPr>
          </a:p>
        </p:txBody>
      </p:sp>
      <p:sp>
        <p:nvSpPr>
          <p:cNvPr id="3" name="CuadroTexto 2">
            <a:extLst>
              <a:ext uri="{FF2B5EF4-FFF2-40B4-BE49-F238E27FC236}">
                <a16:creationId xmlns:a16="http://schemas.microsoft.com/office/drawing/2014/main" id="{2B89E7A2-85D7-DAAD-7A04-175462AEE00D}"/>
              </a:ext>
            </a:extLst>
          </p:cNvPr>
          <p:cNvSpPr txBox="1"/>
          <p:nvPr/>
        </p:nvSpPr>
        <p:spPr>
          <a:xfrm>
            <a:off x="1165486" y="1068387"/>
            <a:ext cx="9096245" cy="369332"/>
          </a:xfrm>
          <a:prstGeom prst="rect">
            <a:avLst/>
          </a:prstGeom>
          <a:noFill/>
        </p:spPr>
        <p:txBody>
          <a:bodyPr wrap="square">
            <a:spAutoFit/>
          </a:bodyPr>
          <a:lstStyle/>
          <a:p>
            <a:pPr marL="285750" marR="0" lvl="0" indent="-285750" algn="l"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Al igual que en una regresión lineal, es posible ver los componentes básicos de ella que son 2:</a:t>
            </a:r>
          </a:p>
        </p:txBody>
      </p:sp>
      <p:pic>
        <p:nvPicPr>
          <p:cNvPr id="1026" name="Picture 2" descr="Análisis de series de tiempo">
            <a:extLst>
              <a:ext uri="{FF2B5EF4-FFF2-40B4-BE49-F238E27FC236}">
                <a16:creationId xmlns:a16="http://schemas.microsoft.com/office/drawing/2014/main" id="{E783B6F7-A936-41BC-A6DA-88DF5F9B7D4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13" t="44019" r="1936" b="1504"/>
          <a:stretch/>
        </p:blipFill>
        <p:spPr bwMode="auto">
          <a:xfrm>
            <a:off x="4722628" y="3087434"/>
            <a:ext cx="6625652" cy="2833142"/>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CC262376-9D86-C99B-A0DA-036B97A28E28}"/>
              </a:ext>
            </a:extLst>
          </p:cNvPr>
          <p:cNvSpPr txBox="1"/>
          <p:nvPr/>
        </p:nvSpPr>
        <p:spPr>
          <a:xfrm>
            <a:off x="801571" y="3155664"/>
            <a:ext cx="3467502" cy="646331"/>
          </a:xfrm>
          <a:prstGeom prst="rect">
            <a:avLst/>
          </a:prstGeom>
          <a:noFill/>
        </p:spPr>
        <p:txBody>
          <a:bodyPr wrap="square">
            <a:spAutoFit/>
          </a:bodyPr>
          <a:lstStyle/>
          <a:p>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rPr>
              <a:t>Para este apartado se divide en 3 tipos:</a:t>
            </a:r>
            <a:endParaRPr lang="es-MX" dirty="0"/>
          </a:p>
        </p:txBody>
      </p:sp>
      <p:sp>
        <p:nvSpPr>
          <p:cNvPr id="7" name="CuadroTexto 6">
            <a:extLst>
              <a:ext uri="{FF2B5EF4-FFF2-40B4-BE49-F238E27FC236}">
                <a16:creationId xmlns:a16="http://schemas.microsoft.com/office/drawing/2014/main" id="{E9394000-1150-B751-A365-AD750E0036FB}"/>
              </a:ext>
            </a:extLst>
          </p:cNvPr>
          <p:cNvSpPr txBox="1"/>
          <p:nvPr/>
        </p:nvSpPr>
        <p:spPr>
          <a:xfrm>
            <a:off x="9030934" y="4378081"/>
            <a:ext cx="1156975" cy="369332"/>
          </a:xfrm>
          <a:prstGeom prst="rect">
            <a:avLst/>
          </a:prstGeom>
          <a:noFill/>
        </p:spPr>
        <p:txBody>
          <a:bodyPr wrap="square">
            <a:spAutoFit/>
          </a:bodyPr>
          <a:lstStyle/>
          <a:p>
            <a:r>
              <a:rPr kumimoji="0" lang="es-MX" altLang="es-MX" b="1" i="0" u="none" strike="noStrike" kern="1200" cap="none" spc="0" normalizeH="0" baseline="0" noProof="0" dirty="0">
                <a:ln>
                  <a:noFill/>
                </a:ln>
                <a:solidFill>
                  <a:srgbClr val="FFFFFF"/>
                </a:solidFill>
                <a:effectLst/>
                <a:highlight>
                  <a:srgbClr val="800080"/>
                </a:highlight>
                <a:uLnTx/>
                <a:uFillTx/>
                <a:latin typeface="Calibri" panose="020F0502020204030204" pitchFamily="34" charset="0"/>
              </a:rPr>
              <a:t>Tendencia</a:t>
            </a:r>
            <a:endParaRPr lang="es-MX" dirty="0"/>
          </a:p>
        </p:txBody>
      </p:sp>
      <p:sp>
        <p:nvSpPr>
          <p:cNvPr id="8" name="CuadroTexto 7">
            <a:extLst>
              <a:ext uri="{FF2B5EF4-FFF2-40B4-BE49-F238E27FC236}">
                <a16:creationId xmlns:a16="http://schemas.microsoft.com/office/drawing/2014/main" id="{3CF20863-EF25-706F-82D3-3FA95D3B7F40}"/>
              </a:ext>
            </a:extLst>
          </p:cNvPr>
          <p:cNvSpPr txBox="1"/>
          <p:nvPr/>
        </p:nvSpPr>
        <p:spPr>
          <a:xfrm>
            <a:off x="6137832" y="3901528"/>
            <a:ext cx="1118133" cy="369332"/>
          </a:xfrm>
          <a:prstGeom prst="rect">
            <a:avLst/>
          </a:prstGeom>
          <a:noFill/>
        </p:spPr>
        <p:txBody>
          <a:bodyPr wrap="square">
            <a:spAutoFit/>
          </a:bodyPr>
          <a:lstStyle/>
          <a:p>
            <a:r>
              <a:rPr lang="en-US" b="1" dirty="0">
                <a:solidFill>
                  <a:srgbClr val="FFFFFF"/>
                </a:solidFill>
                <a:highlight>
                  <a:srgbClr val="800080"/>
                </a:highlight>
                <a:latin typeface="Calibri" panose="020F0502020204030204" pitchFamily="34" charset="0"/>
              </a:rPr>
              <a:t>V</a:t>
            </a:r>
            <a:r>
              <a:rPr lang="es-MX" b="1" dirty="0" err="1">
                <a:solidFill>
                  <a:srgbClr val="FFFFFF"/>
                </a:solidFill>
                <a:highlight>
                  <a:srgbClr val="800080"/>
                </a:highlight>
                <a:latin typeface="Calibri" panose="020F0502020204030204" pitchFamily="34" charset="0"/>
              </a:rPr>
              <a:t>ariacion</a:t>
            </a:r>
            <a:endParaRPr lang="es-MX" dirty="0"/>
          </a:p>
        </p:txBody>
      </p:sp>
      <p:sp>
        <p:nvSpPr>
          <p:cNvPr id="9" name="CuadroTexto 8">
            <a:extLst>
              <a:ext uri="{FF2B5EF4-FFF2-40B4-BE49-F238E27FC236}">
                <a16:creationId xmlns:a16="http://schemas.microsoft.com/office/drawing/2014/main" id="{B16CF92F-64D8-FEBF-D13D-181C66F916F3}"/>
              </a:ext>
            </a:extLst>
          </p:cNvPr>
          <p:cNvSpPr txBox="1"/>
          <p:nvPr/>
        </p:nvSpPr>
        <p:spPr>
          <a:xfrm>
            <a:off x="843720" y="4147248"/>
            <a:ext cx="2971798" cy="1200329"/>
          </a:xfrm>
          <a:prstGeom prst="rect">
            <a:avLst/>
          </a:prstGeom>
          <a:noFill/>
        </p:spPr>
        <p:txBody>
          <a:bodyPr wrap="square">
            <a:spAutoFit/>
          </a:bodyPr>
          <a:lstStyle/>
          <a:p>
            <a:pPr marL="342900" indent="-342900">
              <a:buFont typeface="Wingdings" panose="05000000000000000000" pitchFamily="2" charset="2"/>
              <a:buChar char="Ø"/>
            </a:pPr>
            <a:r>
              <a:rPr lang="en-US" sz="2400" b="1" dirty="0" err="1">
                <a:solidFill>
                  <a:schemeClr val="accent1"/>
                </a:solidFill>
              </a:rPr>
              <a:t>Estacionalidad</a:t>
            </a:r>
            <a:endParaRPr lang="en-US" sz="2400" b="1" dirty="0">
              <a:solidFill>
                <a:schemeClr val="accent1"/>
              </a:solidFill>
            </a:endParaRPr>
          </a:p>
          <a:p>
            <a:pPr marL="342900" indent="-342900">
              <a:buFont typeface="Wingdings" panose="05000000000000000000" pitchFamily="2" charset="2"/>
              <a:buChar char="Ø"/>
            </a:pPr>
            <a:r>
              <a:rPr lang="en-US" sz="2400" b="1" dirty="0" err="1">
                <a:solidFill>
                  <a:schemeClr val="accent1"/>
                </a:solidFill>
              </a:rPr>
              <a:t>Ciclica</a:t>
            </a:r>
            <a:endParaRPr lang="en-US" sz="2400" b="1" dirty="0">
              <a:solidFill>
                <a:schemeClr val="accent1"/>
              </a:solidFill>
            </a:endParaRPr>
          </a:p>
          <a:p>
            <a:pPr marL="342900" indent="-342900">
              <a:buFont typeface="Wingdings" panose="05000000000000000000" pitchFamily="2" charset="2"/>
              <a:buChar char="Ø"/>
            </a:pPr>
            <a:r>
              <a:rPr lang="en-US" sz="2400" b="1" dirty="0">
                <a:solidFill>
                  <a:schemeClr val="accent1"/>
                </a:solidFill>
              </a:rPr>
              <a:t>Irregular</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217" name="Rectangle 1">
            <a:extLst>
              <a:ext uri="{FF2B5EF4-FFF2-40B4-BE49-F238E27FC236}">
                <a16:creationId xmlns:a16="http://schemas.microsoft.com/office/drawing/2014/main" id="{F3CB49CA-4FC1-759F-DB2F-F7E599FF8D0B}"/>
              </a:ext>
            </a:extLst>
          </p:cNvPr>
          <p:cNvSpPr>
            <a:spLocks noGrp="1" noChangeArrowheads="1"/>
          </p:cNvSpPr>
          <p:nvPr>
            <p:ph type="title"/>
          </p:nvPr>
        </p:nvSpPr>
        <p:spPr>
          <a:xfrm>
            <a:off x="418292" y="221386"/>
            <a:ext cx="4963177" cy="735949"/>
          </a:xfrm>
          <a:ln/>
        </p:spPr>
        <p:txBody>
          <a:bodyPr/>
          <a:lstStyle/>
          <a:p>
            <a:pPr>
              <a:lnSpc>
                <a:spcPct val="100000"/>
              </a:lnSpc>
              <a:tabLst>
                <a:tab pos="914400" algn="l"/>
                <a:tab pos="1828800" algn="l"/>
                <a:tab pos="2743200" algn="l"/>
                <a:tab pos="3657600" algn="l"/>
              </a:tabLst>
            </a:pPr>
            <a:r>
              <a:rPr lang="es-MX" altLang="es-MX" sz="3600" dirty="0">
                <a:latin typeface="Calibri Light" panose="020F0302020204030204" pitchFamily="34" charset="0"/>
              </a:rPr>
              <a:t>Estacionalidad y Cíclica</a:t>
            </a:r>
          </a:p>
        </p:txBody>
      </p:sp>
      <p:sp>
        <p:nvSpPr>
          <p:cNvPr id="9218" name="Text Box 2">
            <a:extLst>
              <a:ext uri="{FF2B5EF4-FFF2-40B4-BE49-F238E27FC236}">
                <a16:creationId xmlns:a16="http://schemas.microsoft.com/office/drawing/2014/main" id="{3358108A-A327-5C6A-E90C-90A230492A8C}"/>
              </a:ext>
            </a:extLst>
          </p:cNvPr>
          <p:cNvSpPr txBox="1">
            <a:spLocks noChangeArrowheads="1"/>
          </p:cNvSpPr>
          <p:nvPr/>
        </p:nvSpPr>
        <p:spPr bwMode="auto">
          <a:xfrm>
            <a:off x="684883" y="957335"/>
            <a:ext cx="6982146" cy="19057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9pPr>
          </a:lstStyle>
          <a:p>
            <a:pPr marL="0" marR="0" lvl="0" indent="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Son patrones de oscilaciones que se producen en un tiempo determinado y de forma periódica.</a:t>
            </a:r>
            <a:endParaRPr lang="es-MX" altLang="es-MX" dirty="0">
              <a:solidFill>
                <a:srgbClr val="FFFFFF"/>
              </a:solidFill>
              <a:latin typeface="Calibri" panose="020F0502020204030204" pitchFamily="34" charset="0"/>
            </a:endParaRPr>
          </a:p>
          <a:p>
            <a:pPr marL="0" marR="0" lvl="0" indent="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La diferencia entre algo estacional o cíclico es el hecho de su duración….</a:t>
            </a:r>
            <a:endParaRPr lang="es-MX" altLang="es-MX" dirty="0">
              <a:solidFill>
                <a:srgbClr val="FFFFFF"/>
              </a:solidFill>
              <a:latin typeface="Calibri" panose="020F0502020204030204" pitchFamily="34" charset="0"/>
            </a:endParaRPr>
          </a:p>
          <a:p>
            <a:pPr marR="0" lvl="0" algn="l" defTabSz="914400" rtl="0" eaLnBrk="1" fontAlgn="base" latinLnBrk="0" hangingPunct="1">
              <a:lnSpc>
                <a:spcPct val="100000"/>
              </a:lnSpc>
              <a:spcBef>
                <a:spcPts val="13"/>
              </a:spcBef>
              <a:spcAft>
                <a:spcPts val="1013"/>
              </a:spcAft>
              <a:buClr>
                <a:srgbClr val="FFFFFF"/>
              </a:buClr>
              <a:buSzPct val="100000"/>
              <a:buFont typeface="Wingdings" panose="05000000000000000000" pitchFamily="2" charset="2"/>
              <a:buChar char="v"/>
              <a:tabLst>
                <a:tab pos="914400" algn="l"/>
                <a:tab pos="1828800" algn="l"/>
                <a:tab pos="2743200" algn="l"/>
                <a:tab pos="3657600" algn="l"/>
              </a:tabLst>
              <a:defRPr/>
            </a:pPr>
            <a:r>
              <a:rPr kumimoji="0" lang="es-MX" altLang="es-MX" sz="1800" b="1" i="0" u="none" strike="noStrike" kern="1200" cap="none" spc="0" normalizeH="0" baseline="0" noProof="0" dirty="0">
                <a:ln>
                  <a:noFill/>
                </a:ln>
                <a:solidFill>
                  <a:srgbClr val="FFFFFF"/>
                </a:solidFill>
                <a:effectLst/>
                <a:uLnTx/>
                <a:uFillTx/>
                <a:latin typeface="Calibri" panose="020F0502020204030204" pitchFamily="34" charset="0"/>
                <a:ea typeface="+mn-ea"/>
              </a:rPr>
              <a:t>Estacional:</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de periodos menor al ano.</a:t>
            </a:r>
          </a:p>
          <a:p>
            <a:pPr marR="0" lvl="0" algn="l" defTabSz="914400" rtl="0" eaLnBrk="1" fontAlgn="base" latinLnBrk="0" hangingPunct="1">
              <a:lnSpc>
                <a:spcPct val="100000"/>
              </a:lnSpc>
              <a:spcBef>
                <a:spcPts val="13"/>
              </a:spcBef>
              <a:spcAft>
                <a:spcPts val="1013"/>
              </a:spcAft>
              <a:buClr>
                <a:srgbClr val="FFFFFF"/>
              </a:buClr>
              <a:buSzPct val="100000"/>
              <a:buFont typeface="Wingdings" panose="05000000000000000000" pitchFamily="2" charset="2"/>
              <a:buChar char="v"/>
              <a:tabLst>
                <a:tab pos="914400" algn="l"/>
                <a:tab pos="1828800" algn="l"/>
                <a:tab pos="2743200" algn="l"/>
                <a:tab pos="3657600" algn="l"/>
              </a:tabLst>
              <a:defRPr/>
            </a:pPr>
            <a:r>
              <a:rPr lang="es-MX" altLang="es-MX" b="1" dirty="0">
                <a:solidFill>
                  <a:srgbClr val="FFFFFF"/>
                </a:solidFill>
                <a:latin typeface="Calibri" panose="020F0502020204030204" pitchFamily="34" charset="0"/>
              </a:rPr>
              <a:t>Cíclico:</a:t>
            </a:r>
            <a:r>
              <a:rPr lang="es-MX" altLang="es-MX" dirty="0">
                <a:solidFill>
                  <a:srgbClr val="FFFFFF"/>
                </a:solidFill>
                <a:latin typeface="Calibri" panose="020F0502020204030204" pitchFamily="34" charset="0"/>
              </a:rPr>
              <a:t> Supera un ano en duración de su periodo.</a:t>
            </a:r>
            <a:endPar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p:graphicFrame>
        <p:nvGraphicFramePr>
          <p:cNvPr id="9219" name="Object 3">
            <a:extLst>
              <a:ext uri="{FF2B5EF4-FFF2-40B4-BE49-F238E27FC236}">
                <a16:creationId xmlns:a16="http://schemas.microsoft.com/office/drawing/2014/main" id="{DE34BA0C-CB36-E326-92DA-25D7E7C88FA6}"/>
              </a:ext>
            </a:extLst>
          </p:cNvPr>
          <p:cNvGraphicFramePr>
            <a:graphicFrameLocks noChangeAspect="1"/>
          </p:cNvGraphicFramePr>
          <p:nvPr>
            <p:extLst>
              <p:ext uri="{D42A27DB-BD31-4B8C-83A1-F6EECF244321}">
                <p14:modId xmlns:p14="http://schemas.microsoft.com/office/powerpoint/2010/main" val="3816625384"/>
              </p:ext>
            </p:extLst>
          </p:nvPr>
        </p:nvGraphicFramePr>
        <p:xfrm>
          <a:off x="7667029" y="337432"/>
          <a:ext cx="4187465" cy="3657447"/>
        </p:xfrm>
        <a:graphic>
          <a:graphicData uri="http://schemas.openxmlformats.org/presentationml/2006/ole">
            <mc:AlternateContent xmlns:mc="http://schemas.openxmlformats.org/markup-compatibility/2006">
              <mc:Choice xmlns:v="urn:schemas-microsoft-com:vml" Requires="v">
                <p:oleObj r:id="rId4" imgW="6095520" imgH="5103000" progId="">
                  <p:embed/>
                </p:oleObj>
              </mc:Choice>
              <mc:Fallback>
                <p:oleObj r:id="rId4" imgW="6095520" imgH="5103000" progId="">
                  <p:embed/>
                  <p:pic>
                    <p:nvPicPr>
                      <p:cNvPr id="9219" name="Object 3">
                        <a:extLst>
                          <a:ext uri="{FF2B5EF4-FFF2-40B4-BE49-F238E27FC236}">
                            <a16:creationId xmlns:a16="http://schemas.microsoft.com/office/drawing/2014/main" id="{DE34BA0C-CB36-E326-92DA-25D7E7C88F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67029" y="337432"/>
                        <a:ext cx="4187465" cy="3657447"/>
                      </a:xfrm>
                      <a:prstGeom prst="rect">
                        <a:avLst/>
                      </a:prstGeom>
                      <a:noFill/>
                      <a:effectLst/>
                    </p:spPr>
                  </p:pic>
                </p:oleObj>
              </mc:Fallback>
            </mc:AlternateContent>
          </a:graphicData>
        </a:graphic>
      </p:graphicFrame>
      <p:sp>
        <p:nvSpPr>
          <p:cNvPr id="12" name="Forma libre: forma 11">
            <a:extLst>
              <a:ext uri="{FF2B5EF4-FFF2-40B4-BE49-F238E27FC236}">
                <a16:creationId xmlns:a16="http://schemas.microsoft.com/office/drawing/2014/main" id="{1DDF945B-8E06-FA7D-48EB-C4C53B4AE18F}"/>
              </a:ext>
            </a:extLst>
          </p:cNvPr>
          <p:cNvSpPr/>
          <p:nvPr/>
        </p:nvSpPr>
        <p:spPr bwMode="auto">
          <a:xfrm>
            <a:off x="8099658" y="1141572"/>
            <a:ext cx="3223661" cy="1333383"/>
          </a:xfrm>
          <a:custGeom>
            <a:avLst/>
            <a:gdLst>
              <a:gd name="connsiteX0" fmla="*/ 0 w 3786187"/>
              <a:gd name="connsiteY0" fmla="*/ 1499036 h 1515503"/>
              <a:gd name="connsiteX1" fmla="*/ 180975 w 3786187"/>
              <a:gd name="connsiteY1" fmla="*/ 1403786 h 1515503"/>
              <a:gd name="connsiteX2" fmla="*/ 314325 w 3786187"/>
              <a:gd name="connsiteY2" fmla="*/ 660836 h 1515503"/>
              <a:gd name="connsiteX3" fmla="*/ 495300 w 3786187"/>
              <a:gd name="connsiteY3" fmla="*/ 3611 h 1515503"/>
              <a:gd name="connsiteX4" fmla="*/ 642937 w 3786187"/>
              <a:gd name="connsiteY4" fmla="*/ 398898 h 1515503"/>
              <a:gd name="connsiteX5" fmla="*/ 828675 w 3786187"/>
              <a:gd name="connsiteY5" fmla="*/ 446523 h 1515503"/>
              <a:gd name="connsiteX6" fmla="*/ 981075 w 3786187"/>
              <a:gd name="connsiteY6" fmla="*/ 413186 h 1515503"/>
              <a:gd name="connsiteX7" fmla="*/ 1157287 w 3786187"/>
              <a:gd name="connsiteY7" fmla="*/ 475098 h 1515503"/>
              <a:gd name="connsiteX8" fmla="*/ 1323975 w 3786187"/>
              <a:gd name="connsiteY8" fmla="*/ 517961 h 1515503"/>
              <a:gd name="connsiteX9" fmla="*/ 1495425 w 3786187"/>
              <a:gd name="connsiteY9" fmla="*/ 408423 h 1515503"/>
              <a:gd name="connsiteX10" fmla="*/ 1643062 w 3786187"/>
              <a:gd name="connsiteY10" fmla="*/ 646548 h 1515503"/>
              <a:gd name="connsiteX11" fmla="*/ 1814512 w 3786187"/>
              <a:gd name="connsiteY11" fmla="*/ 1194236 h 1515503"/>
              <a:gd name="connsiteX12" fmla="*/ 1985962 w 3786187"/>
              <a:gd name="connsiteY12" fmla="*/ 1118036 h 1515503"/>
              <a:gd name="connsiteX13" fmla="*/ 2138362 w 3786187"/>
              <a:gd name="connsiteY13" fmla="*/ 1308536 h 1515503"/>
              <a:gd name="connsiteX14" fmla="*/ 2300287 w 3786187"/>
              <a:gd name="connsiteY14" fmla="*/ 556061 h 1515503"/>
              <a:gd name="connsiteX15" fmla="*/ 2466975 w 3786187"/>
              <a:gd name="connsiteY15" fmla="*/ 65523 h 1515503"/>
              <a:gd name="connsiteX16" fmla="*/ 2624137 w 3786187"/>
              <a:gd name="connsiteY16" fmla="*/ 136961 h 1515503"/>
              <a:gd name="connsiteX17" fmla="*/ 2800350 w 3786187"/>
              <a:gd name="connsiteY17" fmla="*/ 270311 h 1515503"/>
              <a:gd name="connsiteX18" fmla="*/ 2952750 w 3786187"/>
              <a:gd name="connsiteY18" fmla="*/ 684648 h 1515503"/>
              <a:gd name="connsiteX19" fmla="*/ 3114675 w 3786187"/>
              <a:gd name="connsiteY19" fmla="*/ 689411 h 1515503"/>
              <a:gd name="connsiteX20" fmla="*/ 3295650 w 3786187"/>
              <a:gd name="connsiteY20" fmla="*/ 613211 h 1515503"/>
              <a:gd name="connsiteX21" fmla="*/ 3462337 w 3786187"/>
              <a:gd name="connsiteY21" fmla="*/ 708461 h 1515503"/>
              <a:gd name="connsiteX22" fmla="*/ 3619500 w 3786187"/>
              <a:gd name="connsiteY22" fmla="*/ 1227573 h 1515503"/>
              <a:gd name="connsiteX23" fmla="*/ 3786187 w 3786187"/>
              <a:gd name="connsiteY23" fmla="*/ 1413311 h 1515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786187" h="1515503">
                <a:moveTo>
                  <a:pt x="0" y="1499036"/>
                </a:moveTo>
                <a:cubicBezTo>
                  <a:pt x="64293" y="1521261"/>
                  <a:pt x="128587" y="1543486"/>
                  <a:pt x="180975" y="1403786"/>
                </a:cubicBezTo>
                <a:cubicBezTo>
                  <a:pt x="233363" y="1264086"/>
                  <a:pt x="261938" y="894198"/>
                  <a:pt x="314325" y="660836"/>
                </a:cubicBezTo>
                <a:cubicBezTo>
                  <a:pt x="366713" y="427473"/>
                  <a:pt x="440531" y="47267"/>
                  <a:pt x="495300" y="3611"/>
                </a:cubicBezTo>
                <a:cubicBezTo>
                  <a:pt x="550069" y="-40045"/>
                  <a:pt x="587375" y="325079"/>
                  <a:pt x="642937" y="398898"/>
                </a:cubicBezTo>
                <a:cubicBezTo>
                  <a:pt x="698500" y="472717"/>
                  <a:pt x="772319" y="444142"/>
                  <a:pt x="828675" y="446523"/>
                </a:cubicBezTo>
                <a:cubicBezTo>
                  <a:pt x="885031" y="448904"/>
                  <a:pt x="926306" y="408424"/>
                  <a:pt x="981075" y="413186"/>
                </a:cubicBezTo>
                <a:cubicBezTo>
                  <a:pt x="1035844" y="417948"/>
                  <a:pt x="1100137" y="457636"/>
                  <a:pt x="1157287" y="475098"/>
                </a:cubicBezTo>
                <a:cubicBezTo>
                  <a:pt x="1214437" y="492560"/>
                  <a:pt x="1267619" y="529073"/>
                  <a:pt x="1323975" y="517961"/>
                </a:cubicBezTo>
                <a:cubicBezTo>
                  <a:pt x="1380331" y="506849"/>
                  <a:pt x="1442244" y="386992"/>
                  <a:pt x="1495425" y="408423"/>
                </a:cubicBezTo>
                <a:cubicBezTo>
                  <a:pt x="1548606" y="429854"/>
                  <a:pt x="1589881" y="515579"/>
                  <a:pt x="1643062" y="646548"/>
                </a:cubicBezTo>
                <a:cubicBezTo>
                  <a:pt x="1696243" y="777517"/>
                  <a:pt x="1757362" y="1115655"/>
                  <a:pt x="1814512" y="1194236"/>
                </a:cubicBezTo>
                <a:cubicBezTo>
                  <a:pt x="1871662" y="1272817"/>
                  <a:pt x="1931987" y="1098986"/>
                  <a:pt x="1985962" y="1118036"/>
                </a:cubicBezTo>
                <a:cubicBezTo>
                  <a:pt x="2039937" y="1137086"/>
                  <a:pt x="2085974" y="1402199"/>
                  <a:pt x="2138362" y="1308536"/>
                </a:cubicBezTo>
                <a:cubicBezTo>
                  <a:pt x="2190750" y="1214873"/>
                  <a:pt x="2245518" y="763230"/>
                  <a:pt x="2300287" y="556061"/>
                </a:cubicBezTo>
                <a:cubicBezTo>
                  <a:pt x="2355056" y="348892"/>
                  <a:pt x="2413000" y="135373"/>
                  <a:pt x="2466975" y="65523"/>
                </a:cubicBezTo>
                <a:cubicBezTo>
                  <a:pt x="2520950" y="-4327"/>
                  <a:pt x="2568575" y="102830"/>
                  <a:pt x="2624137" y="136961"/>
                </a:cubicBezTo>
                <a:cubicBezTo>
                  <a:pt x="2679699" y="171092"/>
                  <a:pt x="2745581" y="179030"/>
                  <a:pt x="2800350" y="270311"/>
                </a:cubicBezTo>
                <a:cubicBezTo>
                  <a:pt x="2855119" y="361592"/>
                  <a:pt x="2900363" y="614798"/>
                  <a:pt x="2952750" y="684648"/>
                </a:cubicBezTo>
                <a:cubicBezTo>
                  <a:pt x="3005137" y="754498"/>
                  <a:pt x="3057525" y="701317"/>
                  <a:pt x="3114675" y="689411"/>
                </a:cubicBezTo>
                <a:cubicBezTo>
                  <a:pt x="3171825" y="677505"/>
                  <a:pt x="3237706" y="610036"/>
                  <a:pt x="3295650" y="613211"/>
                </a:cubicBezTo>
                <a:cubicBezTo>
                  <a:pt x="3353594" y="616386"/>
                  <a:pt x="3408362" y="606067"/>
                  <a:pt x="3462337" y="708461"/>
                </a:cubicBezTo>
                <a:cubicBezTo>
                  <a:pt x="3516312" y="810855"/>
                  <a:pt x="3565525" y="1110098"/>
                  <a:pt x="3619500" y="1227573"/>
                </a:cubicBezTo>
                <a:cubicBezTo>
                  <a:pt x="3673475" y="1345048"/>
                  <a:pt x="3729831" y="1379179"/>
                  <a:pt x="3786187" y="1413311"/>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13" name="Abrir llave 12">
            <a:extLst>
              <a:ext uri="{FF2B5EF4-FFF2-40B4-BE49-F238E27FC236}">
                <a16:creationId xmlns:a16="http://schemas.microsoft.com/office/drawing/2014/main" id="{E6F264B8-EAF9-D634-3F15-99232F0CAA7D}"/>
              </a:ext>
            </a:extLst>
          </p:cNvPr>
          <p:cNvSpPr/>
          <p:nvPr/>
        </p:nvSpPr>
        <p:spPr bwMode="auto">
          <a:xfrm rot="16200000">
            <a:off x="8801290" y="1793452"/>
            <a:ext cx="157382" cy="1559212"/>
          </a:xfrm>
          <a:prstGeom prst="leftBrac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14" name="Abrir llave 13">
            <a:extLst>
              <a:ext uri="{FF2B5EF4-FFF2-40B4-BE49-F238E27FC236}">
                <a16:creationId xmlns:a16="http://schemas.microsoft.com/office/drawing/2014/main" id="{A065160A-67AA-6FEE-1FCA-6DAA618B9953}"/>
              </a:ext>
            </a:extLst>
          </p:cNvPr>
          <p:cNvSpPr/>
          <p:nvPr/>
        </p:nvSpPr>
        <p:spPr bwMode="auto">
          <a:xfrm rot="16200000">
            <a:off x="10461676" y="1793452"/>
            <a:ext cx="157382" cy="1559212"/>
          </a:xfrm>
          <a:prstGeom prst="leftBrac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10241" name="Rectangle 1">
            <a:extLst>
              <a:ext uri="{FF2B5EF4-FFF2-40B4-BE49-F238E27FC236}">
                <a16:creationId xmlns:a16="http://schemas.microsoft.com/office/drawing/2014/main" id="{2E7559EB-8ABA-E316-B89F-4829044548E6}"/>
              </a:ext>
            </a:extLst>
          </p:cNvPr>
          <p:cNvSpPr txBox="1">
            <a:spLocks noChangeArrowheads="1"/>
          </p:cNvSpPr>
          <p:nvPr/>
        </p:nvSpPr>
        <p:spPr bwMode="auto">
          <a:xfrm>
            <a:off x="3666529" y="3061725"/>
            <a:ext cx="4000500" cy="5394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lnSpc>
                <a:spcPct val="83000"/>
              </a:lnSpc>
              <a:spcBef>
                <a:spcPts val="13"/>
              </a:spcBef>
              <a:spcAft>
                <a:spcPts val="13"/>
              </a:spcAft>
              <a:buClr>
                <a:srgbClr val="000000"/>
              </a:buClr>
              <a:buSzPct val="100000"/>
              <a:buFont typeface="Times New Roman" panose="02020603050405020304" pitchFamily="18" charset="0"/>
              <a:defRPr kern="1200">
                <a:solidFill>
                  <a:srgbClr val="FFFFFF"/>
                </a:solidFill>
                <a:latin typeface="+mj-lt"/>
                <a:ea typeface="+mj-ea"/>
                <a:cs typeface="+mj-cs"/>
              </a:defRPr>
            </a:lvl1pPr>
            <a:lvl2pPr marL="742950" indent="-28575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2pPr>
            <a:lvl3pPr marL="1143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3pPr>
            <a:lvl4pPr marL="1600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4pPr>
            <a:lvl5pPr marL="20574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5pPr>
            <a:lvl6pPr marL="25146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6pPr>
            <a:lvl7pPr marL="29718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7pPr>
            <a:lvl8pPr marL="3429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8pPr>
            <a:lvl9pPr marL="3886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9pPr>
          </a:lstStyle>
          <a:p>
            <a:pPr>
              <a:lnSpc>
                <a:spcPct val="100000"/>
              </a:lnSpc>
              <a:tabLst>
                <a:tab pos="914400" algn="l"/>
                <a:tab pos="1828800" algn="l"/>
                <a:tab pos="2743200" algn="l"/>
                <a:tab pos="3657600" algn="l"/>
              </a:tabLst>
            </a:pPr>
            <a:r>
              <a:rPr lang="es-MX" altLang="es-MX" sz="3600" dirty="0">
                <a:latin typeface="Calibri Light" panose="020F0302020204030204" pitchFamily="34" charset="0"/>
              </a:rPr>
              <a:t>Irregular (o residual)</a:t>
            </a:r>
          </a:p>
        </p:txBody>
      </p:sp>
      <p:sp>
        <p:nvSpPr>
          <p:cNvPr id="15" name="Text Box 2">
            <a:extLst>
              <a:ext uri="{FF2B5EF4-FFF2-40B4-BE49-F238E27FC236}">
                <a16:creationId xmlns:a16="http://schemas.microsoft.com/office/drawing/2014/main" id="{A8A0D80F-C3FA-2B31-4054-97588BC798C2}"/>
              </a:ext>
            </a:extLst>
          </p:cNvPr>
          <p:cNvSpPr txBox="1">
            <a:spLocks noChangeArrowheads="1"/>
          </p:cNvSpPr>
          <p:nvPr/>
        </p:nvSpPr>
        <p:spPr bwMode="auto">
          <a:xfrm>
            <a:off x="337506" y="3578142"/>
            <a:ext cx="6633223" cy="11165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9pPr>
          </a:lstStyle>
          <a:p>
            <a:pPr marL="0" marR="0" lvl="0" indent="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Son movimientos de la serie que no muestran un carácter periódico reconocible y que no son originados por fenómenos singulares que afectan a la variable en estudio de manera casual y no permanente</a:t>
            </a:r>
            <a:r>
              <a:rPr lang="es-MX" altLang="es-MX" dirty="0">
                <a:solidFill>
                  <a:srgbClr val="FFFFFF"/>
                </a:solidFill>
                <a:latin typeface="Calibri" panose="020F0502020204030204" pitchFamily="34" charset="0"/>
              </a:rPr>
              <a:t>.</a:t>
            </a:r>
            <a:endPar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p:pic>
        <p:nvPicPr>
          <p:cNvPr id="16" name="Picture 3">
            <a:extLst>
              <a:ext uri="{FF2B5EF4-FFF2-40B4-BE49-F238E27FC236}">
                <a16:creationId xmlns:a16="http://schemas.microsoft.com/office/drawing/2014/main" id="{58BA20B3-C30E-201A-CA81-CFCB47477C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9321" y="4485719"/>
            <a:ext cx="8992508" cy="2372281"/>
          </a:xfrm>
          <a:prstGeom prst="rect">
            <a:avLst/>
          </a:prstGeom>
          <a:noFill/>
          <a:effectLst>
            <a:outerShdw algn="ctr" rotWithShape="0">
              <a:srgbClr val="000000">
                <a:alpha val="43031"/>
              </a:srgbClr>
            </a:outerShdw>
          </a:effectLst>
          <a:extLst>
            <a:ext uri="{909E8E84-426E-40DD-AFC4-6F175D3DCCD1}">
              <a14:hiddenFill xmlns:a14="http://schemas.microsoft.com/office/drawing/2010/main">
                <a:blipFill dpi="0" rotWithShape="0">
                  <a:blip/>
                  <a:srcRect/>
                  <a:stretch>
                    <a:fillRect/>
                  </a:stretch>
                </a:blipFill>
              </a14:hiddenFill>
            </a:ext>
          </a:extLst>
        </p:spPr>
      </p:pic>
      <p:cxnSp>
        <p:nvCxnSpPr>
          <p:cNvPr id="18" name="Conector recto 17">
            <a:extLst>
              <a:ext uri="{FF2B5EF4-FFF2-40B4-BE49-F238E27FC236}">
                <a16:creationId xmlns:a16="http://schemas.microsoft.com/office/drawing/2014/main" id="{34F12F41-8AAE-8C81-2CA1-200CBF89200C}"/>
              </a:ext>
            </a:extLst>
          </p:cNvPr>
          <p:cNvCxnSpPr/>
          <p:nvPr/>
        </p:nvCxnSpPr>
        <p:spPr bwMode="auto">
          <a:xfrm>
            <a:off x="8258175" y="1276350"/>
            <a:ext cx="1502586" cy="93345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9" name="Conector recto 18">
            <a:extLst>
              <a:ext uri="{FF2B5EF4-FFF2-40B4-BE49-F238E27FC236}">
                <a16:creationId xmlns:a16="http://schemas.microsoft.com/office/drawing/2014/main" id="{1A9B9B3A-FDE3-7139-7B72-5C7F97971AC0}"/>
              </a:ext>
            </a:extLst>
          </p:cNvPr>
          <p:cNvCxnSpPr/>
          <p:nvPr/>
        </p:nvCxnSpPr>
        <p:spPr bwMode="auto">
          <a:xfrm>
            <a:off x="9790747" y="1315497"/>
            <a:ext cx="1502586" cy="93345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sp>
        <p:nvSpPr>
          <p:cNvPr id="20" name="Abrir llave 19">
            <a:extLst>
              <a:ext uri="{FF2B5EF4-FFF2-40B4-BE49-F238E27FC236}">
                <a16:creationId xmlns:a16="http://schemas.microsoft.com/office/drawing/2014/main" id="{1CF193A4-87B0-EA02-B155-58157CAE83DC}"/>
              </a:ext>
            </a:extLst>
          </p:cNvPr>
          <p:cNvSpPr/>
          <p:nvPr/>
        </p:nvSpPr>
        <p:spPr bwMode="auto">
          <a:xfrm rot="16200000">
            <a:off x="4357096" y="5776319"/>
            <a:ext cx="210734" cy="1323975"/>
          </a:xfrm>
          <a:prstGeom prst="leftBrac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21" name="Abrir llave 20">
            <a:extLst>
              <a:ext uri="{FF2B5EF4-FFF2-40B4-BE49-F238E27FC236}">
                <a16:creationId xmlns:a16="http://schemas.microsoft.com/office/drawing/2014/main" id="{87A8360A-6DB2-213E-1132-3CE740ADD6E0}"/>
              </a:ext>
            </a:extLst>
          </p:cNvPr>
          <p:cNvSpPr/>
          <p:nvPr/>
        </p:nvSpPr>
        <p:spPr bwMode="auto">
          <a:xfrm rot="16200000">
            <a:off x="5642973" y="5776319"/>
            <a:ext cx="210734" cy="1323975"/>
          </a:xfrm>
          <a:prstGeom prst="leftBrac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22" name="Abrir llave 21">
            <a:extLst>
              <a:ext uri="{FF2B5EF4-FFF2-40B4-BE49-F238E27FC236}">
                <a16:creationId xmlns:a16="http://schemas.microsoft.com/office/drawing/2014/main" id="{A4FCBABA-944C-78F7-5FBF-3E5B62C32614}"/>
              </a:ext>
            </a:extLst>
          </p:cNvPr>
          <p:cNvSpPr/>
          <p:nvPr/>
        </p:nvSpPr>
        <p:spPr bwMode="auto">
          <a:xfrm rot="16200000">
            <a:off x="6865362" y="5776318"/>
            <a:ext cx="210734" cy="1323975"/>
          </a:xfrm>
          <a:prstGeom prst="leftBrac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23" name="Abrir llave 22">
            <a:extLst>
              <a:ext uri="{FF2B5EF4-FFF2-40B4-BE49-F238E27FC236}">
                <a16:creationId xmlns:a16="http://schemas.microsoft.com/office/drawing/2014/main" id="{057E8F0A-3BEE-C708-1EC0-64A891B7FC77}"/>
              </a:ext>
            </a:extLst>
          </p:cNvPr>
          <p:cNvSpPr/>
          <p:nvPr/>
        </p:nvSpPr>
        <p:spPr bwMode="auto">
          <a:xfrm rot="16200000">
            <a:off x="8125854" y="5776318"/>
            <a:ext cx="210734" cy="1323975"/>
          </a:xfrm>
          <a:prstGeom prst="leftBrac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24" name="Abrir llave 23">
            <a:extLst>
              <a:ext uri="{FF2B5EF4-FFF2-40B4-BE49-F238E27FC236}">
                <a16:creationId xmlns:a16="http://schemas.microsoft.com/office/drawing/2014/main" id="{8FB8E4F5-8B34-0042-ACBF-897B827EDD19}"/>
              </a:ext>
            </a:extLst>
          </p:cNvPr>
          <p:cNvSpPr/>
          <p:nvPr/>
        </p:nvSpPr>
        <p:spPr bwMode="auto">
          <a:xfrm rot="16200000">
            <a:off x="9318504" y="5776318"/>
            <a:ext cx="210734" cy="1323975"/>
          </a:xfrm>
          <a:prstGeom prst="leftBrac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cxnSp>
        <p:nvCxnSpPr>
          <p:cNvPr id="25" name="Conector recto 24">
            <a:extLst>
              <a:ext uri="{FF2B5EF4-FFF2-40B4-BE49-F238E27FC236}">
                <a16:creationId xmlns:a16="http://schemas.microsoft.com/office/drawing/2014/main" id="{3BE28D9F-3123-F497-E215-7D0136CC5C71}"/>
              </a:ext>
            </a:extLst>
          </p:cNvPr>
          <p:cNvCxnSpPr>
            <a:cxnSpLocks/>
          </p:cNvCxnSpPr>
          <p:nvPr/>
        </p:nvCxnSpPr>
        <p:spPr bwMode="auto">
          <a:xfrm>
            <a:off x="3878883" y="4868310"/>
            <a:ext cx="1207469" cy="752484"/>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27" name="Conector recto 26">
            <a:extLst>
              <a:ext uri="{FF2B5EF4-FFF2-40B4-BE49-F238E27FC236}">
                <a16:creationId xmlns:a16="http://schemas.microsoft.com/office/drawing/2014/main" id="{DEE2BDF9-A1C6-C810-7EE3-DC86F1FC968A}"/>
              </a:ext>
            </a:extLst>
          </p:cNvPr>
          <p:cNvCxnSpPr>
            <a:cxnSpLocks/>
          </p:cNvCxnSpPr>
          <p:nvPr/>
        </p:nvCxnSpPr>
        <p:spPr bwMode="auto">
          <a:xfrm>
            <a:off x="5144605" y="5448361"/>
            <a:ext cx="1164136" cy="6988"/>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29" name="Conector recto 28">
            <a:extLst>
              <a:ext uri="{FF2B5EF4-FFF2-40B4-BE49-F238E27FC236}">
                <a16:creationId xmlns:a16="http://schemas.microsoft.com/office/drawing/2014/main" id="{46CC0B75-BA9D-65E6-40DF-A07B13F10315}"/>
              </a:ext>
            </a:extLst>
          </p:cNvPr>
          <p:cNvCxnSpPr>
            <a:cxnSpLocks/>
          </p:cNvCxnSpPr>
          <p:nvPr/>
        </p:nvCxnSpPr>
        <p:spPr bwMode="auto">
          <a:xfrm>
            <a:off x="6308741" y="5237564"/>
            <a:ext cx="1153281" cy="560702"/>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31" name="Conector recto 30">
            <a:extLst>
              <a:ext uri="{FF2B5EF4-FFF2-40B4-BE49-F238E27FC236}">
                <a16:creationId xmlns:a16="http://schemas.microsoft.com/office/drawing/2014/main" id="{6E1B38DD-0217-3013-5263-3BBD16E1E4BC}"/>
              </a:ext>
            </a:extLst>
          </p:cNvPr>
          <p:cNvCxnSpPr>
            <a:cxnSpLocks/>
          </p:cNvCxnSpPr>
          <p:nvPr/>
        </p:nvCxnSpPr>
        <p:spPr bwMode="auto">
          <a:xfrm flipV="1">
            <a:off x="7569233" y="5517915"/>
            <a:ext cx="1192650" cy="157954"/>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33" name="Conector recto 32">
            <a:extLst>
              <a:ext uri="{FF2B5EF4-FFF2-40B4-BE49-F238E27FC236}">
                <a16:creationId xmlns:a16="http://schemas.microsoft.com/office/drawing/2014/main" id="{B1016F65-8384-C572-F83E-0272523BE52F}"/>
              </a:ext>
            </a:extLst>
          </p:cNvPr>
          <p:cNvCxnSpPr>
            <a:cxnSpLocks/>
          </p:cNvCxnSpPr>
          <p:nvPr/>
        </p:nvCxnSpPr>
        <p:spPr bwMode="auto">
          <a:xfrm flipV="1">
            <a:off x="8789447" y="5359961"/>
            <a:ext cx="1192650" cy="157954"/>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BA6F6C69-B169-5EB5-6296-DC14BC69DEA8}"/>
              </a:ext>
            </a:extLst>
          </p:cNvPr>
          <p:cNvSpPr txBox="1">
            <a:spLocks noChangeArrowheads="1"/>
          </p:cNvSpPr>
          <p:nvPr/>
        </p:nvSpPr>
        <p:spPr bwMode="auto">
          <a:xfrm>
            <a:off x="6965043" y="129191"/>
            <a:ext cx="5067300" cy="10319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Lst>
              <a:defRPr>
                <a:solidFill>
                  <a:srgbClr val="000000"/>
                </a:solidFill>
                <a:latin typeface="Arial" panose="020B0604020202020204" pitchFamily="34" charset="0"/>
                <a:cs typeface="DejaVu Sans" charset="0"/>
              </a:defRPr>
            </a:lvl9pPr>
          </a:lstStyle>
          <a:p>
            <a:pPr marL="0" marR="0" lvl="0" indent="0" algn="ctr"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Lst>
              <a:defRPr/>
            </a:pPr>
            <a:r>
              <a:rPr lang="es-MX" altLang="es-MX" b="1" dirty="0">
                <a:solidFill>
                  <a:srgbClr val="FFFFFF"/>
                </a:solidFill>
                <a:latin typeface="Calibri" panose="020F0502020204030204" pitchFamily="34" charset="0"/>
              </a:rPr>
              <a:t>Nota:</a:t>
            </a:r>
            <a:r>
              <a:rPr lang="es-MX" altLang="es-MX" dirty="0">
                <a:solidFill>
                  <a:srgbClr val="FFFFFF"/>
                </a:solidFill>
                <a:latin typeface="Calibri" panose="020F0502020204030204" pitchFamily="34" charset="0"/>
              </a:rPr>
              <a:t> La conclusión de la serie de su descomposición debe de ser en general y no solo en una zona en particular.</a:t>
            </a:r>
          </a:p>
        </p:txBody>
      </p:sp>
      <p:pic>
        <p:nvPicPr>
          <p:cNvPr id="11267" name="Picture 3">
            <a:extLst>
              <a:ext uri="{FF2B5EF4-FFF2-40B4-BE49-F238E27FC236}">
                <a16:creationId xmlns:a16="http://schemas.microsoft.com/office/drawing/2014/main" id="{30BE3C9B-B596-7D37-1147-35344FEC02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17"/>
          <a:stretch>
            <a:fillRect/>
          </a:stretch>
        </p:blipFill>
        <p:spPr bwMode="auto">
          <a:xfrm>
            <a:off x="503238" y="266700"/>
            <a:ext cx="6289426" cy="6266543"/>
          </a:xfrm>
          <a:prstGeom prst="rect">
            <a:avLst/>
          </a:prstGeom>
          <a:noFill/>
          <a:ln>
            <a:noFill/>
          </a:ln>
          <a:effectLst/>
          <a:extLst>
            <a:ext uri="{909E8E84-426E-40DD-AFC4-6F175D3DCCD1}">
              <a14:hiddenFill xmlns:a14="http://schemas.microsoft.com/office/drawing/2010/main">
                <a:blipFill dpi="0" rotWithShape="0">
                  <a:blip/>
                  <a:srcRect b="217"/>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CuadroTexto 4">
            <a:extLst>
              <a:ext uri="{FF2B5EF4-FFF2-40B4-BE49-F238E27FC236}">
                <a16:creationId xmlns:a16="http://schemas.microsoft.com/office/drawing/2014/main" id="{7AAEF20A-9577-2C51-11AC-528D6A5BE56A}"/>
              </a:ext>
            </a:extLst>
          </p:cNvPr>
          <p:cNvSpPr txBox="1"/>
          <p:nvPr/>
        </p:nvSpPr>
        <p:spPr>
          <a:xfrm>
            <a:off x="3701143" y="4029166"/>
            <a:ext cx="3031671" cy="1200329"/>
          </a:xfrm>
          <a:prstGeom prst="rect">
            <a:avLst/>
          </a:prstGeom>
          <a:noFill/>
        </p:spPr>
        <p:txBody>
          <a:bodyPr wrap="square">
            <a:spAutoFit/>
          </a:bodyPr>
          <a:lstStyle/>
          <a:p>
            <a:pPr algn="ctr"/>
            <a:r>
              <a:rPr lang="en-US" b="1" dirty="0">
                <a:solidFill>
                  <a:srgbClr val="FFFFFF"/>
                </a:solidFill>
                <a:highlight>
                  <a:srgbClr val="800080"/>
                </a:highlight>
                <a:latin typeface="Calibri" panose="020F0502020204030204" pitchFamily="34" charset="0"/>
              </a:rPr>
              <a:t>Con </a:t>
            </a:r>
            <a:r>
              <a:rPr lang="en-US" b="1" dirty="0" err="1">
                <a:solidFill>
                  <a:srgbClr val="FFFFFF"/>
                </a:solidFill>
                <a:highlight>
                  <a:srgbClr val="800080"/>
                </a:highlight>
                <a:latin typeface="Calibri" panose="020F0502020204030204" pitchFamily="34" charset="0"/>
              </a:rPr>
              <a:t>tendencia</a:t>
            </a:r>
            <a:r>
              <a:rPr lang="en-US" b="1" dirty="0">
                <a:solidFill>
                  <a:srgbClr val="FFFFFF"/>
                </a:solidFill>
                <a:highlight>
                  <a:srgbClr val="800080"/>
                </a:highlight>
                <a:latin typeface="Calibri" panose="020F0502020204030204" pitchFamily="34" charset="0"/>
              </a:rPr>
              <a:t> </a:t>
            </a:r>
            <a:r>
              <a:rPr lang="en-US" b="1" dirty="0" err="1">
                <a:solidFill>
                  <a:srgbClr val="FFFFFF"/>
                </a:solidFill>
                <a:highlight>
                  <a:srgbClr val="800080"/>
                </a:highlight>
                <a:latin typeface="Calibri" panose="020F0502020204030204" pitchFamily="34" charset="0"/>
              </a:rPr>
              <a:t>en</a:t>
            </a:r>
            <a:r>
              <a:rPr lang="en-US" b="1" dirty="0">
                <a:solidFill>
                  <a:srgbClr val="FFFFFF"/>
                </a:solidFill>
                <a:highlight>
                  <a:srgbClr val="800080"/>
                </a:highlight>
                <a:latin typeface="Calibri" panose="020F0502020204030204" pitchFamily="34" charset="0"/>
              </a:rPr>
              <a:t> cero y </a:t>
            </a:r>
            <a:r>
              <a:rPr lang="en-US" b="1" dirty="0" err="1">
                <a:solidFill>
                  <a:srgbClr val="FFFFFF"/>
                </a:solidFill>
                <a:highlight>
                  <a:srgbClr val="800080"/>
                </a:highlight>
                <a:latin typeface="Calibri" panose="020F0502020204030204" pitchFamily="34" charset="0"/>
              </a:rPr>
              <a:t>dependiendo</a:t>
            </a:r>
            <a:r>
              <a:rPr lang="en-US" b="1" dirty="0">
                <a:solidFill>
                  <a:srgbClr val="FFFFFF"/>
                </a:solidFill>
                <a:highlight>
                  <a:srgbClr val="800080"/>
                </a:highlight>
                <a:latin typeface="Calibri" panose="020F0502020204030204" pitchFamily="34" charset="0"/>
              </a:rPr>
              <a:t> del </a:t>
            </a:r>
            <a:r>
              <a:rPr lang="en-US" b="1" dirty="0" err="1">
                <a:solidFill>
                  <a:srgbClr val="FFFFFF"/>
                </a:solidFill>
                <a:highlight>
                  <a:srgbClr val="800080"/>
                </a:highlight>
                <a:latin typeface="Calibri" panose="020F0502020204030204" pitchFamily="34" charset="0"/>
              </a:rPr>
              <a:t>periodo</a:t>
            </a:r>
            <a:r>
              <a:rPr lang="en-US" b="1" dirty="0">
                <a:solidFill>
                  <a:srgbClr val="FFFFFF"/>
                </a:solidFill>
                <a:highlight>
                  <a:srgbClr val="800080"/>
                </a:highlight>
                <a:latin typeface="Calibri" panose="020F0502020204030204" pitchFamily="34" charset="0"/>
              </a:rPr>
              <a:t> a definer, Podemos </a:t>
            </a:r>
            <a:r>
              <a:rPr lang="en-US" b="1" dirty="0" err="1">
                <a:solidFill>
                  <a:srgbClr val="FFFFFF"/>
                </a:solidFill>
                <a:highlight>
                  <a:srgbClr val="800080"/>
                </a:highlight>
                <a:latin typeface="Calibri" panose="020F0502020204030204" pitchFamily="34" charset="0"/>
              </a:rPr>
              <a:t>decir</a:t>
            </a:r>
            <a:r>
              <a:rPr lang="en-US" b="1" dirty="0">
                <a:solidFill>
                  <a:srgbClr val="FFFFFF"/>
                </a:solidFill>
                <a:highlight>
                  <a:srgbClr val="800080"/>
                </a:highlight>
                <a:latin typeface="Calibri" panose="020F0502020204030204" pitchFamily="34" charset="0"/>
              </a:rPr>
              <a:t> que es </a:t>
            </a:r>
            <a:r>
              <a:rPr lang="en-US" b="1" dirty="0" err="1">
                <a:solidFill>
                  <a:srgbClr val="FFFFFF"/>
                </a:solidFill>
                <a:highlight>
                  <a:srgbClr val="800080"/>
                </a:highlight>
                <a:latin typeface="Calibri" panose="020F0502020204030204" pitchFamily="34" charset="0"/>
              </a:rPr>
              <a:t>ciclica</a:t>
            </a:r>
            <a:r>
              <a:rPr lang="en-US" b="1" dirty="0">
                <a:solidFill>
                  <a:srgbClr val="FFFFFF"/>
                </a:solidFill>
                <a:highlight>
                  <a:srgbClr val="800080"/>
                </a:highlight>
                <a:latin typeface="Calibri" panose="020F0502020204030204" pitchFamily="34" charset="0"/>
              </a:rPr>
              <a:t> e </a:t>
            </a:r>
            <a:r>
              <a:rPr lang="en-US" b="1" dirty="0" err="1">
                <a:solidFill>
                  <a:srgbClr val="FFFFFF"/>
                </a:solidFill>
                <a:highlight>
                  <a:srgbClr val="800080"/>
                </a:highlight>
                <a:latin typeface="Calibri" panose="020F0502020204030204" pitchFamily="34" charset="0"/>
              </a:rPr>
              <a:t>estacional</a:t>
            </a:r>
            <a:r>
              <a:rPr lang="en-US" b="1" dirty="0">
                <a:solidFill>
                  <a:srgbClr val="FFFFFF"/>
                </a:solidFill>
                <a:highlight>
                  <a:srgbClr val="800080"/>
                </a:highlight>
                <a:latin typeface="Calibri" panose="020F0502020204030204" pitchFamily="34" charset="0"/>
              </a:rPr>
              <a:t>.</a:t>
            </a:r>
            <a:endParaRPr lang="es-MX" dirty="0"/>
          </a:p>
        </p:txBody>
      </p:sp>
      <p:sp>
        <p:nvSpPr>
          <p:cNvPr id="6" name="CuadroTexto 5">
            <a:extLst>
              <a:ext uri="{FF2B5EF4-FFF2-40B4-BE49-F238E27FC236}">
                <a16:creationId xmlns:a16="http://schemas.microsoft.com/office/drawing/2014/main" id="{1809939A-09F7-4306-0A46-FDCE1CD8AFD5}"/>
              </a:ext>
            </a:extLst>
          </p:cNvPr>
          <p:cNvSpPr txBox="1"/>
          <p:nvPr/>
        </p:nvSpPr>
        <p:spPr>
          <a:xfrm>
            <a:off x="1300377" y="1161149"/>
            <a:ext cx="4040880" cy="1200329"/>
          </a:xfrm>
          <a:prstGeom prst="rect">
            <a:avLst/>
          </a:prstGeom>
          <a:noFill/>
        </p:spPr>
        <p:txBody>
          <a:bodyPr wrap="square">
            <a:spAutoFit/>
          </a:bodyPr>
          <a:lstStyle/>
          <a:p>
            <a:pPr algn="ctr"/>
            <a:r>
              <a:rPr lang="en-US" b="1" dirty="0">
                <a:solidFill>
                  <a:srgbClr val="FFFFFF"/>
                </a:solidFill>
                <a:highlight>
                  <a:srgbClr val="800080"/>
                </a:highlight>
                <a:latin typeface="Calibri" panose="020F0502020204030204" pitchFamily="34" charset="0"/>
              </a:rPr>
              <a:t>Con </a:t>
            </a:r>
            <a:r>
              <a:rPr lang="en-US" b="1" dirty="0" err="1">
                <a:solidFill>
                  <a:srgbClr val="FFFFFF"/>
                </a:solidFill>
                <a:highlight>
                  <a:srgbClr val="800080"/>
                </a:highlight>
                <a:latin typeface="Calibri" panose="020F0502020204030204" pitchFamily="34" charset="0"/>
              </a:rPr>
              <a:t>tendencia</a:t>
            </a:r>
            <a:r>
              <a:rPr lang="en-US" b="1" dirty="0">
                <a:solidFill>
                  <a:srgbClr val="FFFFFF"/>
                </a:solidFill>
                <a:highlight>
                  <a:srgbClr val="800080"/>
                </a:highlight>
                <a:latin typeface="Calibri" panose="020F0502020204030204" pitchFamily="34" charset="0"/>
              </a:rPr>
              <a:t> </a:t>
            </a:r>
            <a:r>
              <a:rPr lang="en-US" b="1" dirty="0" err="1">
                <a:solidFill>
                  <a:srgbClr val="FFFFFF"/>
                </a:solidFill>
                <a:highlight>
                  <a:srgbClr val="800080"/>
                </a:highlight>
                <a:latin typeface="Calibri" panose="020F0502020204030204" pitchFamily="34" charset="0"/>
              </a:rPr>
              <a:t>creciente</a:t>
            </a:r>
            <a:r>
              <a:rPr lang="en-US" b="1" dirty="0">
                <a:solidFill>
                  <a:srgbClr val="FFFFFF"/>
                </a:solidFill>
                <a:highlight>
                  <a:srgbClr val="800080"/>
                </a:highlight>
                <a:latin typeface="Calibri" panose="020F0502020204030204" pitchFamily="34" charset="0"/>
              </a:rPr>
              <a:t>, </a:t>
            </a:r>
            <a:r>
              <a:rPr lang="en-US" b="1" dirty="0" err="1">
                <a:solidFill>
                  <a:srgbClr val="FFFFFF"/>
                </a:solidFill>
                <a:highlight>
                  <a:srgbClr val="800080"/>
                </a:highlight>
                <a:latin typeface="Calibri" panose="020F0502020204030204" pitchFamily="34" charset="0"/>
              </a:rPr>
              <a:t>pero</a:t>
            </a:r>
            <a:r>
              <a:rPr lang="en-US" b="1" dirty="0">
                <a:solidFill>
                  <a:srgbClr val="FFFFFF"/>
                </a:solidFill>
                <a:highlight>
                  <a:srgbClr val="800080"/>
                </a:highlight>
                <a:latin typeface="Calibri" panose="020F0502020204030204" pitchFamily="34" charset="0"/>
              </a:rPr>
              <a:t> para la </a:t>
            </a:r>
            <a:r>
              <a:rPr lang="en-US" b="1" dirty="0" err="1">
                <a:solidFill>
                  <a:srgbClr val="FFFFFF"/>
                </a:solidFill>
                <a:highlight>
                  <a:srgbClr val="800080"/>
                </a:highlight>
                <a:latin typeface="Calibri" panose="020F0502020204030204" pitchFamily="34" charset="0"/>
              </a:rPr>
              <a:t>serie</a:t>
            </a:r>
            <a:r>
              <a:rPr lang="en-US" b="1" dirty="0">
                <a:solidFill>
                  <a:srgbClr val="FFFFFF"/>
                </a:solidFill>
                <a:highlight>
                  <a:srgbClr val="800080"/>
                </a:highlight>
                <a:latin typeface="Calibri" panose="020F0502020204030204" pitchFamily="34" charset="0"/>
              </a:rPr>
              <a:t> </a:t>
            </a:r>
            <a:r>
              <a:rPr lang="en-US" b="1" dirty="0" err="1">
                <a:solidFill>
                  <a:srgbClr val="FFFFFF"/>
                </a:solidFill>
                <a:highlight>
                  <a:srgbClr val="800080"/>
                </a:highlight>
                <a:latin typeface="Calibri" panose="020F0502020204030204" pitchFamily="34" charset="0"/>
              </a:rPr>
              <a:t>en</a:t>
            </a:r>
            <a:r>
              <a:rPr lang="en-US" b="1" dirty="0">
                <a:solidFill>
                  <a:srgbClr val="FFFFFF"/>
                </a:solidFill>
                <a:highlight>
                  <a:srgbClr val="800080"/>
                </a:highlight>
                <a:latin typeface="Calibri" panose="020F0502020204030204" pitchFamily="34" charset="0"/>
              </a:rPr>
              <a:t> </a:t>
            </a:r>
            <a:r>
              <a:rPr lang="en-US" b="1" dirty="0" err="1">
                <a:solidFill>
                  <a:srgbClr val="FFFFFF"/>
                </a:solidFill>
                <a:highlight>
                  <a:srgbClr val="800080"/>
                </a:highlight>
                <a:latin typeface="Calibri" panose="020F0502020204030204" pitchFamily="34" charset="0"/>
              </a:rPr>
              <a:t>azul</a:t>
            </a:r>
            <a:r>
              <a:rPr lang="en-US" b="1" dirty="0">
                <a:solidFill>
                  <a:srgbClr val="FFFFFF"/>
                </a:solidFill>
                <a:highlight>
                  <a:srgbClr val="800080"/>
                </a:highlight>
                <a:latin typeface="Calibri" panose="020F0502020204030204" pitchFamily="34" charset="0"/>
              </a:rPr>
              <a:t> es del </a:t>
            </a:r>
            <a:r>
              <a:rPr lang="en-US" b="1" dirty="0" err="1">
                <a:solidFill>
                  <a:srgbClr val="FFFFFF"/>
                </a:solidFill>
                <a:highlight>
                  <a:srgbClr val="800080"/>
                </a:highlight>
                <a:latin typeface="Calibri" panose="020F0502020204030204" pitchFamily="34" charset="0"/>
              </a:rPr>
              <a:t>tipo</a:t>
            </a:r>
            <a:r>
              <a:rPr lang="en-US" b="1" dirty="0">
                <a:solidFill>
                  <a:srgbClr val="FFFFFF"/>
                </a:solidFill>
                <a:highlight>
                  <a:srgbClr val="800080"/>
                </a:highlight>
                <a:latin typeface="Calibri" panose="020F0502020204030204" pitchFamily="34" charset="0"/>
              </a:rPr>
              <a:t> </a:t>
            </a:r>
            <a:r>
              <a:rPr lang="en-US" b="1" dirty="0" err="1">
                <a:solidFill>
                  <a:srgbClr val="FFFFFF"/>
                </a:solidFill>
                <a:highlight>
                  <a:srgbClr val="800080"/>
                </a:highlight>
                <a:latin typeface="Calibri" panose="020F0502020204030204" pitchFamily="34" charset="0"/>
              </a:rPr>
              <a:t>ciclico</a:t>
            </a:r>
            <a:r>
              <a:rPr lang="en-US" b="1" dirty="0">
                <a:solidFill>
                  <a:srgbClr val="FFFFFF"/>
                </a:solidFill>
                <a:highlight>
                  <a:srgbClr val="800080"/>
                </a:highlight>
                <a:latin typeface="Calibri" panose="020F0502020204030204" pitchFamily="34" charset="0"/>
              </a:rPr>
              <a:t> o </a:t>
            </a:r>
            <a:r>
              <a:rPr lang="en-US" b="1" dirty="0" err="1">
                <a:solidFill>
                  <a:srgbClr val="FFFFFF"/>
                </a:solidFill>
                <a:highlight>
                  <a:srgbClr val="800080"/>
                </a:highlight>
                <a:latin typeface="Calibri" panose="020F0502020204030204" pitchFamily="34" charset="0"/>
              </a:rPr>
              <a:t>estacional</a:t>
            </a:r>
            <a:r>
              <a:rPr lang="en-US" b="1" dirty="0">
                <a:solidFill>
                  <a:srgbClr val="FFFFFF"/>
                </a:solidFill>
                <a:highlight>
                  <a:srgbClr val="800080"/>
                </a:highlight>
                <a:latin typeface="Calibri" panose="020F0502020204030204" pitchFamily="34" charset="0"/>
              </a:rPr>
              <a:t>; </a:t>
            </a:r>
            <a:r>
              <a:rPr lang="en-US" b="1" dirty="0" err="1">
                <a:solidFill>
                  <a:srgbClr val="FFFFFF"/>
                </a:solidFill>
                <a:highlight>
                  <a:srgbClr val="800080"/>
                </a:highlight>
                <a:latin typeface="Calibri" panose="020F0502020204030204" pitchFamily="34" charset="0"/>
              </a:rPr>
              <a:t>mientras</a:t>
            </a:r>
            <a:r>
              <a:rPr lang="en-US" b="1" dirty="0">
                <a:solidFill>
                  <a:srgbClr val="FFFFFF"/>
                </a:solidFill>
                <a:highlight>
                  <a:srgbClr val="800080"/>
                </a:highlight>
                <a:latin typeface="Calibri" panose="020F0502020204030204" pitchFamily="34" charset="0"/>
              </a:rPr>
              <a:t> </a:t>
            </a:r>
            <a:r>
              <a:rPr lang="en-US" b="1" dirty="0" err="1">
                <a:solidFill>
                  <a:srgbClr val="FFFFFF"/>
                </a:solidFill>
                <a:highlight>
                  <a:srgbClr val="800080"/>
                </a:highlight>
                <a:latin typeface="Calibri" panose="020F0502020204030204" pitchFamily="34" charset="0"/>
              </a:rPr>
              <a:t>el</a:t>
            </a:r>
            <a:r>
              <a:rPr lang="en-US" b="1" dirty="0">
                <a:solidFill>
                  <a:srgbClr val="FFFFFF"/>
                </a:solidFill>
                <a:highlight>
                  <a:srgbClr val="800080"/>
                </a:highlight>
                <a:latin typeface="Calibri" panose="020F0502020204030204" pitchFamily="34" charset="0"/>
              </a:rPr>
              <a:t> rojo es </a:t>
            </a:r>
            <a:r>
              <a:rPr lang="en-US" b="1" dirty="0" err="1">
                <a:solidFill>
                  <a:srgbClr val="FFFFFF"/>
                </a:solidFill>
                <a:highlight>
                  <a:srgbClr val="800080"/>
                </a:highlight>
                <a:latin typeface="Calibri" panose="020F0502020204030204" pitchFamily="34" charset="0"/>
              </a:rPr>
              <a:t>totalmente</a:t>
            </a:r>
            <a:r>
              <a:rPr lang="en-US" b="1" dirty="0">
                <a:solidFill>
                  <a:srgbClr val="FFFFFF"/>
                </a:solidFill>
                <a:highlight>
                  <a:srgbClr val="800080"/>
                </a:highlight>
                <a:latin typeface="Calibri" panose="020F0502020204030204" pitchFamily="34" charset="0"/>
              </a:rPr>
              <a:t> irregular.</a:t>
            </a:r>
            <a:endParaRPr lang="es-MX" dirty="0"/>
          </a:p>
        </p:txBody>
      </p:sp>
      <p:sp>
        <p:nvSpPr>
          <p:cNvPr id="7" name="Rectangle 1">
            <a:extLst>
              <a:ext uri="{FF2B5EF4-FFF2-40B4-BE49-F238E27FC236}">
                <a16:creationId xmlns:a16="http://schemas.microsoft.com/office/drawing/2014/main" id="{A0A2A098-76D2-5156-79D8-A10D36CA70A4}"/>
              </a:ext>
            </a:extLst>
          </p:cNvPr>
          <p:cNvSpPr>
            <a:spLocks noGrp="1" noChangeArrowheads="1"/>
          </p:cNvSpPr>
          <p:nvPr>
            <p:ph type="title"/>
          </p:nvPr>
        </p:nvSpPr>
        <p:spPr>
          <a:xfrm>
            <a:off x="6965043" y="1168404"/>
            <a:ext cx="5067301" cy="1660431"/>
          </a:xfrm>
          <a:ln/>
        </p:spPr>
        <p:txBody>
          <a:bodyPr/>
          <a:lstStyle/>
          <a:p>
            <a:pP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solidFill>
                <a:latin typeface="Calibri Light" panose="020F0302020204030204" pitchFamily="34" charset="0"/>
              </a:rPr>
              <a:t>Estructura teórica de los modelos de series de tiempo.</a:t>
            </a:r>
          </a:p>
        </p:txBody>
      </p:sp>
      <p:sp>
        <p:nvSpPr>
          <p:cNvPr id="9" name="CuadroTexto 8">
            <a:extLst>
              <a:ext uri="{FF2B5EF4-FFF2-40B4-BE49-F238E27FC236}">
                <a16:creationId xmlns:a16="http://schemas.microsoft.com/office/drawing/2014/main" id="{6E2EEED4-DB88-F717-9F9E-84F4AB2E1A5F}"/>
              </a:ext>
            </a:extLst>
          </p:cNvPr>
          <p:cNvSpPr txBox="1"/>
          <p:nvPr/>
        </p:nvSpPr>
        <p:spPr>
          <a:xfrm>
            <a:off x="6965043" y="2967335"/>
            <a:ext cx="5067299" cy="923330"/>
          </a:xfrm>
          <a:prstGeom prst="rect">
            <a:avLst/>
          </a:prstGeom>
          <a:noFill/>
        </p:spPr>
        <p:txBody>
          <a:bodyPr wrap="square">
            <a:spAutoFit/>
          </a:bodyPr>
          <a:lstStyle/>
          <a:p>
            <a:pPr marL="285750" indent="-285750" fontAlgn="base">
              <a:spcBef>
                <a:spcPts val="13"/>
              </a:spcBef>
              <a:spcAft>
                <a:spcPts val="1013"/>
              </a:spcAft>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La forma en como realizamos las descomposición; podemos interpretarlo</a:t>
            </a:r>
            <a:r>
              <a:rPr lang="es-MX" altLang="es-MX" dirty="0">
                <a:solidFill>
                  <a:srgbClr val="FFFFFF"/>
                </a:solidFill>
                <a:latin typeface="Calibri" panose="020F0502020204030204" pitchFamily="34" charset="0"/>
              </a:rPr>
              <a:t> </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matemáticamente</a:t>
            </a:r>
            <a:r>
              <a:rPr lang="es-MX" altLang="es-MX" dirty="0">
                <a:solidFill>
                  <a:srgbClr val="FFFFFF"/>
                </a:solidFill>
                <a:latin typeface="Calibri" panose="020F0502020204030204" pitchFamily="34" charset="0"/>
              </a:rPr>
              <a:t>. Definimos:</a:t>
            </a:r>
            <a:endPar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p:sp>
        <p:nvSpPr>
          <p:cNvPr id="11" name="CuadroTexto 10">
            <a:extLst>
              <a:ext uri="{FF2B5EF4-FFF2-40B4-BE49-F238E27FC236}">
                <a16:creationId xmlns:a16="http://schemas.microsoft.com/office/drawing/2014/main" id="{55C3FC0B-C52B-87F0-98A6-0B2DDE5FABF3}"/>
              </a:ext>
            </a:extLst>
          </p:cNvPr>
          <p:cNvSpPr txBox="1"/>
          <p:nvPr/>
        </p:nvSpPr>
        <p:spPr>
          <a:xfrm>
            <a:off x="6965044" y="4083066"/>
            <a:ext cx="1816100" cy="1179810"/>
          </a:xfrm>
          <a:prstGeom prst="rect">
            <a:avLst/>
          </a:prstGeom>
          <a:noFill/>
        </p:spPr>
        <p:txBody>
          <a:bodyPr wrap="square">
            <a:spAutoFit/>
          </a:bodyPr>
          <a:lstStyle/>
          <a:p>
            <a:pPr marL="285750" marR="0" lvl="0" indent="-285750" algn="l" defTabSz="914400" rtl="0" eaLnBrk="1" fontAlgn="base" latinLnBrk="0" hangingPunct="1">
              <a:lnSpc>
                <a:spcPct val="10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Aditivo: </a:t>
            </a:r>
          </a:p>
          <a:p>
            <a:pPr marL="285750" marR="0" lvl="0" indent="-285750" algn="l" defTabSz="914400" rtl="0" eaLnBrk="1" fontAlgn="base" latinLnBrk="0" hangingPunct="1">
              <a:lnSpc>
                <a:spcPct val="10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Multiplicativo: </a:t>
            </a:r>
          </a:p>
          <a:p>
            <a:pPr marL="285750" marR="0" lvl="0" indent="-285750" algn="l" defTabSz="914400" rtl="0" eaLnBrk="1" fontAlgn="base" latinLnBrk="0" hangingPunct="1">
              <a:lnSpc>
                <a:spcPct val="10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Mixto: </a:t>
            </a:r>
          </a:p>
        </p:txBody>
      </p:sp>
      <mc:AlternateContent xmlns:mc="http://schemas.openxmlformats.org/markup-compatibility/2006" xmlns:a14="http://schemas.microsoft.com/office/drawing/2010/main">
        <mc:Choice Requires="a14">
          <p:sp>
            <p:nvSpPr>
              <p:cNvPr id="12" name="Text Box 2">
                <a:extLst>
                  <a:ext uri="{FF2B5EF4-FFF2-40B4-BE49-F238E27FC236}">
                    <a16:creationId xmlns:a16="http://schemas.microsoft.com/office/drawing/2014/main" id="{DB57BB2B-B70A-D0FA-1A10-BD9DFD4DF77A}"/>
                  </a:ext>
                </a:extLst>
              </p:cNvPr>
              <p:cNvSpPr txBox="1">
                <a:spLocks noChangeArrowheads="1"/>
              </p:cNvSpPr>
              <p:nvPr/>
            </p:nvSpPr>
            <p:spPr bwMode="auto">
              <a:xfrm>
                <a:off x="7873094" y="4013155"/>
                <a:ext cx="3087915" cy="616175"/>
              </a:xfrm>
              <a:prstGeom prst="rect">
                <a:avLst/>
              </a:prstGeom>
              <a:noFill/>
              <a:ln>
                <a:noFill/>
              </a:ln>
              <a:effectLst/>
              <a:extLst>
                <a:ext uri="{909E8E84-426E-40DD-AFC4-6F175D3DCCD1}">
                  <a14:hiddenFill>
                    <a:solidFill>
                      <a:srgbClr val="FFFFFF"/>
                    </a:solidFill>
                  </a14:hiddenFill>
                </a:ext>
                <a:ext uri="{91240B29-F687-4F45-9708-019B960494DF}">
                  <a14:hiddenLine w="9525" cap="flat">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0" marR="0" lvl="0" indent="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14:m>
                  <m:oMathPara xmlns:m="http://schemas.openxmlformats.org/officeDocument/2006/math">
                    <m:oMathParaPr>
                      <m:jc m:val="centerGroup"/>
                    </m:oMathParaPr>
                    <m:oMath xmlns:m="http://schemas.openxmlformats.org/officeDocument/2006/math">
                      <m:sSub>
                        <m:sSubPr>
                          <m:ctrlPr>
                            <a:rPr lang="en-US" altLang="es-MX" sz="2200" b="0" i="1" smtClean="0">
                              <a:solidFill>
                                <a:srgbClr val="FFFFFF"/>
                              </a:solidFill>
                              <a:latin typeface="Cambria Math" panose="02040503050406030204" pitchFamily="18" charset="0"/>
                            </a:rPr>
                          </m:ctrlPr>
                        </m:sSubPr>
                        <m:e>
                          <m:r>
                            <a:rPr lang="en-US" altLang="es-MX" sz="2200" b="0" i="1" smtClean="0">
                              <a:solidFill>
                                <a:srgbClr val="FFFFFF"/>
                              </a:solidFill>
                              <a:latin typeface="Cambria Math" panose="02040503050406030204" pitchFamily="18" charset="0"/>
                            </a:rPr>
                            <m:t>𝑇</m:t>
                          </m:r>
                        </m:e>
                        <m:sub>
                          <m:r>
                            <a:rPr lang="en-US" altLang="es-MX" sz="2200" b="0" i="1" smtClean="0">
                              <a:solidFill>
                                <a:srgbClr val="FFFFFF"/>
                              </a:solidFill>
                              <a:latin typeface="Cambria Math" panose="02040503050406030204" pitchFamily="18" charset="0"/>
                            </a:rPr>
                            <m:t>𝑖𝑘</m:t>
                          </m:r>
                        </m:sub>
                      </m:sSub>
                      <m:r>
                        <a:rPr lang="en-US" altLang="es-MX" sz="2200" b="0" i="1" smtClean="0">
                          <a:solidFill>
                            <a:srgbClr val="FFFFFF"/>
                          </a:solidFill>
                          <a:latin typeface="Cambria Math" panose="02040503050406030204" pitchFamily="18" charset="0"/>
                        </a:rPr>
                        <m:t>+</m:t>
                      </m:r>
                      <m:sSub>
                        <m:sSubPr>
                          <m:ctrlPr>
                            <a:rPr lang="en-US" altLang="es-MX" sz="2200" b="0" i="1" smtClean="0">
                              <a:solidFill>
                                <a:srgbClr val="FFFFFF"/>
                              </a:solidFill>
                              <a:latin typeface="Cambria Math" panose="02040503050406030204" pitchFamily="18" charset="0"/>
                            </a:rPr>
                          </m:ctrlPr>
                        </m:sSubPr>
                        <m:e>
                          <m:r>
                            <a:rPr lang="en-US" altLang="es-MX" sz="2200" b="0" i="1" smtClean="0">
                              <a:solidFill>
                                <a:srgbClr val="FFFFFF"/>
                              </a:solidFill>
                              <a:latin typeface="Cambria Math" panose="02040503050406030204" pitchFamily="18" charset="0"/>
                            </a:rPr>
                            <m:t>𝐶</m:t>
                          </m:r>
                        </m:e>
                        <m:sub>
                          <m:r>
                            <a:rPr lang="en-US" altLang="es-MX" sz="2200" b="0" i="1" smtClean="0">
                              <a:solidFill>
                                <a:srgbClr val="FFFFFF"/>
                              </a:solidFill>
                              <a:latin typeface="Cambria Math" panose="02040503050406030204" pitchFamily="18" charset="0"/>
                            </a:rPr>
                            <m:t>𝑖𝑘</m:t>
                          </m:r>
                        </m:sub>
                      </m:sSub>
                      <m:r>
                        <a:rPr lang="en-US" altLang="es-MX" sz="2200" b="0" i="1" smtClean="0">
                          <a:solidFill>
                            <a:srgbClr val="FFFFFF"/>
                          </a:solidFill>
                          <a:latin typeface="Cambria Math" panose="02040503050406030204" pitchFamily="18" charset="0"/>
                        </a:rPr>
                        <m:t>+</m:t>
                      </m:r>
                      <m:sSub>
                        <m:sSubPr>
                          <m:ctrlPr>
                            <a:rPr lang="en-US" altLang="es-MX" sz="2200" b="0" i="1" smtClean="0">
                              <a:solidFill>
                                <a:srgbClr val="FFFFFF"/>
                              </a:solidFill>
                              <a:latin typeface="Cambria Math" panose="02040503050406030204" pitchFamily="18" charset="0"/>
                            </a:rPr>
                          </m:ctrlPr>
                        </m:sSubPr>
                        <m:e>
                          <m:r>
                            <a:rPr lang="en-US" altLang="es-MX" sz="2200" b="0" i="1" smtClean="0">
                              <a:solidFill>
                                <a:srgbClr val="FFFFFF"/>
                              </a:solidFill>
                              <a:latin typeface="Cambria Math" panose="02040503050406030204" pitchFamily="18" charset="0"/>
                            </a:rPr>
                            <m:t>𝐸</m:t>
                          </m:r>
                        </m:e>
                        <m:sub>
                          <m:r>
                            <a:rPr lang="en-US" altLang="es-MX" sz="2200" b="0" i="1" smtClean="0">
                              <a:solidFill>
                                <a:srgbClr val="FFFFFF"/>
                              </a:solidFill>
                              <a:latin typeface="Cambria Math" panose="02040503050406030204" pitchFamily="18" charset="0"/>
                            </a:rPr>
                            <m:t>𝑖𝑘</m:t>
                          </m:r>
                        </m:sub>
                      </m:sSub>
                      <m:r>
                        <a:rPr lang="en-US" altLang="es-MX" sz="2200" b="0" i="1" smtClean="0">
                          <a:solidFill>
                            <a:srgbClr val="FFFFFF"/>
                          </a:solidFill>
                          <a:latin typeface="Cambria Math" panose="02040503050406030204" pitchFamily="18" charset="0"/>
                        </a:rPr>
                        <m:t>+</m:t>
                      </m:r>
                      <m:sSub>
                        <m:sSubPr>
                          <m:ctrlPr>
                            <a:rPr lang="en-US" altLang="es-MX" sz="2200" b="0" i="1" smtClean="0">
                              <a:solidFill>
                                <a:srgbClr val="FFFFFF"/>
                              </a:solidFill>
                              <a:latin typeface="Cambria Math" panose="02040503050406030204" pitchFamily="18" charset="0"/>
                            </a:rPr>
                          </m:ctrlPr>
                        </m:sSubPr>
                        <m:e>
                          <m:r>
                            <a:rPr lang="en-US" altLang="es-MX" sz="2200" b="0" i="1" smtClean="0">
                              <a:solidFill>
                                <a:srgbClr val="FFFFFF"/>
                              </a:solidFill>
                              <a:latin typeface="Cambria Math" panose="02040503050406030204" pitchFamily="18" charset="0"/>
                            </a:rPr>
                            <m:t>𝐼</m:t>
                          </m:r>
                        </m:e>
                        <m:sub>
                          <m:r>
                            <a:rPr lang="en-US" altLang="es-MX" sz="2200" b="0" i="1" smtClean="0">
                              <a:solidFill>
                                <a:srgbClr val="FFFFFF"/>
                              </a:solidFill>
                              <a:latin typeface="Cambria Math" panose="02040503050406030204" pitchFamily="18" charset="0"/>
                            </a:rPr>
                            <m:t>𝑖𝑘</m:t>
                          </m:r>
                        </m:sub>
                      </m:sSub>
                    </m:oMath>
                  </m:oMathPara>
                </a14:m>
                <a:endParaRPr lang="es-MX" altLang="es-MX" sz="2200" dirty="0">
                  <a:solidFill>
                    <a:srgbClr val="FFFFFF"/>
                  </a:solidFill>
                  <a:latin typeface="Calibri" panose="020F0502020204030204" pitchFamily="34" charset="0"/>
                </a:endParaRPr>
              </a:p>
            </p:txBody>
          </p:sp>
        </mc:Choice>
        <mc:Fallback xmlns="">
          <p:sp>
            <p:nvSpPr>
              <p:cNvPr id="12" name="Text Box 2">
                <a:extLst>
                  <a:ext uri="{FF2B5EF4-FFF2-40B4-BE49-F238E27FC236}">
                    <a16:creationId xmlns:a16="http://schemas.microsoft.com/office/drawing/2014/main" id="{DB57BB2B-B70A-D0FA-1A10-BD9DFD4DF77A}"/>
                  </a:ext>
                </a:extLst>
              </p:cNvPr>
              <p:cNvSpPr txBox="1">
                <a:spLocks noRot="1" noChangeAspect="1" noMove="1" noResize="1" noEditPoints="1" noAdjustHandles="1" noChangeArrowheads="1" noChangeShapeType="1" noTextEdit="1"/>
              </p:cNvSpPr>
              <p:nvPr/>
            </p:nvSpPr>
            <p:spPr bwMode="auto">
              <a:xfrm>
                <a:off x="7873094" y="4013155"/>
                <a:ext cx="3087915" cy="616175"/>
              </a:xfrm>
              <a:prstGeom prst="rect">
                <a:avLst/>
              </a:prstGeom>
              <a:blipFill>
                <a:blip r:embed="rId3"/>
                <a:stretch>
                  <a:fillRect/>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3" name="Text Box 2">
                <a:extLst>
                  <a:ext uri="{FF2B5EF4-FFF2-40B4-BE49-F238E27FC236}">
                    <a16:creationId xmlns:a16="http://schemas.microsoft.com/office/drawing/2014/main" id="{234D5854-E5BD-6697-D344-61501FA20C0F}"/>
                  </a:ext>
                </a:extLst>
              </p:cNvPr>
              <p:cNvSpPr txBox="1">
                <a:spLocks noChangeArrowheads="1"/>
              </p:cNvSpPr>
              <p:nvPr/>
            </p:nvSpPr>
            <p:spPr bwMode="auto">
              <a:xfrm>
                <a:off x="8512177" y="4391153"/>
                <a:ext cx="2688772" cy="616175"/>
              </a:xfrm>
              <a:prstGeom prst="rect">
                <a:avLst/>
              </a:prstGeom>
              <a:noFill/>
              <a:ln>
                <a:noFill/>
              </a:ln>
              <a:effectLst/>
              <a:extLst>
                <a:ext uri="{909E8E84-426E-40DD-AFC4-6F175D3DCCD1}">
                  <a14:hiddenFill>
                    <a:solidFill>
                      <a:srgbClr val="FFFFFF"/>
                    </a:solidFill>
                  </a14:hiddenFill>
                </a:ext>
                <a:ext uri="{91240B29-F687-4F45-9708-019B960494DF}">
                  <a14:hiddenLine w="9525" cap="flat">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0" marR="0" lvl="0" indent="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14:m>
                  <m:oMathPara xmlns:m="http://schemas.openxmlformats.org/officeDocument/2006/math">
                    <m:oMathParaPr>
                      <m:jc m:val="centerGroup"/>
                    </m:oMathParaPr>
                    <m:oMath xmlns:m="http://schemas.openxmlformats.org/officeDocument/2006/math">
                      <m:sSub>
                        <m:sSubPr>
                          <m:ctrlPr>
                            <a:rPr lang="en-US" altLang="es-MX" sz="2200" b="0" i="1" smtClean="0">
                              <a:solidFill>
                                <a:srgbClr val="FFFFFF"/>
                              </a:solidFill>
                              <a:latin typeface="Cambria Math" panose="02040503050406030204" pitchFamily="18" charset="0"/>
                            </a:rPr>
                          </m:ctrlPr>
                        </m:sSubPr>
                        <m:e>
                          <m:r>
                            <a:rPr lang="en-US" altLang="es-MX" sz="2200" b="0" i="1" smtClean="0">
                              <a:solidFill>
                                <a:srgbClr val="FFFFFF"/>
                              </a:solidFill>
                              <a:latin typeface="Cambria Math" panose="02040503050406030204" pitchFamily="18" charset="0"/>
                            </a:rPr>
                            <m:t>𝑇</m:t>
                          </m:r>
                        </m:e>
                        <m:sub>
                          <m:r>
                            <a:rPr lang="en-US" altLang="es-MX" sz="2200" b="0" i="1" smtClean="0">
                              <a:solidFill>
                                <a:srgbClr val="FFFFFF"/>
                              </a:solidFill>
                              <a:latin typeface="Cambria Math" panose="02040503050406030204" pitchFamily="18" charset="0"/>
                            </a:rPr>
                            <m:t>𝑖𝑘</m:t>
                          </m:r>
                        </m:sub>
                      </m:sSub>
                      <m:r>
                        <a:rPr lang="en-US" altLang="es-MX" sz="2200" b="0" i="1" smtClean="0">
                          <a:solidFill>
                            <a:srgbClr val="FFFFFF"/>
                          </a:solidFill>
                          <a:latin typeface="Cambria Math" panose="02040503050406030204" pitchFamily="18" charset="0"/>
                        </a:rPr>
                        <m:t>∗</m:t>
                      </m:r>
                      <m:sSub>
                        <m:sSubPr>
                          <m:ctrlPr>
                            <a:rPr lang="en-US" altLang="es-MX" sz="2200" b="0" i="1" smtClean="0">
                              <a:solidFill>
                                <a:srgbClr val="FFFFFF"/>
                              </a:solidFill>
                              <a:latin typeface="Cambria Math" panose="02040503050406030204" pitchFamily="18" charset="0"/>
                            </a:rPr>
                          </m:ctrlPr>
                        </m:sSubPr>
                        <m:e>
                          <m:r>
                            <a:rPr lang="en-US" altLang="es-MX" sz="2200" b="0" i="1" smtClean="0">
                              <a:solidFill>
                                <a:srgbClr val="FFFFFF"/>
                              </a:solidFill>
                              <a:latin typeface="Cambria Math" panose="02040503050406030204" pitchFamily="18" charset="0"/>
                            </a:rPr>
                            <m:t>𝐶</m:t>
                          </m:r>
                        </m:e>
                        <m:sub>
                          <m:r>
                            <a:rPr lang="en-US" altLang="es-MX" sz="2200" b="0" i="1" smtClean="0">
                              <a:solidFill>
                                <a:srgbClr val="FFFFFF"/>
                              </a:solidFill>
                              <a:latin typeface="Cambria Math" panose="02040503050406030204" pitchFamily="18" charset="0"/>
                            </a:rPr>
                            <m:t>𝑖𝑘</m:t>
                          </m:r>
                        </m:sub>
                      </m:sSub>
                      <m:r>
                        <a:rPr lang="en-US" altLang="es-MX" sz="2200" b="0" i="1" smtClean="0">
                          <a:solidFill>
                            <a:srgbClr val="FFFFFF"/>
                          </a:solidFill>
                          <a:latin typeface="Cambria Math" panose="02040503050406030204" pitchFamily="18" charset="0"/>
                        </a:rPr>
                        <m:t>∗</m:t>
                      </m:r>
                      <m:sSub>
                        <m:sSubPr>
                          <m:ctrlPr>
                            <a:rPr lang="en-US" altLang="es-MX" sz="2200" b="0" i="1" smtClean="0">
                              <a:solidFill>
                                <a:srgbClr val="FFFFFF"/>
                              </a:solidFill>
                              <a:latin typeface="Cambria Math" panose="02040503050406030204" pitchFamily="18" charset="0"/>
                            </a:rPr>
                          </m:ctrlPr>
                        </m:sSubPr>
                        <m:e>
                          <m:r>
                            <a:rPr lang="en-US" altLang="es-MX" sz="2200" b="0" i="1" smtClean="0">
                              <a:solidFill>
                                <a:srgbClr val="FFFFFF"/>
                              </a:solidFill>
                              <a:latin typeface="Cambria Math" panose="02040503050406030204" pitchFamily="18" charset="0"/>
                            </a:rPr>
                            <m:t>𝐸</m:t>
                          </m:r>
                        </m:e>
                        <m:sub>
                          <m:r>
                            <a:rPr lang="en-US" altLang="es-MX" sz="2200" b="0" i="1" smtClean="0">
                              <a:solidFill>
                                <a:srgbClr val="FFFFFF"/>
                              </a:solidFill>
                              <a:latin typeface="Cambria Math" panose="02040503050406030204" pitchFamily="18" charset="0"/>
                            </a:rPr>
                            <m:t>𝑖𝑘</m:t>
                          </m:r>
                        </m:sub>
                      </m:sSub>
                      <m:r>
                        <a:rPr lang="en-US" altLang="es-MX" sz="2200" b="0" i="1" smtClean="0">
                          <a:solidFill>
                            <a:srgbClr val="FFFFFF"/>
                          </a:solidFill>
                          <a:latin typeface="Cambria Math" panose="02040503050406030204" pitchFamily="18" charset="0"/>
                        </a:rPr>
                        <m:t>∗</m:t>
                      </m:r>
                      <m:sSub>
                        <m:sSubPr>
                          <m:ctrlPr>
                            <a:rPr lang="en-US" altLang="es-MX" sz="2200" b="0" i="1" smtClean="0">
                              <a:solidFill>
                                <a:srgbClr val="FFFFFF"/>
                              </a:solidFill>
                              <a:latin typeface="Cambria Math" panose="02040503050406030204" pitchFamily="18" charset="0"/>
                            </a:rPr>
                          </m:ctrlPr>
                        </m:sSubPr>
                        <m:e>
                          <m:r>
                            <a:rPr lang="en-US" altLang="es-MX" sz="2200" b="0" i="1" smtClean="0">
                              <a:solidFill>
                                <a:srgbClr val="FFFFFF"/>
                              </a:solidFill>
                              <a:latin typeface="Cambria Math" panose="02040503050406030204" pitchFamily="18" charset="0"/>
                            </a:rPr>
                            <m:t>𝐼</m:t>
                          </m:r>
                        </m:e>
                        <m:sub>
                          <m:r>
                            <a:rPr lang="en-US" altLang="es-MX" sz="2200" b="0" i="1" smtClean="0">
                              <a:solidFill>
                                <a:srgbClr val="FFFFFF"/>
                              </a:solidFill>
                              <a:latin typeface="Cambria Math" panose="02040503050406030204" pitchFamily="18" charset="0"/>
                            </a:rPr>
                            <m:t>𝑖𝑘</m:t>
                          </m:r>
                        </m:sub>
                      </m:sSub>
                    </m:oMath>
                  </m:oMathPara>
                </a14:m>
                <a:endParaRPr lang="es-MX" altLang="es-MX" sz="2200" dirty="0">
                  <a:solidFill>
                    <a:srgbClr val="FFFFFF"/>
                  </a:solidFill>
                  <a:latin typeface="Calibri" panose="020F0502020204030204" pitchFamily="34" charset="0"/>
                </a:endParaRPr>
              </a:p>
            </p:txBody>
          </p:sp>
        </mc:Choice>
        <mc:Fallback xmlns="">
          <p:sp>
            <p:nvSpPr>
              <p:cNvPr id="13" name="Text Box 2">
                <a:extLst>
                  <a:ext uri="{FF2B5EF4-FFF2-40B4-BE49-F238E27FC236}">
                    <a16:creationId xmlns:a16="http://schemas.microsoft.com/office/drawing/2014/main" id="{234D5854-E5BD-6697-D344-61501FA20C0F}"/>
                  </a:ext>
                </a:extLst>
              </p:cNvPr>
              <p:cNvSpPr txBox="1">
                <a:spLocks noRot="1" noChangeAspect="1" noMove="1" noResize="1" noEditPoints="1" noAdjustHandles="1" noChangeArrowheads="1" noChangeShapeType="1" noTextEdit="1"/>
              </p:cNvSpPr>
              <p:nvPr/>
            </p:nvSpPr>
            <p:spPr bwMode="auto">
              <a:xfrm>
                <a:off x="8512177" y="4391153"/>
                <a:ext cx="2688772" cy="616175"/>
              </a:xfrm>
              <a:prstGeom prst="rect">
                <a:avLst/>
              </a:prstGeom>
              <a:blipFill>
                <a:blip r:embed="rId4"/>
                <a:stretch>
                  <a:fillRect/>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4" name="Text Box 2">
                <a:extLst>
                  <a:ext uri="{FF2B5EF4-FFF2-40B4-BE49-F238E27FC236}">
                    <a16:creationId xmlns:a16="http://schemas.microsoft.com/office/drawing/2014/main" id="{FC104491-410F-9AC3-1CCC-D639A7F3C57E}"/>
                  </a:ext>
                </a:extLst>
              </p:cNvPr>
              <p:cNvSpPr txBox="1">
                <a:spLocks noChangeArrowheads="1"/>
              </p:cNvSpPr>
              <p:nvPr/>
            </p:nvSpPr>
            <p:spPr bwMode="auto">
              <a:xfrm>
                <a:off x="7873094" y="4809777"/>
                <a:ext cx="2688772" cy="616175"/>
              </a:xfrm>
              <a:prstGeom prst="rect">
                <a:avLst/>
              </a:prstGeom>
              <a:noFill/>
              <a:ln>
                <a:noFill/>
              </a:ln>
              <a:effectLst/>
              <a:extLst>
                <a:ext uri="{909E8E84-426E-40DD-AFC4-6F175D3DCCD1}">
                  <a14:hiddenFill>
                    <a:solidFill>
                      <a:srgbClr val="FFFFFF"/>
                    </a:solidFill>
                  </a14:hiddenFill>
                </a:ext>
                <a:ext uri="{91240B29-F687-4F45-9708-019B960494DF}">
                  <a14:hiddenLine w="9525" cap="flat">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0" marR="0" lvl="0" indent="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14:m>
                  <m:oMathPara xmlns:m="http://schemas.openxmlformats.org/officeDocument/2006/math">
                    <m:oMathParaPr>
                      <m:jc m:val="centerGroup"/>
                    </m:oMathParaPr>
                    <m:oMath xmlns:m="http://schemas.openxmlformats.org/officeDocument/2006/math">
                      <m:sSub>
                        <m:sSubPr>
                          <m:ctrlPr>
                            <a:rPr lang="en-US" altLang="es-MX" sz="2200" b="0" i="1" smtClean="0">
                              <a:solidFill>
                                <a:srgbClr val="FFFFFF"/>
                              </a:solidFill>
                              <a:latin typeface="Cambria Math" panose="02040503050406030204" pitchFamily="18" charset="0"/>
                            </a:rPr>
                          </m:ctrlPr>
                        </m:sSubPr>
                        <m:e>
                          <m:r>
                            <a:rPr lang="en-US" altLang="es-MX" sz="2200" b="0" i="1" smtClean="0">
                              <a:solidFill>
                                <a:srgbClr val="FFFFFF"/>
                              </a:solidFill>
                              <a:latin typeface="Cambria Math" panose="02040503050406030204" pitchFamily="18" charset="0"/>
                            </a:rPr>
                            <m:t>𝑇</m:t>
                          </m:r>
                        </m:e>
                        <m:sub>
                          <m:r>
                            <a:rPr lang="en-US" altLang="es-MX" sz="2200" b="0" i="1" smtClean="0">
                              <a:solidFill>
                                <a:srgbClr val="FFFFFF"/>
                              </a:solidFill>
                              <a:latin typeface="Cambria Math" panose="02040503050406030204" pitchFamily="18" charset="0"/>
                            </a:rPr>
                            <m:t>𝑖𝑘</m:t>
                          </m:r>
                        </m:sub>
                      </m:sSub>
                      <m:r>
                        <a:rPr lang="en-US" altLang="es-MX" sz="2200" b="0" i="1" smtClean="0">
                          <a:solidFill>
                            <a:srgbClr val="FFFFFF"/>
                          </a:solidFill>
                          <a:latin typeface="Cambria Math" panose="02040503050406030204" pitchFamily="18" charset="0"/>
                        </a:rPr>
                        <m:t>∗</m:t>
                      </m:r>
                      <m:sSub>
                        <m:sSubPr>
                          <m:ctrlPr>
                            <a:rPr lang="en-US" altLang="es-MX" sz="2200" b="0" i="1" smtClean="0">
                              <a:solidFill>
                                <a:srgbClr val="FFFFFF"/>
                              </a:solidFill>
                              <a:latin typeface="Cambria Math" panose="02040503050406030204" pitchFamily="18" charset="0"/>
                            </a:rPr>
                          </m:ctrlPr>
                        </m:sSubPr>
                        <m:e>
                          <m:r>
                            <a:rPr lang="en-US" altLang="es-MX" sz="2200" b="0" i="1" smtClean="0">
                              <a:solidFill>
                                <a:srgbClr val="FFFFFF"/>
                              </a:solidFill>
                              <a:latin typeface="Cambria Math" panose="02040503050406030204" pitchFamily="18" charset="0"/>
                            </a:rPr>
                            <m:t>𝐶</m:t>
                          </m:r>
                        </m:e>
                        <m:sub>
                          <m:r>
                            <a:rPr lang="en-US" altLang="es-MX" sz="2200" b="0" i="1" smtClean="0">
                              <a:solidFill>
                                <a:srgbClr val="FFFFFF"/>
                              </a:solidFill>
                              <a:latin typeface="Cambria Math" panose="02040503050406030204" pitchFamily="18" charset="0"/>
                            </a:rPr>
                            <m:t>𝑖𝑘</m:t>
                          </m:r>
                        </m:sub>
                      </m:sSub>
                      <m:r>
                        <a:rPr lang="en-US" altLang="es-MX" sz="2200" b="0" i="1" smtClean="0">
                          <a:solidFill>
                            <a:srgbClr val="FFFFFF"/>
                          </a:solidFill>
                          <a:latin typeface="Cambria Math" panose="02040503050406030204" pitchFamily="18" charset="0"/>
                        </a:rPr>
                        <m:t>∗</m:t>
                      </m:r>
                      <m:sSub>
                        <m:sSubPr>
                          <m:ctrlPr>
                            <a:rPr lang="en-US" altLang="es-MX" sz="2200" b="0" i="1" smtClean="0">
                              <a:solidFill>
                                <a:srgbClr val="FFFFFF"/>
                              </a:solidFill>
                              <a:latin typeface="Cambria Math" panose="02040503050406030204" pitchFamily="18" charset="0"/>
                            </a:rPr>
                          </m:ctrlPr>
                        </m:sSubPr>
                        <m:e>
                          <m:r>
                            <a:rPr lang="en-US" altLang="es-MX" sz="2200" b="0" i="1" smtClean="0">
                              <a:solidFill>
                                <a:srgbClr val="FFFFFF"/>
                              </a:solidFill>
                              <a:latin typeface="Cambria Math" panose="02040503050406030204" pitchFamily="18" charset="0"/>
                            </a:rPr>
                            <m:t>𝐸</m:t>
                          </m:r>
                        </m:e>
                        <m:sub>
                          <m:r>
                            <a:rPr lang="en-US" altLang="es-MX" sz="2200" b="0" i="1" smtClean="0">
                              <a:solidFill>
                                <a:srgbClr val="FFFFFF"/>
                              </a:solidFill>
                              <a:latin typeface="Cambria Math" panose="02040503050406030204" pitchFamily="18" charset="0"/>
                            </a:rPr>
                            <m:t>𝑖𝑘</m:t>
                          </m:r>
                        </m:sub>
                      </m:sSub>
                      <m:r>
                        <a:rPr lang="en-US" altLang="es-MX" sz="2200" b="0" i="1" smtClean="0">
                          <a:solidFill>
                            <a:srgbClr val="FFFFFF"/>
                          </a:solidFill>
                          <a:latin typeface="Cambria Math" panose="02040503050406030204" pitchFamily="18" charset="0"/>
                        </a:rPr>
                        <m:t>+</m:t>
                      </m:r>
                      <m:sSub>
                        <m:sSubPr>
                          <m:ctrlPr>
                            <a:rPr lang="en-US" altLang="es-MX" sz="2200" b="0" i="1" smtClean="0">
                              <a:solidFill>
                                <a:srgbClr val="FFFFFF"/>
                              </a:solidFill>
                              <a:latin typeface="Cambria Math" panose="02040503050406030204" pitchFamily="18" charset="0"/>
                            </a:rPr>
                          </m:ctrlPr>
                        </m:sSubPr>
                        <m:e>
                          <m:r>
                            <a:rPr lang="en-US" altLang="es-MX" sz="2200" b="0" i="1" smtClean="0">
                              <a:solidFill>
                                <a:srgbClr val="FFFFFF"/>
                              </a:solidFill>
                              <a:latin typeface="Cambria Math" panose="02040503050406030204" pitchFamily="18" charset="0"/>
                            </a:rPr>
                            <m:t>𝐼</m:t>
                          </m:r>
                        </m:e>
                        <m:sub>
                          <m:r>
                            <a:rPr lang="en-US" altLang="es-MX" sz="2200" b="0" i="1" smtClean="0">
                              <a:solidFill>
                                <a:srgbClr val="FFFFFF"/>
                              </a:solidFill>
                              <a:latin typeface="Cambria Math" panose="02040503050406030204" pitchFamily="18" charset="0"/>
                            </a:rPr>
                            <m:t>𝑖𝑘</m:t>
                          </m:r>
                        </m:sub>
                      </m:sSub>
                    </m:oMath>
                  </m:oMathPara>
                </a14:m>
                <a:endParaRPr lang="es-MX" altLang="es-MX" sz="2200" dirty="0">
                  <a:solidFill>
                    <a:srgbClr val="FFFFFF"/>
                  </a:solidFill>
                  <a:latin typeface="Calibri" panose="020F0502020204030204" pitchFamily="34" charset="0"/>
                </a:endParaRPr>
              </a:p>
            </p:txBody>
          </p:sp>
        </mc:Choice>
        <mc:Fallback xmlns="">
          <p:sp>
            <p:nvSpPr>
              <p:cNvPr id="14" name="Text Box 2">
                <a:extLst>
                  <a:ext uri="{FF2B5EF4-FFF2-40B4-BE49-F238E27FC236}">
                    <a16:creationId xmlns:a16="http://schemas.microsoft.com/office/drawing/2014/main" id="{FC104491-410F-9AC3-1CCC-D639A7F3C57E}"/>
                  </a:ext>
                </a:extLst>
              </p:cNvPr>
              <p:cNvSpPr txBox="1">
                <a:spLocks noRot="1" noChangeAspect="1" noMove="1" noResize="1" noEditPoints="1" noAdjustHandles="1" noChangeArrowheads="1" noChangeShapeType="1" noTextEdit="1"/>
              </p:cNvSpPr>
              <p:nvPr/>
            </p:nvSpPr>
            <p:spPr bwMode="auto">
              <a:xfrm>
                <a:off x="7873094" y="4809777"/>
                <a:ext cx="2688772" cy="616175"/>
              </a:xfrm>
              <a:prstGeom prst="rect">
                <a:avLst/>
              </a:prstGeom>
              <a:blipFill>
                <a:blip r:embed="rId5"/>
                <a:stretch>
                  <a:fillRect/>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p:sp>
        <p:nvSpPr>
          <p:cNvPr id="15" name="CuadroTexto 14">
            <a:extLst>
              <a:ext uri="{FF2B5EF4-FFF2-40B4-BE49-F238E27FC236}">
                <a16:creationId xmlns:a16="http://schemas.microsoft.com/office/drawing/2014/main" id="{9C1A383D-BBFB-3D85-A2D9-EBDC33CAD77D}"/>
              </a:ext>
            </a:extLst>
          </p:cNvPr>
          <p:cNvSpPr txBox="1"/>
          <p:nvPr/>
        </p:nvSpPr>
        <p:spPr>
          <a:xfrm>
            <a:off x="7347630" y="5385326"/>
            <a:ext cx="4341132" cy="1713290"/>
          </a:xfrm>
          <a:prstGeom prst="rect">
            <a:avLst/>
          </a:prstGeom>
          <a:noFill/>
        </p:spPr>
        <p:txBody>
          <a:bodyPr wrap="square" numCol="2">
            <a:spAutoFit/>
          </a:bodyPr>
          <a:lstStyle/>
          <a:p>
            <a:pPr marL="0" marR="0" lvl="0" indent="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s-MX" altLang="es-MX" sz="1800" dirty="0">
                <a:solidFill>
                  <a:srgbClr val="FFFFFF"/>
                </a:solidFill>
                <a:latin typeface="Calibri" panose="020F0502020204030204" pitchFamily="34" charset="0"/>
              </a:rPr>
              <a:t>Donde:</a:t>
            </a:r>
          </a:p>
          <a:p>
            <a:pPr marL="342900" marR="0" lvl="0" indent="-342900" algn="l" defTabSz="914400" rtl="0" eaLnBrk="1" fontAlgn="base" latinLnBrk="0" hangingPunct="1">
              <a:lnSpc>
                <a:spcPct val="100000"/>
              </a:lnSpc>
              <a:spcBef>
                <a:spcPts val="13"/>
              </a:spcBef>
              <a:spcAft>
                <a:spcPts val="1013"/>
              </a:spcAft>
              <a:buClr>
                <a:srgbClr val="FFFFFF"/>
              </a:buClr>
              <a:buSzPct val="100000"/>
              <a:buFont typeface="Courier New" panose="02070309020205020404" pitchFamily="49" charset="0"/>
              <a:buChar char="o"/>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T: tendencia</a:t>
            </a:r>
            <a:endParaRPr lang="es-MX" altLang="es-MX" sz="1800" dirty="0">
              <a:solidFill>
                <a:srgbClr val="FFFFFF"/>
              </a:solidFill>
              <a:latin typeface="Calibri" panose="020F0502020204030204" pitchFamily="34" charset="0"/>
            </a:endParaRPr>
          </a:p>
          <a:p>
            <a:pPr marL="342900" marR="0" lvl="0" indent="-342900" algn="l" defTabSz="914400" rtl="0" eaLnBrk="1" fontAlgn="base" latinLnBrk="0" hangingPunct="1">
              <a:lnSpc>
                <a:spcPct val="100000"/>
              </a:lnSpc>
              <a:spcBef>
                <a:spcPts val="13"/>
              </a:spcBef>
              <a:spcAft>
                <a:spcPts val="1013"/>
              </a:spcAft>
              <a:buClr>
                <a:srgbClr val="FFFFFF"/>
              </a:buClr>
              <a:buSzPct val="100000"/>
              <a:buFont typeface="Courier New" panose="02070309020205020404" pitchFamily="49" charset="0"/>
              <a:buChar char="o"/>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C:ciclicidad</a:t>
            </a:r>
          </a:p>
          <a:p>
            <a:pPr marR="0" lvl="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s-MX" altLang="es-MX" sz="1800" dirty="0">
              <a:solidFill>
                <a:srgbClr val="FFFFFF"/>
              </a:solidFill>
              <a:latin typeface="Calibri" panose="020F0502020204030204" pitchFamily="34" charset="0"/>
            </a:endParaRPr>
          </a:p>
          <a:p>
            <a:pPr marL="342900" marR="0" lvl="0" indent="-342900" algn="l" defTabSz="914400" rtl="0" eaLnBrk="1" fontAlgn="base" latinLnBrk="0" hangingPunct="1">
              <a:lnSpc>
                <a:spcPct val="100000"/>
              </a:lnSpc>
              <a:spcBef>
                <a:spcPts val="13"/>
              </a:spcBef>
              <a:spcAft>
                <a:spcPts val="1013"/>
              </a:spcAft>
              <a:buClr>
                <a:srgbClr val="FFFFFF"/>
              </a:buClr>
              <a:buSzPct val="100000"/>
              <a:buFont typeface="Courier New" panose="02070309020205020404" pitchFamily="49" charset="0"/>
              <a:buChar char="o"/>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endParaRPr>
          </a:p>
          <a:p>
            <a:pPr marL="342900" marR="0" lvl="0" indent="-342900" algn="l" defTabSz="914400" rtl="0" eaLnBrk="1" fontAlgn="base" latinLnBrk="0" hangingPunct="1">
              <a:lnSpc>
                <a:spcPct val="100000"/>
              </a:lnSpc>
              <a:spcBef>
                <a:spcPts val="13"/>
              </a:spcBef>
              <a:spcAft>
                <a:spcPts val="1013"/>
              </a:spcAft>
              <a:buClr>
                <a:srgbClr val="FFFFFF"/>
              </a:buClr>
              <a:buSzPct val="100000"/>
              <a:buFont typeface="Courier New" panose="02070309020205020404" pitchFamily="49" charset="0"/>
              <a:buChar char="o"/>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E: estacionalidad</a:t>
            </a:r>
          </a:p>
          <a:p>
            <a:pPr marL="342900" marR="0" lvl="0" indent="-342900" algn="l" defTabSz="914400" rtl="0" eaLnBrk="1" fontAlgn="base" latinLnBrk="0" hangingPunct="1">
              <a:lnSpc>
                <a:spcPct val="100000"/>
              </a:lnSpc>
              <a:spcBef>
                <a:spcPts val="13"/>
              </a:spcBef>
              <a:spcAft>
                <a:spcPts val="1013"/>
              </a:spcAft>
              <a:buClr>
                <a:srgbClr val="FFFFFF"/>
              </a:buClr>
              <a:buSzPct val="100000"/>
              <a:buFont typeface="Courier New" panose="02070309020205020404" pitchFamily="49" charset="0"/>
              <a:buChar char="o"/>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I:irregular</a:t>
            </a:r>
          </a:p>
        </p:txBody>
      </p:sp>
    </p:spTree>
    <p:extLst>
      <p:ext uri="{BB962C8B-B14F-4D97-AF65-F5344CB8AC3E}">
        <p14:creationId xmlns:p14="http://schemas.microsoft.com/office/powerpoint/2010/main" val="3613158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C0F71AF7-55A2-105A-35A0-AA236EDF88EF}"/>
              </a:ext>
            </a:extLst>
          </p:cNvPr>
          <p:cNvSpPr txBox="1"/>
          <p:nvPr/>
        </p:nvSpPr>
        <p:spPr>
          <a:xfrm>
            <a:off x="5453063" y="157620"/>
            <a:ext cx="6042251" cy="646331"/>
          </a:xfrm>
          <a:prstGeom prst="rect">
            <a:avLst/>
          </a:prstGeom>
          <a:noFill/>
        </p:spPr>
        <p:txBody>
          <a:bodyPr wrap="square">
            <a:spAutoFit/>
          </a:bodyPr>
          <a:lstStyle/>
          <a:p>
            <a:pPr marL="285750" marR="0" lvl="0" indent="-285750" algn="l" defTabSz="914400" rtl="0" eaLnBrk="1" fontAlgn="base" latinLnBrk="0" hangingPunct="1">
              <a:lnSpc>
                <a:spcPct val="100000"/>
              </a:lnSpc>
              <a:spcBef>
                <a:spcPts val="13"/>
              </a:spcBef>
              <a:spcAft>
                <a:spcPts val="10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Las variaciones residuales </a:t>
            </a:r>
            <a:r>
              <a:rPr lang="es-MX" altLang="es-MX" i="1" dirty="0">
                <a:solidFill>
                  <a:srgbClr val="FFFFFF"/>
                </a:solidFill>
                <a:latin typeface="Calibri" panose="020F0502020204030204" pitchFamily="34" charset="0"/>
              </a:rPr>
              <a:t>(</a:t>
            </a:r>
            <a:r>
              <a:rPr kumimoji="0" lang="es-MX" altLang="es-MX" sz="1800" b="0" i="1" u="none" strike="noStrike" kern="1200" cap="none" spc="0" normalizeH="0" baseline="0" noProof="0" dirty="0">
                <a:ln>
                  <a:noFill/>
                </a:ln>
                <a:solidFill>
                  <a:srgbClr val="FFFFFF"/>
                </a:solidFill>
                <a:effectLst/>
                <a:uLnTx/>
                <a:uFillTx/>
                <a:latin typeface="Calibri" panose="020F0502020204030204" pitchFamily="34" charset="0"/>
                <a:ea typeface="+mn-ea"/>
              </a:rPr>
              <a:t>como en regresión lineal)</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deben ser independientes respecto de las demás componentes.</a:t>
            </a:r>
          </a:p>
        </p:txBody>
      </p:sp>
      <p:sp>
        <p:nvSpPr>
          <p:cNvPr id="6" name="CuadroTexto 5">
            <a:extLst>
              <a:ext uri="{FF2B5EF4-FFF2-40B4-BE49-F238E27FC236}">
                <a16:creationId xmlns:a16="http://schemas.microsoft.com/office/drawing/2014/main" id="{9CE3DF38-73B8-5BCF-DD49-EC6181500DCB}"/>
              </a:ext>
            </a:extLst>
          </p:cNvPr>
          <p:cNvSpPr txBox="1"/>
          <p:nvPr/>
        </p:nvSpPr>
        <p:spPr>
          <a:xfrm>
            <a:off x="284163" y="271210"/>
            <a:ext cx="3597504" cy="923330"/>
          </a:xfrm>
          <a:prstGeom prst="rect">
            <a:avLst/>
          </a:prstGeom>
          <a:noFill/>
        </p:spPr>
        <p:txBody>
          <a:bodyPr wrap="square">
            <a:spAutoFit/>
          </a:bodyPr>
          <a:lstStyle/>
          <a:p>
            <a:pPr marL="285750" indent="-285750" fontAlgn="base">
              <a:spcBef>
                <a:spcPts val="13"/>
              </a:spcBef>
              <a:spcAft>
                <a:spcPts val="1013"/>
              </a:spcAft>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s-MX" altLang="es-MX" b="1" dirty="0">
                <a:solidFill>
                  <a:schemeClr val="bg1"/>
                </a:solidFill>
                <a:latin typeface="+mj-lt"/>
                <a:cs typeface="DejaVu Sans" charset="0"/>
              </a:rPr>
              <a:t>Nota:</a:t>
            </a:r>
            <a:r>
              <a:rPr lang="es-MX" altLang="es-MX" dirty="0">
                <a:solidFill>
                  <a:schemeClr val="bg1"/>
                </a:solidFill>
                <a:latin typeface="+mj-lt"/>
                <a:cs typeface="DejaVu Sans" charset="0"/>
              </a:rPr>
              <a:t> en general, también esto puede ocurrir en un modelo de regresión simple o múltiple</a:t>
            </a:r>
          </a:p>
        </p:txBody>
      </p:sp>
      <p:sp>
        <p:nvSpPr>
          <p:cNvPr id="13314" name="Rectangle 2">
            <a:extLst>
              <a:ext uri="{FF2B5EF4-FFF2-40B4-BE49-F238E27FC236}">
                <a16:creationId xmlns:a16="http://schemas.microsoft.com/office/drawing/2014/main" id="{E1578676-B819-CFC2-48B6-6CDA39A3B9D9}"/>
              </a:ext>
            </a:extLst>
          </p:cNvPr>
          <p:cNvSpPr>
            <a:spLocks noGrp="1" noChangeArrowheads="1"/>
          </p:cNvSpPr>
          <p:nvPr>
            <p:ph type="title"/>
          </p:nvPr>
        </p:nvSpPr>
        <p:spPr>
          <a:xfrm>
            <a:off x="182790" y="1940408"/>
            <a:ext cx="2906032" cy="1205139"/>
          </a:xfrm>
          <a:ln/>
        </p:spPr>
        <p:txBody>
          <a:bodyPr anchor="b"/>
          <a:lstStyle/>
          <a:p>
            <a:pPr algn="ctr">
              <a:lnSpc>
                <a:spcPct val="100000"/>
              </a:lnSpc>
              <a:tabLst>
                <a:tab pos="914400" algn="l"/>
                <a:tab pos="1828800" algn="l"/>
                <a:tab pos="2743200" algn="l"/>
                <a:tab pos="3657600" algn="l"/>
              </a:tabLst>
            </a:pPr>
            <a:r>
              <a:rPr lang="en-US" altLang="es-MX" sz="3600" dirty="0" err="1">
                <a:solidFill>
                  <a:schemeClr val="accent1"/>
                </a:solidFill>
                <a:latin typeface="Calibri Light" panose="020F0302020204030204" pitchFamily="34" charset="0"/>
              </a:rPr>
              <a:t>Diversas</a:t>
            </a:r>
            <a:r>
              <a:rPr lang="en-US" altLang="es-MX" sz="3600" dirty="0">
                <a:solidFill>
                  <a:schemeClr val="accent1"/>
                </a:solidFill>
                <a:latin typeface="Calibri Light" panose="020F0302020204030204" pitchFamily="34" charset="0"/>
              </a:rPr>
              <a:t> </a:t>
            </a:r>
            <a:r>
              <a:rPr lang="en-US" altLang="es-MX" sz="3600" dirty="0" err="1">
                <a:solidFill>
                  <a:schemeClr val="accent1"/>
                </a:solidFill>
                <a:latin typeface="Calibri Light" panose="020F0302020204030204" pitchFamily="34" charset="0"/>
              </a:rPr>
              <a:t>Tendencias</a:t>
            </a:r>
            <a:r>
              <a:rPr lang="en-US" altLang="es-MX" sz="3600" dirty="0">
                <a:solidFill>
                  <a:schemeClr val="accent1"/>
                </a:solidFill>
                <a:latin typeface="Calibri Light" panose="020F0302020204030204" pitchFamily="34" charset="0"/>
              </a:rPr>
              <a:t>: </a:t>
            </a:r>
          </a:p>
        </p:txBody>
      </p:sp>
      <p:pic>
        <p:nvPicPr>
          <p:cNvPr id="13315" name="Picture 3">
            <a:extLst>
              <a:ext uri="{FF2B5EF4-FFF2-40B4-BE49-F238E27FC236}">
                <a16:creationId xmlns:a16="http://schemas.microsoft.com/office/drawing/2014/main" id="{6670AF91-248C-C060-A478-3ED30B06AF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2613" y="757914"/>
            <a:ext cx="3117850" cy="3109912"/>
          </a:xfrm>
          <a:prstGeom prst="rect">
            <a:avLst/>
          </a:prstGeom>
          <a:noFill/>
          <a:effectLst>
            <a:outerShdw algn="ctr" rotWithShape="0">
              <a:srgbClr val="000000">
                <a:alpha val="43031"/>
              </a:srgbClr>
            </a:outerShdw>
          </a:effectLst>
          <a:extLst>
            <a:ext uri="{909E8E84-426E-40DD-AFC4-6F175D3DCCD1}">
              <a14:hiddenFill xmlns:a14="http://schemas.microsoft.com/office/drawing/2010/main">
                <a:blipFill dpi="0" rotWithShape="0">
                  <a:blip/>
                  <a:srcRect/>
                  <a:stretch>
                    <a:fillRect/>
                  </a:stretch>
                </a:blipFill>
              </a14:hiddenFill>
            </a:ext>
          </a:extLst>
        </p:spPr>
      </p:pic>
      <p:pic>
        <p:nvPicPr>
          <p:cNvPr id="13316" name="Picture 4">
            <a:extLst>
              <a:ext uri="{FF2B5EF4-FFF2-40B4-BE49-F238E27FC236}">
                <a16:creationId xmlns:a16="http://schemas.microsoft.com/office/drawing/2014/main" id="{9B76FD72-19B1-A6C5-07E6-C186415A08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1063" y="757914"/>
            <a:ext cx="3117850" cy="3109912"/>
          </a:xfrm>
          <a:prstGeom prst="rect">
            <a:avLst/>
          </a:prstGeom>
          <a:noFill/>
          <a:effectLst>
            <a:outerShdw algn="ctr" rotWithShape="0">
              <a:srgbClr val="000000">
                <a:alpha val="43031"/>
              </a:srgbClr>
            </a:outerShdw>
          </a:effectLst>
          <a:extLst>
            <a:ext uri="{909E8E84-426E-40DD-AFC4-6F175D3DCCD1}">
              <a14:hiddenFill xmlns:a14="http://schemas.microsoft.com/office/drawing/2010/main">
                <a:blipFill dpi="0" rotWithShape="0">
                  <a:blip/>
                  <a:srcRect/>
                  <a:stretch>
                    <a:fillRect/>
                  </a:stretch>
                </a:blipFill>
              </a14:hiddenFill>
            </a:ext>
          </a:extLst>
        </p:spPr>
      </p:pic>
      <p:pic>
        <p:nvPicPr>
          <p:cNvPr id="13317" name="Picture 5">
            <a:extLst>
              <a:ext uri="{FF2B5EF4-FFF2-40B4-BE49-F238E27FC236}">
                <a16:creationId xmlns:a16="http://schemas.microsoft.com/office/drawing/2014/main" id="{271C6A41-658F-B439-7B26-20CDA7E4A0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1615" y="3718263"/>
            <a:ext cx="3071812" cy="3063875"/>
          </a:xfrm>
          <a:prstGeom prst="rect">
            <a:avLst/>
          </a:prstGeom>
          <a:noFill/>
          <a:effectLst>
            <a:outerShdw algn="ctr" rotWithShape="0">
              <a:srgbClr val="000000">
                <a:alpha val="43031"/>
              </a:srgbClr>
            </a:outerShdw>
          </a:effectLst>
          <a:extLst>
            <a:ext uri="{909E8E84-426E-40DD-AFC4-6F175D3DCCD1}">
              <a14:hiddenFill xmlns:a14="http://schemas.microsoft.com/office/drawing/2010/main">
                <a:blipFill dpi="0" rotWithShape="0">
                  <a:blip/>
                  <a:srcRect/>
                  <a:stretch>
                    <a:fillRect/>
                  </a:stretch>
                </a:blipFill>
              </a14:hiddenFill>
            </a:ext>
          </a:extLst>
        </p:spPr>
      </p:pic>
      <p:pic>
        <p:nvPicPr>
          <p:cNvPr id="13318" name="Picture 6">
            <a:extLst>
              <a:ext uri="{FF2B5EF4-FFF2-40B4-BE49-F238E27FC236}">
                <a16:creationId xmlns:a16="http://schemas.microsoft.com/office/drawing/2014/main" id="{1F134DEE-5284-E7AC-40D6-5AFB73ADFC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32397" y="3672226"/>
            <a:ext cx="3117850" cy="3109912"/>
          </a:xfrm>
          <a:prstGeom prst="rect">
            <a:avLst/>
          </a:prstGeom>
          <a:noFill/>
          <a:effectLst>
            <a:outerShdw algn="ctr" rotWithShape="0">
              <a:srgbClr val="000000">
                <a:alpha val="43031"/>
              </a:srgbClr>
            </a:outerShdw>
          </a:effectLst>
          <a:extLst>
            <a:ext uri="{909E8E84-426E-40DD-AFC4-6F175D3DCCD1}">
              <a14:hiddenFill xmlns:a14="http://schemas.microsoft.com/office/drawing/2010/main">
                <a:blipFill dpi="0" rotWithShape="0">
                  <a:blip/>
                  <a:srcRect/>
                  <a:stretch>
                    <a:fillRect/>
                  </a:stretch>
                </a:blipFill>
              </a14:hiddenFill>
            </a:ext>
          </a:extLst>
        </p:spPr>
      </p:pic>
      <p:pic>
        <p:nvPicPr>
          <p:cNvPr id="13319" name="Picture 7">
            <a:extLst>
              <a:ext uri="{FF2B5EF4-FFF2-40B4-BE49-F238E27FC236}">
                <a16:creationId xmlns:a16="http://schemas.microsoft.com/office/drawing/2014/main" id="{4DC01B90-98B6-AAFF-646D-79C169A8C73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5877"/>
          <a:stretch/>
        </p:blipFill>
        <p:spPr bwMode="auto">
          <a:xfrm>
            <a:off x="3183165" y="3916620"/>
            <a:ext cx="2838450" cy="2667159"/>
          </a:xfrm>
          <a:prstGeom prst="roundRect">
            <a:avLst>
              <a:gd name="adj" fmla="val 632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Lst>
        </p:spPr>
      </p:pic>
      <p:sp>
        <p:nvSpPr>
          <p:cNvPr id="8" name="CuadroTexto 7">
            <a:extLst>
              <a:ext uri="{FF2B5EF4-FFF2-40B4-BE49-F238E27FC236}">
                <a16:creationId xmlns:a16="http://schemas.microsoft.com/office/drawing/2014/main" id="{7FBA3413-6F57-80D3-6B65-97D5FF1250D5}"/>
              </a:ext>
            </a:extLst>
          </p:cNvPr>
          <p:cNvSpPr txBox="1"/>
          <p:nvPr/>
        </p:nvSpPr>
        <p:spPr>
          <a:xfrm>
            <a:off x="8966965" y="1086139"/>
            <a:ext cx="3113087" cy="923330"/>
          </a:xfrm>
          <a:prstGeom prst="rect">
            <a:avLst/>
          </a:prstGeom>
          <a:noFill/>
        </p:spPr>
        <p:txBody>
          <a:bodyPr wrap="square">
            <a:spAutoFit/>
          </a:bodyPr>
          <a:lstStyle/>
          <a:p>
            <a:pPr eaLnBrk="1">
              <a:spcBef>
                <a:spcPts val="13"/>
              </a:spcBef>
              <a:spcAft>
                <a:spcPts val="13"/>
              </a:spcAft>
              <a:tabLst>
                <a:tab pos="914400" algn="l"/>
                <a:tab pos="1828800" algn="l"/>
                <a:tab pos="2743200" algn="l"/>
                <a:tab pos="3657600" algn="l"/>
                <a:tab pos="4572000" algn="l"/>
                <a:tab pos="5486400" algn="l"/>
              </a:tabLst>
            </a:pPr>
            <a:r>
              <a:rPr lang="en-US" altLang="es-MX" sz="1800" dirty="0" err="1">
                <a:solidFill>
                  <a:schemeClr val="bg1"/>
                </a:solidFill>
                <a:cs typeface="DejaVu Sans" charset="0"/>
              </a:rPr>
              <a:t>Notemos</a:t>
            </a:r>
            <a:r>
              <a:rPr lang="en-US" altLang="es-MX" sz="1800" dirty="0">
                <a:solidFill>
                  <a:schemeClr val="bg1"/>
                </a:solidFill>
                <a:cs typeface="DejaVu Sans" charset="0"/>
              </a:rPr>
              <a:t> que </a:t>
            </a:r>
            <a:r>
              <a:rPr lang="en-US" altLang="es-MX" sz="1800" dirty="0" err="1">
                <a:solidFill>
                  <a:schemeClr val="bg1"/>
                </a:solidFill>
                <a:cs typeface="DejaVu Sans" charset="0"/>
              </a:rPr>
              <a:t>existe</a:t>
            </a:r>
            <a:r>
              <a:rPr lang="en-US" altLang="es-MX" sz="1800" dirty="0">
                <a:solidFill>
                  <a:schemeClr val="bg1"/>
                </a:solidFill>
                <a:cs typeface="DejaVu Sans" charset="0"/>
              </a:rPr>
              <a:t> </a:t>
            </a:r>
            <a:r>
              <a:rPr lang="en-US" altLang="es-MX" sz="1800" dirty="0" err="1">
                <a:solidFill>
                  <a:schemeClr val="bg1"/>
                </a:solidFill>
                <a:cs typeface="DejaVu Sans" charset="0"/>
              </a:rPr>
              <a:t>diferentes</a:t>
            </a:r>
            <a:r>
              <a:rPr lang="en-US" altLang="es-MX" sz="1800" dirty="0">
                <a:solidFill>
                  <a:schemeClr val="bg1"/>
                </a:solidFill>
                <a:cs typeface="DejaVu Sans" charset="0"/>
              </a:rPr>
              <a:t> </a:t>
            </a:r>
            <a:r>
              <a:rPr lang="en-US" altLang="es-MX" sz="1800" dirty="0" err="1">
                <a:solidFill>
                  <a:schemeClr val="bg1"/>
                </a:solidFill>
                <a:cs typeface="DejaVu Sans" charset="0"/>
              </a:rPr>
              <a:t>tipos</a:t>
            </a:r>
            <a:r>
              <a:rPr lang="en-US" altLang="es-MX" sz="1800" dirty="0">
                <a:solidFill>
                  <a:schemeClr val="bg1"/>
                </a:solidFill>
                <a:cs typeface="DejaVu Sans" charset="0"/>
              </a:rPr>
              <a:t> de </a:t>
            </a:r>
            <a:r>
              <a:rPr lang="en-US" altLang="es-MX" sz="1800" dirty="0" err="1">
                <a:solidFill>
                  <a:schemeClr val="bg1"/>
                </a:solidFill>
                <a:cs typeface="DejaVu Sans" charset="0"/>
              </a:rPr>
              <a:t>tendencias</a:t>
            </a:r>
            <a:r>
              <a:rPr lang="en-US" altLang="es-MX" sz="1800" dirty="0">
                <a:solidFill>
                  <a:schemeClr val="bg1"/>
                </a:solidFill>
                <a:cs typeface="DejaVu Sans" charset="0"/>
              </a:rPr>
              <a:t> y </a:t>
            </a:r>
            <a:r>
              <a:rPr lang="en-US" altLang="es-MX" sz="1800" dirty="0" err="1">
                <a:solidFill>
                  <a:schemeClr val="bg1"/>
                </a:solidFill>
                <a:cs typeface="DejaVu Sans" charset="0"/>
              </a:rPr>
              <a:t>variacion</a:t>
            </a:r>
            <a:r>
              <a:rPr lang="en-US" altLang="es-MX" dirty="0">
                <a:solidFill>
                  <a:schemeClr val="bg1"/>
                </a:solidFill>
                <a:cs typeface="DejaVu Sans" charset="0"/>
              </a:rPr>
              <a:t>; </a:t>
            </a:r>
            <a:r>
              <a:rPr lang="en-US" altLang="es-MX" dirty="0" err="1">
                <a:solidFill>
                  <a:schemeClr val="bg1"/>
                </a:solidFill>
                <a:cs typeface="DejaVu Sans" charset="0"/>
              </a:rPr>
              <a:t>por</a:t>
            </a:r>
            <a:r>
              <a:rPr lang="en-US" altLang="es-MX" dirty="0">
                <a:solidFill>
                  <a:schemeClr val="bg1"/>
                </a:solidFill>
                <a:cs typeface="DejaVu Sans" charset="0"/>
              </a:rPr>
              <a:t> </a:t>
            </a:r>
            <a:r>
              <a:rPr lang="en-US" altLang="es-MX" dirty="0" err="1">
                <a:solidFill>
                  <a:schemeClr val="bg1"/>
                </a:solidFill>
                <a:cs typeface="DejaVu Sans" charset="0"/>
              </a:rPr>
              <a:t>ejemplo</a:t>
            </a:r>
            <a:r>
              <a:rPr lang="en-US" altLang="es-MX" dirty="0">
                <a:solidFill>
                  <a:schemeClr val="bg1"/>
                </a:solidFill>
                <a:cs typeface="DejaVu Sans" charset="0"/>
              </a:rPr>
              <a:t>:</a:t>
            </a:r>
          </a:p>
        </p:txBody>
      </p:sp>
      <p:sp>
        <p:nvSpPr>
          <p:cNvPr id="9" name="CuadroTexto 8">
            <a:extLst>
              <a:ext uri="{FF2B5EF4-FFF2-40B4-BE49-F238E27FC236}">
                <a16:creationId xmlns:a16="http://schemas.microsoft.com/office/drawing/2014/main" id="{C6DC7601-13ED-3FBF-9974-A700CFC03B25}"/>
              </a:ext>
            </a:extLst>
          </p:cNvPr>
          <p:cNvSpPr txBox="1"/>
          <p:nvPr/>
        </p:nvSpPr>
        <p:spPr>
          <a:xfrm>
            <a:off x="6243411" y="1059588"/>
            <a:ext cx="419101" cy="369332"/>
          </a:xfrm>
          <a:prstGeom prst="rect">
            <a:avLst/>
          </a:prstGeom>
          <a:noFill/>
        </p:spPr>
        <p:txBody>
          <a:bodyPr wrap="square">
            <a:spAutoFit/>
          </a:bodyPr>
          <a:lstStyle/>
          <a:p>
            <a:pPr eaLnBrk="1">
              <a:spcBef>
                <a:spcPts val="13"/>
              </a:spcBef>
              <a:spcAft>
                <a:spcPts val="13"/>
              </a:spcAft>
              <a:tabLst>
                <a:tab pos="914400" algn="l"/>
                <a:tab pos="1828800" algn="l"/>
                <a:tab pos="2743200" algn="l"/>
                <a:tab pos="3657600" algn="l"/>
                <a:tab pos="4572000" algn="l"/>
                <a:tab pos="5486400" algn="l"/>
              </a:tabLst>
            </a:pPr>
            <a:r>
              <a:rPr lang="en-US" altLang="es-MX" dirty="0">
                <a:cs typeface="DejaVu Sans" charset="0"/>
              </a:rPr>
              <a:t>2</a:t>
            </a:r>
            <a:r>
              <a:rPr lang="en-US" altLang="es-MX" sz="1800" dirty="0">
                <a:cs typeface="DejaVu Sans" charset="0"/>
              </a:rPr>
              <a:t>)</a:t>
            </a:r>
          </a:p>
        </p:txBody>
      </p:sp>
      <p:sp>
        <p:nvSpPr>
          <p:cNvPr id="10" name="CuadroTexto 9">
            <a:extLst>
              <a:ext uri="{FF2B5EF4-FFF2-40B4-BE49-F238E27FC236}">
                <a16:creationId xmlns:a16="http://schemas.microsoft.com/office/drawing/2014/main" id="{ED092084-802E-99CE-876F-23E4CB28A4E4}"/>
              </a:ext>
            </a:extLst>
          </p:cNvPr>
          <p:cNvSpPr txBox="1"/>
          <p:nvPr/>
        </p:nvSpPr>
        <p:spPr>
          <a:xfrm>
            <a:off x="3544662" y="1009874"/>
            <a:ext cx="419101" cy="369332"/>
          </a:xfrm>
          <a:prstGeom prst="rect">
            <a:avLst/>
          </a:prstGeom>
          <a:noFill/>
        </p:spPr>
        <p:txBody>
          <a:bodyPr wrap="square">
            <a:spAutoFit/>
          </a:bodyPr>
          <a:lstStyle/>
          <a:p>
            <a:pPr eaLnBrk="1">
              <a:spcBef>
                <a:spcPts val="13"/>
              </a:spcBef>
              <a:spcAft>
                <a:spcPts val="13"/>
              </a:spcAft>
              <a:tabLst>
                <a:tab pos="914400" algn="l"/>
                <a:tab pos="1828800" algn="l"/>
                <a:tab pos="2743200" algn="l"/>
                <a:tab pos="3657600" algn="l"/>
                <a:tab pos="4572000" algn="l"/>
                <a:tab pos="5486400" algn="l"/>
              </a:tabLst>
            </a:pPr>
            <a:r>
              <a:rPr lang="en-US" altLang="es-MX" sz="1800" dirty="0">
                <a:cs typeface="DejaVu Sans" charset="0"/>
              </a:rPr>
              <a:t>1)</a:t>
            </a:r>
          </a:p>
        </p:txBody>
      </p:sp>
      <p:sp>
        <p:nvSpPr>
          <p:cNvPr id="11" name="CuadroTexto 10">
            <a:extLst>
              <a:ext uri="{FF2B5EF4-FFF2-40B4-BE49-F238E27FC236}">
                <a16:creationId xmlns:a16="http://schemas.microsoft.com/office/drawing/2014/main" id="{F5B5FA58-16E6-6507-26D9-542214BF9100}"/>
              </a:ext>
            </a:extLst>
          </p:cNvPr>
          <p:cNvSpPr txBox="1"/>
          <p:nvPr/>
        </p:nvSpPr>
        <p:spPr>
          <a:xfrm>
            <a:off x="6210527" y="4007433"/>
            <a:ext cx="419101" cy="369332"/>
          </a:xfrm>
          <a:prstGeom prst="rect">
            <a:avLst/>
          </a:prstGeom>
          <a:noFill/>
        </p:spPr>
        <p:txBody>
          <a:bodyPr wrap="square">
            <a:spAutoFit/>
          </a:bodyPr>
          <a:lstStyle/>
          <a:p>
            <a:pPr eaLnBrk="1">
              <a:spcBef>
                <a:spcPts val="13"/>
              </a:spcBef>
              <a:spcAft>
                <a:spcPts val="13"/>
              </a:spcAft>
              <a:tabLst>
                <a:tab pos="914400" algn="l"/>
                <a:tab pos="1828800" algn="l"/>
                <a:tab pos="2743200" algn="l"/>
                <a:tab pos="3657600" algn="l"/>
                <a:tab pos="4572000" algn="l"/>
                <a:tab pos="5486400" algn="l"/>
              </a:tabLst>
            </a:pPr>
            <a:r>
              <a:rPr lang="en-US" altLang="es-MX" dirty="0">
                <a:cs typeface="DejaVu Sans" charset="0"/>
              </a:rPr>
              <a:t>4</a:t>
            </a:r>
            <a:r>
              <a:rPr lang="en-US" altLang="es-MX" sz="1800" dirty="0">
                <a:cs typeface="DejaVu Sans" charset="0"/>
              </a:rPr>
              <a:t>)</a:t>
            </a:r>
          </a:p>
        </p:txBody>
      </p:sp>
      <p:sp>
        <p:nvSpPr>
          <p:cNvPr id="12" name="CuadroTexto 11">
            <a:extLst>
              <a:ext uri="{FF2B5EF4-FFF2-40B4-BE49-F238E27FC236}">
                <a16:creationId xmlns:a16="http://schemas.microsoft.com/office/drawing/2014/main" id="{D480AFF9-398E-6CA5-4CD6-FE249D3FFB13}"/>
              </a:ext>
            </a:extLst>
          </p:cNvPr>
          <p:cNvSpPr txBox="1"/>
          <p:nvPr/>
        </p:nvSpPr>
        <p:spPr>
          <a:xfrm>
            <a:off x="3348945" y="4007433"/>
            <a:ext cx="419101" cy="369332"/>
          </a:xfrm>
          <a:prstGeom prst="rect">
            <a:avLst/>
          </a:prstGeom>
          <a:noFill/>
        </p:spPr>
        <p:txBody>
          <a:bodyPr wrap="square">
            <a:spAutoFit/>
          </a:bodyPr>
          <a:lstStyle/>
          <a:p>
            <a:pPr eaLnBrk="1">
              <a:spcBef>
                <a:spcPts val="13"/>
              </a:spcBef>
              <a:spcAft>
                <a:spcPts val="13"/>
              </a:spcAft>
              <a:tabLst>
                <a:tab pos="914400" algn="l"/>
                <a:tab pos="1828800" algn="l"/>
                <a:tab pos="2743200" algn="l"/>
                <a:tab pos="3657600" algn="l"/>
                <a:tab pos="4572000" algn="l"/>
                <a:tab pos="5486400" algn="l"/>
              </a:tabLst>
            </a:pPr>
            <a:r>
              <a:rPr lang="en-US" altLang="es-MX" dirty="0">
                <a:cs typeface="DejaVu Sans" charset="0"/>
              </a:rPr>
              <a:t>3</a:t>
            </a:r>
            <a:r>
              <a:rPr lang="en-US" altLang="es-MX" sz="1800" dirty="0">
                <a:cs typeface="DejaVu Sans" charset="0"/>
              </a:rPr>
              <a:t>)</a:t>
            </a:r>
          </a:p>
        </p:txBody>
      </p:sp>
      <p:sp>
        <p:nvSpPr>
          <p:cNvPr id="13" name="CuadroTexto 12">
            <a:extLst>
              <a:ext uri="{FF2B5EF4-FFF2-40B4-BE49-F238E27FC236}">
                <a16:creationId xmlns:a16="http://schemas.microsoft.com/office/drawing/2014/main" id="{199275D3-0CD7-40E2-3447-471A3F42E314}"/>
              </a:ext>
            </a:extLst>
          </p:cNvPr>
          <p:cNvSpPr txBox="1"/>
          <p:nvPr/>
        </p:nvSpPr>
        <p:spPr>
          <a:xfrm>
            <a:off x="9086168" y="3913863"/>
            <a:ext cx="419101" cy="369332"/>
          </a:xfrm>
          <a:prstGeom prst="rect">
            <a:avLst/>
          </a:prstGeom>
          <a:noFill/>
        </p:spPr>
        <p:txBody>
          <a:bodyPr wrap="square">
            <a:spAutoFit/>
          </a:bodyPr>
          <a:lstStyle/>
          <a:p>
            <a:pPr eaLnBrk="1">
              <a:spcBef>
                <a:spcPts val="13"/>
              </a:spcBef>
              <a:spcAft>
                <a:spcPts val="13"/>
              </a:spcAft>
              <a:tabLst>
                <a:tab pos="914400" algn="l"/>
                <a:tab pos="1828800" algn="l"/>
                <a:tab pos="2743200" algn="l"/>
                <a:tab pos="3657600" algn="l"/>
                <a:tab pos="4572000" algn="l"/>
                <a:tab pos="5486400" algn="l"/>
              </a:tabLst>
            </a:pPr>
            <a:r>
              <a:rPr lang="en-US" altLang="es-MX" dirty="0">
                <a:cs typeface="DejaVu Sans" charset="0"/>
              </a:rPr>
              <a:t>5</a:t>
            </a:r>
            <a:r>
              <a:rPr lang="en-US" altLang="es-MX" sz="1800" dirty="0">
                <a:cs typeface="DejaVu Sans" charset="0"/>
              </a:rPr>
              <a:t>)</a:t>
            </a:r>
          </a:p>
        </p:txBody>
      </p:sp>
      <p:cxnSp>
        <p:nvCxnSpPr>
          <p:cNvPr id="15" name="Conector recto 14">
            <a:extLst>
              <a:ext uri="{FF2B5EF4-FFF2-40B4-BE49-F238E27FC236}">
                <a16:creationId xmlns:a16="http://schemas.microsoft.com/office/drawing/2014/main" id="{46B95728-6D0F-947E-76E7-C0010588F1A6}"/>
              </a:ext>
            </a:extLst>
          </p:cNvPr>
          <p:cNvCxnSpPr/>
          <p:nvPr/>
        </p:nvCxnSpPr>
        <p:spPr bwMode="auto">
          <a:xfrm flipV="1">
            <a:off x="3746500" y="1504950"/>
            <a:ext cx="2063750" cy="1581150"/>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Forma libre: forma 17">
            <a:extLst>
              <a:ext uri="{FF2B5EF4-FFF2-40B4-BE49-F238E27FC236}">
                <a16:creationId xmlns:a16="http://schemas.microsoft.com/office/drawing/2014/main" id="{99C5DFF3-94EB-B1FD-6690-5556A4D9A637}"/>
              </a:ext>
            </a:extLst>
          </p:cNvPr>
          <p:cNvSpPr/>
          <p:nvPr/>
        </p:nvSpPr>
        <p:spPr bwMode="auto">
          <a:xfrm>
            <a:off x="6609528" y="1441450"/>
            <a:ext cx="1988372" cy="1701800"/>
          </a:xfrm>
          <a:custGeom>
            <a:avLst/>
            <a:gdLst>
              <a:gd name="connsiteX0" fmla="*/ 822 w 1988372"/>
              <a:gd name="connsiteY0" fmla="*/ 1701800 h 1701800"/>
              <a:gd name="connsiteX1" fmla="*/ 102422 w 1988372"/>
              <a:gd name="connsiteY1" fmla="*/ 1098550 h 1701800"/>
              <a:gd name="connsiteX2" fmla="*/ 642172 w 1988372"/>
              <a:gd name="connsiteY2" fmla="*/ 628650 h 1701800"/>
              <a:gd name="connsiteX3" fmla="*/ 1054922 w 1988372"/>
              <a:gd name="connsiteY3" fmla="*/ 374650 h 1701800"/>
              <a:gd name="connsiteX4" fmla="*/ 1988372 w 1988372"/>
              <a:gd name="connsiteY4" fmla="*/ 0 h 1701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8372" h="1701800">
                <a:moveTo>
                  <a:pt x="822" y="1701800"/>
                </a:moveTo>
                <a:cubicBezTo>
                  <a:pt x="-1824" y="1489604"/>
                  <a:pt x="-4470" y="1277408"/>
                  <a:pt x="102422" y="1098550"/>
                </a:cubicBezTo>
                <a:cubicBezTo>
                  <a:pt x="209314" y="919692"/>
                  <a:pt x="483422" y="749300"/>
                  <a:pt x="642172" y="628650"/>
                </a:cubicBezTo>
                <a:cubicBezTo>
                  <a:pt x="800922" y="508000"/>
                  <a:pt x="830555" y="479425"/>
                  <a:pt x="1054922" y="374650"/>
                </a:cubicBezTo>
                <a:cubicBezTo>
                  <a:pt x="1279289" y="269875"/>
                  <a:pt x="1824330" y="67733"/>
                  <a:pt x="1988372" y="0"/>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19" name="Forma libre: forma 18">
            <a:extLst>
              <a:ext uri="{FF2B5EF4-FFF2-40B4-BE49-F238E27FC236}">
                <a16:creationId xmlns:a16="http://schemas.microsoft.com/office/drawing/2014/main" id="{168577E4-7EDF-D553-CF33-E8A07D907A89}"/>
              </a:ext>
            </a:extLst>
          </p:cNvPr>
          <p:cNvSpPr/>
          <p:nvPr/>
        </p:nvSpPr>
        <p:spPr bwMode="auto">
          <a:xfrm>
            <a:off x="3590925" y="4152900"/>
            <a:ext cx="2181225" cy="1716549"/>
          </a:xfrm>
          <a:custGeom>
            <a:avLst/>
            <a:gdLst>
              <a:gd name="connsiteX0" fmla="*/ 2181225 w 2181225"/>
              <a:gd name="connsiteY0" fmla="*/ 0 h 1716549"/>
              <a:gd name="connsiteX1" fmla="*/ 1847850 w 2181225"/>
              <a:gd name="connsiteY1" fmla="*/ 857250 h 1716549"/>
              <a:gd name="connsiteX2" fmla="*/ 1400175 w 2181225"/>
              <a:gd name="connsiteY2" fmla="*/ 1381125 h 1716549"/>
              <a:gd name="connsiteX3" fmla="*/ 571500 w 2181225"/>
              <a:gd name="connsiteY3" fmla="*/ 1666875 h 1716549"/>
              <a:gd name="connsiteX4" fmla="*/ 0 w 2181225"/>
              <a:gd name="connsiteY4" fmla="*/ 1714500 h 1716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1225" h="1716549">
                <a:moveTo>
                  <a:pt x="2181225" y="0"/>
                </a:moveTo>
                <a:cubicBezTo>
                  <a:pt x="2079625" y="313531"/>
                  <a:pt x="1978025" y="627062"/>
                  <a:pt x="1847850" y="857250"/>
                </a:cubicBezTo>
                <a:cubicBezTo>
                  <a:pt x="1717675" y="1087438"/>
                  <a:pt x="1612900" y="1246188"/>
                  <a:pt x="1400175" y="1381125"/>
                </a:cubicBezTo>
                <a:cubicBezTo>
                  <a:pt x="1187450" y="1516062"/>
                  <a:pt x="804862" y="1611313"/>
                  <a:pt x="571500" y="1666875"/>
                </a:cubicBezTo>
                <a:cubicBezTo>
                  <a:pt x="338138" y="1722437"/>
                  <a:pt x="169069" y="1718468"/>
                  <a:pt x="0" y="1714500"/>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20" name="Forma libre: forma 19">
            <a:extLst>
              <a:ext uri="{FF2B5EF4-FFF2-40B4-BE49-F238E27FC236}">
                <a16:creationId xmlns:a16="http://schemas.microsoft.com/office/drawing/2014/main" id="{DA4B8F6B-029A-43AA-72E2-21875058CA2E}"/>
              </a:ext>
            </a:extLst>
          </p:cNvPr>
          <p:cNvSpPr/>
          <p:nvPr/>
        </p:nvSpPr>
        <p:spPr bwMode="auto">
          <a:xfrm>
            <a:off x="6629400" y="4343400"/>
            <a:ext cx="1974850" cy="1720850"/>
          </a:xfrm>
          <a:custGeom>
            <a:avLst/>
            <a:gdLst>
              <a:gd name="connsiteX0" fmla="*/ 1974850 w 1974850"/>
              <a:gd name="connsiteY0" fmla="*/ 0 h 1720850"/>
              <a:gd name="connsiteX1" fmla="*/ 1441450 w 1974850"/>
              <a:gd name="connsiteY1" fmla="*/ 838200 h 1720850"/>
              <a:gd name="connsiteX2" fmla="*/ 971550 w 1974850"/>
              <a:gd name="connsiteY2" fmla="*/ 1346200 h 1720850"/>
              <a:gd name="connsiteX3" fmla="*/ 622300 w 1974850"/>
              <a:gd name="connsiteY3" fmla="*/ 1555750 h 1720850"/>
              <a:gd name="connsiteX4" fmla="*/ 292100 w 1974850"/>
              <a:gd name="connsiteY4" fmla="*/ 1676400 h 1720850"/>
              <a:gd name="connsiteX5" fmla="*/ 0 w 1974850"/>
              <a:gd name="connsiteY5" fmla="*/ 1720850 h 172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74850" h="1720850">
                <a:moveTo>
                  <a:pt x="1974850" y="0"/>
                </a:moveTo>
                <a:cubicBezTo>
                  <a:pt x="1791758" y="306916"/>
                  <a:pt x="1608667" y="613833"/>
                  <a:pt x="1441450" y="838200"/>
                </a:cubicBezTo>
                <a:cubicBezTo>
                  <a:pt x="1274233" y="1062567"/>
                  <a:pt x="1108075" y="1226608"/>
                  <a:pt x="971550" y="1346200"/>
                </a:cubicBezTo>
                <a:cubicBezTo>
                  <a:pt x="835025" y="1465792"/>
                  <a:pt x="735542" y="1500717"/>
                  <a:pt x="622300" y="1555750"/>
                </a:cubicBezTo>
                <a:cubicBezTo>
                  <a:pt x="509058" y="1610783"/>
                  <a:pt x="395817" y="1648883"/>
                  <a:pt x="292100" y="1676400"/>
                </a:cubicBezTo>
                <a:cubicBezTo>
                  <a:pt x="188383" y="1703917"/>
                  <a:pt x="51858" y="1719792"/>
                  <a:pt x="0" y="1720850"/>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21" name="Forma libre: forma 20">
            <a:extLst>
              <a:ext uri="{FF2B5EF4-FFF2-40B4-BE49-F238E27FC236}">
                <a16:creationId xmlns:a16="http://schemas.microsoft.com/office/drawing/2014/main" id="{65D2A49D-1807-B4BC-8151-17D8E0046863}"/>
              </a:ext>
            </a:extLst>
          </p:cNvPr>
          <p:cNvSpPr/>
          <p:nvPr/>
        </p:nvSpPr>
        <p:spPr bwMode="auto">
          <a:xfrm>
            <a:off x="9461500" y="4273550"/>
            <a:ext cx="2006600" cy="1821535"/>
          </a:xfrm>
          <a:custGeom>
            <a:avLst/>
            <a:gdLst>
              <a:gd name="connsiteX0" fmla="*/ 2006600 w 2006600"/>
              <a:gd name="connsiteY0" fmla="*/ 0 h 1821535"/>
              <a:gd name="connsiteX1" fmla="*/ 1720850 w 2006600"/>
              <a:gd name="connsiteY1" fmla="*/ 793750 h 1821535"/>
              <a:gd name="connsiteX2" fmla="*/ 1371600 w 2006600"/>
              <a:gd name="connsiteY2" fmla="*/ 1339850 h 1821535"/>
              <a:gd name="connsiteX3" fmla="*/ 1022350 w 2006600"/>
              <a:gd name="connsiteY3" fmla="*/ 1651000 h 1821535"/>
              <a:gd name="connsiteX4" fmla="*/ 622300 w 2006600"/>
              <a:gd name="connsiteY4" fmla="*/ 1784350 h 1821535"/>
              <a:gd name="connsiteX5" fmla="*/ 0 w 2006600"/>
              <a:gd name="connsiteY5" fmla="*/ 1778000 h 182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6600" h="1821535">
                <a:moveTo>
                  <a:pt x="2006600" y="0"/>
                </a:moveTo>
                <a:cubicBezTo>
                  <a:pt x="1916641" y="285221"/>
                  <a:pt x="1826683" y="570442"/>
                  <a:pt x="1720850" y="793750"/>
                </a:cubicBezTo>
                <a:cubicBezTo>
                  <a:pt x="1615017" y="1017058"/>
                  <a:pt x="1488017" y="1196975"/>
                  <a:pt x="1371600" y="1339850"/>
                </a:cubicBezTo>
                <a:cubicBezTo>
                  <a:pt x="1255183" y="1482725"/>
                  <a:pt x="1147233" y="1576917"/>
                  <a:pt x="1022350" y="1651000"/>
                </a:cubicBezTo>
                <a:cubicBezTo>
                  <a:pt x="897467" y="1725083"/>
                  <a:pt x="792692" y="1763183"/>
                  <a:pt x="622300" y="1784350"/>
                </a:cubicBezTo>
                <a:cubicBezTo>
                  <a:pt x="451908" y="1805517"/>
                  <a:pt x="83608" y="1859492"/>
                  <a:pt x="0" y="1778000"/>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22" name="CuadroTexto 21">
            <a:extLst>
              <a:ext uri="{FF2B5EF4-FFF2-40B4-BE49-F238E27FC236}">
                <a16:creationId xmlns:a16="http://schemas.microsoft.com/office/drawing/2014/main" id="{8692ED16-FFAE-64E1-CE5F-BA558FB91513}"/>
              </a:ext>
            </a:extLst>
          </p:cNvPr>
          <p:cNvSpPr txBox="1"/>
          <p:nvPr/>
        </p:nvSpPr>
        <p:spPr>
          <a:xfrm>
            <a:off x="9078913" y="2466708"/>
            <a:ext cx="3113087" cy="646331"/>
          </a:xfrm>
          <a:prstGeom prst="rect">
            <a:avLst/>
          </a:prstGeom>
          <a:noFill/>
        </p:spPr>
        <p:txBody>
          <a:bodyPr wrap="square">
            <a:spAutoFit/>
          </a:bodyPr>
          <a:lstStyle/>
          <a:p>
            <a:pPr marL="285750" indent="-285750" eaLnBrk="1">
              <a:spcBef>
                <a:spcPts val="13"/>
              </a:spcBef>
              <a:spcAft>
                <a:spcPts val="13"/>
              </a:spcAft>
              <a:buFontTx/>
              <a:buChar char="-"/>
              <a:tabLst>
                <a:tab pos="914400" algn="l"/>
                <a:tab pos="1828800" algn="l"/>
                <a:tab pos="2743200" algn="l"/>
                <a:tab pos="3657600" algn="l"/>
                <a:tab pos="4572000" algn="l"/>
                <a:tab pos="5486400" algn="l"/>
              </a:tabLst>
            </a:pPr>
            <a:r>
              <a:rPr lang="en-US" altLang="es-MX" dirty="0">
                <a:solidFill>
                  <a:schemeClr val="bg1"/>
                </a:solidFill>
                <a:cs typeface="DejaVu Sans" charset="0"/>
              </a:rPr>
              <a:t>Tanto 1,4,5 </a:t>
            </a:r>
            <a:r>
              <a:rPr lang="en-US" altLang="es-MX" dirty="0" err="1">
                <a:solidFill>
                  <a:schemeClr val="bg1"/>
                </a:solidFill>
                <a:cs typeface="DejaVu Sans" charset="0"/>
              </a:rPr>
              <a:t>tiene</a:t>
            </a:r>
            <a:r>
              <a:rPr lang="en-US" altLang="es-MX" dirty="0">
                <a:solidFill>
                  <a:schemeClr val="bg1"/>
                </a:solidFill>
                <a:cs typeface="DejaVu Sans" charset="0"/>
              </a:rPr>
              <a:t> un </a:t>
            </a:r>
            <a:r>
              <a:rPr lang="en-US" altLang="es-MX" dirty="0" err="1">
                <a:solidFill>
                  <a:schemeClr val="bg1"/>
                </a:solidFill>
                <a:cs typeface="DejaVu Sans" charset="0"/>
              </a:rPr>
              <a:t>variacion</a:t>
            </a:r>
            <a:r>
              <a:rPr lang="en-US" altLang="es-MX" dirty="0">
                <a:solidFill>
                  <a:schemeClr val="bg1"/>
                </a:solidFill>
                <a:cs typeface="DejaVu Sans" charset="0"/>
              </a:rPr>
              <a:t> </a:t>
            </a:r>
            <a:r>
              <a:rPr lang="en-US" altLang="es-MX" dirty="0" err="1">
                <a:solidFill>
                  <a:schemeClr val="bg1"/>
                </a:solidFill>
                <a:cs typeface="DejaVu Sans" charset="0"/>
              </a:rPr>
              <a:t>casi</a:t>
            </a:r>
            <a:r>
              <a:rPr lang="en-US" altLang="es-MX" dirty="0">
                <a:solidFill>
                  <a:schemeClr val="bg1"/>
                </a:solidFill>
                <a:cs typeface="DejaVu Sans" charset="0"/>
              </a:rPr>
              <a:t> cero.</a:t>
            </a:r>
          </a:p>
        </p:txBody>
      </p:sp>
      <p:sp>
        <p:nvSpPr>
          <p:cNvPr id="24" name="CuadroTexto 23">
            <a:extLst>
              <a:ext uri="{FF2B5EF4-FFF2-40B4-BE49-F238E27FC236}">
                <a16:creationId xmlns:a16="http://schemas.microsoft.com/office/drawing/2014/main" id="{74A4027E-78EF-4057-6024-F3F8E24812C8}"/>
              </a:ext>
            </a:extLst>
          </p:cNvPr>
          <p:cNvSpPr txBox="1"/>
          <p:nvPr/>
        </p:nvSpPr>
        <p:spPr>
          <a:xfrm>
            <a:off x="208421" y="3303014"/>
            <a:ext cx="2670852" cy="3416320"/>
          </a:xfrm>
          <a:prstGeom prst="rect">
            <a:avLst/>
          </a:prstGeom>
          <a:noFill/>
        </p:spPr>
        <p:txBody>
          <a:bodyPr wrap="square">
            <a:spAutoFit/>
          </a:bodyPr>
          <a:lstStyle/>
          <a:p>
            <a:pPr marL="285750" indent="-285750" eaLnBrk="1">
              <a:spcBef>
                <a:spcPts val="13"/>
              </a:spcBef>
              <a:spcAft>
                <a:spcPts val="13"/>
              </a:spcAft>
              <a:buFontTx/>
              <a:buChar char="-"/>
              <a:tabLst>
                <a:tab pos="914400" algn="l"/>
                <a:tab pos="1828800" algn="l"/>
                <a:tab pos="2743200" algn="l"/>
                <a:tab pos="3657600" algn="l"/>
                <a:tab pos="4572000" algn="l"/>
                <a:tab pos="5486400" algn="l"/>
              </a:tabLst>
            </a:pPr>
            <a:r>
              <a:rPr lang="en-US" altLang="es-MX" dirty="0">
                <a:solidFill>
                  <a:schemeClr val="bg1"/>
                </a:solidFill>
                <a:cs typeface="DejaVu Sans" charset="0"/>
              </a:rPr>
              <a:t>Para 2,3 </a:t>
            </a:r>
            <a:r>
              <a:rPr lang="en-US" altLang="es-MX" dirty="0" err="1">
                <a:solidFill>
                  <a:schemeClr val="bg1"/>
                </a:solidFill>
                <a:cs typeface="DejaVu Sans" charset="0"/>
              </a:rPr>
              <a:t>podemos</a:t>
            </a:r>
            <a:r>
              <a:rPr lang="en-US" altLang="es-MX" dirty="0">
                <a:solidFill>
                  <a:schemeClr val="bg1"/>
                </a:solidFill>
                <a:cs typeface="DejaVu Sans" charset="0"/>
              </a:rPr>
              <a:t> </a:t>
            </a:r>
            <a:r>
              <a:rPr lang="en-US" altLang="es-MX" dirty="0" err="1">
                <a:solidFill>
                  <a:schemeClr val="bg1"/>
                </a:solidFill>
                <a:cs typeface="DejaVu Sans" charset="0"/>
              </a:rPr>
              <a:t>ver</a:t>
            </a:r>
            <a:r>
              <a:rPr lang="en-US" altLang="es-MX" dirty="0">
                <a:solidFill>
                  <a:schemeClr val="bg1"/>
                </a:solidFill>
                <a:cs typeface="DejaVu Sans" charset="0"/>
              </a:rPr>
              <a:t> que la </a:t>
            </a:r>
            <a:r>
              <a:rPr lang="en-US" altLang="es-MX" dirty="0" err="1">
                <a:solidFill>
                  <a:schemeClr val="bg1"/>
                </a:solidFill>
                <a:cs typeface="DejaVu Sans" charset="0"/>
              </a:rPr>
              <a:t>variacion</a:t>
            </a:r>
            <a:r>
              <a:rPr lang="en-US" altLang="es-MX" dirty="0">
                <a:solidFill>
                  <a:schemeClr val="bg1"/>
                </a:solidFill>
                <a:cs typeface="DejaVu Sans" charset="0"/>
              </a:rPr>
              <a:t> con </a:t>
            </a:r>
            <a:r>
              <a:rPr lang="en-US" altLang="es-MX" dirty="0" err="1">
                <a:solidFill>
                  <a:schemeClr val="bg1"/>
                </a:solidFill>
                <a:cs typeface="DejaVu Sans" charset="0"/>
              </a:rPr>
              <a:t>patrones</a:t>
            </a:r>
            <a:r>
              <a:rPr lang="en-US" altLang="es-MX" dirty="0">
                <a:solidFill>
                  <a:schemeClr val="bg1"/>
                </a:solidFill>
                <a:cs typeface="DejaVu Sans" charset="0"/>
              </a:rPr>
              <a:t> </a:t>
            </a:r>
            <a:r>
              <a:rPr lang="en-US" altLang="es-MX" dirty="0" err="1">
                <a:solidFill>
                  <a:schemeClr val="bg1"/>
                </a:solidFill>
                <a:cs typeface="DejaVu Sans" charset="0"/>
              </a:rPr>
              <a:t>pero</a:t>
            </a:r>
            <a:r>
              <a:rPr lang="en-US" altLang="es-MX" dirty="0">
                <a:solidFill>
                  <a:schemeClr val="bg1"/>
                </a:solidFill>
                <a:cs typeface="DejaVu Sans" charset="0"/>
              </a:rPr>
              <a:t> se </a:t>
            </a:r>
            <a:r>
              <a:rPr lang="en-US" altLang="es-MX" dirty="0" err="1">
                <a:solidFill>
                  <a:schemeClr val="bg1"/>
                </a:solidFill>
                <a:cs typeface="DejaVu Sans" charset="0"/>
              </a:rPr>
              <a:t>requiere</a:t>
            </a:r>
            <a:r>
              <a:rPr lang="en-US" altLang="es-MX" dirty="0">
                <a:solidFill>
                  <a:schemeClr val="bg1"/>
                </a:solidFill>
                <a:cs typeface="DejaVu Sans" charset="0"/>
              </a:rPr>
              <a:t> mas </a:t>
            </a:r>
            <a:r>
              <a:rPr lang="en-US" altLang="es-MX" dirty="0" err="1">
                <a:solidFill>
                  <a:schemeClr val="bg1"/>
                </a:solidFill>
                <a:cs typeface="DejaVu Sans" charset="0"/>
              </a:rPr>
              <a:t>analisis</a:t>
            </a:r>
            <a:r>
              <a:rPr lang="en-US" altLang="es-MX" dirty="0">
                <a:solidFill>
                  <a:schemeClr val="bg1"/>
                </a:solidFill>
                <a:cs typeface="DejaVu Sans" charset="0"/>
              </a:rPr>
              <a:t> para determiner </a:t>
            </a:r>
            <a:r>
              <a:rPr lang="en-US" altLang="es-MX" dirty="0" err="1">
                <a:solidFill>
                  <a:schemeClr val="bg1"/>
                </a:solidFill>
                <a:cs typeface="DejaVu Sans" charset="0"/>
              </a:rPr>
              <a:t>si</a:t>
            </a:r>
            <a:r>
              <a:rPr lang="en-US" altLang="es-MX" dirty="0">
                <a:solidFill>
                  <a:schemeClr val="bg1"/>
                </a:solidFill>
                <a:cs typeface="DejaVu Sans" charset="0"/>
              </a:rPr>
              <a:t> es </a:t>
            </a:r>
            <a:r>
              <a:rPr lang="en-US" altLang="es-MX" dirty="0" err="1">
                <a:solidFill>
                  <a:schemeClr val="bg1"/>
                </a:solidFill>
                <a:cs typeface="DejaVu Sans" charset="0"/>
              </a:rPr>
              <a:t>estacional</a:t>
            </a:r>
            <a:r>
              <a:rPr lang="en-US" altLang="es-MX" dirty="0">
                <a:solidFill>
                  <a:schemeClr val="bg1"/>
                </a:solidFill>
                <a:cs typeface="DejaVu Sans" charset="0"/>
              </a:rPr>
              <a:t> o </a:t>
            </a:r>
            <a:r>
              <a:rPr lang="en-US" altLang="es-MX" dirty="0" err="1">
                <a:solidFill>
                  <a:schemeClr val="bg1"/>
                </a:solidFill>
                <a:cs typeface="DejaVu Sans" charset="0"/>
              </a:rPr>
              <a:t>ciclica</a:t>
            </a:r>
            <a:r>
              <a:rPr lang="en-US" altLang="es-MX" dirty="0">
                <a:solidFill>
                  <a:schemeClr val="bg1"/>
                </a:solidFill>
                <a:cs typeface="DejaVu Sans" charset="0"/>
              </a:rPr>
              <a:t>.</a:t>
            </a:r>
          </a:p>
          <a:p>
            <a:pPr marL="285750" indent="-285750" eaLnBrk="1">
              <a:spcBef>
                <a:spcPts val="13"/>
              </a:spcBef>
              <a:spcAft>
                <a:spcPts val="13"/>
              </a:spcAft>
              <a:buFontTx/>
              <a:buChar char="-"/>
              <a:tabLst>
                <a:tab pos="914400" algn="l"/>
                <a:tab pos="1828800" algn="l"/>
                <a:tab pos="2743200" algn="l"/>
                <a:tab pos="3657600" algn="l"/>
                <a:tab pos="4572000" algn="l"/>
                <a:tab pos="5486400" algn="l"/>
              </a:tabLst>
            </a:pPr>
            <a:endParaRPr lang="en-US" altLang="es-MX" dirty="0">
              <a:solidFill>
                <a:schemeClr val="bg1"/>
              </a:solidFill>
              <a:cs typeface="DejaVu Sans" charset="0"/>
            </a:endParaRPr>
          </a:p>
          <a:p>
            <a:pPr marL="285750" indent="-285750" eaLnBrk="1">
              <a:spcBef>
                <a:spcPts val="13"/>
              </a:spcBef>
              <a:spcAft>
                <a:spcPts val="13"/>
              </a:spcAft>
              <a:buFontTx/>
              <a:buChar char="-"/>
              <a:tabLst>
                <a:tab pos="914400" algn="l"/>
                <a:tab pos="1828800" algn="l"/>
                <a:tab pos="2743200" algn="l"/>
                <a:tab pos="3657600" algn="l"/>
                <a:tab pos="4572000" algn="l"/>
                <a:tab pos="5486400" algn="l"/>
              </a:tabLst>
            </a:pPr>
            <a:r>
              <a:rPr lang="en-US" altLang="es-MX" dirty="0">
                <a:solidFill>
                  <a:schemeClr val="bg1"/>
                </a:solidFill>
                <a:cs typeface="DejaVu Sans" charset="0"/>
              </a:rPr>
              <a:t>En </a:t>
            </a:r>
            <a:r>
              <a:rPr lang="en-US" altLang="es-MX" dirty="0" err="1">
                <a:solidFill>
                  <a:schemeClr val="bg1"/>
                </a:solidFill>
                <a:cs typeface="DejaVu Sans" charset="0"/>
              </a:rPr>
              <a:t>el</a:t>
            </a:r>
            <a:r>
              <a:rPr lang="en-US" altLang="es-MX" dirty="0">
                <a:solidFill>
                  <a:schemeClr val="bg1"/>
                </a:solidFill>
                <a:cs typeface="DejaVu Sans" charset="0"/>
              </a:rPr>
              <a:t> </a:t>
            </a:r>
            <a:r>
              <a:rPr lang="en-US" altLang="es-MX" dirty="0" err="1">
                <a:solidFill>
                  <a:schemeClr val="bg1"/>
                </a:solidFill>
                <a:cs typeface="DejaVu Sans" charset="0"/>
              </a:rPr>
              <a:t>caso</a:t>
            </a:r>
            <a:r>
              <a:rPr lang="en-US" altLang="es-MX" dirty="0">
                <a:solidFill>
                  <a:schemeClr val="bg1"/>
                </a:solidFill>
                <a:cs typeface="DejaVu Sans" charset="0"/>
              </a:rPr>
              <a:t> de la </a:t>
            </a:r>
            <a:r>
              <a:rPr lang="en-US" altLang="es-MX" dirty="0" err="1">
                <a:solidFill>
                  <a:schemeClr val="bg1"/>
                </a:solidFill>
                <a:cs typeface="DejaVu Sans" charset="0"/>
              </a:rPr>
              <a:t>tendencia</a:t>
            </a:r>
            <a:r>
              <a:rPr lang="en-US" altLang="es-MX" dirty="0">
                <a:solidFill>
                  <a:schemeClr val="bg1"/>
                </a:solidFill>
                <a:cs typeface="DejaVu Sans" charset="0"/>
              </a:rPr>
              <a:t> </a:t>
            </a:r>
            <a:r>
              <a:rPr lang="en-US" altLang="es-MX" dirty="0" err="1">
                <a:solidFill>
                  <a:schemeClr val="bg1"/>
                </a:solidFill>
                <a:cs typeface="DejaVu Sans" charset="0"/>
              </a:rPr>
              <a:t>puede</a:t>
            </a:r>
            <a:r>
              <a:rPr lang="en-US" altLang="es-MX" dirty="0">
                <a:solidFill>
                  <a:schemeClr val="bg1"/>
                </a:solidFill>
                <a:cs typeface="DejaVu Sans" charset="0"/>
              </a:rPr>
              <a:t> </a:t>
            </a:r>
            <a:r>
              <a:rPr lang="en-US" altLang="es-MX" dirty="0" err="1">
                <a:solidFill>
                  <a:schemeClr val="bg1"/>
                </a:solidFill>
                <a:cs typeface="DejaVu Sans" charset="0"/>
              </a:rPr>
              <a:t>variar</a:t>
            </a:r>
            <a:r>
              <a:rPr lang="en-US" altLang="es-MX" dirty="0">
                <a:solidFill>
                  <a:schemeClr val="bg1"/>
                </a:solidFill>
                <a:cs typeface="DejaVu Sans" charset="0"/>
              </a:rPr>
              <a:t> </a:t>
            </a:r>
            <a:r>
              <a:rPr lang="en-US" altLang="es-MX" dirty="0" err="1">
                <a:solidFill>
                  <a:schemeClr val="bg1"/>
                </a:solidFill>
                <a:cs typeface="DejaVu Sans" charset="0"/>
              </a:rPr>
              <a:t>en</a:t>
            </a:r>
            <a:r>
              <a:rPr lang="en-US" altLang="es-MX" dirty="0">
                <a:solidFill>
                  <a:schemeClr val="bg1"/>
                </a:solidFill>
                <a:cs typeface="DejaVu Sans" charset="0"/>
              </a:rPr>
              <a:t> </a:t>
            </a:r>
            <a:r>
              <a:rPr lang="en-US" altLang="es-MX" dirty="0" err="1">
                <a:solidFill>
                  <a:schemeClr val="bg1"/>
                </a:solidFill>
                <a:cs typeface="DejaVu Sans" charset="0"/>
              </a:rPr>
              <a:t>fuciones</a:t>
            </a:r>
            <a:r>
              <a:rPr lang="en-US" altLang="es-MX" dirty="0">
                <a:solidFill>
                  <a:schemeClr val="bg1"/>
                </a:solidFill>
                <a:cs typeface="DejaVu Sans" charset="0"/>
              </a:rPr>
              <a:t> lineal, </a:t>
            </a:r>
            <a:r>
              <a:rPr lang="en-US" altLang="es-MX" dirty="0" err="1">
                <a:solidFill>
                  <a:schemeClr val="bg1"/>
                </a:solidFill>
                <a:cs typeface="DejaVu Sans" charset="0"/>
              </a:rPr>
              <a:t>logisticas</a:t>
            </a:r>
            <a:r>
              <a:rPr lang="en-US" altLang="es-MX" dirty="0">
                <a:solidFill>
                  <a:schemeClr val="bg1"/>
                </a:solidFill>
                <a:cs typeface="DejaVu Sans" charset="0"/>
              </a:rPr>
              <a:t>, </a:t>
            </a:r>
            <a:r>
              <a:rPr lang="en-US" altLang="es-MX" dirty="0" err="1">
                <a:solidFill>
                  <a:schemeClr val="bg1"/>
                </a:solidFill>
                <a:cs typeface="DejaVu Sans" charset="0"/>
              </a:rPr>
              <a:t>exponencial</a:t>
            </a:r>
            <a:r>
              <a:rPr lang="en-US" altLang="es-MX" dirty="0">
                <a:solidFill>
                  <a:schemeClr val="bg1"/>
                </a:solidFill>
                <a:cs typeface="DejaVu Sans" charset="0"/>
              </a:rPr>
              <a:t>, etc.</a:t>
            </a:r>
          </a:p>
        </p:txBody>
      </p:sp>
    </p:spTree>
    <p:extLst>
      <p:ext uri="{BB962C8B-B14F-4D97-AF65-F5344CB8AC3E}">
        <p14:creationId xmlns:p14="http://schemas.microsoft.com/office/powerpoint/2010/main" val="1887975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a:extLst>
              <a:ext uri="{FF2B5EF4-FFF2-40B4-BE49-F238E27FC236}">
                <a16:creationId xmlns:a16="http://schemas.microsoft.com/office/drawing/2014/main" id="{FC65CFA5-D9AA-82A7-32E1-CAF974E778EA}"/>
              </a:ext>
            </a:extLst>
          </p:cNvPr>
          <p:cNvSpPr>
            <a:spLocks noGrp="1" noChangeArrowheads="1"/>
          </p:cNvSpPr>
          <p:nvPr>
            <p:ph type="title"/>
          </p:nvPr>
        </p:nvSpPr>
        <p:spPr>
          <a:xfrm>
            <a:off x="685800" y="584200"/>
            <a:ext cx="3340100" cy="1155700"/>
          </a:xfrm>
          <a:ln/>
        </p:spPr>
        <p:txBody>
          <a:bodyPr/>
          <a:lstStyle/>
          <a:p>
            <a:pPr algn="ct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solidFill>
                <a:latin typeface="Calibri Light" panose="020F0302020204030204" pitchFamily="34" charset="0"/>
              </a:rPr>
              <a:t>Modelación de la tendencia</a:t>
            </a:r>
          </a:p>
        </p:txBody>
      </p:sp>
      <p:sp>
        <p:nvSpPr>
          <p:cNvPr id="14338" name="Text Box 2">
            <a:extLst>
              <a:ext uri="{FF2B5EF4-FFF2-40B4-BE49-F238E27FC236}">
                <a16:creationId xmlns:a16="http://schemas.microsoft.com/office/drawing/2014/main" id="{68274EFD-7D75-F71E-4BA8-4A80B9E913AF}"/>
              </a:ext>
            </a:extLst>
          </p:cNvPr>
          <p:cNvSpPr txBox="1">
            <a:spLocks noChangeArrowheads="1"/>
          </p:cNvSpPr>
          <p:nvPr/>
        </p:nvSpPr>
        <p:spPr bwMode="auto">
          <a:xfrm>
            <a:off x="4025900" y="99219"/>
            <a:ext cx="7988300" cy="2392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285750" marR="0" lvl="0" indent="-285750" algn="l"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rPr>
              <a:t>Análogo a una regresión simple, por medio de:</a:t>
            </a:r>
          </a:p>
          <a:p>
            <a:pPr marL="285750" marR="0" lvl="0" indent="-285750" algn="l" defTabSz="914400" rtl="0" eaLnBrk="1" fontAlgn="base" latinLnBrk="0" hangingPunct="1">
              <a:lnSpc>
                <a:spcPct val="100000"/>
              </a:lnSpc>
              <a:spcBef>
                <a:spcPts val="13"/>
              </a:spcBef>
              <a:spcAft>
                <a:spcPts val="1013"/>
              </a:spcAft>
              <a:buClr>
                <a:srgbClr val="FFFFFF"/>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1" i="1" u="none" strike="noStrike" kern="1200" cap="none" spc="0" normalizeH="0" baseline="0" noProof="0" dirty="0">
                <a:ln>
                  <a:noFill/>
                </a:ln>
                <a:solidFill>
                  <a:srgbClr val="FFFFFF"/>
                </a:solidFill>
                <a:effectLst/>
                <a:uLnTx/>
                <a:uFillTx/>
                <a:latin typeface="Calibri" panose="020F0502020204030204" pitchFamily="34" charset="0"/>
              </a:rPr>
              <a:t>Promedios Móviles:</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rPr>
              <a:t> consiste </a:t>
            </a:r>
            <a:r>
              <a:rPr lang="es-MX" altLang="es-MX" dirty="0">
                <a:solidFill>
                  <a:srgbClr val="FFFFFF"/>
                </a:solidFill>
                <a:latin typeface="Calibri" panose="020F0502020204030204" pitchFamily="34" charset="0"/>
              </a:rPr>
              <a:t>en </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rPr>
              <a:t>el promedio de un subconjunto de datos dentro de una ventana temporal que se desliza a lo largo de toda la serie.</a:t>
            </a:r>
          </a:p>
          <a:p>
            <a:pPr marL="285750" marR="0" lvl="0" indent="-285750" algn="l" defTabSz="914400" rtl="0" eaLnBrk="1" fontAlgn="base" latinLnBrk="0" hangingPunct="1">
              <a:lnSpc>
                <a:spcPct val="100000"/>
              </a:lnSpc>
              <a:spcBef>
                <a:spcPts val="13"/>
              </a:spcBef>
              <a:spcAft>
                <a:spcPts val="1013"/>
              </a:spcAft>
              <a:buClr>
                <a:srgbClr val="FFFFFF"/>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1" i="1" u="none" strike="noStrike" kern="1200" cap="none" spc="0" normalizeH="0" baseline="0" noProof="0" dirty="0">
                <a:ln>
                  <a:noFill/>
                </a:ln>
                <a:solidFill>
                  <a:srgbClr val="FFFFFF"/>
                </a:solidFill>
                <a:effectLst/>
                <a:uLnTx/>
                <a:uFillTx/>
                <a:latin typeface="Calibri" panose="020F0502020204030204" pitchFamily="34" charset="0"/>
              </a:rPr>
              <a:t>Diferencias:</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rPr>
              <a:t> la diferencia entre el valor presente Vs anterior.</a:t>
            </a:r>
          </a:p>
          <a:p>
            <a:pPr marL="285750" marR="0" lvl="0" indent="-285750" algn="l" defTabSz="914400" rtl="0" eaLnBrk="1" fontAlgn="base" latinLnBrk="0" hangingPunct="1">
              <a:lnSpc>
                <a:spcPct val="100000"/>
              </a:lnSpc>
              <a:spcBef>
                <a:spcPts val="13"/>
              </a:spcBef>
              <a:spcAft>
                <a:spcPts val="1013"/>
              </a:spcAft>
              <a:buClr>
                <a:srgbClr val="FFFFFF"/>
              </a:buClr>
              <a:buSzPct val="10000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1" i="1" u="none" strike="noStrike" kern="1200" cap="none" spc="0" normalizeH="0" baseline="0" noProof="0" dirty="0">
                <a:ln>
                  <a:noFill/>
                </a:ln>
                <a:solidFill>
                  <a:srgbClr val="FFFFFF"/>
                </a:solidFill>
                <a:effectLst/>
                <a:uLnTx/>
                <a:uFillTx/>
                <a:latin typeface="Calibri" panose="020F0502020204030204" pitchFamily="34" charset="0"/>
              </a:rPr>
              <a:t>Suavización exponencial:</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rPr>
              <a:t> un poco mas sofisticado que lo podemos ver de la siguiente forman…</a:t>
            </a:r>
          </a:p>
        </p:txBody>
      </p:sp>
      <mc:AlternateContent xmlns:mc="http://schemas.openxmlformats.org/markup-compatibility/2006" xmlns:a14="http://schemas.microsoft.com/office/drawing/2010/main">
        <mc:Choice Requires="a14">
          <p:sp>
            <p:nvSpPr>
              <p:cNvPr id="4" name="Text Box 2">
                <a:extLst>
                  <a:ext uri="{FF2B5EF4-FFF2-40B4-BE49-F238E27FC236}">
                    <a16:creationId xmlns:a16="http://schemas.microsoft.com/office/drawing/2014/main" id="{EA6059D1-A904-1301-776B-3D55EFC4767F}"/>
                  </a:ext>
                </a:extLst>
              </p:cNvPr>
              <p:cNvSpPr txBox="1">
                <a:spLocks noChangeArrowheads="1"/>
              </p:cNvSpPr>
              <p:nvPr/>
            </p:nvSpPr>
            <p:spPr bwMode="auto">
              <a:xfrm>
                <a:off x="5600700" y="2209800"/>
                <a:ext cx="5156200" cy="563561"/>
              </a:xfrm>
              <a:prstGeom prst="rect">
                <a:avLst/>
              </a:prstGeom>
              <a:noFill/>
              <a:ln>
                <a:noFill/>
              </a:ln>
              <a:effectLst/>
              <a:extLst>
                <a:ext uri="{909E8E84-426E-40DD-AFC4-6F175D3DCCD1}">
                  <a14:hiddenFill>
                    <a:solidFill>
                      <a:srgbClr val="FFFFFF"/>
                    </a:solidFill>
                  </a14:hiddenFill>
                </a:ext>
                <a:ext uri="{91240B29-F687-4F45-9708-019B960494DF}">
                  <a14:hiddenLine w="9525" cap="flat">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nchor="ctr"/>
              <a:lstStyle>
                <a:lvl1pPr marL="2857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285750" marR="0" lvl="0" indent="-285750" algn="l"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14:m>
                  <m:oMathPara xmlns:m="http://schemas.openxmlformats.org/officeDocument/2006/math">
                    <m:oMathParaPr>
                      <m:jc m:val="centerGroup"/>
                    </m:oMathParaPr>
                    <m:oMath xmlns:m="http://schemas.openxmlformats.org/officeDocument/2006/math">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𝑆</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𝑡</m:t>
                          </m:r>
                        </m:sub>
                      </m:s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𝛼</m:t>
                      </m:r>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𝑋</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𝑡</m:t>
                          </m:r>
                        </m:sub>
                      </m:s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m:t>
                      </m:r>
                      <m:d>
                        <m:d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d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1 −</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𝛼</m:t>
                          </m:r>
                        </m:e>
                      </m:d>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𝑋</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𝑡</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−1</m:t>
                          </m:r>
                        </m:sub>
                      </m:sSub>
                    </m:oMath>
                  </m:oMathPara>
                </a14:m>
                <a:endPar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ndParaRPr>
              </a:p>
              <a:p>
                <a:pPr marL="285750" marR="0" lvl="0" indent="-285750" algn="l"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rPr>
                  <a:t>Donde </a:t>
                </a:r>
                <a:r>
                  <a:rPr lang="es-MX" altLang="es-MX" dirty="0">
                    <a:solidFill>
                      <a:srgbClr val="FFFFFF"/>
                    </a:solidFill>
                    <a:latin typeface="Calibri" panose="020F0502020204030204" pitchFamily="34" charset="0"/>
                  </a:rPr>
                  <a:t>el Alpha será el </a:t>
                </a:r>
                <a:r>
                  <a:rPr lang="es-MX" altLang="es-MX" i="1" dirty="0">
                    <a:solidFill>
                      <a:srgbClr val="FFFFFF"/>
                    </a:solidFill>
                    <a:latin typeface="Calibri" panose="020F0502020204030204" pitchFamily="34" charset="0"/>
                  </a:rPr>
                  <a:t>“factor de suavización”</a:t>
                </a:r>
                <a:endParaRPr kumimoji="0" lang="es-MX" altLang="es-MX" b="0" i="1" u="none" strike="noStrike" kern="1200" cap="none" spc="0" normalizeH="0" baseline="0" noProof="0" dirty="0">
                  <a:ln>
                    <a:noFill/>
                  </a:ln>
                  <a:solidFill>
                    <a:srgbClr val="FFFFFF"/>
                  </a:solidFill>
                  <a:effectLst/>
                  <a:uLnTx/>
                  <a:uFillTx/>
                  <a:latin typeface="Calibri" panose="020F0502020204030204" pitchFamily="34" charset="0"/>
                </a:endParaRPr>
              </a:p>
            </p:txBody>
          </p:sp>
        </mc:Choice>
        <mc:Fallback xmlns="">
          <p:sp>
            <p:nvSpPr>
              <p:cNvPr id="4" name="Text Box 2">
                <a:extLst>
                  <a:ext uri="{FF2B5EF4-FFF2-40B4-BE49-F238E27FC236}">
                    <a16:creationId xmlns:a16="http://schemas.microsoft.com/office/drawing/2014/main" id="{EA6059D1-A904-1301-776B-3D55EFC4767F}"/>
                  </a:ext>
                </a:extLst>
              </p:cNvPr>
              <p:cNvSpPr txBox="1">
                <a:spLocks noRot="1" noChangeAspect="1" noMove="1" noResize="1" noEditPoints="1" noAdjustHandles="1" noChangeArrowheads="1" noChangeShapeType="1" noTextEdit="1"/>
              </p:cNvSpPr>
              <p:nvPr/>
            </p:nvSpPr>
            <p:spPr bwMode="auto">
              <a:xfrm>
                <a:off x="5600700" y="2209800"/>
                <a:ext cx="5156200" cy="563561"/>
              </a:xfrm>
              <a:prstGeom prst="rect">
                <a:avLst/>
              </a:prstGeom>
              <a:blipFill>
                <a:blip r:embed="rId3"/>
                <a:stretch>
                  <a:fillRect l="-1064" t="-3261" b="-35870"/>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p:sp>
        <p:nvSpPr>
          <p:cNvPr id="5" name="Rectangle 1">
            <a:extLst>
              <a:ext uri="{FF2B5EF4-FFF2-40B4-BE49-F238E27FC236}">
                <a16:creationId xmlns:a16="http://schemas.microsoft.com/office/drawing/2014/main" id="{A5E7EBA2-39CD-7BDF-E9B8-0C6F6E9CA96A}"/>
              </a:ext>
            </a:extLst>
          </p:cNvPr>
          <p:cNvSpPr txBox="1">
            <a:spLocks noChangeArrowheads="1"/>
          </p:cNvSpPr>
          <p:nvPr/>
        </p:nvSpPr>
        <p:spPr bwMode="auto">
          <a:xfrm>
            <a:off x="8178800" y="3969543"/>
            <a:ext cx="3962399" cy="115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lnSpc>
                <a:spcPct val="83000"/>
              </a:lnSpc>
              <a:spcBef>
                <a:spcPts val="13"/>
              </a:spcBef>
              <a:spcAft>
                <a:spcPts val="13"/>
              </a:spcAft>
              <a:buClr>
                <a:srgbClr val="000000"/>
              </a:buClr>
              <a:buSzPct val="100000"/>
              <a:buFont typeface="Times New Roman" panose="02020603050405020304" pitchFamily="18" charset="0"/>
              <a:defRPr kern="1200">
                <a:solidFill>
                  <a:srgbClr val="FFFFFF"/>
                </a:solidFill>
                <a:latin typeface="+mj-lt"/>
                <a:ea typeface="+mj-ea"/>
                <a:cs typeface="+mj-cs"/>
              </a:defRPr>
            </a:lvl1pPr>
            <a:lvl2pPr marL="742950" indent="-28575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2pPr>
            <a:lvl3pPr marL="1143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3pPr>
            <a:lvl4pPr marL="1600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4pPr>
            <a:lvl5pPr marL="20574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5pPr>
            <a:lvl6pPr marL="25146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6pPr>
            <a:lvl7pPr marL="29718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7pPr>
            <a:lvl8pPr marL="3429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8pPr>
            <a:lvl9pPr marL="3886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9pPr>
          </a:lstStyle>
          <a:p>
            <a:pPr algn="ct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solidFill>
                <a:latin typeface="Calibri Light" panose="020F0302020204030204" pitchFamily="34" charset="0"/>
              </a:rPr>
              <a:t>Modelación Variación estacional</a:t>
            </a:r>
          </a:p>
        </p:txBody>
      </p:sp>
      <mc:AlternateContent xmlns:mc="http://schemas.openxmlformats.org/markup-compatibility/2006" xmlns:a14="http://schemas.microsoft.com/office/drawing/2010/main">
        <mc:Choice Requires="a14">
          <p:sp>
            <p:nvSpPr>
              <p:cNvPr id="6" name="Text Box 2">
                <a:extLst>
                  <a:ext uri="{FF2B5EF4-FFF2-40B4-BE49-F238E27FC236}">
                    <a16:creationId xmlns:a16="http://schemas.microsoft.com/office/drawing/2014/main" id="{FA8BF541-8F41-087E-D28A-F957592D8D16}"/>
                  </a:ext>
                </a:extLst>
              </p:cNvPr>
              <p:cNvSpPr txBox="1">
                <a:spLocks noChangeArrowheads="1"/>
              </p:cNvSpPr>
              <p:nvPr/>
            </p:nvSpPr>
            <p:spPr bwMode="auto">
              <a:xfrm>
                <a:off x="685800" y="2976562"/>
                <a:ext cx="7683500" cy="3141662"/>
              </a:xfrm>
              <a:prstGeom prst="rect">
                <a:avLst/>
              </a:prstGeom>
              <a:noFill/>
              <a:ln>
                <a:noFill/>
              </a:ln>
              <a:effectLst/>
              <a:extLst>
                <a:ext uri="{909E8E84-426E-40DD-AFC4-6F175D3DCCD1}">
                  <a14:hiddenFill>
                    <a:solidFill>
                      <a:srgbClr val="FFFFFF"/>
                    </a:solidFill>
                  </a14:hiddenFill>
                </a:ext>
                <a:ext uri="{91240B29-F687-4F45-9708-019B960494DF}">
                  <a14:hiddenLine w="9525" cap="flat">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0" marR="0" lvl="0" indent="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s-MX" altLang="es-MX" dirty="0">
                    <a:solidFill>
                      <a:srgbClr val="FFFFFF"/>
                    </a:solidFill>
                    <a:latin typeface="Calibri" panose="020F0502020204030204" pitchFamily="34" charset="0"/>
                  </a:rPr>
                  <a:t>Sera parecido a los puntos anteriores solo que con los valores de la serie </a:t>
                </a:r>
                <a14:m>
                  <m:oMath xmlns:m="http://schemas.openxmlformats.org/officeDocument/2006/math">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𝑌</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𝑡</m:t>
                        </m:r>
                      </m:sub>
                    </m:sSub>
                  </m:oMath>
                </a14:m>
                <a:endParaRPr lang="es-MX" altLang="es-MX" dirty="0">
                  <a:solidFill>
                    <a:srgbClr val="FFFFFF"/>
                  </a:solidFill>
                  <a:latin typeface="Calibri" panose="020F0502020204030204" pitchFamily="34" charset="0"/>
                </a:endParaRPr>
              </a:p>
              <a:p>
                <a:pPr marL="285750" marR="0" lvl="0" indent="-285750" algn="l" defTabSz="914400" rtl="0" eaLnBrk="1" fontAlgn="base" latinLnBrk="0" hangingPunct="1">
                  <a:lnSpc>
                    <a:spcPct val="10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1" i="1" u="none" strike="noStrike" kern="1200" cap="none" spc="0" normalizeH="0" baseline="0" noProof="0" dirty="0">
                    <a:ln>
                      <a:noFill/>
                    </a:ln>
                    <a:solidFill>
                      <a:srgbClr val="FFFFFF"/>
                    </a:solidFill>
                    <a:effectLst/>
                    <a:uLnTx/>
                    <a:uFillTx/>
                    <a:latin typeface="Calibri" panose="020F0502020204030204" pitchFamily="34" charset="0"/>
                    <a:ea typeface="+mn-ea"/>
                  </a:rPr>
                  <a:t>Medias móviles</a:t>
                </a:r>
              </a:p>
              <a:p>
                <a:pPr marL="285750" marR="0" lvl="0" indent="-285750" algn="l" defTabSz="914400" rtl="0" eaLnBrk="1" fontAlgn="base" latinLnBrk="0" hangingPunct="1">
                  <a:lnSpc>
                    <a:spcPct val="10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1" i="1" u="none" strike="noStrike" kern="1200" cap="none" spc="0" normalizeH="0" baseline="0" noProof="0" dirty="0">
                    <a:ln>
                      <a:noFill/>
                    </a:ln>
                    <a:solidFill>
                      <a:srgbClr val="FFFFFF"/>
                    </a:solidFill>
                    <a:effectLst/>
                    <a:uLnTx/>
                    <a:uFillTx/>
                    <a:latin typeface="Calibri" panose="020F0502020204030204" pitchFamily="34" charset="0"/>
                    <a:ea typeface="+mn-ea"/>
                  </a:rPr>
                  <a:t>Diferencias estacionales: </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entre los datos de la misma posición con respecto al tiempo </a:t>
                </a:r>
                <a14:m>
                  <m:oMath xmlns:m="http://schemas.openxmlformats.org/officeDocument/2006/math">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𝑌</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𝑡</m:t>
                        </m:r>
                      </m:sub>
                    </m:s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 −</m:t>
                    </m:r>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𝑌</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𝑡</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 −</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𝑠</m:t>
                        </m:r>
                      </m:sub>
                    </m:sSub>
                  </m:oMath>
                </a14:m>
                <a:endPar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endParaRPr>
              </a:p>
              <a:p>
                <a:pPr fontAlgn="base">
                  <a:spcBef>
                    <a:spcPts val="13"/>
                  </a:spcBef>
                  <a:spcAft>
                    <a:spcPts val="1013"/>
                  </a:spcAft>
                  <a:buClr>
                    <a:srgbClr val="FFFFFF"/>
                  </a:buClr>
                  <a:buSzPct val="100000"/>
                  <a:buFont typeface="Arial" panose="020B0604020202020204" pitchFamily="34" charset="0"/>
                  <a:buChar char="•"/>
                  <a:defRPr/>
                </a:pPr>
                <a:r>
                  <a:rPr kumimoji="0" lang="es-MX" altLang="es-MX" b="1" i="1" u="none" strike="noStrike" kern="1200" cap="none" spc="0" normalizeH="0" baseline="0" noProof="0" dirty="0">
                    <a:ln>
                      <a:noFill/>
                    </a:ln>
                    <a:solidFill>
                      <a:srgbClr val="FFFFFF"/>
                    </a:solidFill>
                    <a:effectLst/>
                    <a:uLnTx/>
                    <a:uFillTx/>
                    <a:latin typeface="Calibri" panose="020F0502020204030204" pitchFamily="34" charset="0"/>
                    <a:ea typeface="+mn-ea"/>
                  </a:rPr>
                  <a:t>Variables ficticias</a:t>
                </a:r>
              </a:p>
              <a:p>
                <a:pPr marL="285750" marR="0" lvl="0" indent="-285750" algn="l" defTabSz="914400" rtl="0" eaLnBrk="1" fontAlgn="base" latinLnBrk="0" hangingPunct="1">
                  <a:lnSpc>
                    <a:spcPct val="10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1" i="1" u="none" strike="noStrike" kern="1200" cap="none" spc="0" normalizeH="0" baseline="0" noProof="0" dirty="0">
                    <a:ln>
                      <a:noFill/>
                    </a:ln>
                    <a:solidFill>
                      <a:srgbClr val="FFFFFF"/>
                    </a:solidFill>
                    <a:effectLst/>
                    <a:uLnTx/>
                    <a:uFillTx/>
                    <a:latin typeface="Calibri" panose="020F0502020204030204" pitchFamily="34" charset="0"/>
                    <a:ea typeface="+mn-ea"/>
                  </a:rPr>
                  <a:t>Desestacionalización del índice estacional:</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Dependiendo del tipo de modelo </a:t>
                </a:r>
                <a:r>
                  <a:rPr kumimoji="0" lang="es-MX" altLang="es-MX" b="0" i="1" u="none" strike="noStrike" kern="1200" cap="none" spc="0" normalizeH="0" baseline="0" noProof="0" dirty="0">
                    <a:ln>
                      <a:noFill/>
                    </a:ln>
                    <a:solidFill>
                      <a:srgbClr val="FFFFFF"/>
                    </a:solidFill>
                    <a:effectLst/>
                    <a:uLnTx/>
                    <a:uFillTx/>
                    <a:latin typeface="Calibri" panose="020F0502020204030204" pitchFamily="34" charset="0"/>
                    <a:ea typeface="+mn-ea"/>
                  </a:rPr>
                  <a:t>(aditivo o multiplicativo), </a:t>
                </a:r>
                <a:r>
                  <a:rPr kumimoji="0" lang="es-MX" altLang="es-MX" b="0" u="none" strike="noStrike" kern="1200" cap="none" spc="0" normalizeH="0" baseline="0" noProof="0" dirty="0">
                    <a:ln>
                      <a:noFill/>
                    </a:ln>
                    <a:solidFill>
                      <a:srgbClr val="FFFFFF"/>
                    </a:solidFill>
                    <a:effectLst/>
                    <a:uLnTx/>
                    <a:uFillTx/>
                    <a:latin typeface="Calibri" panose="020F0502020204030204" pitchFamily="34" charset="0"/>
                    <a:ea typeface="+mn-ea"/>
                  </a:rPr>
                  <a:t>será una operación resta o división </a:t>
                </a:r>
                <a:r>
                  <a:rPr kumimoji="0" lang="es-MX" altLang="es-MX" b="0" i="1" u="none" strike="noStrike" kern="1200" cap="none" spc="0" normalizeH="0" baseline="0" noProof="0" dirty="0">
                    <a:ln>
                      <a:noFill/>
                    </a:ln>
                    <a:solidFill>
                      <a:srgbClr val="FFFFFF"/>
                    </a:solidFill>
                    <a:effectLst/>
                    <a:uLnTx/>
                    <a:uFillTx/>
                    <a:latin typeface="Calibri" panose="020F0502020204030204" pitchFamily="34" charset="0"/>
                    <a:ea typeface="+mn-ea"/>
                  </a:rPr>
                  <a:t>(respectivamente) </a:t>
                </a:r>
                <a:r>
                  <a:rPr kumimoji="0" lang="es-MX" altLang="es-MX" b="0" u="none" strike="noStrike" kern="1200" cap="none" spc="0" normalizeH="0" baseline="0" noProof="0" dirty="0">
                    <a:ln>
                      <a:noFill/>
                    </a:ln>
                    <a:solidFill>
                      <a:srgbClr val="FFFFFF"/>
                    </a:solidFill>
                    <a:effectLst/>
                    <a:uLnTx/>
                    <a:uFillTx/>
                    <a:latin typeface="Calibri" panose="020F0502020204030204" pitchFamily="34" charset="0"/>
                    <a:ea typeface="+mn-ea"/>
                  </a:rPr>
                  <a:t>de los valores </a:t>
                </a:r>
                <a14:m>
                  <m:oMath xmlns:m="http://schemas.openxmlformats.org/officeDocument/2006/math">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𝑌</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𝑡</m:t>
                        </m:r>
                      </m:sub>
                    </m:sSub>
                  </m:oMath>
                </a14:m>
                <a:r>
                  <a:rPr kumimoji="0" lang="es-MX" altLang="es-MX" b="0" i="1"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s-MX" altLang="es-MX" b="0" u="none" strike="noStrike" kern="1200" cap="none" spc="0" normalizeH="0" baseline="0" noProof="0" dirty="0">
                    <a:ln>
                      <a:noFill/>
                    </a:ln>
                    <a:solidFill>
                      <a:srgbClr val="FFFFFF"/>
                    </a:solidFill>
                    <a:effectLst/>
                    <a:uLnTx/>
                    <a:uFillTx/>
                    <a:latin typeface="Calibri" panose="020F0502020204030204" pitchFamily="34" charset="0"/>
                    <a:ea typeface="+mn-ea"/>
                  </a:rPr>
                  <a:t>y</a:t>
                </a:r>
                <a:r>
                  <a:rPr kumimoji="0" lang="es-MX" altLang="es-MX" b="0" u="none" strike="noStrike" kern="1200" cap="none" spc="0" normalizeH="0" noProof="0" dirty="0">
                    <a:ln>
                      <a:noFill/>
                    </a:ln>
                    <a:solidFill>
                      <a:srgbClr val="FFFFFF"/>
                    </a:solidFill>
                    <a:effectLst/>
                    <a:uLnTx/>
                    <a:uFillTx/>
                    <a:latin typeface="Calibri" panose="020F0502020204030204" pitchFamily="34" charset="0"/>
                    <a:ea typeface="+mn-ea"/>
                  </a:rPr>
                  <a:t> su </a:t>
                </a:r>
                <a:r>
                  <a:rPr kumimoji="0" lang="es-MX" altLang="es-MX" b="0" i="1" u="none" strike="noStrike" kern="1200" cap="none" spc="0" normalizeH="0" noProof="0" dirty="0">
                    <a:ln>
                      <a:noFill/>
                    </a:ln>
                    <a:solidFill>
                      <a:srgbClr val="FFFFFF"/>
                    </a:solidFill>
                    <a:effectLst/>
                    <a:uLnTx/>
                    <a:uFillTx/>
                    <a:latin typeface="Calibri" panose="020F0502020204030204" pitchFamily="34" charset="0"/>
                    <a:ea typeface="+mn-ea"/>
                  </a:rPr>
                  <a:t>“índice de estacionalidad”…</a:t>
                </a:r>
                <a:endParaRPr kumimoji="0" lang="es-MX" altLang="es-MX" b="0" i="1"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mc:Choice>
        <mc:Fallback xmlns="">
          <p:sp>
            <p:nvSpPr>
              <p:cNvPr id="6" name="Text Box 2">
                <a:extLst>
                  <a:ext uri="{FF2B5EF4-FFF2-40B4-BE49-F238E27FC236}">
                    <a16:creationId xmlns:a16="http://schemas.microsoft.com/office/drawing/2014/main" id="{FA8BF541-8F41-087E-D28A-F957592D8D16}"/>
                  </a:ext>
                </a:extLst>
              </p:cNvPr>
              <p:cNvSpPr txBox="1">
                <a:spLocks noRot="1" noChangeAspect="1" noMove="1" noResize="1" noEditPoints="1" noAdjustHandles="1" noChangeArrowheads="1" noChangeShapeType="1" noTextEdit="1"/>
              </p:cNvSpPr>
              <p:nvPr/>
            </p:nvSpPr>
            <p:spPr bwMode="auto">
              <a:xfrm>
                <a:off x="685800" y="2976562"/>
                <a:ext cx="7683500" cy="3141662"/>
              </a:xfrm>
              <a:prstGeom prst="rect">
                <a:avLst/>
              </a:prstGeom>
              <a:blipFill>
                <a:blip r:embed="rId4"/>
                <a:stretch>
                  <a:fillRect l="-714" r="-159"/>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a:extLst>
              <a:ext uri="{FF2B5EF4-FFF2-40B4-BE49-F238E27FC236}">
                <a16:creationId xmlns:a16="http://schemas.microsoft.com/office/drawing/2014/main" id="{654B3BCC-C824-D53B-B0A1-8AE14C446B5E}"/>
              </a:ext>
            </a:extLst>
          </p:cNvPr>
          <p:cNvSpPr>
            <a:spLocks noGrp="1" noChangeArrowheads="1"/>
          </p:cNvSpPr>
          <p:nvPr>
            <p:ph type="title"/>
          </p:nvPr>
        </p:nvSpPr>
        <p:spPr>
          <a:xfrm>
            <a:off x="381001" y="357187"/>
            <a:ext cx="3187700" cy="711200"/>
          </a:xfrm>
          <a:ln/>
        </p:spPr>
        <p:txBody>
          <a:bodyPr/>
          <a:lstStyle/>
          <a:p>
            <a:pP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solidFill>
                <a:latin typeface="Calibri Light" panose="020F0302020204030204" pitchFamily="34" charset="0"/>
              </a:rPr>
              <a:t>Modelos ARIMA</a:t>
            </a:r>
          </a:p>
        </p:txBody>
      </p:sp>
      <p:sp>
        <p:nvSpPr>
          <p:cNvPr id="16386" name="Text Box 2">
            <a:extLst>
              <a:ext uri="{FF2B5EF4-FFF2-40B4-BE49-F238E27FC236}">
                <a16:creationId xmlns:a16="http://schemas.microsoft.com/office/drawing/2014/main" id="{E08E7F12-B495-975D-B87B-F8BC739094BF}"/>
              </a:ext>
            </a:extLst>
          </p:cNvPr>
          <p:cNvSpPr txBox="1">
            <a:spLocks noChangeArrowheads="1"/>
          </p:cNvSpPr>
          <p:nvPr/>
        </p:nvSpPr>
        <p:spPr bwMode="auto">
          <a:xfrm>
            <a:off x="381001" y="3825022"/>
            <a:ext cx="11468099" cy="14665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0" marR="0" lvl="0" indent="0" algn="just"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El modelo ARIMA propone el pronóstico incondicional por </a:t>
            </a:r>
            <a:r>
              <a:rPr kumimoji="0" lang="es-MX" altLang="es-MX" b="1" i="1" u="none" strike="noStrike" kern="1200" cap="none" spc="0" normalizeH="0" baseline="0" noProof="0" dirty="0">
                <a:ln>
                  <a:noFill/>
                </a:ln>
                <a:solidFill>
                  <a:srgbClr val="FFFFFF"/>
                </a:solidFill>
                <a:effectLst/>
                <a:uLnTx/>
                <a:uFillTx/>
                <a:latin typeface="Calibri" panose="020F0502020204030204" pitchFamily="34" charset="0"/>
                <a:ea typeface="+mn-ea"/>
              </a:rPr>
              <a:t>métodos </a:t>
            </a:r>
            <a:r>
              <a:rPr kumimoji="0" lang="es-MX" altLang="es-MX" b="1" i="1" u="none" strike="noStrike" kern="1200" cap="none" spc="0" normalizeH="0" baseline="0" noProof="0" dirty="0" err="1">
                <a:ln>
                  <a:noFill/>
                </a:ln>
                <a:solidFill>
                  <a:srgbClr val="FFFFFF"/>
                </a:solidFill>
                <a:effectLst/>
                <a:uLnTx/>
                <a:uFillTx/>
                <a:latin typeface="Calibri" panose="020F0502020204030204" pitchFamily="34" charset="0"/>
                <a:ea typeface="+mn-ea"/>
              </a:rPr>
              <a:t>autoproyectivos</a:t>
            </a:r>
            <a:r>
              <a:rPr lang="es-MX" altLang="es-MX" dirty="0">
                <a:solidFill>
                  <a:srgbClr val="FFFFFF"/>
                </a:solidFill>
                <a:latin typeface="Calibri" panose="020F0502020204030204" pitchFamily="34" charset="0"/>
              </a:rPr>
              <a:t> </a:t>
            </a:r>
            <a:r>
              <a:rPr lang="es-MX" altLang="es-MX" i="1" dirty="0">
                <a:solidFill>
                  <a:srgbClr val="FFFFFF"/>
                </a:solidFill>
                <a:latin typeface="Calibri" panose="020F0502020204030204" pitchFamily="34" charset="0"/>
              </a:rPr>
              <a:t>(</a:t>
            </a:r>
            <a:r>
              <a:rPr kumimoji="0" lang="es-MX" altLang="es-MX" b="0" i="1" u="none" strike="noStrike" kern="1200" cap="none" spc="0" normalizeH="0" baseline="0" noProof="0" dirty="0">
                <a:ln>
                  <a:noFill/>
                </a:ln>
                <a:solidFill>
                  <a:srgbClr val="FFFFFF"/>
                </a:solidFill>
                <a:effectLst/>
                <a:uLnTx/>
                <a:uFillTx/>
                <a:latin typeface="Calibri" panose="020F0502020204030204" pitchFamily="34" charset="0"/>
                <a:ea typeface="+mn-ea"/>
              </a:rPr>
              <a:t>de allí su nombre) </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Box-Jenkins definió la metodología para los modelos </a:t>
            </a:r>
            <a:r>
              <a:rPr kumimoji="0" lang="es-MX" altLang="es-MX" b="1" i="0" u="none" strike="noStrike" kern="1200" cap="none" spc="0" normalizeH="0" baseline="0" noProof="0" dirty="0">
                <a:ln>
                  <a:noFill/>
                </a:ln>
                <a:solidFill>
                  <a:srgbClr val="FFFFFF"/>
                </a:solidFill>
                <a:effectLst/>
                <a:uLnTx/>
                <a:uFillTx/>
                <a:latin typeface="Calibri" panose="020F0502020204030204" pitchFamily="34" charset="0"/>
                <a:ea typeface="+mn-ea"/>
              </a:rPr>
              <a:t>Autor Regresivos Integrados de Medias Móviles</a:t>
            </a:r>
            <a:r>
              <a:rPr lang="es-MX" altLang="es-MX" dirty="0">
                <a:solidFill>
                  <a:srgbClr val="FFFFFF"/>
                </a:solidFill>
                <a:latin typeface="Calibri" panose="020F0502020204030204" pitchFamily="34" charset="0"/>
              </a:rPr>
              <a:t>.</a:t>
            </a:r>
          </a:p>
          <a:p>
            <a:pPr marL="0" marR="0" lvl="0" indent="0" algn="just"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El modelo ARIMA </a:t>
            </a:r>
            <a:r>
              <a:rPr lang="es-MX" altLang="es-MX" dirty="0">
                <a:solidFill>
                  <a:srgbClr val="FFFFFF"/>
                </a:solidFill>
                <a:latin typeface="Calibri" panose="020F0502020204030204" pitchFamily="34" charset="0"/>
              </a:rPr>
              <a:t>permite </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predecir los valores de una variable en función de sus valores pasados sin necesidad de ninguna otra información de variables auxiliares o relacionadas </a:t>
            </a:r>
            <a:r>
              <a:rPr kumimoji="0" lang="es-MX" altLang="es-MX" b="0" i="1" u="none" strike="noStrike" kern="1200" cap="none" spc="0" normalizeH="0" baseline="0" noProof="0" dirty="0">
                <a:ln>
                  <a:noFill/>
                </a:ln>
                <a:solidFill>
                  <a:srgbClr val="FFFFFF"/>
                </a:solidFill>
                <a:effectLst/>
                <a:uLnTx/>
                <a:uFillTx/>
                <a:latin typeface="Calibri" panose="020F0502020204030204" pitchFamily="34" charset="0"/>
                <a:ea typeface="+mn-ea"/>
              </a:rPr>
              <a:t>(por eso de la parte de “</a:t>
            </a:r>
            <a:r>
              <a:rPr kumimoji="0" lang="es-MX" altLang="es-MX" b="0" i="1" u="none" strike="noStrike" kern="1200" cap="none" spc="0" normalizeH="0" baseline="0" noProof="0" dirty="0" err="1">
                <a:ln>
                  <a:noFill/>
                </a:ln>
                <a:solidFill>
                  <a:srgbClr val="FFFFFF"/>
                </a:solidFill>
                <a:effectLst/>
                <a:uLnTx/>
                <a:uFillTx/>
                <a:latin typeface="Calibri" panose="020F0502020204030204" pitchFamily="34" charset="0"/>
                <a:ea typeface="+mn-ea"/>
              </a:rPr>
              <a:t>autoproyectivo</a:t>
            </a:r>
            <a:r>
              <a:rPr kumimoji="0" lang="es-MX" altLang="es-MX" b="0" i="1" u="none" strike="noStrike" kern="1200" cap="none" spc="0" normalizeH="0" baseline="0" noProof="0" dirty="0">
                <a:ln>
                  <a:noFill/>
                </a:ln>
                <a:solidFill>
                  <a:srgbClr val="FFFFFF"/>
                </a:solidFill>
                <a:effectLst/>
                <a:uLnTx/>
                <a:uFillTx/>
                <a:latin typeface="Calibri" panose="020F0502020204030204" pitchFamily="34" charset="0"/>
                <a:ea typeface="+mn-ea"/>
              </a:rPr>
              <a:t>”)</a:t>
            </a:r>
          </a:p>
        </p:txBody>
      </p:sp>
      <p:sp>
        <p:nvSpPr>
          <p:cNvPr id="3" name="CuadroTexto 2">
            <a:extLst>
              <a:ext uri="{FF2B5EF4-FFF2-40B4-BE49-F238E27FC236}">
                <a16:creationId xmlns:a16="http://schemas.microsoft.com/office/drawing/2014/main" id="{FE917E40-F311-0739-3F16-D3CF2D786DF0}"/>
              </a:ext>
            </a:extLst>
          </p:cNvPr>
          <p:cNvSpPr txBox="1"/>
          <p:nvPr/>
        </p:nvSpPr>
        <p:spPr>
          <a:xfrm>
            <a:off x="3949700" y="357187"/>
            <a:ext cx="8064499" cy="923330"/>
          </a:xfrm>
          <a:prstGeom prst="rect">
            <a:avLst/>
          </a:prstGeom>
          <a:noFill/>
        </p:spPr>
        <p:txBody>
          <a:bodyPr wrap="square">
            <a:spAutoFit/>
          </a:bodyPr>
          <a:lstStyle/>
          <a:p>
            <a:pPr marL="0" marR="0" lvl="0" indent="0" algn="just"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Hemos “visto” métodos deterministas</a:t>
            </a:r>
            <a:r>
              <a:rPr lang="es-MX" altLang="es-MX" dirty="0">
                <a:solidFill>
                  <a:srgbClr val="FFFFFF"/>
                </a:solidFill>
                <a:latin typeface="Calibri" panose="020F0502020204030204" pitchFamily="34" charset="0"/>
              </a:rPr>
              <a:t>,  que es algo que podemos usar a nuestro favor al desarrollar la graficas correspondientes y determinar como es el comportamiento de nuestra serie...</a:t>
            </a:r>
            <a:endPar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p:sp>
        <p:nvSpPr>
          <p:cNvPr id="5" name="CuadroTexto 4">
            <a:extLst>
              <a:ext uri="{FF2B5EF4-FFF2-40B4-BE49-F238E27FC236}">
                <a16:creationId xmlns:a16="http://schemas.microsoft.com/office/drawing/2014/main" id="{AC955AEF-30C2-E4F8-2AD7-FC035E817007}"/>
              </a:ext>
            </a:extLst>
          </p:cNvPr>
          <p:cNvSpPr txBox="1"/>
          <p:nvPr/>
        </p:nvSpPr>
        <p:spPr>
          <a:xfrm>
            <a:off x="647700" y="1430596"/>
            <a:ext cx="9207500" cy="369332"/>
          </a:xfrm>
          <a:prstGeom prst="rect">
            <a:avLst/>
          </a:prstGeom>
          <a:noFill/>
        </p:spPr>
        <p:txBody>
          <a:bodyPr wrap="square">
            <a:spAutoFit/>
          </a:bodyPr>
          <a:lstStyle/>
          <a:p>
            <a:pPr marL="0" marR="0" lvl="0" indent="0" algn="just"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s-MX" altLang="es-MX" dirty="0">
                <a:solidFill>
                  <a:srgbClr val="FFFFFF"/>
                </a:solidFill>
                <a:latin typeface="Calibri" panose="020F0502020204030204" pitchFamily="34" charset="0"/>
              </a:rPr>
              <a:t>A</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hora abordaremos en análisis de las series de tiempo desde el punto de vista estocástico…</a:t>
            </a:r>
          </a:p>
        </p:txBody>
      </p:sp>
      <p:pic>
        <p:nvPicPr>
          <p:cNvPr id="1026" name="Picture 2" descr="Arima">
            <a:extLst>
              <a:ext uri="{FF2B5EF4-FFF2-40B4-BE49-F238E27FC236}">
                <a16:creationId xmlns:a16="http://schemas.microsoft.com/office/drawing/2014/main" id="{A564276C-970C-4142-7E05-482966C9E8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9" t="2518" r="40572" b="72062"/>
          <a:stretch/>
        </p:blipFill>
        <p:spPr bwMode="auto">
          <a:xfrm>
            <a:off x="1771650" y="2125459"/>
            <a:ext cx="8521699" cy="1193223"/>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43850311-5A84-3843-5E3C-6108A158F0A3}"/>
              </a:ext>
            </a:extLst>
          </p:cNvPr>
          <p:cNvSpPr txBox="1"/>
          <p:nvPr/>
        </p:nvSpPr>
        <p:spPr>
          <a:xfrm>
            <a:off x="2482850" y="3389238"/>
            <a:ext cx="774700" cy="369332"/>
          </a:xfrm>
          <a:prstGeom prst="rect">
            <a:avLst/>
          </a:prstGeom>
          <a:noFill/>
        </p:spPr>
        <p:txBody>
          <a:bodyPr wrap="square">
            <a:spAutoFit/>
          </a:bodyPr>
          <a:lstStyle/>
          <a:p>
            <a:r>
              <a:rPr kumimoji="0" lang="es-MX" altLang="es-MX" b="1" i="0" u="none" strike="noStrike" kern="1200" cap="none" spc="0" normalizeH="0" baseline="0" noProof="0" dirty="0">
                <a:ln>
                  <a:noFill/>
                </a:ln>
                <a:solidFill>
                  <a:srgbClr val="FFFFFF"/>
                </a:solidFill>
                <a:effectLst/>
                <a:uLnTx/>
                <a:uFillTx/>
                <a:latin typeface="Calibri" panose="020F0502020204030204" pitchFamily="34" charset="0"/>
                <a:ea typeface="+mn-ea"/>
              </a:rPr>
              <a:t>A</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uto</a:t>
            </a:r>
            <a:r>
              <a:rPr kumimoji="0" lang="es-MX" altLang="es-MX" b="1" i="0" u="none" strike="noStrike" kern="1200" cap="none" spc="0" normalizeH="0" baseline="0" noProof="0" dirty="0">
                <a:ln>
                  <a:noFill/>
                </a:ln>
                <a:solidFill>
                  <a:srgbClr val="FFFFFF"/>
                </a:solidFill>
                <a:effectLst/>
                <a:uLnTx/>
                <a:uFillTx/>
                <a:latin typeface="Calibri" panose="020F0502020204030204" pitchFamily="34" charset="0"/>
                <a:ea typeface="+mn-ea"/>
              </a:rPr>
              <a:t>r</a:t>
            </a:r>
            <a:endParaRPr lang="es-MX" dirty="0"/>
          </a:p>
        </p:txBody>
      </p:sp>
      <p:sp>
        <p:nvSpPr>
          <p:cNvPr id="15" name="CuadroTexto 14">
            <a:extLst>
              <a:ext uri="{FF2B5EF4-FFF2-40B4-BE49-F238E27FC236}">
                <a16:creationId xmlns:a16="http://schemas.microsoft.com/office/drawing/2014/main" id="{34530F17-9BA7-2A48-D4BE-63C3F3A21626}"/>
              </a:ext>
            </a:extLst>
          </p:cNvPr>
          <p:cNvSpPr txBox="1"/>
          <p:nvPr/>
        </p:nvSpPr>
        <p:spPr>
          <a:xfrm>
            <a:off x="4127500" y="3389238"/>
            <a:ext cx="1181100" cy="369332"/>
          </a:xfrm>
          <a:prstGeom prst="rect">
            <a:avLst/>
          </a:prstGeom>
          <a:noFill/>
        </p:spPr>
        <p:txBody>
          <a:bodyPr wrap="square">
            <a:spAutoFit/>
          </a:bodyPr>
          <a:lstStyle/>
          <a:p>
            <a:r>
              <a:rPr lang="es-MX" altLang="es-MX" b="1" dirty="0">
                <a:solidFill>
                  <a:srgbClr val="FFFFFF"/>
                </a:solidFill>
                <a:latin typeface="Calibri" panose="020F0502020204030204" pitchFamily="34" charset="0"/>
              </a:rPr>
              <a:t>R</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egresive</a:t>
            </a:r>
            <a:endParaRPr lang="es-MX" dirty="0"/>
          </a:p>
        </p:txBody>
      </p:sp>
      <p:sp>
        <p:nvSpPr>
          <p:cNvPr id="17" name="CuadroTexto 16">
            <a:extLst>
              <a:ext uri="{FF2B5EF4-FFF2-40B4-BE49-F238E27FC236}">
                <a16:creationId xmlns:a16="http://schemas.microsoft.com/office/drawing/2014/main" id="{401770AA-0AAA-7433-B0D5-C401CF86CC6C}"/>
              </a:ext>
            </a:extLst>
          </p:cNvPr>
          <p:cNvSpPr txBox="1"/>
          <p:nvPr/>
        </p:nvSpPr>
        <p:spPr>
          <a:xfrm>
            <a:off x="5308600" y="3387186"/>
            <a:ext cx="1181100" cy="369332"/>
          </a:xfrm>
          <a:prstGeom prst="rect">
            <a:avLst/>
          </a:prstGeom>
          <a:noFill/>
        </p:spPr>
        <p:txBody>
          <a:bodyPr wrap="square">
            <a:spAutoFit/>
          </a:bodyPr>
          <a:lstStyle/>
          <a:p>
            <a:r>
              <a:rPr kumimoji="0" lang="es-MX" altLang="es-MX" b="1" i="0" u="none" strike="noStrike" kern="1200" cap="none" spc="0" normalizeH="0" baseline="0" noProof="0" dirty="0" err="1">
                <a:ln>
                  <a:noFill/>
                </a:ln>
                <a:solidFill>
                  <a:srgbClr val="FFFFFF"/>
                </a:solidFill>
                <a:effectLst/>
                <a:uLnTx/>
                <a:uFillTx/>
                <a:latin typeface="Calibri" panose="020F0502020204030204" pitchFamily="34" charset="0"/>
                <a:ea typeface="+mn-ea"/>
              </a:rPr>
              <a:t>I</a:t>
            </a:r>
            <a:r>
              <a:rPr kumimoji="0" lang="es-MX"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ntegrated</a:t>
            </a:r>
            <a:endParaRPr lang="es-MX" dirty="0"/>
          </a:p>
        </p:txBody>
      </p:sp>
      <p:sp>
        <p:nvSpPr>
          <p:cNvPr id="19" name="CuadroTexto 18">
            <a:extLst>
              <a:ext uri="{FF2B5EF4-FFF2-40B4-BE49-F238E27FC236}">
                <a16:creationId xmlns:a16="http://schemas.microsoft.com/office/drawing/2014/main" id="{9A0C36B0-049C-6105-BA1F-6E541D13D14F}"/>
              </a:ext>
            </a:extLst>
          </p:cNvPr>
          <p:cNvSpPr txBox="1"/>
          <p:nvPr/>
        </p:nvSpPr>
        <p:spPr>
          <a:xfrm>
            <a:off x="6775450" y="3387186"/>
            <a:ext cx="901700" cy="369332"/>
          </a:xfrm>
          <a:prstGeom prst="rect">
            <a:avLst/>
          </a:prstGeom>
          <a:noFill/>
        </p:spPr>
        <p:txBody>
          <a:bodyPr wrap="square">
            <a:spAutoFit/>
          </a:bodyPr>
          <a:lstStyle/>
          <a:p>
            <a:r>
              <a:rPr kumimoji="0" lang="es-MX" altLang="es-MX" b="1" i="0" u="none" strike="noStrike" kern="1200" cap="none" spc="0" normalizeH="0" baseline="0" noProof="0" dirty="0" err="1">
                <a:ln>
                  <a:noFill/>
                </a:ln>
                <a:solidFill>
                  <a:srgbClr val="FFFFFF"/>
                </a:solidFill>
                <a:effectLst/>
                <a:uLnTx/>
                <a:uFillTx/>
                <a:latin typeface="Calibri" panose="020F0502020204030204" pitchFamily="34" charset="0"/>
                <a:ea typeface="+mn-ea"/>
              </a:rPr>
              <a:t>M</a:t>
            </a:r>
            <a:r>
              <a:rPr kumimoji="0" lang="es-MX"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oving</a:t>
            </a:r>
            <a:endParaRPr lang="es-MX" dirty="0"/>
          </a:p>
        </p:txBody>
      </p:sp>
      <p:sp>
        <p:nvSpPr>
          <p:cNvPr id="21" name="CuadroTexto 20">
            <a:extLst>
              <a:ext uri="{FF2B5EF4-FFF2-40B4-BE49-F238E27FC236}">
                <a16:creationId xmlns:a16="http://schemas.microsoft.com/office/drawing/2014/main" id="{3D9CDCF9-9AD3-CC96-88BB-2D90DD5244E9}"/>
              </a:ext>
            </a:extLst>
          </p:cNvPr>
          <p:cNvSpPr txBox="1"/>
          <p:nvPr/>
        </p:nvSpPr>
        <p:spPr>
          <a:xfrm>
            <a:off x="8661399" y="3387186"/>
            <a:ext cx="990600" cy="369332"/>
          </a:xfrm>
          <a:prstGeom prst="rect">
            <a:avLst/>
          </a:prstGeom>
          <a:noFill/>
        </p:spPr>
        <p:txBody>
          <a:bodyPr wrap="square">
            <a:spAutoFit/>
          </a:bodyPr>
          <a:lstStyle/>
          <a:p>
            <a:r>
              <a:rPr kumimoji="0" lang="es-MX" altLang="es-MX" b="1" i="0" u="none" strike="noStrike" kern="1200" cap="none" spc="0" normalizeH="0" baseline="0" noProof="0" dirty="0" err="1">
                <a:ln>
                  <a:noFill/>
                </a:ln>
                <a:solidFill>
                  <a:srgbClr val="FFFFFF"/>
                </a:solidFill>
                <a:effectLst/>
                <a:uLnTx/>
                <a:uFillTx/>
                <a:latin typeface="Calibri" panose="020F0502020204030204" pitchFamily="34" charset="0"/>
                <a:ea typeface="+mn-ea"/>
              </a:rPr>
              <a:t>A</a:t>
            </a:r>
            <a:r>
              <a:rPr kumimoji="0" lang="es-MX"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verage</a:t>
            </a:r>
            <a:endParaRPr lang="es-MX" dirty="0"/>
          </a:p>
        </p:txBody>
      </p:sp>
      <p:sp>
        <p:nvSpPr>
          <p:cNvPr id="7" name="CuadroTexto 6">
            <a:extLst>
              <a:ext uri="{FF2B5EF4-FFF2-40B4-BE49-F238E27FC236}">
                <a16:creationId xmlns:a16="http://schemas.microsoft.com/office/drawing/2014/main" id="{DE49B92A-F198-A8F6-978A-2454A797E7EA}"/>
              </a:ext>
            </a:extLst>
          </p:cNvPr>
          <p:cNvSpPr txBox="1"/>
          <p:nvPr/>
        </p:nvSpPr>
        <p:spPr>
          <a:xfrm>
            <a:off x="381001" y="5291528"/>
            <a:ext cx="8493176" cy="1328569"/>
          </a:xfrm>
          <a:prstGeom prst="rect">
            <a:avLst/>
          </a:prstGeom>
          <a:noFill/>
        </p:spPr>
        <p:txBody>
          <a:bodyPr wrap="square">
            <a:spAutoFit/>
          </a:bodyPr>
          <a:lstStyle/>
          <a:p>
            <a:pPr marL="0" marR="0" lvl="0" indent="0" algn="just"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s-MX" altLang="es-MX" b="1" dirty="0">
                <a:solidFill>
                  <a:srgbClr val="FFFFFF"/>
                </a:solidFill>
                <a:latin typeface="Calibri" panose="020F0502020204030204" pitchFamily="34" charset="0"/>
              </a:rPr>
              <a:t>Notas:</a:t>
            </a:r>
            <a:r>
              <a:rPr lang="es-MX" altLang="es-MX" i="1" dirty="0">
                <a:solidFill>
                  <a:srgbClr val="FFFFFF"/>
                </a:solidFill>
                <a:latin typeface="Calibri" panose="020F0502020204030204" pitchFamily="34" charset="0"/>
              </a:rPr>
              <a:t> </a:t>
            </a:r>
          </a:p>
          <a:p>
            <a:pPr marL="0" marR="0" lvl="0" indent="0" algn="just"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s-MX" altLang="es-MX" dirty="0">
                <a:solidFill>
                  <a:srgbClr val="FFFFFF"/>
                </a:solidFill>
                <a:latin typeface="Calibri" panose="020F0502020204030204" pitchFamily="34" charset="0"/>
              </a:rPr>
              <a:t>Para algunas series de tiempo, solo es necesario </a:t>
            </a:r>
            <a:r>
              <a:rPr lang="es-MX" altLang="es-MX" i="1" dirty="0">
                <a:solidFill>
                  <a:srgbClr val="FFFFFF"/>
                </a:solidFill>
                <a:latin typeface="Calibri" panose="020F0502020204030204" pitchFamily="34" charset="0"/>
              </a:rPr>
              <a:t>(a veces)</a:t>
            </a:r>
            <a:r>
              <a:rPr lang="es-MX" altLang="es-MX" dirty="0">
                <a:solidFill>
                  <a:srgbClr val="FFFFFF"/>
                </a:solidFill>
                <a:latin typeface="Calibri" panose="020F0502020204030204" pitchFamily="34" charset="0"/>
              </a:rPr>
              <a:t> de la media móvil. Esto es con el propósito de establecer una estabilización </a:t>
            </a:r>
            <a:r>
              <a:rPr lang="es-MX" altLang="es-MX" i="1" dirty="0">
                <a:solidFill>
                  <a:srgbClr val="FFFFFF"/>
                </a:solidFill>
                <a:latin typeface="Calibri" panose="020F0502020204030204" pitchFamily="34" charset="0"/>
              </a:rPr>
              <a:t>(en cierto sentido) </a:t>
            </a:r>
            <a:r>
              <a:rPr lang="es-MX" altLang="es-MX" dirty="0">
                <a:solidFill>
                  <a:srgbClr val="FFFFFF"/>
                </a:solidFill>
                <a:latin typeface="Calibri" panose="020F0502020204030204" pitchFamily="34" charset="0"/>
              </a:rPr>
              <a:t>de la tendencia y la variación en una forma que podamos predecir posteriormente…</a:t>
            </a:r>
          </a:p>
        </p:txBody>
      </p:sp>
      <p:pic>
        <p:nvPicPr>
          <p:cNvPr id="8" name="Picture 2" descr="SAAS Berkeley">
            <a:extLst>
              <a:ext uri="{FF2B5EF4-FFF2-40B4-BE49-F238E27FC236}">
                <a16:creationId xmlns:a16="http://schemas.microsoft.com/office/drawing/2014/main" id="{DC67F3D0-DD2F-26FC-014F-58536D6E29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56699" y="5291528"/>
            <a:ext cx="2671216" cy="14535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a:extLst>
              <a:ext uri="{FF2B5EF4-FFF2-40B4-BE49-F238E27FC236}">
                <a16:creationId xmlns:a16="http://schemas.microsoft.com/office/drawing/2014/main" id="{CBF75D6E-42E9-A33E-8331-4850270911D7}"/>
              </a:ext>
            </a:extLst>
          </p:cNvPr>
          <p:cNvSpPr txBox="1">
            <a:spLocks noChangeArrowheads="1"/>
          </p:cNvSpPr>
          <p:nvPr/>
        </p:nvSpPr>
        <p:spPr bwMode="auto">
          <a:xfrm>
            <a:off x="467519" y="1614348"/>
            <a:ext cx="11256962" cy="115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9pPr>
          </a:lstStyle>
          <a:p>
            <a:pPr marL="0" marR="0" lvl="0" indent="0" algn="just"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Cualquier proceso estocástico se describe</a:t>
            </a:r>
            <a:r>
              <a:rPr lang="es-MX" altLang="es-MX" dirty="0">
                <a:solidFill>
                  <a:srgbClr val="FFFFFF"/>
                </a:solidFill>
                <a:latin typeface="Calibri" panose="020F0502020204030204" pitchFamily="34" charset="0"/>
              </a:rPr>
              <a:t> </a:t>
            </a:r>
            <a:r>
              <a:rPr lang="es-MX" altLang="es-MX" i="1" dirty="0">
                <a:solidFill>
                  <a:srgbClr val="FFFFFF"/>
                </a:solidFill>
                <a:latin typeface="Calibri" panose="020F0502020204030204" pitchFamily="34" charset="0"/>
              </a:rPr>
              <a:t>(</a:t>
            </a:r>
            <a:r>
              <a:rPr kumimoji="0" lang="es-MX" altLang="es-MX" b="0" i="1" u="none" strike="noStrike" kern="1200" cap="none" spc="0" normalizeH="0" baseline="0" noProof="0" dirty="0">
                <a:ln>
                  <a:noFill/>
                </a:ln>
                <a:solidFill>
                  <a:srgbClr val="FFFFFF"/>
                </a:solidFill>
                <a:effectLst/>
                <a:uLnTx/>
                <a:uFillTx/>
                <a:latin typeface="Calibri" panose="020F0502020204030204" pitchFamily="34" charset="0"/>
                <a:ea typeface="+mn-ea"/>
              </a:rPr>
              <a:t>exhaustivamente y sin ambigüedades</a:t>
            </a:r>
            <a:r>
              <a:rPr lang="es-MX" altLang="es-MX" i="1" dirty="0">
                <a:solidFill>
                  <a:srgbClr val="FFFFFF"/>
                </a:solidFill>
                <a:latin typeface="Calibri" panose="020F0502020204030204" pitchFamily="34" charset="0"/>
              </a:rPr>
              <a:t>)</a:t>
            </a:r>
            <a:r>
              <a:rPr lang="es-MX" altLang="es-MX" dirty="0">
                <a:solidFill>
                  <a:srgbClr val="FFFFFF"/>
                </a:solidFill>
                <a:latin typeface="Calibri" panose="020F0502020204030204" pitchFamily="34" charset="0"/>
              </a:rPr>
              <a:t> </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mediante su función de probabilidad conjunta de todos y cada uno de los vectores de </a:t>
            </a:r>
            <a:r>
              <a:rPr lang="es-MX" altLang="es-MX" dirty="0">
                <a:solidFill>
                  <a:srgbClr val="FFFFFF"/>
                </a:solidFill>
                <a:latin typeface="Calibri" panose="020F0502020204030204" pitchFamily="34" charset="0"/>
              </a:rPr>
              <a:t>V.A.S </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que se pueden formar con las variables que constituyen el proceso. Sin embargo, muy a menudo se describen mediante sus momentos.</a:t>
            </a:r>
          </a:p>
        </p:txBody>
      </p:sp>
      <p:sp>
        <p:nvSpPr>
          <p:cNvPr id="4" name="Rectangle 1">
            <a:extLst>
              <a:ext uri="{FF2B5EF4-FFF2-40B4-BE49-F238E27FC236}">
                <a16:creationId xmlns:a16="http://schemas.microsoft.com/office/drawing/2014/main" id="{F11EBDA1-9894-A4A2-B5B6-ECCA07D64CD0}"/>
              </a:ext>
            </a:extLst>
          </p:cNvPr>
          <p:cNvSpPr txBox="1">
            <a:spLocks noChangeArrowheads="1"/>
          </p:cNvSpPr>
          <p:nvPr/>
        </p:nvSpPr>
        <p:spPr bwMode="auto">
          <a:xfrm>
            <a:off x="738799" y="0"/>
            <a:ext cx="2359025" cy="101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lnSpc>
                <a:spcPct val="83000"/>
              </a:lnSpc>
              <a:spcBef>
                <a:spcPts val="13"/>
              </a:spcBef>
              <a:spcAft>
                <a:spcPts val="13"/>
              </a:spcAft>
              <a:buClr>
                <a:srgbClr val="000000"/>
              </a:buClr>
              <a:buSzPct val="100000"/>
              <a:buFont typeface="Times New Roman" panose="02020603050405020304" pitchFamily="18" charset="0"/>
              <a:defRPr kern="1200">
                <a:solidFill>
                  <a:srgbClr val="FFFFFF"/>
                </a:solidFill>
                <a:latin typeface="+mj-lt"/>
                <a:ea typeface="+mj-ea"/>
                <a:cs typeface="+mj-cs"/>
              </a:defRPr>
            </a:lvl1pPr>
            <a:lvl2pPr marL="742950" indent="-28575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2pPr>
            <a:lvl3pPr marL="1143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3pPr>
            <a:lvl4pPr marL="1600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4pPr>
            <a:lvl5pPr marL="20574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5pPr>
            <a:lvl6pPr marL="25146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6pPr>
            <a:lvl7pPr marL="29718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7pPr>
            <a:lvl8pPr marL="3429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8pPr>
            <a:lvl9pPr marL="3886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9pPr>
          </a:lstStyle>
          <a:p>
            <a:pP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s-MX" sz="3600" dirty="0" err="1">
                <a:solidFill>
                  <a:schemeClr val="accent1"/>
                </a:solidFill>
                <a:latin typeface="Calibri Light" panose="020F0302020204030204" pitchFamily="34" charset="0"/>
              </a:rPr>
              <a:t>Definicion</a:t>
            </a:r>
            <a:r>
              <a:rPr lang="en-US" altLang="es-MX" sz="3600" dirty="0">
                <a:solidFill>
                  <a:schemeClr val="accent1"/>
                </a:solidFill>
                <a:latin typeface="Calibri Light" panose="020F0302020204030204" pitchFamily="34" charset="0"/>
              </a:rPr>
              <a:t>:</a:t>
            </a:r>
            <a:endParaRPr lang="es-MX" altLang="es-MX" sz="3600" dirty="0">
              <a:solidFill>
                <a:schemeClr val="accent1"/>
              </a:solidFill>
              <a:latin typeface="Calibri Light" panose="020F0302020204030204" pitchFamily="34" charset="0"/>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D4C50F70-962E-C5F1-E54E-E565CD5C6D15}"/>
                  </a:ext>
                </a:extLst>
              </p:cNvPr>
              <p:cNvSpPr txBox="1"/>
              <p:nvPr/>
            </p:nvSpPr>
            <p:spPr>
              <a:xfrm>
                <a:off x="467519" y="932366"/>
                <a:ext cx="10829925" cy="681982"/>
              </a:xfrm>
              <a:prstGeom prst="rect">
                <a:avLst/>
              </a:prstGeom>
              <a:noFill/>
            </p:spPr>
            <p:txBody>
              <a:bodyPr wrap="square">
                <a:spAutoFit/>
              </a:bodyPr>
              <a:lstStyle/>
              <a:p>
                <a:pPr marL="0" marR="0" lvl="0" indent="0" algn="just"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Sea </a:t>
                </a:r>
                <a14:m>
                  <m:oMath xmlns:m="http://schemas.openxmlformats.org/officeDocument/2006/math">
                    <m:d>
                      <m:dPr>
                        <m:begChr m:val="{"/>
                        <m:endChr m:val="}"/>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𝑌</m:t>
                        </m:r>
                        <m:d>
                          <m:d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𝑥</m:t>
                            </m:r>
                            <m:d>
                              <m:d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e>
                            </m:d>
                          </m:e>
                        </m:d>
                      </m:e>
                    </m:d>
                  </m:oMath>
                </a14:m>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una sucesión de variables aleatorias , con parámetro  discreto </a:t>
                </a:r>
                <a14:m>
                  <m:oMath xmlns:m="http://schemas.openxmlformats.org/officeDocument/2006/math">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m:t>
                    </m:r>
                    <m:d>
                      <m:dPr>
                        <m:begChr m:val="{"/>
                        <m:endChr m:val="}"/>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0,1,2,3,…</m:t>
                        </m:r>
                      </m:e>
                    </m:d>
                  </m:oMath>
                </a14:m>
                <a:r>
                  <a:rPr lang="es-MX" altLang="es-MX" sz="1800" dirty="0">
                    <a:solidFill>
                      <a:srgbClr val="FFFFFF"/>
                    </a:solidFill>
                    <a:latin typeface="Calibri" panose="020F0502020204030204" pitchFamily="34" charset="0"/>
                  </a:rPr>
                  <a:t>. </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Para simplificar nuestro estudio usaremos simplemente</a:t>
                </a:r>
                <a:r>
                  <a:rPr lang="es-MX" altLang="es-MX" sz="1800" dirty="0">
                    <a:solidFill>
                      <a:srgbClr val="FFFFFF"/>
                    </a:solidFill>
                    <a:latin typeface="Calibri" panose="020F0502020204030204" pitchFamily="34" charset="0"/>
                  </a:rPr>
                  <a:t> </a:t>
                </a:r>
                <a14:m>
                  <m:oMath xmlns:m="http://schemas.openxmlformats.org/officeDocument/2006/math">
                    <m:sSub>
                      <m:sSubPr>
                        <m:ctrlPr>
                          <a:rPr lang="en-US" altLang="es-MX" sz="1800" b="0" i="1" smtClean="0">
                            <a:solidFill>
                              <a:srgbClr val="FFFFFF"/>
                            </a:solidFill>
                            <a:latin typeface="Cambria Math" panose="02040503050406030204" pitchFamily="18" charset="0"/>
                          </a:rPr>
                        </m:ctrlPr>
                      </m:sSubPr>
                      <m:e>
                        <m:d>
                          <m:dPr>
                            <m:begChr m:val="{"/>
                            <m:endChr m:val="}"/>
                            <m:ctrlPr>
                              <a:rPr lang="en-US" altLang="es-MX" sz="1800" b="0" i="1" smtClean="0">
                                <a:solidFill>
                                  <a:srgbClr val="FFFFFF"/>
                                </a:solidFill>
                                <a:latin typeface="Cambria Math" panose="02040503050406030204" pitchFamily="18" charset="0"/>
                              </a:rPr>
                            </m:ctrlPr>
                          </m:dPr>
                          <m:e>
                            <m:sSub>
                              <m:sSubPr>
                                <m:ctrlPr>
                                  <a:rPr lang="en-US" altLang="es-MX" sz="1800" b="0" i="1" smtClean="0">
                                    <a:solidFill>
                                      <a:srgbClr val="FFFFFF"/>
                                    </a:solidFill>
                                    <a:latin typeface="Cambria Math" panose="02040503050406030204" pitchFamily="18" charset="0"/>
                                  </a:rPr>
                                </m:ctrlPr>
                              </m:sSubPr>
                              <m:e>
                                <m:r>
                                  <a:rPr lang="en-US" altLang="es-MX" sz="1800" b="0" i="1" smtClean="0">
                                    <a:solidFill>
                                      <a:srgbClr val="FFFFFF"/>
                                    </a:solidFill>
                                    <a:latin typeface="Cambria Math" panose="02040503050406030204" pitchFamily="18" charset="0"/>
                                  </a:rPr>
                                  <m:t>𝑌</m:t>
                                </m:r>
                              </m:e>
                              <m:sub>
                                <m:r>
                                  <a:rPr lang="en-US" altLang="es-MX" sz="1800" b="0" i="1" smtClean="0">
                                    <a:solidFill>
                                      <a:srgbClr val="FFFFFF"/>
                                    </a:solidFill>
                                    <a:latin typeface="Cambria Math" panose="02040503050406030204" pitchFamily="18" charset="0"/>
                                  </a:rPr>
                                  <m:t>𝑡</m:t>
                                </m:r>
                              </m:sub>
                            </m:sSub>
                          </m:e>
                        </m:d>
                      </m:e>
                      <m:sub>
                        <m:r>
                          <a:rPr lang="en-US" altLang="es-MX" sz="1800" b="0" i="1" smtClean="0">
                            <a:solidFill>
                              <a:srgbClr val="FFFFFF"/>
                            </a:solidFill>
                            <a:latin typeface="Cambria Math" panose="02040503050406030204" pitchFamily="18" charset="0"/>
                          </a:rPr>
                          <m:t>𝑡</m:t>
                        </m:r>
                        <m:r>
                          <a:rPr lang="en-US" altLang="es-MX" sz="1800" b="0" i="1" smtClean="0">
                            <a:solidFill>
                              <a:srgbClr val="FFFFFF"/>
                            </a:solidFill>
                            <a:latin typeface="Cambria Math" panose="02040503050406030204" pitchFamily="18" charset="0"/>
                          </a:rPr>
                          <m:t> ≥0</m:t>
                        </m:r>
                      </m:sub>
                    </m:sSub>
                  </m:oMath>
                </a14:m>
                <a:endPar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mc:Choice>
        <mc:Fallback xmlns="">
          <p:sp>
            <p:nvSpPr>
              <p:cNvPr id="5" name="CuadroTexto 4">
                <a:extLst>
                  <a:ext uri="{FF2B5EF4-FFF2-40B4-BE49-F238E27FC236}">
                    <a16:creationId xmlns:a16="http://schemas.microsoft.com/office/drawing/2014/main" id="{D4C50F70-962E-C5F1-E54E-E565CD5C6D15}"/>
                  </a:ext>
                </a:extLst>
              </p:cNvPr>
              <p:cNvSpPr txBox="1">
                <a:spLocks noRot="1" noChangeAspect="1" noMove="1" noResize="1" noEditPoints="1" noAdjustHandles="1" noChangeArrowheads="1" noChangeShapeType="1" noTextEdit="1"/>
              </p:cNvSpPr>
              <p:nvPr/>
            </p:nvSpPr>
            <p:spPr>
              <a:xfrm>
                <a:off x="467519" y="932366"/>
                <a:ext cx="10829925" cy="681982"/>
              </a:xfrm>
              <a:prstGeom prst="rect">
                <a:avLst/>
              </a:prstGeom>
              <a:blipFill>
                <a:blip r:embed="rId3"/>
                <a:stretch>
                  <a:fillRect l="-507" t="-1786" r="-450" b="-13393"/>
                </a:stretch>
              </a:blipFill>
            </p:spPr>
            <p:txBody>
              <a:bodyPr/>
              <a:lstStyle/>
              <a:p>
                <a:r>
                  <a:rPr lang="es-MX">
                    <a:noFill/>
                  </a:rPr>
                  <a:t> </a:t>
                </a:r>
              </a:p>
            </p:txBody>
          </p:sp>
        </mc:Fallback>
      </mc:AlternateContent>
      <p:sp>
        <p:nvSpPr>
          <p:cNvPr id="6" name="Rectangle 1">
            <a:extLst>
              <a:ext uri="{FF2B5EF4-FFF2-40B4-BE49-F238E27FC236}">
                <a16:creationId xmlns:a16="http://schemas.microsoft.com/office/drawing/2014/main" id="{97C7CCDD-8C53-63E0-7BDD-FFC8B1FDB4C8}"/>
              </a:ext>
            </a:extLst>
          </p:cNvPr>
          <p:cNvSpPr>
            <a:spLocks noGrp="1" noChangeArrowheads="1"/>
          </p:cNvSpPr>
          <p:nvPr>
            <p:ph type="title"/>
          </p:nvPr>
        </p:nvSpPr>
        <p:spPr>
          <a:xfrm>
            <a:off x="467519" y="2721945"/>
            <a:ext cx="8802974" cy="730085"/>
          </a:xfrm>
          <a:ln/>
        </p:spPr>
        <p:txBody>
          <a:bodyPr/>
          <a:lstStyle/>
          <a:p>
            <a:pP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solidFill>
                <a:latin typeface="Calibri Light" panose="020F0302020204030204" pitchFamily="34" charset="0"/>
              </a:rPr>
              <a:t>Momentos de un proceso estocástico:</a:t>
            </a:r>
          </a:p>
        </p:txBody>
      </p:sp>
      <mc:AlternateContent xmlns:mc="http://schemas.openxmlformats.org/markup-compatibility/2006" xmlns:a14="http://schemas.microsoft.com/office/drawing/2010/main">
        <mc:Choice Requires="a14">
          <p:sp>
            <p:nvSpPr>
              <p:cNvPr id="7" name="Text Box 2">
                <a:extLst>
                  <a:ext uri="{FF2B5EF4-FFF2-40B4-BE49-F238E27FC236}">
                    <a16:creationId xmlns:a16="http://schemas.microsoft.com/office/drawing/2014/main" id="{9E63070B-EE32-F16A-412D-20F354E0E7AB}"/>
                  </a:ext>
                </a:extLst>
              </p:cNvPr>
              <p:cNvSpPr txBox="1">
                <a:spLocks noChangeArrowheads="1"/>
              </p:cNvSpPr>
              <p:nvPr/>
            </p:nvSpPr>
            <p:spPr bwMode="auto">
              <a:xfrm>
                <a:off x="1586411" y="5085341"/>
                <a:ext cx="7812421" cy="1528480"/>
              </a:xfrm>
              <a:prstGeom prst="rect">
                <a:avLst/>
              </a:prstGeom>
              <a:noFill/>
              <a:ln>
                <a:noFill/>
              </a:ln>
              <a:effectLst/>
              <a:extLst>
                <a:ext uri="{909E8E84-426E-40DD-AFC4-6F175D3DCCD1}">
                  <a14:hiddenFill>
                    <a:solidFill>
                      <a:srgbClr val="FFFFFF"/>
                    </a:solidFill>
                  </a14:hiddenFill>
                </a:ext>
                <a:ext uri="{91240B29-F687-4F45-9708-019B960494DF}">
                  <a14:hiddenLine w="9525" cap="flat">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nchor="ct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R="0" lvl="0" algn="l" defTabSz="914400" rtl="0" eaLnBrk="1" fontAlgn="base" latinLnBrk="0" hangingPunct="1">
                  <a:lnSpc>
                    <a:spcPct val="100000"/>
                  </a:lnSpc>
                  <a:spcBef>
                    <a:spcPts val="13"/>
                  </a:spcBef>
                  <a:spcAft>
                    <a:spcPts val="1013"/>
                  </a:spcAft>
                  <a:buClr>
                    <a:srgbClr val="FFFFFF"/>
                  </a:buClr>
                  <a:buSzPct val="100000"/>
                  <a:buAutoNum type="arabicPeriod" startAt="3"/>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s-MX" altLang="es-MX" b="1" dirty="0">
                    <a:solidFill>
                      <a:srgbClr val="FFFFFF"/>
                    </a:solidFill>
                    <a:latin typeface="Calibri" panose="020F0502020204030204" pitchFamily="34" charset="0"/>
                  </a:rPr>
                  <a:t>L</a:t>
                </a:r>
                <a:r>
                  <a:rPr kumimoji="0" lang="es-MX" altLang="es-MX" b="1" i="0" u="none" strike="noStrike" kern="1200" cap="none" spc="0" normalizeH="0" baseline="0" noProof="0" dirty="0">
                    <a:ln>
                      <a:noFill/>
                    </a:ln>
                    <a:solidFill>
                      <a:srgbClr val="FFFFFF"/>
                    </a:solidFill>
                    <a:effectLst/>
                    <a:uLnTx/>
                    <a:uFillTx/>
                    <a:latin typeface="Calibri" panose="020F0502020204030204" pitchFamily="34" charset="0"/>
                  </a:rPr>
                  <a:t>a función de </a:t>
                </a:r>
                <a:r>
                  <a:rPr lang="es-MX" altLang="es-MX" b="1" dirty="0">
                    <a:solidFill>
                      <a:srgbClr val="FFFFFF"/>
                    </a:solidFill>
                    <a:latin typeface="Calibri" panose="020F0502020204030204" pitchFamily="34" charset="0"/>
                  </a:rPr>
                  <a:t>A</a:t>
                </a:r>
                <a:r>
                  <a:rPr kumimoji="0" lang="es-MX" altLang="es-MX" b="1" i="0" u="none" strike="noStrike" kern="1200" cap="none" spc="0" normalizeH="0" baseline="0" noProof="0" dirty="0" err="1">
                    <a:ln>
                      <a:noFill/>
                    </a:ln>
                    <a:solidFill>
                      <a:srgbClr val="FFFFFF"/>
                    </a:solidFill>
                    <a:effectLst/>
                    <a:uLnTx/>
                    <a:uFillTx/>
                    <a:latin typeface="Calibri" panose="020F0502020204030204" pitchFamily="34" charset="0"/>
                  </a:rPr>
                  <a:t>utocorrelación</a:t>
                </a:r>
                <a:r>
                  <a:rPr lang="es-MX" altLang="es-MX" b="1" dirty="0">
                    <a:solidFill>
                      <a:srgbClr val="FFFFFF"/>
                    </a:solidFill>
                    <a:latin typeface="Calibri" panose="020F0502020204030204" pitchFamily="34" charset="0"/>
                  </a:rPr>
                  <a:t>:</a:t>
                </a:r>
              </a:p>
              <a:p>
                <a:pPr marL="0" marR="0" lvl="0" indent="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14:m>
                  <m:oMathPara xmlns:m="http://schemas.openxmlformats.org/officeDocument/2006/math">
                    <m:oMathParaPr>
                      <m:jc m:val="centerGroup"/>
                    </m:oMathParaPr>
                    <m:oMath xmlns:m="http://schemas.openxmlformats.org/officeDocument/2006/math">
                      <m:r>
                        <a:rPr lang="en-US" altLang="es-MX" b="0" i="1" smtClean="0">
                          <a:solidFill>
                            <a:srgbClr val="FFFFFF"/>
                          </a:solidFill>
                          <a:latin typeface="Cambria Math" panose="02040503050406030204" pitchFamily="18" charset="0"/>
                        </a:rPr>
                        <m:t>h</m:t>
                      </m:r>
                      <m:d>
                        <m:dPr>
                          <m:ctrlPr>
                            <a:rPr lang="en-US" altLang="es-MX" b="0" i="1" smtClean="0">
                              <a:solidFill>
                                <a:srgbClr val="FFFFFF"/>
                              </a:solidFill>
                              <a:latin typeface="Cambria Math" panose="02040503050406030204" pitchFamily="18" charset="0"/>
                            </a:rPr>
                          </m:ctrlPr>
                        </m:dPr>
                        <m:e>
                          <m:r>
                            <a:rPr lang="en-US" altLang="es-MX" b="0" i="1" smtClean="0">
                              <a:solidFill>
                                <a:srgbClr val="FFFFFF"/>
                              </a:solidFill>
                              <a:latin typeface="Cambria Math" panose="02040503050406030204" pitchFamily="18" charset="0"/>
                            </a:rPr>
                            <m:t>𝑡</m:t>
                          </m:r>
                          <m:r>
                            <a:rPr lang="en-US" altLang="es-MX" b="0" i="1" smtClean="0">
                              <a:solidFill>
                                <a:srgbClr val="FFFFFF"/>
                              </a:solidFill>
                              <a:latin typeface="Cambria Math" panose="02040503050406030204" pitchFamily="18" charset="0"/>
                            </a:rPr>
                            <m:t>, </m:t>
                          </m:r>
                          <m:r>
                            <a:rPr lang="en-US" altLang="es-MX" b="0" i="1" smtClean="0">
                              <a:solidFill>
                                <a:srgbClr val="FFFFFF"/>
                              </a:solidFill>
                              <a:latin typeface="Cambria Math" panose="02040503050406030204" pitchFamily="18" charset="0"/>
                            </a:rPr>
                            <m:t>𝑡</m:t>
                          </m:r>
                          <m:r>
                            <a:rPr lang="en-US" altLang="es-MX" b="0" i="1" smtClean="0">
                              <a:solidFill>
                                <a:srgbClr val="FFFFFF"/>
                              </a:solidFill>
                              <a:latin typeface="Cambria Math" panose="02040503050406030204" pitchFamily="18" charset="0"/>
                            </a:rPr>
                            <m:t>+</m:t>
                          </m:r>
                          <m:r>
                            <a:rPr lang="en-US" altLang="es-MX" b="0" i="1" smtClean="0">
                              <a:solidFill>
                                <a:srgbClr val="FFFFFF"/>
                              </a:solidFill>
                              <a:latin typeface="Cambria Math" panose="02040503050406030204" pitchFamily="18" charset="0"/>
                            </a:rPr>
                            <m:t>𝑘</m:t>
                          </m:r>
                        </m:e>
                      </m:d>
                      <m:r>
                        <a:rPr lang="en-US" altLang="es-MX" b="0" i="1" smtClean="0">
                          <a:solidFill>
                            <a:srgbClr val="FFFFFF"/>
                          </a:solidFill>
                          <a:latin typeface="Cambria Math" panose="02040503050406030204" pitchFamily="18" charset="0"/>
                        </a:rPr>
                        <m:t>= </m:t>
                      </m:r>
                      <m:f>
                        <m:fPr>
                          <m:ctrlPr>
                            <a:rPr lang="en-US" altLang="es-MX" b="0" i="1" smtClean="0">
                              <a:solidFill>
                                <a:srgbClr val="FFFFFF"/>
                              </a:solidFill>
                              <a:latin typeface="Cambria Math" panose="02040503050406030204" pitchFamily="18" charset="0"/>
                            </a:rPr>
                          </m:ctrlPr>
                        </m:fPr>
                        <m:num>
                          <m:r>
                            <a:rPr lang="en-US" altLang="es-MX" b="0" i="1" smtClean="0">
                              <a:solidFill>
                                <a:srgbClr val="FFFFFF"/>
                              </a:solidFill>
                              <a:latin typeface="Cambria Math" panose="02040503050406030204" pitchFamily="18" charset="0"/>
                            </a:rPr>
                            <m:t>𝑔</m:t>
                          </m:r>
                          <m:d>
                            <m:dPr>
                              <m:ctrlPr>
                                <a:rPr lang="en-US" altLang="es-MX" b="0" i="1" smtClean="0">
                                  <a:solidFill>
                                    <a:srgbClr val="FFFFFF"/>
                                  </a:solidFill>
                                  <a:latin typeface="Cambria Math" panose="02040503050406030204" pitchFamily="18" charset="0"/>
                                </a:rPr>
                              </m:ctrlPr>
                            </m:dPr>
                            <m:e>
                              <m:r>
                                <a:rPr lang="en-US" altLang="es-MX" b="0" i="1" smtClean="0">
                                  <a:solidFill>
                                    <a:srgbClr val="FFFFFF"/>
                                  </a:solidFill>
                                  <a:latin typeface="Cambria Math" panose="02040503050406030204" pitchFamily="18" charset="0"/>
                                </a:rPr>
                                <m:t>𝑡</m:t>
                              </m:r>
                              <m:r>
                                <a:rPr lang="en-US" altLang="es-MX" b="0" i="1" smtClean="0">
                                  <a:solidFill>
                                    <a:srgbClr val="FFFFFF"/>
                                  </a:solidFill>
                                  <a:latin typeface="Cambria Math" panose="02040503050406030204" pitchFamily="18" charset="0"/>
                                </a:rPr>
                                <m:t>, </m:t>
                              </m:r>
                              <m:r>
                                <a:rPr lang="en-US" altLang="es-MX" b="0" i="1" smtClean="0">
                                  <a:solidFill>
                                    <a:srgbClr val="FFFFFF"/>
                                  </a:solidFill>
                                  <a:latin typeface="Cambria Math" panose="02040503050406030204" pitchFamily="18" charset="0"/>
                                </a:rPr>
                                <m:t>𝑡</m:t>
                              </m:r>
                              <m:r>
                                <a:rPr lang="en-US" altLang="es-MX" b="0" i="1" smtClean="0">
                                  <a:solidFill>
                                    <a:srgbClr val="FFFFFF"/>
                                  </a:solidFill>
                                  <a:latin typeface="Cambria Math" panose="02040503050406030204" pitchFamily="18" charset="0"/>
                                </a:rPr>
                                <m:t>+</m:t>
                              </m:r>
                              <m:r>
                                <a:rPr lang="en-US" altLang="es-MX" b="0" i="1" smtClean="0">
                                  <a:solidFill>
                                    <a:srgbClr val="FFFFFF"/>
                                  </a:solidFill>
                                  <a:latin typeface="Cambria Math" panose="02040503050406030204" pitchFamily="18" charset="0"/>
                                </a:rPr>
                                <m:t>𝑘</m:t>
                              </m:r>
                            </m:e>
                          </m:d>
                        </m:num>
                        <m:den>
                          <m:rad>
                            <m:radPr>
                              <m:degHide m:val="on"/>
                              <m:ctrlPr>
                                <a:rPr lang="en-US" altLang="es-MX" b="0" i="1" smtClean="0">
                                  <a:solidFill>
                                    <a:srgbClr val="FFFFFF"/>
                                  </a:solidFill>
                                  <a:latin typeface="Cambria Math" panose="02040503050406030204" pitchFamily="18" charset="0"/>
                                </a:rPr>
                              </m:ctrlPr>
                            </m:radPr>
                            <m:deg/>
                            <m:e>
                              <m:r>
                                <a:rPr lang="en-US" altLang="es-MX" b="0" i="1" smtClean="0">
                                  <a:solidFill>
                                    <a:srgbClr val="FFFFFF"/>
                                  </a:solidFill>
                                  <a:latin typeface="Cambria Math" panose="02040503050406030204" pitchFamily="18" charset="0"/>
                                </a:rPr>
                                <m:t>𝑔</m:t>
                              </m:r>
                              <m:d>
                                <m:dPr>
                                  <m:ctrlPr>
                                    <a:rPr lang="en-US" altLang="es-MX" b="0" i="1" smtClean="0">
                                      <a:solidFill>
                                        <a:srgbClr val="FFFFFF"/>
                                      </a:solidFill>
                                      <a:latin typeface="Cambria Math" panose="02040503050406030204" pitchFamily="18" charset="0"/>
                                    </a:rPr>
                                  </m:ctrlPr>
                                </m:dPr>
                                <m:e>
                                  <m:r>
                                    <a:rPr lang="en-US" altLang="es-MX" b="0" i="1" smtClean="0">
                                      <a:solidFill>
                                        <a:srgbClr val="FFFFFF"/>
                                      </a:solidFill>
                                      <a:latin typeface="Cambria Math" panose="02040503050406030204" pitchFamily="18" charset="0"/>
                                    </a:rPr>
                                    <m:t>𝑡</m:t>
                                  </m:r>
                                  <m:r>
                                    <a:rPr lang="en-US" altLang="es-MX" b="0" i="1" smtClean="0">
                                      <a:solidFill>
                                        <a:srgbClr val="FFFFFF"/>
                                      </a:solidFill>
                                      <a:latin typeface="Cambria Math" panose="02040503050406030204" pitchFamily="18" charset="0"/>
                                    </a:rPr>
                                    <m:t>,</m:t>
                                  </m:r>
                                  <m:r>
                                    <a:rPr lang="en-US" altLang="es-MX" b="0" i="1" smtClean="0">
                                      <a:solidFill>
                                        <a:srgbClr val="FFFFFF"/>
                                      </a:solidFill>
                                      <a:latin typeface="Cambria Math" panose="02040503050406030204" pitchFamily="18" charset="0"/>
                                    </a:rPr>
                                    <m:t>𝑡</m:t>
                                  </m:r>
                                </m:e>
                              </m:d>
                              <m:r>
                                <a:rPr lang="en-US" altLang="es-MX" b="0" i="1" smtClean="0">
                                  <a:solidFill>
                                    <a:srgbClr val="FFFFFF"/>
                                  </a:solidFill>
                                  <a:latin typeface="Cambria Math" panose="02040503050406030204" pitchFamily="18" charset="0"/>
                                </a:rPr>
                                <m:t> ∗</m:t>
                              </m:r>
                              <m:r>
                                <a:rPr lang="en-US" altLang="es-MX" b="0" i="1" smtClean="0">
                                  <a:solidFill>
                                    <a:srgbClr val="FFFFFF"/>
                                  </a:solidFill>
                                  <a:latin typeface="Cambria Math" panose="02040503050406030204" pitchFamily="18" charset="0"/>
                                </a:rPr>
                                <m:t>𝑔</m:t>
                              </m:r>
                              <m:d>
                                <m:dPr>
                                  <m:ctrlPr>
                                    <a:rPr lang="en-US" altLang="es-MX" b="0" i="1" smtClean="0">
                                      <a:solidFill>
                                        <a:srgbClr val="FFFFFF"/>
                                      </a:solidFill>
                                      <a:latin typeface="Cambria Math" panose="02040503050406030204" pitchFamily="18" charset="0"/>
                                    </a:rPr>
                                  </m:ctrlPr>
                                </m:dPr>
                                <m:e>
                                  <m:r>
                                    <a:rPr lang="en-US" altLang="es-MX" b="0" i="1" smtClean="0">
                                      <a:solidFill>
                                        <a:srgbClr val="FFFFFF"/>
                                      </a:solidFill>
                                      <a:latin typeface="Cambria Math" panose="02040503050406030204" pitchFamily="18" charset="0"/>
                                    </a:rPr>
                                    <m:t>𝑡</m:t>
                                  </m:r>
                                  <m:r>
                                    <a:rPr lang="en-US" altLang="es-MX" b="0" i="1" smtClean="0">
                                      <a:solidFill>
                                        <a:srgbClr val="FFFFFF"/>
                                      </a:solidFill>
                                      <a:latin typeface="Cambria Math" panose="02040503050406030204" pitchFamily="18" charset="0"/>
                                    </a:rPr>
                                    <m:t>,+</m:t>
                                  </m:r>
                                  <m:r>
                                    <a:rPr lang="en-US" altLang="es-MX" b="0" i="1" smtClean="0">
                                      <a:solidFill>
                                        <a:srgbClr val="FFFFFF"/>
                                      </a:solidFill>
                                      <a:latin typeface="Cambria Math" panose="02040503050406030204" pitchFamily="18" charset="0"/>
                                    </a:rPr>
                                    <m:t>𝑘</m:t>
                                  </m:r>
                                  <m:r>
                                    <a:rPr lang="en-US" altLang="es-MX" b="0" i="1" smtClean="0">
                                      <a:solidFill>
                                        <a:srgbClr val="FFFFFF"/>
                                      </a:solidFill>
                                      <a:latin typeface="Cambria Math" panose="02040503050406030204" pitchFamily="18" charset="0"/>
                                    </a:rPr>
                                    <m:t>  </m:t>
                                  </m:r>
                                  <m:r>
                                    <a:rPr lang="en-US" altLang="es-MX" b="0" i="1" smtClean="0">
                                      <a:solidFill>
                                        <a:srgbClr val="FFFFFF"/>
                                      </a:solidFill>
                                      <a:latin typeface="Cambria Math" panose="02040503050406030204" pitchFamily="18" charset="0"/>
                                    </a:rPr>
                                    <m:t>𝑡</m:t>
                                  </m:r>
                                  <m:r>
                                    <a:rPr lang="en-US" altLang="es-MX" b="0" i="1" smtClean="0">
                                      <a:solidFill>
                                        <a:srgbClr val="FFFFFF"/>
                                      </a:solidFill>
                                      <a:latin typeface="Cambria Math" panose="02040503050406030204" pitchFamily="18" charset="0"/>
                                    </a:rPr>
                                    <m:t>+</m:t>
                                  </m:r>
                                  <m:r>
                                    <a:rPr lang="en-US" altLang="es-MX" b="0" i="1" smtClean="0">
                                      <a:solidFill>
                                        <a:srgbClr val="FFFFFF"/>
                                      </a:solidFill>
                                      <a:latin typeface="Cambria Math" panose="02040503050406030204" pitchFamily="18" charset="0"/>
                                    </a:rPr>
                                    <m:t>𝑘</m:t>
                                  </m:r>
                                </m:e>
                              </m:d>
                            </m:e>
                          </m:rad>
                        </m:den>
                      </m:f>
                      <m:r>
                        <a:rPr lang="en-US" altLang="es-MX" b="0" i="1" smtClean="0">
                          <a:solidFill>
                            <a:srgbClr val="FFFFFF"/>
                          </a:solidFill>
                          <a:latin typeface="Cambria Math" panose="02040503050406030204" pitchFamily="18" charset="0"/>
                        </a:rPr>
                        <m:t>= </m:t>
                      </m:r>
                      <m:f>
                        <m:fPr>
                          <m:ctrlPr>
                            <a:rPr lang="en-US" altLang="es-MX" b="0" i="1" smtClean="0">
                              <a:solidFill>
                                <a:srgbClr val="FFFFFF"/>
                              </a:solidFill>
                              <a:latin typeface="Cambria Math" panose="02040503050406030204" pitchFamily="18" charset="0"/>
                            </a:rPr>
                          </m:ctrlPr>
                        </m:fPr>
                        <m:num>
                          <m:r>
                            <a:rPr lang="en-US" altLang="es-MX" b="0" i="1" smtClean="0">
                              <a:solidFill>
                                <a:srgbClr val="FFFFFF"/>
                              </a:solidFill>
                              <a:latin typeface="Cambria Math" panose="02040503050406030204" pitchFamily="18" charset="0"/>
                            </a:rPr>
                            <m:t>𝐶𝑜𝑣</m:t>
                          </m:r>
                          <m:d>
                            <m:dPr>
                              <m:ctrlPr>
                                <a:rPr lang="en-US" altLang="es-MX" b="0" i="1" smtClean="0">
                                  <a:solidFill>
                                    <a:srgbClr val="FFFFFF"/>
                                  </a:solidFill>
                                  <a:latin typeface="Cambria Math" panose="02040503050406030204" pitchFamily="18" charset="0"/>
                                </a:rPr>
                              </m:ctrlPr>
                            </m:dPr>
                            <m:e>
                              <m:r>
                                <a:rPr lang="en-US" altLang="es-MX" b="0" i="1" smtClean="0">
                                  <a:solidFill>
                                    <a:srgbClr val="FFFFFF"/>
                                  </a:solidFill>
                                  <a:latin typeface="Cambria Math" panose="02040503050406030204" pitchFamily="18" charset="0"/>
                                </a:rPr>
                                <m:t>𝑡</m:t>
                              </m:r>
                              <m:r>
                                <a:rPr lang="en-US" altLang="es-MX" b="0" i="1" smtClean="0">
                                  <a:solidFill>
                                    <a:srgbClr val="FFFFFF"/>
                                  </a:solidFill>
                                  <a:latin typeface="Cambria Math" panose="02040503050406030204" pitchFamily="18" charset="0"/>
                                </a:rPr>
                                <m:t>, </m:t>
                              </m:r>
                              <m:r>
                                <a:rPr lang="en-US" altLang="es-MX" b="0" i="1" smtClean="0">
                                  <a:solidFill>
                                    <a:srgbClr val="FFFFFF"/>
                                  </a:solidFill>
                                  <a:latin typeface="Cambria Math" panose="02040503050406030204" pitchFamily="18" charset="0"/>
                                </a:rPr>
                                <m:t>𝑡</m:t>
                              </m:r>
                              <m:r>
                                <a:rPr lang="en-US" altLang="es-MX" b="0" i="1" smtClean="0">
                                  <a:solidFill>
                                    <a:srgbClr val="FFFFFF"/>
                                  </a:solidFill>
                                  <a:latin typeface="Cambria Math" panose="02040503050406030204" pitchFamily="18" charset="0"/>
                                </a:rPr>
                                <m:t>+</m:t>
                              </m:r>
                              <m:r>
                                <a:rPr lang="en-US" altLang="es-MX" b="0" i="1" smtClean="0">
                                  <a:solidFill>
                                    <a:srgbClr val="FFFFFF"/>
                                  </a:solidFill>
                                  <a:latin typeface="Cambria Math" panose="02040503050406030204" pitchFamily="18" charset="0"/>
                                </a:rPr>
                                <m:t>𝑘</m:t>
                              </m:r>
                            </m:e>
                          </m:d>
                        </m:num>
                        <m:den>
                          <m:sSub>
                            <m:sSubPr>
                              <m:ctrlPr>
                                <a:rPr lang="en-US" altLang="es-MX" b="0" i="1" smtClean="0">
                                  <a:solidFill>
                                    <a:srgbClr val="FFFFFF"/>
                                  </a:solidFill>
                                  <a:latin typeface="Cambria Math" panose="02040503050406030204" pitchFamily="18" charset="0"/>
                                </a:rPr>
                              </m:ctrlPr>
                            </m:sSubPr>
                            <m:e>
                              <m:r>
                                <a:rPr lang="en-US" altLang="es-MX" b="0" i="1" smtClean="0">
                                  <a:solidFill>
                                    <a:srgbClr val="FFFFFF"/>
                                  </a:solidFill>
                                  <a:latin typeface="Cambria Math" panose="02040503050406030204" pitchFamily="18" charset="0"/>
                                </a:rPr>
                                <m:t>𝜎</m:t>
                              </m:r>
                            </m:e>
                            <m:sub>
                              <m:r>
                                <a:rPr lang="en-US" altLang="es-MX" b="0" i="1" smtClean="0">
                                  <a:solidFill>
                                    <a:srgbClr val="FFFFFF"/>
                                  </a:solidFill>
                                  <a:latin typeface="Cambria Math" panose="02040503050406030204" pitchFamily="18" charset="0"/>
                                </a:rPr>
                                <m:t>𝑡</m:t>
                              </m:r>
                            </m:sub>
                          </m:sSub>
                          <m:r>
                            <a:rPr lang="en-US" altLang="es-MX" b="0" i="1" smtClean="0">
                              <a:solidFill>
                                <a:srgbClr val="FFFFFF"/>
                              </a:solidFill>
                              <a:latin typeface="Cambria Math" panose="02040503050406030204" pitchFamily="18" charset="0"/>
                            </a:rPr>
                            <m:t> </m:t>
                          </m:r>
                          <m:sSub>
                            <m:sSubPr>
                              <m:ctrlPr>
                                <a:rPr lang="en-US" altLang="es-MX" b="0" i="1" smtClean="0">
                                  <a:solidFill>
                                    <a:srgbClr val="FFFFFF"/>
                                  </a:solidFill>
                                  <a:latin typeface="Cambria Math" panose="02040503050406030204" pitchFamily="18" charset="0"/>
                                </a:rPr>
                              </m:ctrlPr>
                            </m:sSubPr>
                            <m:e>
                              <m:r>
                                <a:rPr lang="en-US" altLang="es-MX" b="0" i="1" smtClean="0">
                                  <a:solidFill>
                                    <a:srgbClr val="FFFFFF"/>
                                  </a:solidFill>
                                  <a:latin typeface="Cambria Math" panose="02040503050406030204" pitchFamily="18" charset="0"/>
                                </a:rPr>
                                <m:t>𝜎</m:t>
                              </m:r>
                            </m:e>
                            <m:sub>
                              <m:r>
                                <a:rPr lang="en-US" altLang="es-MX" b="0" i="1" smtClean="0">
                                  <a:solidFill>
                                    <a:srgbClr val="FFFFFF"/>
                                  </a:solidFill>
                                  <a:latin typeface="Cambria Math" panose="02040503050406030204" pitchFamily="18" charset="0"/>
                                </a:rPr>
                                <m:t>𝑡</m:t>
                              </m:r>
                              <m:r>
                                <a:rPr lang="en-US" altLang="es-MX" b="0" i="1" smtClean="0">
                                  <a:solidFill>
                                    <a:srgbClr val="FFFFFF"/>
                                  </a:solidFill>
                                  <a:latin typeface="Cambria Math" panose="02040503050406030204" pitchFamily="18" charset="0"/>
                                </a:rPr>
                                <m:t>+</m:t>
                              </m:r>
                              <m:r>
                                <a:rPr lang="en-US" altLang="es-MX" b="0" i="1" smtClean="0">
                                  <a:solidFill>
                                    <a:srgbClr val="FFFFFF"/>
                                  </a:solidFill>
                                  <a:latin typeface="Cambria Math" panose="02040503050406030204" pitchFamily="18" charset="0"/>
                                </a:rPr>
                                <m:t>𝑘</m:t>
                              </m:r>
                            </m:sub>
                          </m:sSub>
                        </m:den>
                      </m:f>
                    </m:oMath>
                  </m:oMathPara>
                </a14:m>
                <a:endParaRPr lang="es-MX" altLang="es-MX" dirty="0">
                  <a:solidFill>
                    <a:srgbClr val="FFFFFF"/>
                  </a:solidFill>
                  <a:latin typeface="Calibri" panose="020F0502020204030204" pitchFamily="34" charset="0"/>
                </a:endParaRPr>
              </a:p>
            </p:txBody>
          </p:sp>
        </mc:Choice>
        <mc:Fallback xmlns="">
          <p:sp>
            <p:nvSpPr>
              <p:cNvPr id="7" name="Text Box 2">
                <a:extLst>
                  <a:ext uri="{FF2B5EF4-FFF2-40B4-BE49-F238E27FC236}">
                    <a16:creationId xmlns:a16="http://schemas.microsoft.com/office/drawing/2014/main" id="{9E63070B-EE32-F16A-412D-20F354E0E7AB}"/>
                  </a:ext>
                </a:extLst>
              </p:cNvPr>
              <p:cNvSpPr txBox="1">
                <a:spLocks noRot="1" noChangeAspect="1" noMove="1" noResize="1" noEditPoints="1" noAdjustHandles="1" noChangeArrowheads="1" noChangeShapeType="1" noTextEdit="1"/>
              </p:cNvSpPr>
              <p:nvPr/>
            </p:nvSpPr>
            <p:spPr bwMode="auto">
              <a:xfrm>
                <a:off x="1586411" y="5085341"/>
                <a:ext cx="7812421" cy="1528480"/>
              </a:xfrm>
              <a:prstGeom prst="rect">
                <a:avLst/>
              </a:prstGeom>
              <a:blipFill>
                <a:blip r:embed="rId4"/>
                <a:stretch>
                  <a:fillRect l="-62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19FDAEFD-E439-B753-EFC4-8070672D0AAB}"/>
                  </a:ext>
                </a:extLst>
              </p:cNvPr>
              <p:cNvSpPr txBox="1"/>
              <p:nvPr/>
            </p:nvSpPr>
            <p:spPr>
              <a:xfrm>
                <a:off x="467519" y="3452030"/>
                <a:ext cx="4133538" cy="369332"/>
              </a:xfrm>
              <a:prstGeom prst="rect">
                <a:avLst/>
              </a:prstGeom>
              <a:noFill/>
            </p:spPr>
            <p:txBody>
              <a:bodyPr wrap="square">
                <a:spAutoFit/>
              </a:bodyPr>
              <a:lstStyle/>
              <a:p>
                <a:pPr marL="342900" marR="0" lvl="0" indent="-342900" algn="l" defTabSz="914400" rtl="0" eaLnBrk="1" fontAlgn="base" latinLnBrk="0" hangingPunct="1">
                  <a:lnSpc>
                    <a:spcPct val="100000"/>
                  </a:lnSpc>
                  <a:spcBef>
                    <a:spcPts val="13"/>
                  </a:spcBef>
                  <a:spcAft>
                    <a:spcPts val="1013"/>
                  </a:spcAft>
                  <a:buClr>
                    <a:srgbClr val="FFFFFF"/>
                  </a:buClr>
                  <a:buSzPct val="100000"/>
                  <a:buFont typeface="Times New Roman" panose="02020603050405020304" pitchFamily="18" charset="0"/>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s-MX" altLang="es-MX" sz="1800" b="1" i="0" u="none" strike="noStrike" kern="1200" cap="none" spc="0" normalizeH="0" baseline="0" noProof="0" dirty="0">
                    <a:ln>
                      <a:noFill/>
                    </a:ln>
                    <a:solidFill>
                      <a:srgbClr val="FFFFFF"/>
                    </a:solidFill>
                    <a:effectLst/>
                    <a:uLnTx/>
                    <a:uFillTx/>
                    <a:latin typeface="Calibri" panose="020F0502020204030204" pitchFamily="34" charset="0"/>
                  </a:rPr>
                  <a:t>Esperanza matemática</a:t>
                </a:r>
                <a:r>
                  <a:rPr lang="es-MX" altLang="es-MX" b="1" dirty="0">
                    <a:solidFill>
                      <a:srgbClr val="FFFFFF"/>
                    </a:solidFill>
                    <a:latin typeface="Calibri" panose="020F0502020204030204" pitchFamily="34" charset="0"/>
                  </a:rPr>
                  <a:t>:</a:t>
                </a:r>
                <a:r>
                  <a:rPr lang="es-MX" altLang="es-MX" dirty="0">
                    <a:solidFill>
                      <a:srgbClr val="FFFFFF"/>
                    </a:solidFill>
                    <a:latin typeface="Calibri" panose="020F0502020204030204" pitchFamily="34" charset="0"/>
                  </a:rPr>
                  <a:t> </a:t>
                </a:r>
                <a14:m>
                  <m:oMath xmlns:m="http://schemas.openxmlformats.org/officeDocument/2006/math">
                    <m:r>
                      <a:rPr lang="en-US" altLang="es-MX" b="0" i="1" smtClean="0">
                        <a:solidFill>
                          <a:srgbClr val="FFFFFF"/>
                        </a:solidFill>
                        <a:latin typeface="Cambria Math" panose="02040503050406030204" pitchFamily="18" charset="0"/>
                      </a:rPr>
                      <m:t>𝐸</m:t>
                    </m:r>
                    <m:d>
                      <m:dPr>
                        <m:begChr m:val="["/>
                        <m:endChr m:val="]"/>
                        <m:ctrlPr>
                          <a:rPr lang="en-US" altLang="es-MX" b="0" i="1" smtClean="0">
                            <a:solidFill>
                              <a:srgbClr val="FFFFFF"/>
                            </a:solidFill>
                            <a:latin typeface="Cambria Math" panose="02040503050406030204" pitchFamily="18" charset="0"/>
                          </a:rPr>
                        </m:ctrlPr>
                      </m:dPr>
                      <m:e>
                        <m:sSub>
                          <m:sSubPr>
                            <m:ctrlPr>
                              <a:rPr lang="en-US" altLang="es-MX" b="0" i="1" smtClean="0">
                                <a:solidFill>
                                  <a:srgbClr val="FFFFFF"/>
                                </a:solidFill>
                                <a:latin typeface="Cambria Math" panose="02040503050406030204" pitchFamily="18" charset="0"/>
                              </a:rPr>
                            </m:ctrlPr>
                          </m:sSubPr>
                          <m:e>
                            <m:r>
                              <a:rPr lang="en-US" altLang="es-MX" b="0" i="1" smtClean="0">
                                <a:solidFill>
                                  <a:srgbClr val="FFFFFF"/>
                                </a:solidFill>
                                <a:latin typeface="Cambria Math" panose="02040503050406030204" pitchFamily="18" charset="0"/>
                              </a:rPr>
                              <m:t>𝑌</m:t>
                            </m:r>
                          </m:e>
                          <m:sub>
                            <m:r>
                              <a:rPr lang="en-US" altLang="es-MX" b="0" i="1" smtClean="0">
                                <a:solidFill>
                                  <a:srgbClr val="FFFFFF"/>
                                </a:solidFill>
                                <a:latin typeface="Cambria Math" panose="02040503050406030204" pitchFamily="18" charset="0"/>
                              </a:rPr>
                              <m:t>𝑇</m:t>
                            </m:r>
                          </m:sub>
                        </m:sSub>
                      </m:e>
                    </m:d>
                    <m:r>
                      <a:rPr lang="en-US" altLang="es-MX" b="0" i="1" smtClean="0">
                        <a:solidFill>
                          <a:srgbClr val="FFFFFF"/>
                        </a:solidFill>
                        <a:latin typeface="Cambria Math" panose="02040503050406030204" pitchFamily="18" charset="0"/>
                      </a:rPr>
                      <m:t>=</m:t>
                    </m:r>
                    <m:sSub>
                      <m:sSubPr>
                        <m:ctrlPr>
                          <a:rPr lang="en-US" altLang="es-MX" b="0" i="1" smtClean="0">
                            <a:solidFill>
                              <a:srgbClr val="FFFFFF"/>
                            </a:solidFill>
                            <a:latin typeface="Cambria Math" panose="02040503050406030204" pitchFamily="18" charset="0"/>
                          </a:rPr>
                        </m:ctrlPr>
                      </m:sSubPr>
                      <m:e>
                        <m:r>
                          <a:rPr lang="en-US" altLang="es-MX" b="0" i="1" smtClean="0">
                            <a:solidFill>
                              <a:srgbClr val="FFFFFF"/>
                            </a:solidFill>
                            <a:latin typeface="Cambria Math" panose="02040503050406030204" pitchFamily="18" charset="0"/>
                          </a:rPr>
                          <m:t>𝜇</m:t>
                        </m:r>
                      </m:e>
                      <m:sub>
                        <m:r>
                          <a:rPr lang="en-US" altLang="es-MX" b="0" i="1" smtClean="0">
                            <a:solidFill>
                              <a:srgbClr val="FFFFFF"/>
                            </a:solidFill>
                            <a:latin typeface="Cambria Math" panose="02040503050406030204" pitchFamily="18" charset="0"/>
                          </a:rPr>
                          <m:t>𝑡</m:t>
                        </m:r>
                      </m:sub>
                    </m:sSub>
                  </m:oMath>
                </a14:m>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a:t>
                </a:r>
              </a:p>
            </p:txBody>
          </p:sp>
        </mc:Choice>
        <mc:Fallback xmlns="">
          <p:sp>
            <p:nvSpPr>
              <p:cNvPr id="9" name="CuadroTexto 8">
                <a:extLst>
                  <a:ext uri="{FF2B5EF4-FFF2-40B4-BE49-F238E27FC236}">
                    <a16:creationId xmlns:a16="http://schemas.microsoft.com/office/drawing/2014/main" id="{19FDAEFD-E439-B753-EFC4-8070672D0AAB}"/>
                  </a:ext>
                </a:extLst>
              </p:cNvPr>
              <p:cNvSpPr txBox="1">
                <a:spLocks noRot="1" noChangeAspect="1" noMove="1" noResize="1" noEditPoints="1" noAdjustHandles="1" noChangeArrowheads="1" noChangeShapeType="1" noTextEdit="1"/>
              </p:cNvSpPr>
              <p:nvPr/>
            </p:nvSpPr>
            <p:spPr>
              <a:xfrm>
                <a:off x="467519" y="3452030"/>
                <a:ext cx="4133538" cy="369332"/>
              </a:xfrm>
              <a:prstGeom prst="rect">
                <a:avLst/>
              </a:prstGeom>
              <a:blipFill>
                <a:blip r:embed="rId5"/>
                <a:stretch>
                  <a:fillRect l="-1327" t="-8197" b="-2459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997ACB43-1245-51FE-3560-575A49429E59}"/>
                  </a:ext>
                </a:extLst>
              </p:cNvPr>
              <p:cNvSpPr txBox="1"/>
              <p:nvPr/>
            </p:nvSpPr>
            <p:spPr>
              <a:xfrm>
                <a:off x="4601057" y="3485244"/>
                <a:ext cx="7071610" cy="902811"/>
              </a:xfrm>
              <a:prstGeom prst="rect">
                <a:avLst/>
              </a:prstGeom>
              <a:noFill/>
            </p:spPr>
            <p:txBody>
              <a:bodyPr wrap="square">
                <a:spAutoFit/>
              </a:bodyPr>
              <a:lstStyle/>
              <a:p>
                <a:pPr lvl="0" fontAlgn="base">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2.    </a:t>
                </a:r>
                <a:r>
                  <a:rPr kumimoji="0" lang="es-MX" altLang="es-MX" sz="1800" b="1" i="0" u="none" strike="noStrike" kern="1200" cap="none" spc="0" normalizeH="0" baseline="0" noProof="0" dirty="0">
                    <a:ln>
                      <a:noFill/>
                    </a:ln>
                    <a:solidFill>
                      <a:srgbClr val="FFFFFF"/>
                    </a:solidFill>
                    <a:effectLst/>
                    <a:uLnTx/>
                    <a:uFillTx/>
                    <a:latin typeface="Calibri" panose="020F0502020204030204" pitchFamily="34" charset="0"/>
                    <a:ea typeface="+mn-ea"/>
                  </a:rPr>
                  <a:t>Función de </a:t>
                </a:r>
                <a:r>
                  <a:rPr lang="es-MX" altLang="es-MX" b="1" dirty="0">
                    <a:solidFill>
                      <a:srgbClr val="FFFFFF"/>
                    </a:solidFill>
                    <a:latin typeface="Calibri" panose="020F0502020204030204" pitchFamily="34" charset="0"/>
                  </a:rPr>
                  <a:t>A</a:t>
                </a:r>
                <a:r>
                  <a:rPr kumimoji="0" lang="es-MX" altLang="es-MX" sz="1800" b="1" i="0" u="none" strike="noStrike" kern="1200" cap="none" spc="0" normalizeH="0" baseline="0" noProof="0" dirty="0" err="1">
                    <a:ln>
                      <a:noFill/>
                    </a:ln>
                    <a:solidFill>
                      <a:srgbClr val="FFFFFF"/>
                    </a:solidFill>
                    <a:effectLst/>
                    <a:uLnTx/>
                    <a:uFillTx/>
                    <a:latin typeface="Calibri" panose="020F0502020204030204" pitchFamily="34" charset="0"/>
                    <a:ea typeface="+mn-ea"/>
                  </a:rPr>
                  <a:t>utocovarianza</a:t>
                </a:r>
                <a:r>
                  <a:rPr kumimoji="0" lang="es-MX" altLang="es-MX" sz="1800" b="1" i="0" u="none" strike="noStrike" kern="1200" cap="none" spc="0" normalizeH="0" baseline="0" noProof="0" dirty="0">
                    <a:ln>
                      <a:noFill/>
                    </a:ln>
                    <a:solidFill>
                      <a:srgbClr val="FFFFFF"/>
                    </a:solidFill>
                    <a:effectLst/>
                    <a:uLnTx/>
                    <a:uFillTx/>
                    <a:latin typeface="Calibri" panose="020F0502020204030204" pitchFamily="34" charset="0"/>
                    <a:ea typeface="+mn-ea"/>
                  </a:rPr>
                  <a:t>:</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a:t>
                </a:r>
                <a:endParaRPr kumimoji="0" lang="en-US" altLang="es-MX" sz="1800" b="0" i="1" u="none" strike="noStrike" kern="1200" cap="none" spc="0" normalizeH="0" baseline="0" noProof="0" dirty="0">
                  <a:ln>
                    <a:noFill/>
                  </a:ln>
                  <a:solidFill>
                    <a:srgbClr val="FFFFFF"/>
                  </a:solidFill>
                  <a:effectLst/>
                  <a:uLnTx/>
                  <a:uFillTx/>
                  <a:latin typeface="Cambria Math" panose="02040503050406030204" pitchFamily="18" charset="0"/>
                  <a:ea typeface="+mn-ea"/>
                </a:endParaRPr>
              </a:p>
              <a:p>
                <a:pPr lvl="0" fontAlgn="base">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14:m>
                  <m:oMathPara xmlns:m="http://schemas.openxmlformats.org/officeDocument/2006/math">
                    <m:oMathParaPr>
                      <m:jc m:val="centerGroup"/>
                    </m:oMathParaPr>
                    <m:oMath xmlns:m="http://schemas.openxmlformats.org/officeDocument/2006/math">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𝑔</m:t>
                      </m:r>
                      <m:d>
                        <m:d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d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𝑘</m:t>
                          </m:r>
                        </m:e>
                      </m:d>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𝐶𝑜𝑣</m:t>
                      </m:r>
                      <m:d>
                        <m:d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dPr>
                        <m:e>
                          <m:sSub>
                            <m:sSub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sSub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𝑌</m:t>
                              </m:r>
                            </m:e>
                            <m: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sub>
                          </m:s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m:t>
                          </m:r>
                          <m:sSub>
                            <m:sSub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sSub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𝑌</m:t>
                              </m:r>
                            </m:e>
                            <m: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𝑘</m:t>
                              </m:r>
                            </m:sub>
                          </m:sSub>
                        </m:e>
                      </m:d>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𝐸</m:t>
                      </m:r>
                      <m:d>
                        <m:dPr>
                          <m:begChr m:val="["/>
                          <m:endChr m:val="]"/>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dPr>
                        <m:e>
                          <m:d>
                            <m:d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dPr>
                            <m:e>
                              <m:sSub>
                                <m:sSub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sSub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𝑌</m:t>
                                  </m:r>
                                </m:e>
                                <m: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sub>
                              </m:s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 −</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𝐸</m:t>
                              </m:r>
                              <m:d>
                                <m:dPr>
                                  <m:begChr m:val="["/>
                                  <m:endChr m:val="]"/>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dPr>
                                <m:e>
                                  <m:sSub>
                                    <m:sSub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sSub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𝑌</m:t>
                                      </m:r>
                                    </m:e>
                                    <m: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sub>
                                  </m:sSub>
                                </m:e>
                              </m:d>
                            </m:e>
                          </m:d>
                          <m:d>
                            <m:d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dPr>
                            <m:e>
                              <m:sSub>
                                <m:sSubPr>
                                  <m:ctrlPr>
                                    <a:rPr lang="en-US" altLang="es-MX" i="1">
                                      <a:solidFill>
                                        <a:srgbClr val="FFFFFF"/>
                                      </a:solidFill>
                                      <a:latin typeface="Cambria Math" panose="02040503050406030204" pitchFamily="18" charset="0"/>
                                    </a:rPr>
                                  </m:ctrlPr>
                                </m:sSubPr>
                                <m:e>
                                  <m:r>
                                    <a:rPr lang="en-US" altLang="es-MX" i="1">
                                      <a:solidFill>
                                        <a:srgbClr val="FFFFFF"/>
                                      </a:solidFill>
                                      <a:latin typeface="Cambria Math" panose="02040503050406030204" pitchFamily="18" charset="0"/>
                                    </a:rPr>
                                    <m:t>𝑌</m:t>
                                  </m:r>
                                </m:e>
                                <m:sub>
                                  <m:r>
                                    <a:rPr lang="en-US" altLang="es-MX" i="1">
                                      <a:solidFill>
                                        <a:srgbClr val="FFFFFF"/>
                                      </a:solidFill>
                                      <a:latin typeface="Cambria Math" panose="02040503050406030204" pitchFamily="18" charset="0"/>
                                    </a:rPr>
                                    <m:t>𝑡</m:t>
                                  </m:r>
                                  <m:r>
                                    <a:rPr lang="en-US" altLang="es-MX" b="0" i="1" smtClean="0">
                                      <a:solidFill>
                                        <a:srgbClr val="FFFFFF"/>
                                      </a:solidFill>
                                      <a:latin typeface="Cambria Math" panose="02040503050406030204" pitchFamily="18" charset="0"/>
                                    </a:rPr>
                                    <m:t>+</m:t>
                                  </m:r>
                                  <m:r>
                                    <a:rPr lang="en-US" altLang="es-MX" b="0" i="1" smtClean="0">
                                      <a:solidFill>
                                        <a:srgbClr val="FFFFFF"/>
                                      </a:solidFill>
                                      <a:latin typeface="Cambria Math" panose="02040503050406030204" pitchFamily="18" charset="0"/>
                                    </a:rPr>
                                    <m:t>𝑘</m:t>
                                  </m:r>
                                </m:sub>
                              </m:sSub>
                              <m:r>
                                <a:rPr lang="en-US" altLang="es-MX" i="1">
                                  <a:solidFill>
                                    <a:srgbClr val="FFFFFF"/>
                                  </a:solidFill>
                                  <a:latin typeface="Cambria Math" panose="02040503050406030204" pitchFamily="18" charset="0"/>
                                </a:rPr>
                                <m:t> −</m:t>
                              </m:r>
                              <m:r>
                                <a:rPr lang="en-US" altLang="es-MX" i="1">
                                  <a:solidFill>
                                    <a:srgbClr val="FFFFFF"/>
                                  </a:solidFill>
                                  <a:latin typeface="Cambria Math" panose="02040503050406030204" pitchFamily="18" charset="0"/>
                                </a:rPr>
                                <m:t>𝐸</m:t>
                              </m:r>
                              <m:d>
                                <m:dPr>
                                  <m:begChr m:val="["/>
                                  <m:endChr m:val="]"/>
                                  <m:ctrlPr>
                                    <a:rPr lang="en-US" altLang="es-MX" i="1">
                                      <a:solidFill>
                                        <a:srgbClr val="FFFFFF"/>
                                      </a:solidFill>
                                      <a:latin typeface="Cambria Math" panose="02040503050406030204" pitchFamily="18" charset="0"/>
                                    </a:rPr>
                                  </m:ctrlPr>
                                </m:dPr>
                                <m:e>
                                  <m:sSub>
                                    <m:sSubPr>
                                      <m:ctrlPr>
                                        <a:rPr lang="en-US" altLang="es-MX" i="1">
                                          <a:solidFill>
                                            <a:srgbClr val="FFFFFF"/>
                                          </a:solidFill>
                                          <a:latin typeface="Cambria Math" panose="02040503050406030204" pitchFamily="18" charset="0"/>
                                        </a:rPr>
                                      </m:ctrlPr>
                                    </m:sSubPr>
                                    <m:e>
                                      <m:r>
                                        <a:rPr lang="en-US" altLang="es-MX" i="1">
                                          <a:solidFill>
                                            <a:srgbClr val="FFFFFF"/>
                                          </a:solidFill>
                                          <a:latin typeface="Cambria Math" panose="02040503050406030204" pitchFamily="18" charset="0"/>
                                        </a:rPr>
                                        <m:t>𝑌</m:t>
                                      </m:r>
                                    </m:e>
                                    <m:sub>
                                      <m:r>
                                        <a:rPr lang="en-US" altLang="es-MX" i="1">
                                          <a:solidFill>
                                            <a:srgbClr val="FFFFFF"/>
                                          </a:solidFill>
                                          <a:latin typeface="Cambria Math" panose="02040503050406030204" pitchFamily="18" charset="0"/>
                                        </a:rPr>
                                        <m:t>𝑡</m:t>
                                      </m:r>
                                      <m:r>
                                        <a:rPr lang="en-US" altLang="es-MX" b="0" i="1" smtClean="0">
                                          <a:solidFill>
                                            <a:srgbClr val="FFFFFF"/>
                                          </a:solidFill>
                                          <a:latin typeface="Cambria Math" panose="02040503050406030204" pitchFamily="18" charset="0"/>
                                        </a:rPr>
                                        <m:t>+</m:t>
                                      </m:r>
                                      <m:r>
                                        <a:rPr lang="en-US" altLang="es-MX" b="0" i="1" smtClean="0">
                                          <a:solidFill>
                                            <a:srgbClr val="FFFFFF"/>
                                          </a:solidFill>
                                          <a:latin typeface="Cambria Math" panose="02040503050406030204" pitchFamily="18" charset="0"/>
                                        </a:rPr>
                                        <m:t>𝑘</m:t>
                                      </m:r>
                                    </m:sub>
                                  </m:sSub>
                                </m:e>
                              </m:d>
                            </m:e>
                          </m:d>
                        </m:e>
                      </m:d>
                    </m:oMath>
                  </m:oMathPara>
                </a14:m>
                <a:endPar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mc:Choice>
        <mc:Fallback xmlns="">
          <p:sp>
            <p:nvSpPr>
              <p:cNvPr id="11" name="CuadroTexto 10">
                <a:extLst>
                  <a:ext uri="{FF2B5EF4-FFF2-40B4-BE49-F238E27FC236}">
                    <a16:creationId xmlns:a16="http://schemas.microsoft.com/office/drawing/2014/main" id="{997ACB43-1245-51FE-3560-575A49429E59}"/>
                  </a:ext>
                </a:extLst>
              </p:cNvPr>
              <p:cNvSpPr txBox="1">
                <a:spLocks noRot="1" noChangeAspect="1" noMove="1" noResize="1" noEditPoints="1" noAdjustHandles="1" noChangeArrowheads="1" noChangeShapeType="1" noTextEdit="1"/>
              </p:cNvSpPr>
              <p:nvPr/>
            </p:nvSpPr>
            <p:spPr>
              <a:xfrm>
                <a:off x="4601057" y="3485244"/>
                <a:ext cx="7071610" cy="902811"/>
              </a:xfrm>
              <a:prstGeom prst="rect">
                <a:avLst/>
              </a:prstGeom>
              <a:blipFill>
                <a:blip r:embed="rId6"/>
                <a:stretch>
                  <a:fillRect l="-776" t="-4054"/>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AEDEBA8A-B260-D2C4-E1DB-AE5DE97CD7AE}"/>
                  </a:ext>
                </a:extLst>
              </p:cNvPr>
              <p:cNvSpPr txBox="1"/>
              <p:nvPr/>
            </p:nvSpPr>
            <p:spPr>
              <a:xfrm>
                <a:off x="5001575" y="4302819"/>
                <a:ext cx="6495881" cy="782522"/>
              </a:xfrm>
              <a:prstGeom prst="rect">
                <a:avLst/>
              </a:prstGeom>
              <a:noFill/>
            </p:spPr>
            <p:txBody>
              <a:bodyPr wrap="square">
                <a:spAutoFit/>
              </a:bodyPr>
              <a:lstStyle/>
              <a:p>
                <a:pPr lvl="0" algn="ctr" fontAlgn="base">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es-MX" dirty="0">
                    <a:solidFill>
                      <a:srgbClr val="FFFFFF"/>
                    </a:solidFill>
                  </a:rPr>
                  <a:t>Con </a:t>
                </a:r>
                <a:r>
                  <a:rPr lang="en-US" altLang="es-MX" dirty="0" err="1">
                    <a:solidFill>
                      <a:srgbClr val="FFFFFF"/>
                    </a:solidFill>
                  </a:rPr>
                  <a:t>esta</a:t>
                </a:r>
                <a:r>
                  <a:rPr lang="en-US" altLang="es-MX" dirty="0">
                    <a:solidFill>
                      <a:srgbClr val="FFFFFF"/>
                    </a:solidFill>
                  </a:rPr>
                  <a:t> </a:t>
                </a:r>
                <a:r>
                  <a:rPr lang="en-US" altLang="es-MX" dirty="0" err="1">
                    <a:solidFill>
                      <a:srgbClr val="FFFFFF"/>
                    </a:solidFill>
                  </a:rPr>
                  <a:t>funcion</a:t>
                </a:r>
                <a:r>
                  <a:rPr lang="en-US" altLang="es-MX" dirty="0">
                    <a:solidFill>
                      <a:srgbClr val="FFFFFF"/>
                    </a:solidFill>
                  </a:rPr>
                  <a:t> </a:t>
                </a:r>
                <a:r>
                  <a:rPr lang="en-US" altLang="es-MX" dirty="0" err="1">
                    <a:solidFill>
                      <a:srgbClr val="FFFFFF"/>
                    </a:solidFill>
                  </a:rPr>
                  <a:t>en</a:t>
                </a:r>
                <a:r>
                  <a:rPr lang="en-US" altLang="es-MX" dirty="0">
                    <a:solidFill>
                      <a:srgbClr val="FFFFFF"/>
                    </a:solidFill>
                  </a:rPr>
                  <a:t> </a:t>
                </a:r>
                <a:r>
                  <a:rPr lang="en-US" altLang="es-MX" dirty="0" err="1">
                    <a:solidFill>
                      <a:srgbClr val="FFFFFF"/>
                    </a:solidFill>
                  </a:rPr>
                  <a:t>mente</a:t>
                </a:r>
                <a:r>
                  <a:rPr lang="en-US" altLang="es-MX" dirty="0">
                    <a:solidFill>
                      <a:srgbClr val="FFFFFF"/>
                    </a:solidFill>
                  </a:rPr>
                  <a:t> </a:t>
                </a:r>
                <a:r>
                  <a:rPr lang="en-US" altLang="es-MX" dirty="0" err="1">
                    <a:solidFill>
                      <a:srgbClr val="FFFFFF"/>
                    </a:solidFill>
                  </a:rPr>
                  <a:t>podemos</a:t>
                </a:r>
                <a:r>
                  <a:rPr lang="en-US" altLang="es-MX" dirty="0">
                    <a:solidFill>
                      <a:srgbClr val="FFFFFF"/>
                    </a:solidFill>
                  </a:rPr>
                  <a:t> </a:t>
                </a:r>
                <a:r>
                  <a:rPr lang="en-US" altLang="es-MX" dirty="0" err="1">
                    <a:solidFill>
                      <a:srgbClr val="FFFFFF"/>
                    </a:solidFill>
                  </a:rPr>
                  <a:t>decir</a:t>
                </a:r>
                <a:r>
                  <a:rPr lang="en-US" altLang="es-MX" dirty="0">
                    <a:solidFill>
                      <a:srgbClr val="FFFFFF"/>
                    </a:solidFill>
                  </a:rPr>
                  <a:t> que </a:t>
                </a:r>
                <a14:m>
                  <m:oMath xmlns:m="http://schemas.openxmlformats.org/officeDocument/2006/math">
                    <m:r>
                      <a:rPr lang="en-US" altLang="es-MX" b="0" i="1" smtClean="0">
                        <a:solidFill>
                          <a:srgbClr val="FFFFFF"/>
                        </a:solidFill>
                        <a:latin typeface="Cambria Math" panose="02040503050406030204" pitchFamily="18" charset="0"/>
                      </a:rPr>
                      <m:t>𝑘</m:t>
                    </m:r>
                    <m:r>
                      <a:rPr lang="en-US" altLang="es-MX" b="0" i="1" smtClean="0">
                        <a:solidFill>
                          <a:srgbClr val="FFFFFF"/>
                        </a:solidFill>
                        <a:latin typeface="Cambria Math" panose="02040503050406030204" pitchFamily="18" charset="0"/>
                      </a:rPr>
                      <m:t>=0</m:t>
                    </m:r>
                  </m:oMath>
                </a14:m>
                <a:r>
                  <a:rPr kumimoji="0" lang="es-MX" altLang="es-MX" sz="1800" b="0" i="0" u="none" strike="noStrike" kern="1200" cap="none" spc="0" normalizeH="0" baseline="0" noProof="0" dirty="0">
                    <a:ln>
                      <a:noFill/>
                    </a:ln>
                    <a:solidFill>
                      <a:srgbClr val="FFFFFF"/>
                    </a:solidFill>
                    <a:effectLst/>
                    <a:uLnTx/>
                    <a:uFillTx/>
                  </a:rPr>
                  <a:t>, </a:t>
                </a:r>
                <a14:m>
                  <m:oMath xmlns:m="http://schemas.openxmlformats.org/officeDocument/2006/math">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rPr>
                      <m:t>𝑔</m:t>
                    </m:r>
                    <m:d>
                      <m:d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rPr>
                        </m:ctrlPr>
                      </m:d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rPr>
                          <m:t>𝑡</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rPr>
                          <m:t>,</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rPr>
                          <m:t>𝑡</m:t>
                        </m:r>
                      </m:e>
                    </m:d>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rPr>
                      <m:t>= </m:t>
                    </m:r>
                    <m:sSubSup>
                      <m:sSubSup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rPr>
                        </m:ctrlPr>
                      </m:sSubSup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rPr>
                          <m:t>𝜎</m:t>
                        </m:r>
                      </m:e>
                      <m: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rPr>
                          <m:t>𝑡</m:t>
                        </m:r>
                      </m:sub>
                      <m:sup>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rPr>
                          <m:t>2</m:t>
                        </m:r>
                      </m:sup>
                    </m:sSubSup>
                  </m:oMath>
                </a14:m>
                <a:endParaRPr lang="es-MX" altLang="es-MX" dirty="0">
                  <a:solidFill>
                    <a:srgbClr val="FFFFFF"/>
                  </a:solidFill>
                </a:endParaRPr>
              </a:p>
              <a:p>
                <a:pPr lvl="0" algn="ctr" fontAlgn="base">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rPr>
                  <a:t>Lo denotaremos como </a:t>
                </a:r>
                <a:r>
                  <a:rPr kumimoji="0" lang="es-MX" altLang="es-MX" sz="1800" b="0" i="1" u="none" strike="noStrike" kern="1200" cap="none" spc="0" normalizeH="0" baseline="0" noProof="0" dirty="0">
                    <a:ln>
                      <a:noFill/>
                    </a:ln>
                    <a:solidFill>
                      <a:srgbClr val="FFFFFF"/>
                    </a:solidFill>
                    <a:effectLst/>
                    <a:uLnTx/>
                    <a:uFillTx/>
                  </a:rPr>
                  <a:t>“la función de varianza del proceso”</a:t>
                </a:r>
              </a:p>
            </p:txBody>
          </p:sp>
        </mc:Choice>
        <mc:Fallback xmlns="">
          <p:sp>
            <p:nvSpPr>
              <p:cNvPr id="12" name="CuadroTexto 11">
                <a:extLst>
                  <a:ext uri="{FF2B5EF4-FFF2-40B4-BE49-F238E27FC236}">
                    <a16:creationId xmlns:a16="http://schemas.microsoft.com/office/drawing/2014/main" id="{AEDEBA8A-B260-D2C4-E1DB-AE5DE97CD7AE}"/>
                  </a:ext>
                </a:extLst>
              </p:cNvPr>
              <p:cNvSpPr txBox="1">
                <a:spLocks noRot="1" noChangeAspect="1" noMove="1" noResize="1" noEditPoints="1" noAdjustHandles="1" noChangeArrowheads="1" noChangeShapeType="1" noTextEdit="1"/>
              </p:cNvSpPr>
              <p:nvPr/>
            </p:nvSpPr>
            <p:spPr>
              <a:xfrm>
                <a:off x="5001575" y="4302819"/>
                <a:ext cx="6495881" cy="782522"/>
              </a:xfrm>
              <a:prstGeom prst="rect">
                <a:avLst/>
              </a:prstGeom>
              <a:blipFill>
                <a:blip r:embed="rId7"/>
                <a:stretch>
                  <a:fillRect l="-469" t="-3125" b="-11719"/>
                </a:stretch>
              </a:blipFill>
            </p:spPr>
            <p:txBody>
              <a:bodyPr/>
              <a:lstStyle/>
              <a:p>
                <a:r>
                  <a:rPr lang="es-MX">
                    <a:noFill/>
                  </a:rPr>
                  <a:t> </a:t>
                </a:r>
              </a:p>
            </p:txBody>
          </p:sp>
        </mc:Fallback>
      </mc:AlternateContent>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a:extLst>
              <a:ext uri="{FF2B5EF4-FFF2-40B4-BE49-F238E27FC236}">
                <a16:creationId xmlns:a16="http://schemas.microsoft.com/office/drawing/2014/main" id="{AFB83B45-E801-3365-397B-7FEF362259B6}"/>
              </a:ext>
            </a:extLst>
          </p:cNvPr>
          <p:cNvSpPr>
            <a:spLocks noGrp="1" noChangeArrowheads="1"/>
          </p:cNvSpPr>
          <p:nvPr>
            <p:ph type="title"/>
          </p:nvPr>
        </p:nvSpPr>
        <p:spPr>
          <a:xfrm>
            <a:off x="8555636" y="162393"/>
            <a:ext cx="3406515" cy="589613"/>
          </a:xfrm>
          <a:ln/>
        </p:spPr>
        <p:txBody>
          <a:bodyPr/>
          <a:lstStyle/>
          <a:p>
            <a:pP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solidFill>
                <a:latin typeface="Calibri Light" panose="020F0302020204030204" pitchFamily="34" charset="0"/>
              </a:rPr>
              <a:t>Estacionariedad</a:t>
            </a:r>
          </a:p>
        </p:txBody>
      </p:sp>
      <mc:AlternateContent xmlns:mc="http://schemas.openxmlformats.org/markup-compatibility/2006" xmlns:a14="http://schemas.microsoft.com/office/drawing/2010/main">
        <mc:Choice Requires="a14">
          <p:sp>
            <p:nvSpPr>
              <p:cNvPr id="19458" name="Text Box 2">
                <a:extLst>
                  <a:ext uri="{FF2B5EF4-FFF2-40B4-BE49-F238E27FC236}">
                    <a16:creationId xmlns:a16="http://schemas.microsoft.com/office/drawing/2014/main" id="{F765D791-DDE3-F8AC-3B03-C93EE1CB6ED7}"/>
                  </a:ext>
                </a:extLst>
              </p:cNvPr>
              <p:cNvSpPr txBox="1">
                <a:spLocks noChangeArrowheads="1"/>
              </p:cNvSpPr>
              <p:nvPr/>
            </p:nvSpPr>
            <p:spPr bwMode="auto">
              <a:xfrm>
                <a:off x="417437" y="1887868"/>
                <a:ext cx="7431163" cy="1277305"/>
              </a:xfrm>
              <a:prstGeom prst="rect">
                <a:avLst/>
              </a:prstGeom>
              <a:noFill/>
              <a:ln>
                <a:noFill/>
              </a:ln>
              <a:effectLst/>
              <a:extLst>
                <a:ext uri="{909E8E84-426E-40DD-AFC4-6F175D3DCCD1}">
                  <a14:hiddenFill>
                    <a:solidFill>
                      <a:srgbClr val="FFFFFF"/>
                    </a:solidFill>
                  </a14:hiddenFill>
                </a:ext>
                <a:ext uri="{91240B29-F687-4F45-9708-019B960494DF}">
                  <a14:hiddenLine w="9525" cap="flat">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9pPr>
              </a:lstStyle>
              <a:p>
                <a:pPr marL="0" marR="0" lvl="0" indent="0"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Un proceso estacionario en sentido amplio (</a:t>
                </a:r>
                <a:r>
                  <a:rPr kumimoji="0" lang="es-MX" altLang="es-MX" b="0" i="1" u="none" strike="noStrike" kern="1200" cap="none" spc="0" normalizeH="0" baseline="0" noProof="0" dirty="0">
                    <a:ln>
                      <a:noFill/>
                    </a:ln>
                    <a:solidFill>
                      <a:srgbClr val="FFFFFF"/>
                    </a:solidFill>
                    <a:effectLst/>
                    <a:uLnTx/>
                    <a:uFillTx/>
                    <a:latin typeface="Calibri" panose="020F0502020204030204" pitchFamily="34" charset="0"/>
                    <a:ea typeface="+mn-ea"/>
                  </a:rPr>
                  <a:t>estacionario en segundo orden o de covarianza estacionaria) </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es cuando se verifica que: </a:t>
                </a:r>
              </a:p>
              <a:p>
                <a:pPr marL="0" marR="0" lvl="0" indent="0" algn="ctr"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14:m>
                  <m:oMath xmlns:m="http://schemas.openxmlformats.org/officeDocument/2006/math">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𝜇</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sub>
                    </m:s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𝜇</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&lt;∞</m:t>
                    </m:r>
                  </m:oMath>
                </a14:m>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y </a:t>
                </a:r>
                <a14:m>
                  <m:oMath xmlns:m="http://schemas.openxmlformats.org/officeDocument/2006/math">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𝑔</m:t>
                    </m:r>
                    <m:d>
                      <m:d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d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 </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𝑘</m:t>
                        </m:r>
                      </m:e>
                    </m:d>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m:t>
                    </m:r>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𝑔</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𝑘</m:t>
                        </m:r>
                      </m:sub>
                    </m:s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mn-ea"/>
                      </a:rPr>
                      <m:t>&lt;∞</m:t>
                    </m:r>
                  </m:oMath>
                </a14:m>
                <a:endPar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mc:Choice>
        <mc:Fallback xmlns="">
          <p:sp>
            <p:nvSpPr>
              <p:cNvPr id="19458" name="Text Box 2">
                <a:extLst>
                  <a:ext uri="{FF2B5EF4-FFF2-40B4-BE49-F238E27FC236}">
                    <a16:creationId xmlns:a16="http://schemas.microsoft.com/office/drawing/2014/main" id="{F765D791-DDE3-F8AC-3B03-C93EE1CB6ED7}"/>
                  </a:ext>
                </a:extLst>
              </p:cNvPr>
              <p:cNvSpPr txBox="1">
                <a:spLocks noRot="1" noChangeAspect="1" noMove="1" noResize="1" noEditPoints="1" noAdjustHandles="1" noChangeArrowheads="1" noChangeShapeType="1" noTextEdit="1"/>
              </p:cNvSpPr>
              <p:nvPr/>
            </p:nvSpPr>
            <p:spPr bwMode="auto">
              <a:xfrm>
                <a:off x="417437" y="1887868"/>
                <a:ext cx="7431163" cy="1277305"/>
              </a:xfrm>
              <a:prstGeom prst="rect">
                <a:avLst/>
              </a:prstGeom>
              <a:blipFill>
                <a:blip r:embed="rId3"/>
                <a:stretch>
                  <a:fillRect l="-656"/>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9B8B703-F4F6-DB3E-1203-51B7C053E4C4}"/>
                  </a:ext>
                </a:extLst>
              </p:cNvPr>
              <p:cNvSpPr txBox="1"/>
              <p:nvPr/>
            </p:nvSpPr>
            <p:spPr>
              <a:xfrm>
                <a:off x="417436" y="457199"/>
                <a:ext cx="7926048" cy="1011944"/>
              </a:xfrm>
              <a:prstGeom prst="rect">
                <a:avLst/>
              </a:prstGeom>
              <a:noFill/>
            </p:spPr>
            <p:txBody>
              <a:bodyPr wrap="square">
                <a:spAutoFit/>
              </a:bodyPr>
              <a:lstStyle/>
              <a:p>
                <a:pPr lvl="0" algn="just" fontAlgn="base">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Un proceso es </a:t>
                </a:r>
                <a:r>
                  <a:rPr kumimoji="0" lang="es-MX" altLang="es-MX" sz="1800" b="1" i="0" u="none" strike="noStrike" kern="1200" cap="none" spc="0" normalizeH="0" baseline="0" noProof="0" dirty="0">
                    <a:ln>
                      <a:noFill/>
                    </a:ln>
                    <a:solidFill>
                      <a:srgbClr val="FFFFFF"/>
                    </a:solidFill>
                    <a:effectLst/>
                    <a:uLnTx/>
                    <a:uFillTx/>
                    <a:latin typeface="Calibri" panose="020F0502020204030204" pitchFamily="34" charset="0"/>
                    <a:ea typeface="+mn-ea"/>
                  </a:rPr>
                  <a:t>estacionario</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en sentido estricto si los vectores </a:t>
                </a:r>
                <a14:m>
                  <m:oMath xmlns:m="http://schemas.openxmlformats.org/officeDocument/2006/math">
                    <m:d>
                      <m:dPr>
                        <m:begChr m:val="{"/>
                        <m:endChr m:val="}"/>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dPr>
                      <m:e>
                        <m:sSub>
                          <m:sSub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sSub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𝑌</m:t>
                            </m:r>
                          </m:e>
                          <m:sub>
                            <m:sSub>
                              <m:sSub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sSub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e>
                              <m: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1</m:t>
                                </m:r>
                              </m:sub>
                            </m:sSub>
                          </m:sub>
                        </m:s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m:t>
                        </m:r>
                        <m:sSub>
                          <m:sSubPr>
                            <m:ctrlPr>
                              <a:rPr lang="en-US" altLang="es-MX" i="1">
                                <a:solidFill>
                                  <a:srgbClr val="FFFFFF"/>
                                </a:solidFill>
                                <a:latin typeface="Cambria Math" panose="02040503050406030204" pitchFamily="18" charset="0"/>
                              </a:rPr>
                            </m:ctrlPr>
                          </m:sSubPr>
                          <m:e>
                            <m:r>
                              <a:rPr lang="en-US" altLang="es-MX" i="1">
                                <a:solidFill>
                                  <a:srgbClr val="FFFFFF"/>
                                </a:solidFill>
                                <a:latin typeface="Cambria Math" panose="02040503050406030204" pitchFamily="18" charset="0"/>
                              </a:rPr>
                              <m:t>𝑌</m:t>
                            </m:r>
                          </m:e>
                          <m:sub>
                            <m:sSub>
                              <m:sSubPr>
                                <m:ctrlPr>
                                  <a:rPr lang="en-US" altLang="es-MX" i="1">
                                    <a:solidFill>
                                      <a:srgbClr val="FFFFFF"/>
                                    </a:solidFill>
                                    <a:latin typeface="Cambria Math" panose="02040503050406030204" pitchFamily="18" charset="0"/>
                                  </a:rPr>
                                </m:ctrlPr>
                              </m:sSubPr>
                              <m:e>
                                <m:r>
                                  <a:rPr lang="en-US" altLang="es-MX" i="1">
                                    <a:solidFill>
                                      <a:srgbClr val="FFFFFF"/>
                                    </a:solidFill>
                                    <a:latin typeface="Cambria Math" panose="02040503050406030204" pitchFamily="18" charset="0"/>
                                  </a:rPr>
                                  <m:t>𝑡</m:t>
                                </m:r>
                              </m:e>
                              <m:sub>
                                <m:r>
                                  <a:rPr lang="en-US" altLang="es-MX" b="0" i="1" smtClean="0">
                                    <a:solidFill>
                                      <a:srgbClr val="FFFFFF"/>
                                    </a:solidFill>
                                    <a:latin typeface="Cambria Math" panose="02040503050406030204" pitchFamily="18" charset="0"/>
                                  </a:rPr>
                                  <m:t>2</m:t>
                                </m:r>
                              </m:sub>
                            </m:sSub>
                          </m:sub>
                        </m:sSub>
                        <m:r>
                          <a:rPr lang="en-US" altLang="es-MX" b="0" i="1" smtClean="0">
                            <a:solidFill>
                              <a:srgbClr val="FFFFFF"/>
                            </a:solidFill>
                            <a:latin typeface="Cambria Math" panose="02040503050406030204" pitchFamily="18" charset="0"/>
                          </a:rPr>
                          <m:t>,…,</m:t>
                        </m:r>
                        <m:sSub>
                          <m:sSubPr>
                            <m:ctrlPr>
                              <a:rPr lang="en-US" altLang="es-MX" i="1">
                                <a:solidFill>
                                  <a:srgbClr val="FFFFFF"/>
                                </a:solidFill>
                                <a:latin typeface="Cambria Math" panose="02040503050406030204" pitchFamily="18" charset="0"/>
                              </a:rPr>
                            </m:ctrlPr>
                          </m:sSubPr>
                          <m:e>
                            <m:r>
                              <a:rPr lang="en-US" altLang="es-MX" i="1">
                                <a:solidFill>
                                  <a:srgbClr val="FFFFFF"/>
                                </a:solidFill>
                                <a:latin typeface="Cambria Math" panose="02040503050406030204" pitchFamily="18" charset="0"/>
                              </a:rPr>
                              <m:t>𝑌</m:t>
                            </m:r>
                          </m:e>
                          <m:sub>
                            <m:sSub>
                              <m:sSubPr>
                                <m:ctrlPr>
                                  <a:rPr lang="en-US" altLang="es-MX" i="1">
                                    <a:solidFill>
                                      <a:srgbClr val="FFFFFF"/>
                                    </a:solidFill>
                                    <a:latin typeface="Cambria Math" panose="02040503050406030204" pitchFamily="18" charset="0"/>
                                  </a:rPr>
                                </m:ctrlPr>
                              </m:sSubPr>
                              <m:e>
                                <m:r>
                                  <a:rPr lang="en-US" altLang="es-MX" i="1">
                                    <a:solidFill>
                                      <a:srgbClr val="FFFFFF"/>
                                    </a:solidFill>
                                    <a:latin typeface="Cambria Math" panose="02040503050406030204" pitchFamily="18" charset="0"/>
                                  </a:rPr>
                                  <m:t>𝑡</m:t>
                                </m:r>
                              </m:e>
                              <m:sub>
                                <m:r>
                                  <a:rPr lang="en-US" altLang="es-MX" b="0" i="1" smtClean="0">
                                    <a:solidFill>
                                      <a:srgbClr val="FFFFFF"/>
                                    </a:solidFill>
                                    <a:latin typeface="Cambria Math" panose="02040503050406030204" pitchFamily="18" charset="0"/>
                                  </a:rPr>
                                  <m:t>𝑛</m:t>
                                </m:r>
                              </m:sub>
                            </m:sSub>
                          </m:sub>
                        </m:sSub>
                      </m:e>
                    </m:d>
                  </m:oMath>
                </a14:m>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y </a:t>
                </a:r>
                <a14:m>
                  <m:oMath xmlns:m="http://schemas.openxmlformats.org/officeDocument/2006/math">
                    <m:d>
                      <m:dPr>
                        <m:begChr m:val="{"/>
                        <m:endChr m:val="}"/>
                        <m:ctrlPr>
                          <a:rPr lang="en-US" altLang="es-MX" i="1">
                            <a:solidFill>
                              <a:srgbClr val="FFFFFF"/>
                            </a:solidFill>
                            <a:latin typeface="Cambria Math" panose="02040503050406030204" pitchFamily="18" charset="0"/>
                          </a:rPr>
                        </m:ctrlPr>
                      </m:dPr>
                      <m:e>
                        <m:sSub>
                          <m:sSubPr>
                            <m:ctrlPr>
                              <a:rPr lang="en-US" altLang="es-MX" i="1">
                                <a:solidFill>
                                  <a:srgbClr val="FFFFFF"/>
                                </a:solidFill>
                                <a:latin typeface="Cambria Math" panose="02040503050406030204" pitchFamily="18" charset="0"/>
                              </a:rPr>
                            </m:ctrlPr>
                          </m:sSubPr>
                          <m:e>
                            <m:r>
                              <a:rPr lang="en-US" altLang="es-MX" i="1">
                                <a:solidFill>
                                  <a:srgbClr val="FFFFFF"/>
                                </a:solidFill>
                                <a:latin typeface="Cambria Math" panose="02040503050406030204" pitchFamily="18" charset="0"/>
                              </a:rPr>
                              <m:t>𝑌</m:t>
                            </m:r>
                          </m:e>
                          <m:sub>
                            <m:sSub>
                              <m:sSubPr>
                                <m:ctrlPr>
                                  <a:rPr lang="en-US" altLang="es-MX" i="1">
                                    <a:solidFill>
                                      <a:srgbClr val="FFFFFF"/>
                                    </a:solidFill>
                                    <a:latin typeface="Cambria Math" panose="02040503050406030204" pitchFamily="18" charset="0"/>
                                  </a:rPr>
                                </m:ctrlPr>
                              </m:sSubPr>
                              <m:e>
                                <m:r>
                                  <a:rPr lang="en-US" altLang="es-MX" i="1">
                                    <a:solidFill>
                                      <a:srgbClr val="FFFFFF"/>
                                    </a:solidFill>
                                    <a:latin typeface="Cambria Math" panose="02040503050406030204" pitchFamily="18" charset="0"/>
                                  </a:rPr>
                                  <m:t>𝑡</m:t>
                                </m:r>
                              </m:e>
                              <m:sub>
                                <m:r>
                                  <a:rPr lang="en-US" altLang="es-MX" i="1">
                                    <a:solidFill>
                                      <a:srgbClr val="FFFFFF"/>
                                    </a:solidFill>
                                    <a:latin typeface="Cambria Math" panose="02040503050406030204" pitchFamily="18" charset="0"/>
                                  </a:rPr>
                                  <m:t>1</m:t>
                                </m:r>
                              </m:sub>
                            </m:sSub>
                            <m:r>
                              <a:rPr lang="en-US" altLang="es-MX" b="0" i="1" smtClean="0">
                                <a:solidFill>
                                  <a:srgbClr val="FFFFFF"/>
                                </a:solidFill>
                                <a:latin typeface="Cambria Math" panose="02040503050406030204" pitchFamily="18" charset="0"/>
                              </a:rPr>
                              <m:t>+</m:t>
                            </m:r>
                            <m:r>
                              <a:rPr lang="en-US" altLang="es-MX" b="0" i="1" smtClean="0">
                                <a:solidFill>
                                  <a:srgbClr val="FFFFFF"/>
                                </a:solidFill>
                                <a:latin typeface="Cambria Math" panose="02040503050406030204" pitchFamily="18" charset="0"/>
                              </a:rPr>
                              <m:t>𝑠</m:t>
                            </m:r>
                          </m:sub>
                        </m:sSub>
                        <m:r>
                          <a:rPr lang="en-US" altLang="es-MX" i="1">
                            <a:solidFill>
                              <a:srgbClr val="FFFFFF"/>
                            </a:solidFill>
                            <a:latin typeface="Cambria Math" panose="02040503050406030204" pitchFamily="18" charset="0"/>
                          </a:rPr>
                          <m:t>,</m:t>
                        </m:r>
                        <m:sSub>
                          <m:sSubPr>
                            <m:ctrlPr>
                              <a:rPr lang="en-US" altLang="es-MX" i="1">
                                <a:solidFill>
                                  <a:srgbClr val="FFFFFF"/>
                                </a:solidFill>
                                <a:latin typeface="Cambria Math" panose="02040503050406030204" pitchFamily="18" charset="0"/>
                              </a:rPr>
                            </m:ctrlPr>
                          </m:sSubPr>
                          <m:e>
                            <m:r>
                              <a:rPr lang="en-US" altLang="es-MX" i="1">
                                <a:solidFill>
                                  <a:srgbClr val="FFFFFF"/>
                                </a:solidFill>
                                <a:latin typeface="Cambria Math" panose="02040503050406030204" pitchFamily="18" charset="0"/>
                              </a:rPr>
                              <m:t>𝑌</m:t>
                            </m:r>
                          </m:e>
                          <m:sub>
                            <m:sSub>
                              <m:sSubPr>
                                <m:ctrlPr>
                                  <a:rPr lang="en-US" altLang="es-MX" i="1">
                                    <a:solidFill>
                                      <a:srgbClr val="FFFFFF"/>
                                    </a:solidFill>
                                    <a:latin typeface="Cambria Math" panose="02040503050406030204" pitchFamily="18" charset="0"/>
                                  </a:rPr>
                                </m:ctrlPr>
                              </m:sSubPr>
                              <m:e>
                                <m:r>
                                  <a:rPr lang="en-US" altLang="es-MX" i="1">
                                    <a:solidFill>
                                      <a:srgbClr val="FFFFFF"/>
                                    </a:solidFill>
                                    <a:latin typeface="Cambria Math" panose="02040503050406030204" pitchFamily="18" charset="0"/>
                                  </a:rPr>
                                  <m:t>𝑡</m:t>
                                </m:r>
                              </m:e>
                              <m:sub>
                                <m:r>
                                  <a:rPr lang="en-US" altLang="es-MX" i="1">
                                    <a:solidFill>
                                      <a:srgbClr val="FFFFFF"/>
                                    </a:solidFill>
                                    <a:latin typeface="Cambria Math" panose="02040503050406030204" pitchFamily="18" charset="0"/>
                                  </a:rPr>
                                  <m:t>2</m:t>
                                </m:r>
                              </m:sub>
                            </m:sSub>
                            <m:r>
                              <a:rPr lang="en-US" altLang="es-MX" b="0" i="1" smtClean="0">
                                <a:solidFill>
                                  <a:srgbClr val="FFFFFF"/>
                                </a:solidFill>
                                <a:latin typeface="Cambria Math" panose="02040503050406030204" pitchFamily="18" charset="0"/>
                              </a:rPr>
                              <m:t>+</m:t>
                            </m:r>
                            <m:r>
                              <a:rPr lang="en-US" altLang="es-MX" b="0" i="1" smtClean="0">
                                <a:solidFill>
                                  <a:srgbClr val="FFFFFF"/>
                                </a:solidFill>
                                <a:latin typeface="Cambria Math" panose="02040503050406030204" pitchFamily="18" charset="0"/>
                              </a:rPr>
                              <m:t>𝑠</m:t>
                            </m:r>
                          </m:sub>
                        </m:sSub>
                        <m:r>
                          <a:rPr lang="en-US" altLang="es-MX" i="1">
                            <a:solidFill>
                              <a:srgbClr val="FFFFFF"/>
                            </a:solidFill>
                            <a:latin typeface="Cambria Math" panose="02040503050406030204" pitchFamily="18" charset="0"/>
                          </a:rPr>
                          <m:t>,…,</m:t>
                        </m:r>
                        <m:sSub>
                          <m:sSubPr>
                            <m:ctrlPr>
                              <a:rPr lang="en-US" altLang="es-MX" i="1">
                                <a:solidFill>
                                  <a:srgbClr val="FFFFFF"/>
                                </a:solidFill>
                                <a:latin typeface="Cambria Math" panose="02040503050406030204" pitchFamily="18" charset="0"/>
                              </a:rPr>
                            </m:ctrlPr>
                          </m:sSubPr>
                          <m:e>
                            <m:r>
                              <a:rPr lang="en-US" altLang="es-MX" i="1">
                                <a:solidFill>
                                  <a:srgbClr val="FFFFFF"/>
                                </a:solidFill>
                                <a:latin typeface="Cambria Math" panose="02040503050406030204" pitchFamily="18" charset="0"/>
                              </a:rPr>
                              <m:t>𝑌</m:t>
                            </m:r>
                          </m:e>
                          <m:sub>
                            <m:sSub>
                              <m:sSubPr>
                                <m:ctrlPr>
                                  <a:rPr lang="en-US" altLang="es-MX" i="1">
                                    <a:solidFill>
                                      <a:srgbClr val="FFFFFF"/>
                                    </a:solidFill>
                                    <a:latin typeface="Cambria Math" panose="02040503050406030204" pitchFamily="18" charset="0"/>
                                  </a:rPr>
                                </m:ctrlPr>
                              </m:sSubPr>
                              <m:e>
                                <m:r>
                                  <a:rPr lang="en-US" altLang="es-MX" i="1">
                                    <a:solidFill>
                                      <a:srgbClr val="FFFFFF"/>
                                    </a:solidFill>
                                    <a:latin typeface="Cambria Math" panose="02040503050406030204" pitchFamily="18" charset="0"/>
                                  </a:rPr>
                                  <m:t>𝑡</m:t>
                                </m:r>
                              </m:e>
                              <m:sub>
                                <m:r>
                                  <a:rPr lang="en-US" altLang="es-MX" i="1">
                                    <a:solidFill>
                                      <a:srgbClr val="FFFFFF"/>
                                    </a:solidFill>
                                    <a:latin typeface="Cambria Math" panose="02040503050406030204" pitchFamily="18" charset="0"/>
                                  </a:rPr>
                                  <m:t>𝑛</m:t>
                                </m:r>
                              </m:sub>
                            </m:sSub>
                            <m:r>
                              <a:rPr lang="en-US" altLang="es-MX" b="0" i="1" smtClean="0">
                                <a:solidFill>
                                  <a:srgbClr val="FFFFFF"/>
                                </a:solidFill>
                                <a:latin typeface="Cambria Math" panose="02040503050406030204" pitchFamily="18" charset="0"/>
                              </a:rPr>
                              <m:t>+</m:t>
                            </m:r>
                            <m:r>
                              <a:rPr lang="en-US" altLang="es-MX" b="0" i="1" smtClean="0">
                                <a:solidFill>
                                  <a:srgbClr val="FFFFFF"/>
                                </a:solidFill>
                                <a:latin typeface="Cambria Math" panose="02040503050406030204" pitchFamily="18" charset="0"/>
                              </a:rPr>
                              <m:t>𝑠</m:t>
                            </m:r>
                          </m:sub>
                        </m:sSub>
                      </m:e>
                    </m:d>
                  </m:oMath>
                </a14:m>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tiene la misma función de distribución de probabilidad independientemente de para cualquier </a:t>
                </a:r>
                <a:r>
                  <a:rPr kumimoji="0" lang="es-MX" altLang="es-MX" sz="1800" b="1" i="0" u="none" strike="noStrike" kern="1200" cap="none" spc="0" normalizeH="0" baseline="0" noProof="0" dirty="0">
                    <a:ln>
                      <a:noFill/>
                    </a:ln>
                    <a:solidFill>
                      <a:srgbClr val="FFFFFF"/>
                    </a:solidFill>
                    <a:effectLst/>
                    <a:uLnTx/>
                    <a:uFillTx/>
                    <a:latin typeface="Calibri" panose="020F0502020204030204" pitchFamily="34" charset="0"/>
                    <a:ea typeface="+mn-ea"/>
                  </a:rPr>
                  <a:t>n</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dado.</a:t>
                </a:r>
              </a:p>
            </p:txBody>
          </p:sp>
        </mc:Choice>
        <mc:Fallback xmlns="">
          <p:sp>
            <p:nvSpPr>
              <p:cNvPr id="3" name="CuadroTexto 2">
                <a:extLst>
                  <a:ext uri="{FF2B5EF4-FFF2-40B4-BE49-F238E27FC236}">
                    <a16:creationId xmlns:a16="http://schemas.microsoft.com/office/drawing/2014/main" id="{E9B8B703-F4F6-DB3E-1203-51B7C053E4C4}"/>
                  </a:ext>
                </a:extLst>
              </p:cNvPr>
              <p:cNvSpPr txBox="1">
                <a:spLocks noRot="1" noChangeAspect="1" noMove="1" noResize="1" noEditPoints="1" noAdjustHandles="1" noChangeArrowheads="1" noChangeShapeType="1" noTextEdit="1"/>
              </p:cNvSpPr>
              <p:nvPr/>
            </p:nvSpPr>
            <p:spPr>
              <a:xfrm>
                <a:off x="417436" y="457199"/>
                <a:ext cx="7926048" cy="1011944"/>
              </a:xfrm>
              <a:prstGeom prst="rect">
                <a:avLst/>
              </a:prstGeom>
              <a:blipFill>
                <a:blip r:embed="rId4"/>
                <a:stretch>
                  <a:fillRect l="-615" t="-602" r="-615" b="-9036"/>
                </a:stretch>
              </a:blipFill>
            </p:spPr>
            <p:txBody>
              <a:bodyPr/>
              <a:lstStyle/>
              <a:p>
                <a:r>
                  <a:rPr lang="es-MX">
                    <a:noFill/>
                  </a:rPr>
                  <a:t> </a:t>
                </a:r>
              </a:p>
            </p:txBody>
          </p:sp>
        </mc:Fallback>
      </mc:AlternateContent>
      <p:sp>
        <p:nvSpPr>
          <p:cNvPr id="5" name="CuadroTexto 4">
            <a:extLst>
              <a:ext uri="{FF2B5EF4-FFF2-40B4-BE49-F238E27FC236}">
                <a16:creationId xmlns:a16="http://schemas.microsoft.com/office/drawing/2014/main" id="{76816DE8-AB44-11D3-0809-DF0CE0680210}"/>
              </a:ext>
            </a:extLst>
          </p:cNvPr>
          <p:cNvSpPr txBox="1"/>
          <p:nvPr/>
        </p:nvSpPr>
        <p:spPr>
          <a:xfrm>
            <a:off x="544436" y="162393"/>
            <a:ext cx="1652664" cy="369332"/>
          </a:xfrm>
          <a:prstGeom prst="rect">
            <a:avLst/>
          </a:prstGeom>
          <a:noFill/>
        </p:spPr>
        <p:txBody>
          <a:bodyPr wrap="square">
            <a:spAutoFit/>
          </a:bodyPr>
          <a:lstStyle/>
          <a:p>
            <a:pPr lvl="0" algn="just" fontAlgn="base">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n-US" altLang="es-MX" sz="1800" b="1" i="0" u="none" strike="noStrike" kern="1200" cap="none" spc="0" normalizeH="0" baseline="0" noProof="0" dirty="0">
                <a:ln>
                  <a:noFill/>
                </a:ln>
                <a:solidFill>
                  <a:srgbClr val="FF0000"/>
                </a:solidFill>
                <a:effectLst/>
                <a:uLnTx/>
                <a:uFillTx/>
                <a:latin typeface="Calibri" panose="020F0502020204030204" pitchFamily="34" charset="0"/>
                <a:ea typeface="+mn-ea"/>
              </a:rPr>
              <a:t>Forma </a:t>
            </a:r>
            <a:r>
              <a:rPr kumimoji="0" lang="en-US" altLang="es-MX" sz="1800" b="1" i="0" u="none" strike="noStrike" kern="1200" cap="none" spc="0" normalizeH="0" baseline="0" noProof="0" dirty="0" err="1">
                <a:ln>
                  <a:noFill/>
                </a:ln>
                <a:solidFill>
                  <a:srgbClr val="FF0000"/>
                </a:solidFill>
                <a:effectLst/>
                <a:uLnTx/>
                <a:uFillTx/>
                <a:latin typeface="Calibri" panose="020F0502020204030204" pitchFamily="34" charset="0"/>
                <a:ea typeface="+mn-ea"/>
              </a:rPr>
              <a:t>Estricta</a:t>
            </a:r>
            <a:r>
              <a:rPr kumimoji="0" lang="en-US" altLang="es-MX" sz="1800" b="1" i="0" u="none" strike="noStrike" kern="1200" cap="none" spc="0" normalizeH="0" baseline="0" noProof="0" dirty="0">
                <a:ln>
                  <a:noFill/>
                </a:ln>
                <a:solidFill>
                  <a:srgbClr val="FF0000"/>
                </a:solidFill>
                <a:effectLst/>
                <a:uLnTx/>
                <a:uFillTx/>
                <a:latin typeface="Calibri" panose="020F0502020204030204" pitchFamily="34" charset="0"/>
                <a:ea typeface="+mn-ea"/>
              </a:rPr>
              <a:t>.</a:t>
            </a:r>
            <a:endParaRPr kumimoji="0" lang="es-MX" altLang="es-MX" sz="1800" b="1" i="0" u="none" strike="noStrike" kern="1200" cap="none" spc="0" normalizeH="0" baseline="0" noProof="0" dirty="0">
              <a:ln>
                <a:noFill/>
              </a:ln>
              <a:solidFill>
                <a:srgbClr val="FF0000"/>
              </a:solidFill>
              <a:effectLst/>
              <a:uLnTx/>
              <a:uFillTx/>
              <a:latin typeface="Calibri" panose="020F0502020204030204" pitchFamily="34" charset="0"/>
              <a:ea typeface="+mn-ea"/>
            </a:endParaRPr>
          </a:p>
        </p:txBody>
      </p:sp>
      <p:sp>
        <p:nvSpPr>
          <p:cNvPr id="6" name="CuadroTexto 5">
            <a:extLst>
              <a:ext uri="{FF2B5EF4-FFF2-40B4-BE49-F238E27FC236}">
                <a16:creationId xmlns:a16="http://schemas.microsoft.com/office/drawing/2014/main" id="{ED3E607B-5133-C04F-FA6A-1DA2F855F185}"/>
              </a:ext>
            </a:extLst>
          </p:cNvPr>
          <p:cNvSpPr txBox="1"/>
          <p:nvPr/>
        </p:nvSpPr>
        <p:spPr>
          <a:xfrm>
            <a:off x="544436" y="1658417"/>
            <a:ext cx="1600616" cy="369332"/>
          </a:xfrm>
          <a:prstGeom prst="rect">
            <a:avLst/>
          </a:prstGeom>
          <a:noFill/>
        </p:spPr>
        <p:txBody>
          <a:bodyPr wrap="square">
            <a:spAutoFit/>
          </a:bodyPr>
          <a:lstStyle/>
          <a:p>
            <a:pPr lvl="0" fontAlgn="base">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n-US" altLang="es-MX" sz="1800" b="1" i="0" u="none" strike="noStrike" kern="1200" cap="none" spc="0" normalizeH="0" baseline="0" noProof="0" dirty="0">
                <a:ln>
                  <a:noFill/>
                </a:ln>
                <a:solidFill>
                  <a:srgbClr val="FF0000"/>
                </a:solidFill>
                <a:effectLst/>
                <a:uLnTx/>
                <a:uFillTx/>
                <a:latin typeface="Calibri" panose="020F0502020204030204" pitchFamily="34" charset="0"/>
                <a:ea typeface="+mn-ea"/>
              </a:rPr>
              <a:t>Forma </a:t>
            </a:r>
            <a:r>
              <a:rPr kumimoji="0" lang="en-US" altLang="es-MX" sz="1800" b="1" i="0" u="none" strike="noStrike" kern="1200" cap="none" spc="0" normalizeH="0" baseline="0" noProof="0" dirty="0" err="1">
                <a:ln>
                  <a:noFill/>
                </a:ln>
                <a:solidFill>
                  <a:srgbClr val="FF0000"/>
                </a:solidFill>
                <a:effectLst/>
                <a:uLnTx/>
                <a:uFillTx/>
                <a:latin typeface="Calibri" panose="020F0502020204030204" pitchFamily="34" charset="0"/>
                <a:ea typeface="+mn-ea"/>
              </a:rPr>
              <a:t>Debil</a:t>
            </a:r>
            <a:r>
              <a:rPr lang="en-US" altLang="es-MX" b="1" dirty="0">
                <a:solidFill>
                  <a:srgbClr val="FF0000"/>
                </a:solidFill>
                <a:latin typeface="Calibri" panose="020F0502020204030204" pitchFamily="34" charset="0"/>
              </a:rPr>
              <a:t>.</a:t>
            </a:r>
            <a:endParaRPr kumimoji="0" lang="es-MX" altLang="es-MX" sz="1800" b="1" i="0" u="none" strike="noStrike" kern="1200" cap="none" spc="0" normalizeH="0" baseline="0" noProof="0" dirty="0">
              <a:ln>
                <a:noFill/>
              </a:ln>
              <a:solidFill>
                <a:srgbClr val="FF0000"/>
              </a:solidFill>
              <a:effectLst/>
              <a:uLnTx/>
              <a:uFillTx/>
              <a:latin typeface="Calibri" panose="020F0502020204030204" pitchFamily="34" charset="0"/>
              <a:ea typeface="+mn-ea"/>
            </a:endParaRPr>
          </a:p>
        </p:txBody>
      </p:sp>
      <p:sp>
        <p:nvSpPr>
          <p:cNvPr id="11" name="Rectángulo: esquinas redondeadas 10">
            <a:extLst>
              <a:ext uri="{FF2B5EF4-FFF2-40B4-BE49-F238E27FC236}">
                <a16:creationId xmlns:a16="http://schemas.microsoft.com/office/drawing/2014/main" id="{E0B5156F-CDC7-9A7C-DC56-B710BF8FA9A5}"/>
              </a:ext>
            </a:extLst>
          </p:cNvPr>
          <p:cNvSpPr/>
          <p:nvPr/>
        </p:nvSpPr>
        <p:spPr bwMode="auto">
          <a:xfrm>
            <a:off x="8599562" y="827421"/>
            <a:ext cx="3251201" cy="2031324"/>
          </a:xfrm>
          <a:prstGeom prst="roundRect">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r>
              <a:rPr kumimoji="0" lang="en-US" sz="1800" b="0" i="0" u="none" strike="noStrike" cap="none" normalizeH="0" baseline="0" dirty="0">
                <a:ln>
                  <a:noFill/>
                </a:ln>
                <a:effectLst/>
                <a:latin typeface="Arial" panose="020B0604020202020204" pitchFamily="34" charset="0"/>
                <a:cs typeface="DejaVu Sans" charset="0"/>
              </a:rPr>
              <a:t>Nota:</a:t>
            </a:r>
          </a:p>
          <a:p>
            <a:pPr marL="285750" marR="0" indent="-285750" algn="l" defTabSz="914400" rtl="0" eaLnBrk="1" fontAlgn="base" latinLnBrk="0" hangingPunct="0">
              <a:lnSpc>
                <a:spcPct val="93000"/>
              </a:lnSpc>
              <a:spcBef>
                <a:spcPts val="13"/>
              </a:spcBef>
              <a:spcAft>
                <a:spcPts val="13"/>
              </a:spcAft>
              <a:buClr>
                <a:srgbClr val="000000"/>
              </a:buClr>
              <a:buSzPct val="100000"/>
              <a:buFontTx/>
              <a:buChar char="-"/>
              <a:tabLst/>
            </a:pPr>
            <a:r>
              <a:rPr lang="en-US" dirty="0">
                <a:latin typeface="Arial" panose="020B0604020202020204" pitchFamily="34" charset="0"/>
                <a:cs typeface="DejaVu Sans" charset="0"/>
              </a:rPr>
              <a:t>No </a:t>
            </a:r>
            <a:r>
              <a:rPr lang="en-US" dirty="0" err="1">
                <a:latin typeface="Arial" panose="020B0604020202020204" pitchFamily="34" charset="0"/>
                <a:cs typeface="DejaVu Sans" charset="0"/>
              </a:rPr>
              <a:t>tiene</a:t>
            </a:r>
            <a:r>
              <a:rPr lang="en-US" dirty="0">
                <a:latin typeface="Arial" panose="020B0604020202020204" pitchFamily="34" charset="0"/>
                <a:cs typeface="DejaVu Sans" charset="0"/>
              </a:rPr>
              <a:t> </a:t>
            </a:r>
            <a:r>
              <a:rPr lang="en-US" dirty="0" err="1">
                <a:latin typeface="Arial" panose="020B0604020202020204" pitchFamily="34" charset="0"/>
                <a:cs typeface="DejaVu Sans" charset="0"/>
              </a:rPr>
              <a:t>alteraciones</a:t>
            </a:r>
            <a:r>
              <a:rPr lang="en-US" dirty="0">
                <a:latin typeface="Arial" panose="020B0604020202020204" pitchFamily="34" charset="0"/>
                <a:cs typeface="DejaVu Sans" charset="0"/>
              </a:rPr>
              <a:t> </a:t>
            </a:r>
            <a:r>
              <a:rPr lang="en-US" dirty="0" err="1">
                <a:latin typeface="Arial" panose="020B0604020202020204" pitchFamily="34" charset="0"/>
                <a:cs typeface="DejaVu Sans" charset="0"/>
              </a:rPr>
              <a:t>en</a:t>
            </a:r>
            <a:r>
              <a:rPr lang="en-US" dirty="0">
                <a:latin typeface="Arial" panose="020B0604020202020204" pitchFamily="34" charset="0"/>
                <a:cs typeface="DejaVu Sans" charset="0"/>
              </a:rPr>
              <a:t> </a:t>
            </a:r>
            <a:r>
              <a:rPr lang="en-US" dirty="0" err="1">
                <a:latin typeface="Arial" panose="020B0604020202020204" pitchFamily="34" charset="0"/>
                <a:cs typeface="DejaVu Sans" charset="0"/>
              </a:rPr>
              <a:t>tiempos</a:t>
            </a:r>
            <a:r>
              <a:rPr lang="en-US" dirty="0">
                <a:latin typeface="Arial" panose="020B0604020202020204" pitchFamily="34" charset="0"/>
                <a:cs typeface="DejaVu Sans" charset="0"/>
              </a:rPr>
              <a:t> </a:t>
            </a:r>
            <a:r>
              <a:rPr lang="en-US" dirty="0" err="1">
                <a:latin typeface="Arial" panose="020B0604020202020204" pitchFamily="34" charset="0"/>
                <a:cs typeface="DejaVu Sans" charset="0"/>
              </a:rPr>
              <a:t>distintos</a:t>
            </a:r>
            <a:r>
              <a:rPr lang="en-US" dirty="0">
                <a:latin typeface="Arial" panose="020B0604020202020204" pitchFamily="34" charset="0"/>
                <a:cs typeface="DejaVu Sans" charset="0"/>
              </a:rPr>
              <a:t>.</a:t>
            </a:r>
          </a:p>
          <a:p>
            <a:pPr marL="285750" marR="0" indent="-285750" algn="l" defTabSz="914400" rtl="0" eaLnBrk="1" fontAlgn="base" latinLnBrk="0" hangingPunct="0">
              <a:lnSpc>
                <a:spcPct val="93000"/>
              </a:lnSpc>
              <a:spcBef>
                <a:spcPts val="13"/>
              </a:spcBef>
              <a:spcAft>
                <a:spcPts val="13"/>
              </a:spcAft>
              <a:buClr>
                <a:srgbClr val="000000"/>
              </a:buClr>
              <a:buSzPct val="100000"/>
              <a:buFontTx/>
              <a:buChar char="-"/>
              <a:tabLst/>
            </a:pPr>
            <a:endParaRPr kumimoji="0" lang="en-US" sz="1800" b="0" i="0" u="none" strike="noStrike" cap="none" normalizeH="0" baseline="0" dirty="0">
              <a:ln>
                <a:noFill/>
              </a:ln>
              <a:effectLst/>
              <a:latin typeface="Arial" panose="020B0604020202020204" pitchFamily="34" charset="0"/>
              <a:cs typeface="DejaVu Sans" charset="0"/>
            </a:endParaRPr>
          </a:p>
          <a:p>
            <a:pPr marL="285750" marR="0" indent="-285750" algn="l" defTabSz="914400" rtl="0" eaLnBrk="1" fontAlgn="base" latinLnBrk="0" hangingPunct="0">
              <a:lnSpc>
                <a:spcPct val="93000"/>
              </a:lnSpc>
              <a:spcBef>
                <a:spcPts val="13"/>
              </a:spcBef>
              <a:spcAft>
                <a:spcPts val="13"/>
              </a:spcAft>
              <a:buClr>
                <a:srgbClr val="000000"/>
              </a:buClr>
              <a:buSzPct val="100000"/>
              <a:buFontTx/>
              <a:buChar char="-"/>
              <a:tabLst/>
            </a:pPr>
            <a:r>
              <a:rPr lang="en-US" dirty="0">
                <a:latin typeface="Arial" panose="020B0604020202020204" pitchFamily="34" charset="0"/>
                <a:cs typeface="DejaVu Sans" charset="0"/>
              </a:rPr>
              <a:t>Si la function es Normal, </a:t>
            </a:r>
            <a:r>
              <a:rPr lang="en-US" dirty="0" err="1">
                <a:latin typeface="Arial" panose="020B0604020202020204" pitchFamily="34" charset="0"/>
                <a:cs typeface="DejaVu Sans" charset="0"/>
              </a:rPr>
              <a:t>entonces</a:t>
            </a:r>
            <a:r>
              <a:rPr lang="en-US" dirty="0">
                <a:latin typeface="Arial" panose="020B0604020202020204" pitchFamily="34" charset="0"/>
                <a:cs typeface="DejaVu Sans" charset="0"/>
              </a:rPr>
              <a:t>; </a:t>
            </a:r>
            <a:r>
              <a:rPr lang="en-US" dirty="0" err="1">
                <a:latin typeface="Arial" panose="020B0604020202020204" pitchFamily="34" charset="0"/>
                <a:cs typeface="DejaVu Sans" charset="0"/>
              </a:rPr>
              <a:t>estacionalidad</a:t>
            </a:r>
            <a:r>
              <a:rPr lang="en-US" dirty="0">
                <a:latin typeface="Arial" panose="020B0604020202020204" pitchFamily="34" charset="0"/>
                <a:cs typeface="DejaVu Sans" charset="0"/>
              </a:rPr>
              <a:t> </a:t>
            </a:r>
            <a:r>
              <a:rPr lang="en-US" dirty="0" err="1">
                <a:latin typeface="Arial" panose="020B0604020202020204" pitchFamily="34" charset="0"/>
                <a:cs typeface="DejaVu Sans" charset="0"/>
              </a:rPr>
              <a:t>amplia</a:t>
            </a:r>
            <a:r>
              <a:rPr lang="en-US" dirty="0">
                <a:latin typeface="Arial" panose="020B0604020202020204" pitchFamily="34" charset="0"/>
                <a:cs typeface="DejaVu Sans" charset="0"/>
              </a:rPr>
              <a:t> </a:t>
            </a:r>
            <a:r>
              <a:rPr lang="en-US" dirty="0" err="1">
                <a:latin typeface="Arial" panose="020B0604020202020204" pitchFamily="34" charset="0"/>
                <a:cs typeface="DejaVu Sans" charset="0"/>
              </a:rPr>
              <a:t>implica</a:t>
            </a:r>
            <a:r>
              <a:rPr lang="en-US" dirty="0">
                <a:latin typeface="Arial" panose="020B0604020202020204" pitchFamily="34" charset="0"/>
                <a:cs typeface="DejaVu Sans" charset="0"/>
              </a:rPr>
              <a:t> la </a:t>
            </a:r>
            <a:r>
              <a:rPr lang="en-US" dirty="0" err="1">
                <a:latin typeface="Arial" panose="020B0604020202020204" pitchFamily="34" charset="0"/>
                <a:cs typeface="DejaVu Sans" charset="0"/>
              </a:rPr>
              <a:t>estricta</a:t>
            </a:r>
            <a:endParaRPr kumimoji="0" lang="es-MX" sz="1800" b="0" i="0" u="none" strike="noStrike" cap="none" normalizeH="0" baseline="0" dirty="0">
              <a:ln>
                <a:noFill/>
              </a:ln>
              <a:effectLst/>
              <a:latin typeface="Arial" panose="020B0604020202020204" pitchFamily="34" charset="0"/>
              <a:cs typeface="DejaVu Sans" charset="0"/>
            </a:endParaRPr>
          </a:p>
        </p:txBody>
      </p:sp>
      <p:sp>
        <p:nvSpPr>
          <p:cNvPr id="12" name="Rectángulo: esquinas redondeadas 11">
            <a:extLst>
              <a:ext uri="{FF2B5EF4-FFF2-40B4-BE49-F238E27FC236}">
                <a16:creationId xmlns:a16="http://schemas.microsoft.com/office/drawing/2014/main" id="{2AB71D36-C62F-8DBF-C585-5773B6C3161A}"/>
              </a:ext>
            </a:extLst>
          </p:cNvPr>
          <p:cNvSpPr/>
          <p:nvPr/>
        </p:nvSpPr>
        <p:spPr bwMode="auto">
          <a:xfrm>
            <a:off x="417436" y="3165173"/>
            <a:ext cx="3715582" cy="1277305"/>
          </a:xfrm>
          <a:prstGeom prst="roundRect">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r>
              <a:rPr kumimoji="0" lang="en-US" sz="1800" b="0" i="0" u="none" strike="noStrike" cap="none" normalizeH="0" baseline="0" dirty="0">
                <a:ln>
                  <a:noFill/>
                </a:ln>
                <a:effectLst/>
                <a:latin typeface="Arial" panose="020B0604020202020204" pitchFamily="34" charset="0"/>
                <a:cs typeface="DejaVu Sans" charset="0"/>
              </a:rPr>
              <a:t>Nota:</a:t>
            </a:r>
          </a:p>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r>
              <a:rPr lang="en-US" dirty="0">
                <a:latin typeface="Arial" panose="020B0604020202020204" pitchFamily="34" charset="0"/>
                <a:cs typeface="DejaVu Sans" charset="0"/>
              </a:rPr>
              <a:t>En </a:t>
            </a:r>
            <a:r>
              <a:rPr lang="en-US" dirty="0" err="1">
                <a:latin typeface="Arial" panose="020B0604020202020204" pitchFamily="34" charset="0"/>
                <a:cs typeface="DejaVu Sans" charset="0"/>
              </a:rPr>
              <a:t>el</a:t>
            </a:r>
            <a:r>
              <a:rPr lang="en-US" dirty="0">
                <a:latin typeface="Arial" panose="020B0604020202020204" pitchFamily="34" charset="0"/>
                <a:cs typeface="DejaVu Sans" charset="0"/>
              </a:rPr>
              <a:t> plan de que la media y </a:t>
            </a:r>
            <a:r>
              <a:rPr lang="en-US" dirty="0" err="1">
                <a:latin typeface="Arial" panose="020B0604020202020204" pitchFamily="34" charset="0"/>
                <a:cs typeface="DejaVu Sans" charset="0"/>
              </a:rPr>
              <a:t>autocovarianza</a:t>
            </a:r>
            <a:r>
              <a:rPr lang="en-US" dirty="0">
                <a:latin typeface="Arial" panose="020B0604020202020204" pitchFamily="34" charset="0"/>
                <a:cs typeface="DejaVu Sans" charset="0"/>
              </a:rPr>
              <a:t> </a:t>
            </a:r>
            <a:r>
              <a:rPr lang="en-US" dirty="0" err="1">
                <a:latin typeface="Arial" panose="020B0604020202020204" pitchFamily="34" charset="0"/>
                <a:cs typeface="DejaVu Sans" charset="0"/>
              </a:rPr>
              <a:t>esta</a:t>
            </a:r>
            <a:r>
              <a:rPr lang="en-US" dirty="0">
                <a:latin typeface="Arial" panose="020B0604020202020204" pitchFamily="34" charset="0"/>
                <a:cs typeface="DejaVu Sans" charset="0"/>
              </a:rPr>
              <a:t> </a:t>
            </a:r>
            <a:r>
              <a:rPr lang="en-US" dirty="0" err="1">
                <a:latin typeface="Arial" panose="020B0604020202020204" pitchFamily="34" charset="0"/>
                <a:cs typeface="DejaVu Sans" charset="0"/>
              </a:rPr>
              <a:t>en</a:t>
            </a:r>
            <a:r>
              <a:rPr lang="en-US" dirty="0">
                <a:latin typeface="Arial" panose="020B0604020202020204" pitchFamily="34" charset="0"/>
                <a:cs typeface="DejaVu Sans" charset="0"/>
              </a:rPr>
              <a:t> </a:t>
            </a:r>
            <a:r>
              <a:rPr lang="en-US" dirty="0" err="1">
                <a:latin typeface="Arial" panose="020B0604020202020204" pitchFamily="34" charset="0"/>
                <a:cs typeface="DejaVu Sans" charset="0"/>
              </a:rPr>
              <a:t>funcion</a:t>
            </a:r>
            <a:r>
              <a:rPr lang="en-US" dirty="0">
                <a:latin typeface="Arial" panose="020B0604020202020204" pitchFamily="34" charset="0"/>
                <a:cs typeface="DejaVu Sans" charset="0"/>
              </a:rPr>
              <a:t> del </a:t>
            </a:r>
            <a:r>
              <a:rPr lang="en-US" dirty="0" err="1">
                <a:latin typeface="Arial" panose="020B0604020202020204" pitchFamily="34" charset="0"/>
                <a:cs typeface="DejaVu Sans" charset="0"/>
              </a:rPr>
              <a:t>lapso</a:t>
            </a:r>
            <a:r>
              <a:rPr lang="en-US" dirty="0">
                <a:latin typeface="Arial" panose="020B0604020202020204" pitchFamily="34" charset="0"/>
                <a:cs typeface="DejaVu Sans" charset="0"/>
              </a:rPr>
              <a:t> temporal </a:t>
            </a:r>
            <a:r>
              <a:rPr lang="en-US" dirty="0" err="1">
                <a:latin typeface="Arial" panose="020B0604020202020204" pitchFamily="34" charset="0"/>
                <a:cs typeface="DejaVu Sans" charset="0"/>
              </a:rPr>
              <a:t>considerar</a:t>
            </a:r>
            <a:r>
              <a:rPr lang="en-US" dirty="0">
                <a:latin typeface="Arial" panose="020B0604020202020204" pitchFamily="34" charset="0"/>
                <a:cs typeface="DejaVu Sans" charset="0"/>
              </a:rPr>
              <a:t>.</a:t>
            </a:r>
            <a:endParaRPr kumimoji="0" lang="en-US" sz="1800" b="0" i="0" u="none" strike="noStrike" cap="none" normalizeH="0" baseline="0" dirty="0">
              <a:ln>
                <a:noFill/>
              </a:ln>
              <a:effectLst/>
              <a:latin typeface="Arial" panose="020B0604020202020204" pitchFamily="34" charset="0"/>
              <a:cs typeface="DejaVu Sans" charset="0"/>
            </a:endParaRPr>
          </a:p>
        </p:txBody>
      </p:sp>
      <p:pic>
        <p:nvPicPr>
          <p:cNvPr id="2050" name="Picture 2" descr="Estacionalidad de Ventas | Cursos de comercio">
            <a:extLst>
              <a:ext uri="{FF2B5EF4-FFF2-40B4-BE49-F238E27FC236}">
                <a16:creationId xmlns:a16="http://schemas.microsoft.com/office/drawing/2014/main" id="{919177AB-EE79-CF2F-6564-9A43620D05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3404" y="3165173"/>
            <a:ext cx="5110391" cy="2268527"/>
          </a:xfrm>
          <a:prstGeom prst="rect">
            <a:avLst/>
          </a:prstGeom>
          <a:noFill/>
          <a:extLst>
            <a:ext uri="{909E8E84-426E-40DD-AFC4-6F175D3DCCD1}">
              <a14:hiddenFill xmlns:a14="http://schemas.microsoft.com/office/drawing/2010/main">
                <a:solidFill>
                  <a:srgbClr val="FFFFFF"/>
                </a:solidFill>
              </a14:hiddenFill>
            </a:ext>
          </a:extLst>
        </p:spPr>
      </p:pic>
      <p:sp>
        <p:nvSpPr>
          <p:cNvPr id="16" name="Text Box 2">
            <a:extLst>
              <a:ext uri="{FF2B5EF4-FFF2-40B4-BE49-F238E27FC236}">
                <a16:creationId xmlns:a16="http://schemas.microsoft.com/office/drawing/2014/main" id="{568468ED-FE1B-2B1B-E7E9-929BB892979F}"/>
              </a:ext>
            </a:extLst>
          </p:cNvPr>
          <p:cNvSpPr txBox="1">
            <a:spLocks noChangeArrowheads="1"/>
          </p:cNvSpPr>
          <p:nvPr/>
        </p:nvSpPr>
        <p:spPr bwMode="auto">
          <a:xfrm>
            <a:off x="583368" y="5513431"/>
            <a:ext cx="11025264" cy="8873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9pPr>
          </a:lstStyle>
          <a:p>
            <a:pPr marL="0" marR="0" lvl="0" indent="0"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Como es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dificil</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el</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encontrar</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la function de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distribucion</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de la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serie</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de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tiempo</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solo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nos</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queda</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la version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amplia</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y para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detectar</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la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estacionalidad</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tanto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en</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tendencia</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como</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variacion</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1" u="none" strike="noStrike" kern="1200" cap="none" spc="0" normalizeH="0" baseline="0" noProof="0" dirty="0">
                <a:ln>
                  <a:noFill/>
                </a:ln>
                <a:solidFill>
                  <a:srgbClr val="FFFFFF"/>
                </a:solidFill>
                <a:effectLst/>
                <a:uLnTx/>
                <a:uFillTx/>
                <a:latin typeface="Calibri" panose="020F0502020204030204" pitchFamily="34" charset="0"/>
                <a:ea typeface="+mn-ea"/>
              </a:rPr>
              <a:t>(</a:t>
            </a:r>
            <a:r>
              <a:rPr kumimoji="0" lang="en-US" altLang="es-MX" b="0" i="1" u="none" strike="noStrike" kern="1200" cap="none" spc="0" normalizeH="0" baseline="0" noProof="0" dirty="0" err="1">
                <a:ln>
                  <a:noFill/>
                </a:ln>
                <a:solidFill>
                  <a:srgbClr val="FFFFFF"/>
                </a:solidFill>
                <a:effectLst/>
                <a:uLnTx/>
                <a:uFillTx/>
                <a:latin typeface="Calibri" panose="020F0502020204030204" pitchFamily="34" charset="0"/>
                <a:ea typeface="+mn-ea"/>
              </a:rPr>
              <a:t>en</a:t>
            </a:r>
            <a:r>
              <a:rPr kumimoji="0" lang="en-US" altLang="es-MX" b="0" i="1" u="none" strike="noStrike" kern="1200" cap="none" spc="0" normalizeH="0" baseline="0" noProof="0" dirty="0">
                <a:ln>
                  <a:noFill/>
                </a:ln>
                <a:solidFill>
                  <a:srgbClr val="FFFFFF"/>
                </a:solidFill>
                <a:effectLst/>
                <a:uLnTx/>
                <a:uFillTx/>
                <a:latin typeface="Calibri" panose="020F0502020204030204" pitchFamily="34" charset="0"/>
                <a:ea typeface="+mn-ea"/>
              </a:rPr>
              <a:t> general)</a:t>
            </a:r>
            <a:r>
              <a:rPr lang="en-US" altLang="es-MX" dirty="0">
                <a:solidFill>
                  <a:srgbClr val="FFFFFF"/>
                </a:solidFill>
                <a:latin typeface="Calibri" panose="020F0502020204030204" pitchFamily="34" charset="0"/>
              </a:rPr>
              <a:t>; lo </a:t>
            </a:r>
            <a:r>
              <a:rPr lang="en-US" altLang="es-MX" dirty="0" err="1">
                <a:solidFill>
                  <a:srgbClr val="FFFFFF"/>
                </a:solidFill>
                <a:latin typeface="Calibri" panose="020F0502020204030204" pitchFamily="34" charset="0"/>
              </a:rPr>
              <a:t>haremos</a:t>
            </a:r>
            <a:r>
              <a:rPr lang="en-US" altLang="es-MX" dirty="0">
                <a:solidFill>
                  <a:srgbClr val="FFFFFF"/>
                </a:solidFill>
                <a:latin typeface="Calibri" panose="020F0502020204030204" pitchFamily="34" charset="0"/>
              </a:rPr>
              <a:t> </a:t>
            </a:r>
            <a:r>
              <a:rPr lang="en-US" altLang="es-MX" dirty="0" err="1">
                <a:solidFill>
                  <a:srgbClr val="FFFFFF"/>
                </a:solidFill>
                <a:latin typeface="Calibri" panose="020F0502020204030204" pitchFamily="34" charset="0"/>
              </a:rPr>
              <a:t>por</a:t>
            </a:r>
            <a:r>
              <a:rPr lang="en-US" altLang="es-MX" dirty="0">
                <a:solidFill>
                  <a:srgbClr val="FFFFFF"/>
                </a:solidFill>
                <a:latin typeface="Calibri" panose="020F0502020204030204" pitchFamily="34" charset="0"/>
              </a:rPr>
              <a:t> medio de </a:t>
            </a:r>
            <a:r>
              <a:rPr lang="en-US" altLang="es-MX" dirty="0" err="1">
                <a:solidFill>
                  <a:srgbClr val="FFFFFF"/>
                </a:solidFill>
                <a:latin typeface="Calibri" panose="020F0502020204030204" pitchFamily="34" charset="0"/>
              </a:rPr>
              <a:t>graficas</a:t>
            </a:r>
            <a:r>
              <a:rPr lang="en-US" altLang="es-MX" dirty="0">
                <a:solidFill>
                  <a:srgbClr val="FFFFFF"/>
                </a:solidFill>
                <a:latin typeface="Calibri" panose="020F0502020204030204" pitchFamily="34" charset="0"/>
              </a:rPr>
              <a:t>…</a:t>
            </a:r>
            <a:endPar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lipse 19">
            <a:extLst>
              <a:ext uri="{FF2B5EF4-FFF2-40B4-BE49-F238E27FC236}">
                <a16:creationId xmlns:a16="http://schemas.microsoft.com/office/drawing/2014/main" id="{D56C2356-D5D8-9480-ADAB-E2017AC7487E}"/>
              </a:ext>
            </a:extLst>
          </p:cNvPr>
          <p:cNvSpPr/>
          <p:nvPr/>
        </p:nvSpPr>
        <p:spPr bwMode="auto">
          <a:xfrm>
            <a:off x="7818829" y="905555"/>
            <a:ext cx="4479931" cy="1494745"/>
          </a:xfrm>
          <a:prstGeom prst="ellips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endParaRPr kumimoji="0" lang="es-MX" sz="1800" b="0" i="0" u="none" strike="noStrike" cap="none" normalizeH="0" baseline="0">
              <a:ln>
                <a:noFill/>
              </a:ln>
              <a:effectLst/>
              <a:latin typeface="Arial" panose="020B0604020202020204" pitchFamily="34" charset="0"/>
              <a:cs typeface="DejaVu Sans" charset="0"/>
            </a:endParaRPr>
          </a:p>
        </p:txBody>
      </p:sp>
      <p:sp>
        <p:nvSpPr>
          <p:cNvPr id="20481" name="Rectangle 1">
            <a:extLst>
              <a:ext uri="{FF2B5EF4-FFF2-40B4-BE49-F238E27FC236}">
                <a16:creationId xmlns:a16="http://schemas.microsoft.com/office/drawing/2014/main" id="{80033A30-3645-5D1B-8A20-5865648B33D4}"/>
              </a:ext>
            </a:extLst>
          </p:cNvPr>
          <p:cNvSpPr>
            <a:spLocks noGrp="1" noChangeArrowheads="1"/>
          </p:cNvSpPr>
          <p:nvPr>
            <p:ph type="title"/>
          </p:nvPr>
        </p:nvSpPr>
        <p:spPr>
          <a:xfrm>
            <a:off x="424656" y="69515"/>
            <a:ext cx="11342688" cy="847725"/>
          </a:xfrm>
          <a:ln/>
        </p:spPr>
        <p:txBody>
          <a:bodyPr/>
          <a:lstStyle/>
          <a:p>
            <a:pPr algn="ct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solidFill>
                <a:latin typeface="Calibri Light" panose="020F0302020204030204" pitchFamily="34" charset="0"/>
              </a:rPr>
              <a:t>Función de Autocorrelación </a:t>
            </a:r>
            <a:r>
              <a:rPr lang="es-MX" altLang="es-MX" sz="3600" i="1" dirty="0">
                <a:solidFill>
                  <a:schemeClr val="accent1"/>
                </a:solidFill>
                <a:latin typeface="Calibri Light" panose="020F0302020204030204" pitchFamily="34" charset="0"/>
              </a:rPr>
              <a:t>(FAC)</a:t>
            </a:r>
            <a:r>
              <a:rPr lang="es-MX" altLang="es-MX" sz="3600" dirty="0">
                <a:solidFill>
                  <a:schemeClr val="accent1"/>
                </a:solidFill>
                <a:latin typeface="Calibri Light" panose="020F0302020204030204" pitchFamily="34" charset="0"/>
              </a:rPr>
              <a:t> en procesos estacionarios</a:t>
            </a:r>
          </a:p>
        </p:txBody>
      </p:sp>
      <mc:AlternateContent xmlns:mc="http://schemas.openxmlformats.org/markup-compatibility/2006" xmlns:a14="http://schemas.microsoft.com/office/drawing/2010/main">
        <mc:Choice Requires="a14">
          <p:sp>
            <p:nvSpPr>
              <p:cNvPr id="20482" name="Text Box 2">
                <a:extLst>
                  <a:ext uri="{FF2B5EF4-FFF2-40B4-BE49-F238E27FC236}">
                    <a16:creationId xmlns:a16="http://schemas.microsoft.com/office/drawing/2014/main" id="{DE7346E3-EDAB-A020-CD87-E8461F7D6A9E}"/>
                  </a:ext>
                </a:extLst>
              </p:cNvPr>
              <p:cNvSpPr txBox="1">
                <a:spLocks noChangeArrowheads="1"/>
              </p:cNvSpPr>
              <p:nvPr/>
            </p:nvSpPr>
            <p:spPr bwMode="auto">
              <a:xfrm>
                <a:off x="422673" y="2348873"/>
                <a:ext cx="9661127" cy="621075"/>
              </a:xfrm>
              <a:prstGeom prst="rect">
                <a:avLst/>
              </a:prstGeom>
              <a:noFill/>
              <a:ln>
                <a:noFill/>
              </a:ln>
              <a:effectLst/>
              <a:extLst>
                <a:ext uri="{909E8E84-426E-40DD-AFC4-6F175D3DCCD1}">
                  <a14:hiddenFill>
                    <a:solidFill>
                      <a:srgbClr val="FFFFFF"/>
                    </a:solidFill>
                  </a14:hiddenFill>
                </a:ext>
                <a:ext uri="{91240B29-F687-4F45-9708-019B960494DF}">
                  <a14:hiddenLine w="9525" cap="flat">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nchor="ctr"/>
              <a:lstStyle>
                <a:lvl1pPr marL="2857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9pPr>
              </a:lstStyle>
              <a:p>
                <a:pPr marL="285750" marR="0" lvl="0" indent="-285750" algn="just" defTabSz="914400" rtl="0" eaLnBrk="1" fontAlgn="base" latinLnBrk="0" hangingPunct="1">
                  <a:lnSpc>
                    <a:spcPct val="100000"/>
                  </a:lnSpc>
                  <a:spcBef>
                    <a:spcPts val="13"/>
                  </a:spcBef>
                  <a:spcAft>
                    <a:spcPts val="1013"/>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rPr>
                  <a:t>La representación gráfica con</a:t>
                </a:r>
                <a:r>
                  <a:rPr kumimoji="0" lang="es-MX" altLang="es-MX" b="0" i="0" u="none" strike="noStrike" kern="1200" cap="none" spc="0" normalizeH="0" noProof="0" dirty="0">
                    <a:ln>
                      <a:noFill/>
                    </a:ln>
                    <a:solidFill>
                      <a:srgbClr val="FFFFFF"/>
                    </a:solidFill>
                    <a:effectLst/>
                    <a:uLnTx/>
                    <a:uFillTx/>
                    <a:latin typeface="Calibri" panose="020F0502020204030204" pitchFamily="34" charset="0"/>
                  </a:rPr>
                  <a:t> </a:t>
                </a:r>
                <a14:m>
                  <m:oMath xmlns:m="http://schemas.openxmlformats.org/officeDocument/2006/math">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h</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𝑘</m:t>
                        </m:r>
                      </m:sub>
                    </m:sSub>
                    <m:r>
                      <a:rPr kumimoji="0" lang="en-US" altLang="es-MX" b="0" i="0" u="none" strike="noStrike" kern="1200" cap="none" spc="0" normalizeH="0" baseline="0" noProof="0" smtClean="0">
                        <a:ln>
                          <a:noFill/>
                        </a:ln>
                        <a:solidFill>
                          <a:srgbClr val="FFFFFF"/>
                        </a:solidFill>
                        <a:effectLst/>
                        <a:uLnTx/>
                        <a:uFillTx/>
                        <a:latin typeface="Cambria Math" panose="02040503050406030204" pitchFamily="18" charset="0"/>
                      </a:rPr>
                      <m:t> </m:t>
                    </m:r>
                  </m:oMath>
                </a14:m>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rPr>
                  <a:t>en ordenadas y en abscisas se denomina </a:t>
                </a:r>
                <a:r>
                  <a:rPr kumimoji="0" lang="es-MX" altLang="es-MX" b="1" i="1" u="none" strike="noStrike" kern="1200" cap="none" spc="0" normalizeH="0" baseline="0" noProof="0" dirty="0" err="1">
                    <a:ln>
                      <a:noFill/>
                    </a:ln>
                    <a:solidFill>
                      <a:srgbClr val="FFFFFF"/>
                    </a:solidFill>
                    <a:effectLst/>
                    <a:uLnTx/>
                    <a:uFillTx/>
                    <a:latin typeface="Calibri" panose="020F0502020204030204" pitchFamily="34" charset="0"/>
                  </a:rPr>
                  <a:t>correlograma</a:t>
                </a:r>
                <a:r>
                  <a:rPr kumimoji="0" lang="es-MX" altLang="es-MX" b="1" i="1" u="none" strike="noStrike" kern="1200" cap="none" spc="0" normalizeH="0" baseline="0" noProof="0" dirty="0">
                    <a:ln>
                      <a:noFill/>
                    </a:ln>
                    <a:solidFill>
                      <a:srgbClr val="FFFFFF"/>
                    </a:solidFill>
                    <a:effectLst/>
                    <a:uLnTx/>
                    <a:uFillTx/>
                    <a:latin typeface="Calibri" panose="020F0502020204030204" pitchFamily="34" charset="0"/>
                  </a:rPr>
                  <a:t> del proceso</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rPr>
                  <a:t>.</a:t>
                </a:r>
              </a:p>
            </p:txBody>
          </p:sp>
        </mc:Choice>
        <mc:Fallback xmlns="">
          <p:sp>
            <p:nvSpPr>
              <p:cNvPr id="20482" name="Text Box 2">
                <a:extLst>
                  <a:ext uri="{FF2B5EF4-FFF2-40B4-BE49-F238E27FC236}">
                    <a16:creationId xmlns:a16="http://schemas.microsoft.com/office/drawing/2014/main" id="{DE7346E3-EDAB-A020-CD87-E8461F7D6A9E}"/>
                  </a:ext>
                </a:extLst>
              </p:cNvPr>
              <p:cNvSpPr txBox="1">
                <a:spLocks noRot="1" noChangeAspect="1" noMove="1" noResize="1" noEditPoints="1" noAdjustHandles="1" noChangeArrowheads="1" noChangeShapeType="1" noTextEdit="1"/>
              </p:cNvSpPr>
              <p:nvPr/>
            </p:nvSpPr>
            <p:spPr bwMode="auto">
              <a:xfrm>
                <a:off x="422673" y="2348873"/>
                <a:ext cx="9661127" cy="621075"/>
              </a:xfrm>
              <a:prstGeom prst="rect">
                <a:avLst/>
              </a:prstGeom>
              <a:blipFill>
                <a:blip r:embed="rId3"/>
                <a:stretch>
                  <a:fillRect l="-505"/>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428AA718-C6DC-178F-B5CD-2809E498A322}"/>
                  </a:ext>
                </a:extLst>
              </p:cNvPr>
              <p:cNvSpPr txBox="1"/>
              <p:nvPr/>
            </p:nvSpPr>
            <p:spPr>
              <a:xfrm>
                <a:off x="801685" y="1019743"/>
                <a:ext cx="4597400" cy="6038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h</m:t>
                          </m:r>
                        </m:e>
                        <m:sub>
                          <m:r>
                            <a:rPr lang="en-US" b="0" i="1" smtClean="0">
                              <a:solidFill>
                                <a:schemeClr val="bg1"/>
                              </a:solidFill>
                              <a:latin typeface="Cambria Math" panose="02040503050406030204" pitchFamily="18" charset="0"/>
                            </a:rPr>
                            <m:t>𝑘</m:t>
                          </m:r>
                        </m:sub>
                      </m:sSub>
                      <m:r>
                        <a:rPr lang="en-US" b="0" i="1" smtClean="0">
                          <a:solidFill>
                            <a:schemeClr val="bg1"/>
                          </a:solidFill>
                          <a:latin typeface="Cambria Math" panose="02040503050406030204" pitchFamily="18" charset="0"/>
                        </a:rPr>
                        <m:t>= </m:t>
                      </m:r>
                      <m:f>
                        <m:fPr>
                          <m:ctrlPr>
                            <a:rPr lang="en-US" b="0" i="1" smtClean="0">
                              <a:solidFill>
                                <a:schemeClr val="bg1"/>
                              </a:solidFill>
                              <a:latin typeface="Cambria Math" panose="02040503050406030204" pitchFamily="18" charset="0"/>
                            </a:rPr>
                          </m:ctrlPr>
                        </m:fPr>
                        <m:num>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𝑔</m:t>
                              </m:r>
                            </m:e>
                            <m:sub>
                              <m:r>
                                <a:rPr lang="en-US" b="0" i="1" smtClean="0">
                                  <a:solidFill>
                                    <a:schemeClr val="bg1"/>
                                  </a:solidFill>
                                  <a:latin typeface="Cambria Math" panose="02040503050406030204" pitchFamily="18" charset="0"/>
                                </a:rPr>
                                <m:t>𝑘</m:t>
                              </m:r>
                            </m:sub>
                          </m:sSub>
                        </m:num>
                        <m:den>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𝑔</m:t>
                              </m:r>
                            </m:e>
                            <m:sub>
                              <m:r>
                                <a:rPr lang="en-US" b="0" i="1" smtClean="0">
                                  <a:solidFill>
                                    <a:schemeClr val="bg1"/>
                                  </a:solidFill>
                                  <a:latin typeface="Cambria Math" panose="02040503050406030204" pitchFamily="18" charset="0"/>
                                </a:rPr>
                                <m:t>0</m:t>
                              </m:r>
                            </m:sub>
                          </m:sSub>
                        </m:den>
                      </m:f>
                      <m:r>
                        <a:rPr lang="en-US" b="0" i="1" smtClean="0">
                          <a:solidFill>
                            <a:schemeClr val="bg1"/>
                          </a:solidFill>
                          <a:latin typeface="Cambria Math" panose="02040503050406030204" pitchFamily="18" charset="0"/>
                        </a:rPr>
                        <m:t>= </m:t>
                      </m: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𝐶𝑜𝑣</m:t>
                          </m:r>
                          <m:d>
                            <m:dPr>
                              <m:ctrlPr>
                                <a:rPr lang="en-US" b="0" i="1" smtClean="0">
                                  <a:solidFill>
                                    <a:schemeClr val="bg1"/>
                                  </a:solidFill>
                                  <a:latin typeface="Cambria Math" panose="02040503050406030204" pitchFamily="18" charset="0"/>
                                </a:rPr>
                              </m:ctrlPr>
                            </m:dP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𝑌</m:t>
                                  </m:r>
                                </m:e>
                                <m:sub>
                                  <m:r>
                                    <a:rPr lang="en-US" b="0" i="1" smtClean="0">
                                      <a:solidFill>
                                        <a:schemeClr val="bg1"/>
                                      </a:solidFill>
                                      <a:latin typeface="Cambria Math" panose="02040503050406030204" pitchFamily="18" charset="0"/>
                                    </a:rPr>
                                    <m:t>𝑡</m:t>
                                  </m:r>
                                </m:sub>
                              </m:sSub>
                              <m:r>
                                <a:rPr lang="en-US" b="0" i="1" smtClean="0">
                                  <a:solidFill>
                                    <a:schemeClr val="bg1"/>
                                  </a:solidFill>
                                  <a:latin typeface="Cambria Math" panose="02040503050406030204" pitchFamily="18" charset="0"/>
                                </a:rPr>
                                <m:t>, </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𝑌</m:t>
                                  </m:r>
                                </m:e>
                                <m:sub>
                                  <m:r>
                                    <a:rPr lang="en-US" b="0" i="1" smtClean="0">
                                      <a:solidFill>
                                        <a:schemeClr val="bg1"/>
                                      </a:solidFill>
                                      <a:latin typeface="Cambria Math" panose="02040503050406030204" pitchFamily="18" charset="0"/>
                                    </a:rPr>
                                    <m:t>𝑡</m:t>
                                  </m:r>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𝑘</m:t>
                                  </m:r>
                                </m:sub>
                              </m:sSub>
                            </m:e>
                          </m:d>
                        </m:num>
                        <m:den>
                          <m:sSubSup>
                            <m:sSubSupPr>
                              <m:ctrlPr>
                                <a:rPr lang="en-US" b="0" i="1" smtClean="0">
                                  <a:solidFill>
                                    <a:schemeClr val="bg1"/>
                                  </a:solidFill>
                                  <a:latin typeface="Cambria Math" panose="02040503050406030204" pitchFamily="18" charset="0"/>
                                </a:rPr>
                              </m:ctrlPr>
                            </m:sSubSupPr>
                            <m:e>
                              <m:r>
                                <a:rPr lang="en-US" b="0" i="1" smtClean="0">
                                  <a:solidFill>
                                    <a:schemeClr val="bg1"/>
                                  </a:solidFill>
                                  <a:latin typeface="Cambria Math" panose="02040503050406030204" pitchFamily="18" charset="0"/>
                                </a:rPr>
                                <m:t>𝜎</m:t>
                              </m:r>
                            </m:e>
                            <m:sub>
                              <m:r>
                                <a:rPr lang="en-US" b="0" i="1" smtClean="0">
                                  <a:solidFill>
                                    <a:schemeClr val="bg1"/>
                                  </a:solidFill>
                                  <a:latin typeface="Cambria Math" panose="02040503050406030204" pitchFamily="18" charset="0"/>
                                </a:rPr>
                                <m:t>𝑡</m:t>
                              </m:r>
                            </m:sub>
                            <m:sup>
                              <m:r>
                                <a:rPr lang="en-US" b="0" i="1" smtClean="0">
                                  <a:solidFill>
                                    <a:schemeClr val="bg1"/>
                                  </a:solidFill>
                                  <a:latin typeface="Cambria Math" panose="02040503050406030204" pitchFamily="18" charset="0"/>
                                </a:rPr>
                                <m:t>2</m:t>
                              </m:r>
                            </m:sup>
                          </m:sSubSup>
                        </m:den>
                      </m:f>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𝑘</m:t>
                      </m:r>
                      <m:r>
                        <a:rPr lang="en-US" b="0" i="1" smtClean="0">
                          <a:solidFill>
                            <a:schemeClr val="bg1"/>
                          </a:solidFill>
                          <a:latin typeface="Cambria Math" panose="02040503050406030204" pitchFamily="18" charset="0"/>
                        </a:rPr>
                        <m:t>=0,1,2,…</m:t>
                      </m:r>
                    </m:oMath>
                  </m:oMathPara>
                </a14:m>
                <a:endParaRPr lang="es-MX" i="1" dirty="0">
                  <a:solidFill>
                    <a:schemeClr val="bg1"/>
                  </a:solidFill>
                </a:endParaRPr>
              </a:p>
            </p:txBody>
          </p:sp>
        </mc:Choice>
        <mc:Fallback xmlns="">
          <p:sp>
            <p:nvSpPr>
              <p:cNvPr id="2" name="CuadroTexto 1">
                <a:extLst>
                  <a:ext uri="{FF2B5EF4-FFF2-40B4-BE49-F238E27FC236}">
                    <a16:creationId xmlns:a16="http://schemas.microsoft.com/office/drawing/2014/main" id="{428AA718-C6DC-178F-B5CD-2809E498A322}"/>
                  </a:ext>
                </a:extLst>
              </p:cNvPr>
              <p:cNvSpPr txBox="1">
                <a:spLocks noRot="1" noChangeAspect="1" noMove="1" noResize="1" noEditPoints="1" noAdjustHandles="1" noChangeArrowheads="1" noChangeShapeType="1" noTextEdit="1"/>
              </p:cNvSpPr>
              <p:nvPr/>
            </p:nvSpPr>
            <p:spPr>
              <a:xfrm>
                <a:off x="801685" y="1019743"/>
                <a:ext cx="4597400" cy="603883"/>
              </a:xfrm>
              <a:prstGeom prst="rect">
                <a:avLst/>
              </a:prstGeom>
              <a:blipFill>
                <a:blip r:embed="rId4"/>
                <a:stretch>
                  <a:fillRect/>
                </a:stretch>
              </a:blipFill>
            </p:spPr>
            <p:txBody>
              <a:bodyPr/>
              <a:lstStyle/>
              <a:p>
                <a:r>
                  <a:rPr lang="es-MX">
                    <a:noFill/>
                  </a:rPr>
                  <a:t> </a:t>
                </a:r>
              </a:p>
            </p:txBody>
          </p:sp>
        </mc:Fallback>
      </mc:AlternateContent>
      <p:sp>
        <p:nvSpPr>
          <p:cNvPr id="3" name="Text Box 2">
            <a:extLst>
              <a:ext uri="{FF2B5EF4-FFF2-40B4-BE49-F238E27FC236}">
                <a16:creationId xmlns:a16="http://schemas.microsoft.com/office/drawing/2014/main" id="{28EA5AAB-F704-1018-7479-EFD6AAC3A04F}"/>
              </a:ext>
            </a:extLst>
          </p:cNvPr>
          <p:cNvSpPr txBox="1">
            <a:spLocks noChangeArrowheads="1"/>
          </p:cNvSpPr>
          <p:nvPr/>
        </p:nvSpPr>
        <p:spPr bwMode="auto">
          <a:xfrm>
            <a:off x="8698309" y="988462"/>
            <a:ext cx="2755901" cy="5861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9pPr>
          </a:lstStyle>
          <a:p>
            <a:pPr marL="285750" marR="0" lvl="0" indent="-285750" algn="just"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lang="en-US" altLang="es-MX" dirty="0" err="1">
                <a:solidFill>
                  <a:srgbClr val="FFFFFF"/>
                </a:solidFill>
                <a:latin typeface="Calibri" panose="020F0502020204030204" pitchFamily="34" charset="0"/>
              </a:rPr>
              <a:t>Algunas</a:t>
            </a:r>
            <a:r>
              <a:rPr lang="en-US" altLang="es-MX" dirty="0">
                <a:solidFill>
                  <a:srgbClr val="FFFFFF"/>
                </a:solidFill>
                <a:latin typeface="Calibri" panose="020F0502020204030204" pitchFamily="34" charset="0"/>
              </a:rPr>
              <a:t> </a:t>
            </a:r>
            <a:r>
              <a:rPr lang="en-US" altLang="es-MX" dirty="0" err="1">
                <a:solidFill>
                  <a:srgbClr val="FFFFFF"/>
                </a:solidFill>
                <a:latin typeface="Calibri" panose="020F0502020204030204" pitchFamily="34" charset="0"/>
              </a:rPr>
              <a:t>caracteristicas</a:t>
            </a:r>
            <a:r>
              <a:rPr lang="en-US" altLang="es-MX" dirty="0">
                <a:solidFill>
                  <a:srgbClr val="FFFFFF"/>
                </a:solidFill>
                <a:latin typeface="Calibri" panose="020F0502020204030204" pitchFamily="34" charset="0"/>
              </a:rPr>
              <a:t> son:</a:t>
            </a:r>
            <a:endPar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ndParaRPr>
          </a:p>
        </p:txBody>
      </p:sp>
      <p:sp>
        <p:nvSpPr>
          <p:cNvPr id="6" name="CuadroTexto 5">
            <a:extLst>
              <a:ext uri="{FF2B5EF4-FFF2-40B4-BE49-F238E27FC236}">
                <a16:creationId xmlns:a16="http://schemas.microsoft.com/office/drawing/2014/main" id="{868D52B7-70C1-B54F-202D-5D680C773AD4}"/>
              </a:ext>
            </a:extLst>
          </p:cNvPr>
          <p:cNvSpPr txBox="1"/>
          <p:nvPr/>
        </p:nvSpPr>
        <p:spPr>
          <a:xfrm>
            <a:off x="5001020" y="3030003"/>
            <a:ext cx="6992144" cy="923330"/>
          </a:xfrm>
          <a:prstGeom prst="rect">
            <a:avLst/>
          </a:prstGeom>
          <a:noFill/>
        </p:spPr>
        <p:txBody>
          <a:bodyPr wrap="square">
            <a:spAutoFit/>
          </a:bodyPr>
          <a:lstStyle/>
          <a:p>
            <a:pPr marL="285750" marR="0" lvl="0" indent="-285750" algn="just" defTabSz="914400" rtl="0" eaLnBrk="1" fontAlgn="base" latinLnBrk="0" hangingPunct="1">
              <a:lnSpc>
                <a:spcPct val="100000"/>
              </a:lnSpc>
              <a:spcBef>
                <a:spcPts val="13"/>
              </a:spcBef>
              <a:spcAft>
                <a:spcPts val="1013"/>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La función de autocorrelación de las series estacionarias disminuye sensiblemente a medida que aumenta el desface temporal. De lo contrario será una series no estacionarias.</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EBDC25F3-EDE3-400B-6F1D-1620C7A70D57}"/>
                  </a:ext>
                </a:extLst>
              </p:cNvPr>
              <p:cNvSpPr txBox="1"/>
              <p:nvPr/>
            </p:nvSpPr>
            <p:spPr>
              <a:xfrm>
                <a:off x="8058546" y="1642487"/>
                <a:ext cx="1279525" cy="369332"/>
              </a:xfrm>
              <a:prstGeom prst="rect">
                <a:avLst/>
              </a:prstGeom>
              <a:noFill/>
            </p:spPr>
            <p:txBody>
              <a:bodyPr wrap="square">
                <a:spAutoFit/>
              </a:bodyPr>
              <a:lstStyle/>
              <a:p>
                <a:pPr marL="342900" marR="0" lvl="0" indent="-342900" algn="just" defTabSz="914400" rtl="0" eaLnBrk="1" fontAlgn="base" latinLnBrk="0" hangingPunct="1">
                  <a:lnSpc>
                    <a:spcPct val="100000"/>
                  </a:lnSpc>
                  <a:spcBef>
                    <a:spcPts val="13"/>
                  </a:spcBef>
                  <a:spcAft>
                    <a:spcPts val="1013"/>
                  </a:spcAft>
                  <a:buClrTx/>
                  <a:buSz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14:m>
                  <m:oMath xmlns:m="http://schemas.openxmlformats.org/officeDocument/2006/math">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𝑔</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0</m:t>
                        </m:r>
                      </m:sub>
                    </m:s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&gt;0</m:t>
                    </m:r>
                  </m:oMath>
                </a14:m>
                <a:endPar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ndParaRPr>
              </a:p>
            </p:txBody>
          </p:sp>
        </mc:Choice>
        <mc:Fallback xmlns="">
          <p:sp>
            <p:nvSpPr>
              <p:cNvPr id="10" name="CuadroTexto 9">
                <a:extLst>
                  <a:ext uri="{FF2B5EF4-FFF2-40B4-BE49-F238E27FC236}">
                    <a16:creationId xmlns:a16="http://schemas.microsoft.com/office/drawing/2014/main" id="{EBDC25F3-EDE3-400B-6F1D-1620C7A70D57}"/>
                  </a:ext>
                </a:extLst>
              </p:cNvPr>
              <p:cNvSpPr txBox="1">
                <a:spLocks noRot="1" noChangeAspect="1" noMove="1" noResize="1" noEditPoints="1" noAdjustHandles="1" noChangeArrowheads="1" noChangeShapeType="1" noTextEdit="1"/>
              </p:cNvSpPr>
              <p:nvPr/>
            </p:nvSpPr>
            <p:spPr>
              <a:xfrm>
                <a:off x="8058546" y="1642487"/>
                <a:ext cx="1279525" cy="369332"/>
              </a:xfrm>
              <a:prstGeom prst="rect">
                <a:avLst/>
              </a:prstGeom>
              <a:blipFill>
                <a:blip r:embed="rId5"/>
                <a:stretch>
                  <a:fillRect l="-3810" t="-8197" b="-1967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D7AFB41-3483-90D0-F06E-0FE931497BFD}"/>
                  </a:ext>
                </a:extLst>
              </p:cNvPr>
              <p:cNvSpPr txBox="1"/>
              <p:nvPr/>
            </p:nvSpPr>
            <p:spPr>
              <a:xfrm>
                <a:off x="9349183" y="1642487"/>
                <a:ext cx="1419225" cy="646331"/>
              </a:xfrm>
              <a:prstGeom prst="rect">
                <a:avLst/>
              </a:prstGeom>
              <a:noFill/>
            </p:spPr>
            <p:txBody>
              <a:bodyPr wrap="square">
                <a:spAutoFit/>
              </a:bodyPr>
              <a:lstStyle/>
              <a:p>
                <a:pPr marL="285750" indent="-285750">
                  <a:buFontTx/>
                  <a:buChar char="-"/>
                </a:pPr>
                <a14:m>
                  <m:oMath xmlns:m="http://schemas.openxmlformats.org/officeDocument/2006/math">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h</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0</m:t>
                        </m:r>
                      </m:sub>
                    </m:s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=1</m:t>
                    </m:r>
                  </m:oMath>
                </a14:m>
                <a:endPar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ndParaRPr>
              </a:p>
              <a:p>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rPr>
                  <a:t> </a:t>
                </a:r>
                <a:endParaRPr lang="es-MX" dirty="0"/>
              </a:p>
            </p:txBody>
          </p:sp>
        </mc:Choice>
        <mc:Fallback xmlns="">
          <p:sp>
            <p:nvSpPr>
              <p:cNvPr id="14" name="CuadroTexto 13">
                <a:extLst>
                  <a:ext uri="{FF2B5EF4-FFF2-40B4-BE49-F238E27FC236}">
                    <a16:creationId xmlns:a16="http://schemas.microsoft.com/office/drawing/2014/main" id="{8D7AFB41-3483-90D0-F06E-0FE931497BFD}"/>
                  </a:ext>
                </a:extLst>
              </p:cNvPr>
              <p:cNvSpPr txBox="1">
                <a:spLocks noRot="1" noChangeAspect="1" noMove="1" noResize="1" noEditPoints="1" noAdjustHandles="1" noChangeArrowheads="1" noChangeShapeType="1" noTextEdit="1"/>
              </p:cNvSpPr>
              <p:nvPr/>
            </p:nvSpPr>
            <p:spPr>
              <a:xfrm>
                <a:off x="9349183" y="1642487"/>
                <a:ext cx="1419225" cy="646331"/>
              </a:xfrm>
              <a:prstGeom prst="rect">
                <a:avLst/>
              </a:prstGeom>
              <a:blipFill>
                <a:blip r:embed="rId6"/>
                <a:stretch>
                  <a:fillRect l="-3448" t="-471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EB1C587A-B423-F473-2ED8-1A57BA1286C2}"/>
                  </a:ext>
                </a:extLst>
              </p:cNvPr>
              <p:cNvSpPr txBox="1"/>
              <p:nvPr/>
            </p:nvSpPr>
            <p:spPr>
              <a:xfrm>
                <a:off x="10573939" y="1596321"/>
                <a:ext cx="1419225" cy="369332"/>
              </a:xfrm>
              <a:prstGeom prst="rect">
                <a:avLst/>
              </a:prstGeom>
              <a:noFill/>
            </p:spPr>
            <p:txBody>
              <a:bodyPr wrap="square">
                <a:spAutoFit/>
              </a:bodyPr>
              <a:lstStyle/>
              <a:p>
                <a:pPr marL="342900" marR="0" lvl="0" indent="-342900" algn="just" defTabSz="914400" rtl="0" eaLnBrk="1" fontAlgn="base" latinLnBrk="0" hangingPunct="1">
                  <a:lnSpc>
                    <a:spcPct val="100000"/>
                  </a:lnSpc>
                  <a:spcBef>
                    <a:spcPts val="13"/>
                  </a:spcBef>
                  <a:spcAft>
                    <a:spcPts val="1013"/>
                  </a:spcAft>
                  <a:buClrTx/>
                  <a:buSz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14:m>
                  <m:oMath xmlns:m="http://schemas.openxmlformats.org/officeDocument/2006/math">
                    <m:d>
                      <m:dPr>
                        <m:begChr m:val="|"/>
                        <m:endChr m:val="|"/>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dPr>
                      <m:e>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h</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𝑘</m:t>
                            </m:r>
                          </m:sub>
                        </m:sSub>
                      </m:e>
                    </m:d>
                    <m:r>
                      <a:rPr lang="en-US" altLang="es-MX" i="1">
                        <a:solidFill>
                          <a:srgbClr val="FFFFFF"/>
                        </a:solidFill>
                        <a:latin typeface="Cambria Math" panose="02040503050406030204" pitchFamily="18" charset="0"/>
                        <a:ea typeface="Cambria Math" panose="02040503050406030204" pitchFamily="18" charset="0"/>
                      </a:rPr>
                      <m:t>≤</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1</m:t>
                    </m:r>
                  </m:oMath>
                </a14:m>
                <a:endPar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ndParaRPr>
              </a:p>
            </p:txBody>
          </p:sp>
        </mc:Choice>
        <mc:Fallback xmlns="">
          <p:sp>
            <p:nvSpPr>
              <p:cNvPr id="16" name="CuadroTexto 15">
                <a:extLst>
                  <a:ext uri="{FF2B5EF4-FFF2-40B4-BE49-F238E27FC236}">
                    <a16:creationId xmlns:a16="http://schemas.microsoft.com/office/drawing/2014/main" id="{EB1C587A-B423-F473-2ED8-1A57BA1286C2}"/>
                  </a:ext>
                </a:extLst>
              </p:cNvPr>
              <p:cNvSpPr txBox="1">
                <a:spLocks noRot="1" noChangeAspect="1" noMove="1" noResize="1" noEditPoints="1" noAdjustHandles="1" noChangeArrowheads="1" noChangeShapeType="1" noTextEdit="1"/>
              </p:cNvSpPr>
              <p:nvPr/>
            </p:nvSpPr>
            <p:spPr>
              <a:xfrm>
                <a:off x="10573939" y="1596321"/>
                <a:ext cx="1419225" cy="369332"/>
              </a:xfrm>
              <a:prstGeom prst="rect">
                <a:avLst/>
              </a:prstGeom>
              <a:blipFill>
                <a:blip r:embed="rId7"/>
                <a:stretch>
                  <a:fillRect l="-3448" t="-8333" b="-2166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7" name="Text Box 2">
                <a:extLst>
                  <a:ext uri="{FF2B5EF4-FFF2-40B4-BE49-F238E27FC236}">
                    <a16:creationId xmlns:a16="http://schemas.microsoft.com/office/drawing/2014/main" id="{6FF49642-5E0D-23F9-66E9-A80AA44E85ED}"/>
                  </a:ext>
                </a:extLst>
              </p:cNvPr>
              <p:cNvSpPr txBox="1">
                <a:spLocks noChangeArrowheads="1"/>
              </p:cNvSpPr>
              <p:nvPr/>
            </p:nvSpPr>
            <p:spPr bwMode="auto">
              <a:xfrm>
                <a:off x="5889628" y="752609"/>
                <a:ext cx="2129628" cy="1235410"/>
              </a:xfrm>
              <a:prstGeom prst="rect">
                <a:avLst/>
              </a:prstGeom>
              <a:noFill/>
              <a:ln>
                <a:noFill/>
              </a:ln>
              <a:effectLst/>
              <a:extLst>
                <a:ext uri="{909E8E84-426E-40DD-AFC4-6F175D3DCCD1}">
                  <a14:hiddenFill>
                    <a:solidFill>
                      <a:srgbClr val="FFFFFF"/>
                    </a:solidFill>
                  </a14:hiddenFill>
                </a:ext>
                <a:ext uri="{91240B29-F687-4F45-9708-019B960494DF}">
                  <a14:hiddenLine w="9525" cap="flat">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nchor="ctr"/>
              <a:lstStyle>
                <a:lvl1pPr marL="2857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9pPr>
              </a:lstStyle>
              <a:p>
                <a:pPr marL="285750" marR="0" lvl="0" indent="-285750" algn="just" defTabSz="914400" rtl="0" eaLnBrk="1" fontAlgn="base" latinLnBrk="0" hangingPunct="1">
                  <a:lnSpc>
                    <a:spcPct val="100000"/>
                  </a:lnSpc>
                  <a:spcBef>
                    <a:spcPts val="13"/>
                  </a:spcBef>
                  <a:spcAft>
                    <a:spcPts val="1013"/>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lang="es-MX" altLang="es-MX" noProof="0" dirty="0">
                    <a:solidFill>
                      <a:srgbClr val="FFFFFF"/>
                    </a:solidFill>
                    <a:latin typeface="Calibri" panose="020F0502020204030204" pitchFamily="34" charset="0"/>
                  </a:rPr>
                  <a:t>Donde:</a:t>
                </a:r>
              </a:p>
              <a:p>
                <a:pPr marL="342900" marR="0" lvl="0" indent="-342900" algn="ctr" defTabSz="914400" rtl="0" eaLnBrk="1" fontAlgn="base" latinLnBrk="0" hangingPunct="1">
                  <a:lnSpc>
                    <a:spcPct val="100000"/>
                  </a:lnSpc>
                  <a:spcBef>
                    <a:spcPts val="13"/>
                  </a:spcBef>
                  <a:spcAft>
                    <a:spcPts val="1013"/>
                  </a:spcAft>
                  <a:buClrTx/>
                  <a:buSz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14:m>
                  <m:oMath xmlns:m="http://schemas.openxmlformats.org/officeDocument/2006/math">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𝑔</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𝑘</m:t>
                        </m:r>
                      </m:sub>
                    </m:s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m:t>
                    </m:r>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𝑔</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Cambria Math" panose="02040503050406030204" pitchFamily="18" charset="0"/>
                          </a:rPr>
                          <m:t>∙</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Cambria Math" panose="02040503050406030204" pitchFamily="18" charset="0"/>
                          </a:rPr>
                          <m:t>𝑘</m:t>
                        </m:r>
                      </m:sub>
                    </m:sSub>
                  </m:oMath>
                </a14:m>
                <a:endPar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ndParaRPr>
              </a:p>
              <a:p>
                <a:pPr marL="342900" marR="0" lvl="0" indent="-342900" algn="ctr" defTabSz="914400" rtl="0" eaLnBrk="1" fontAlgn="base" latinLnBrk="0" hangingPunct="1">
                  <a:lnSpc>
                    <a:spcPct val="100000"/>
                  </a:lnSpc>
                  <a:spcBef>
                    <a:spcPts val="13"/>
                  </a:spcBef>
                  <a:spcAft>
                    <a:spcPts val="1013"/>
                  </a:spcAft>
                  <a:buClrTx/>
                  <a:buSz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14:m>
                  <m:oMath xmlns:m="http://schemas.openxmlformats.org/officeDocument/2006/math">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h</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𝑘</m:t>
                        </m:r>
                      </m:sub>
                    </m:s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m:t>
                    </m:r>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h</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Cambria Math" panose="02040503050406030204" pitchFamily="18" charset="0"/>
                          </a:rPr>
                          <m:t>∙</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ea typeface="Cambria Math" panose="02040503050406030204" pitchFamily="18" charset="0"/>
                          </a:rPr>
                          <m:t>𝑘</m:t>
                        </m:r>
                      </m:sub>
                    </m:sSub>
                  </m:oMath>
                </a14:m>
                <a:endParaRPr lang="es-MX" altLang="es-MX" dirty="0">
                  <a:solidFill>
                    <a:srgbClr val="FFFFFF"/>
                  </a:solidFill>
                  <a:latin typeface="Calibri" panose="020F0502020204030204" pitchFamily="34" charset="0"/>
                </a:endParaRPr>
              </a:p>
            </p:txBody>
          </p:sp>
        </mc:Choice>
        <mc:Fallback xmlns="">
          <p:sp>
            <p:nvSpPr>
              <p:cNvPr id="17" name="Text Box 2">
                <a:extLst>
                  <a:ext uri="{FF2B5EF4-FFF2-40B4-BE49-F238E27FC236}">
                    <a16:creationId xmlns:a16="http://schemas.microsoft.com/office/drawing/2014/main" id="{6FF49642-5E0D-23F9-66E9-A80AA44E85ED}"/>
                  </a:ext>
                </a:extLst>
              </p:cNvPr>
              <p:cNvSpPr txBox="1">
                <a:spLocks noRot="1" noChangeAspect="1" noMove="1" noResize="1" noEditPoints="1" noAdjustHandles="1" noChangeArrowheads="1" noChangeShapeType="1" noTextEdit="1"/>
              </p:cNvSpPr>
              <p:nvPr/>
            </p:nvSpPr>
            <p:spPr bwMode="auto">
              <a:xfrm>
                <a:off x="5889628" y="752609"/>
                <a:ext cx="2129628" cy="1235410"/>
              </a:xfrm>
              <a:prstGeom prst="rect">
                <a:avLst/>
              </a:prstGeom>
              <a:blipFill>
                <a:blip r:embed="rId8"/>
                <a:stretch>
                  <a:fillRect l="-2292" b="-3941"/>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p:sp>
        <p:nvSpPr>
          <p:cNvPr id="19" name="CuadroTexto 18">
            <a:extLst>
              <a:ext uri="{FF2B5EF4-FFF2-40B4-BE49-F238E27FC236}">
                <a16:creationId xmlns:a16="http://schemas.microsoft.com/office/drawing/2014/main" id="{1D9343FF-BA34-7BF1-B9FF-A7FF582D15B0}"/>
              </a:ext>
            </a:extLst>
          </p:cNvPr>
          <p:cNvSpPr txBox="1"/>
          <p:nvPr/>
        </p:nvSpPr>
        <p:spPr>
          <a:xfrm>
            <a:off x="211532" y="1828915"/>
            <a:ext cx="5777706" cy="369332"/>
          </a:xfrm>
          <a:prstGeom prst="rect">
            <a:avLst/>
          </a:prstGeom>
          <a:noFill/>
        </p:spPr>
        <p:txBody>
          <a:bodyPr wrap="square">
            <a:spAutoFit/>
          </a:bodyPr>
          <a:lstStyle/>
          <a:p>
            <a:r>
              <a:rPr lang="es-MX" altLang="es-MX" dirty="0">
                <a:solidFill>
                  <a:srgbClr val="FFFFFF"/>
                </a:solidFill>
                <a:latin typeface="Calibri" panose="020F0502020204030204" pitchFamily="34" charset="0"/>
              </a:rPr>
              <a:t>La parte de t será el periodo la cual lo determina el </a:t>
            </a:r>
            <a:r>
              <a:rPr lang="es-MX" altLang="es-MX" dirty="0" err="1">
                <a:solidFill>
                  <a:srgbClr val="FFFFFF"/>
                </a:solidFill>
                <a:latin typeface="Calibri" panose="020F0502020204030204" pitchFamily="34" charset="0"/>
              </a:rPr>
              <a:t>analisita</a:t>
            </a:r>
            <a:endParaRPr lang="es-MX" dirty="0"/>
          </a:p>
        </p:txBody>
      </p:sp>
      <p:pic>
        <p:nvPicPr>
          <p:cNvPr id="3074" name="Picture 2" descr="Autocorrelograma ventas totales. Fuente: Tomado de Rosero Lomas (2018 ...">
            <a:extLst>
              <a:ext uri="{FF2B5EF4-FFF2-40B4-BE49-F238E27FC236}">
                <a16:creationId xmlns:a16="http://schemas.microsoft.com/office/drawing/2014/main" id="{A7E35AF9-1B5A-5B1B-CCAF-D6BF58584C1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2673" y="2989190"/>
            <a:ext cx="4076558" cy="3424309"/>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1">
            <a:extLst>
              <a:ext uri="{FF2B5EF4-FFF2-40B4-BE49-F238E27FC236}">
                <a16:creationId xmlns:a16="http://schemas.microsoft.com/office/drawing/2014/main" id="{8FDA1142-160C-B645-DA17-79F4B50C3B20}"/>
              </a:ext>
            </a:extLst>
          </p:cNvPr>
          <p:cNvSpPr txBox="1">
            <a:spLocks noChangeArrowheads="1"/>
          </p:cNvSpPr>
          <p:nvPr/>
        </p:nvSpPr>
        <p:spPr bwMode="auto">
          <a:xfrm>
            <a:off x="4676372" y="4054089"/>
            <a:ext cx="3142457" cy="6949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lnSpc>
                <a:spcPct val="83000"/>
              </a:lnSpc>
              <a:spcBef>
                <a:spcPts val="13"/>
              </a:spcBef>
              <a:spcAft>
                <a:spcPts val="13"/>
              </a:spcAft>
              <a:buClr>
                <a:srgbClr val="000000"/>
              </a:buClr>
              <a:buSzPct val="100000"/>
              <a:buFont typeface="Times New Roman" panose="02020603050405020304" pitchFamily="18" charset="0"/>
              <a:defRPr kern="1200">
                <a:solidFill>
                  <a:srgbClr val="FFFFFF"/>
                </a:solidFill>
                <a:latin typeface="+mj-lt"/>
                <a:ea typeface="+mj-ea"/>
                <a:cs typeface="+mj-cs"/>
              </a:defRPr>
            </a:lvl1pPr>
            <a:lvl2pPr marL="742950" indent="-28575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2pPr>
            <a:lvl3pPr marL="1143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3pPr>
            <a:lvl4pPr marL="1600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4pPr>
            <a:lvl5pPr marL="20574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5pPr>
            <a:lvl6pPr marL="25146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6pPr>
            <a:lvl7pPr marL="29718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7pPr>
            <a:lvl8pPr marL="3429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8pPr>
            <a:lvl9pPr marL="3886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9pPr>
          </a:lstStyle>
          <a:p>
            <a:pP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solidFill>
                <a:latin typeface="Calibri Light" panose="020F0302020204030204" pitchFamily="34" charset="0"/>
              </a:rPr>
              <a:t>FAC muestral:</a:t>
            </a:r>
          </a:p>
        </p:txBody>
      </p:sp>
      <p:sp>
        <p:nvSpPr>
          <p:cNvPr id="22" name="CuadroTexto 21">
            <a:extLst>
              <a:ext uri="{FF2B5EF4-FFF2-40B4-BE49-F238E27FC236}">
                <a16:creationId xmlns:a16="http://schemas.microsoft.com/office/drawing/2014/main" id="{6025CBEB-7B6D-95A8-6DE0-B87FE37F2A3C}"/>
              </a:ext>
            </a:extLst>
          </p:cNvPr>
          <p:cNvSpPr txBox="1"/>
          <p:nvPr/>
        </p:nvSpPr>
        <p:spPr>
          <a:xfrm>
            <a:off x="4879572" y="4749072"/>
            <a:ext cx="6992144" cy="646331"/>
          </a:xfrm>
          <a:prstGeom prst="rect">
            <a:avLst/>
          </a:prstGeom>
          <a:noFill/>
        </p:spPr>
        <p:txBody>
          <a:bodyPr wrap="square">
            <a:spAutoFit/>
          </a:bodyPr>
          <a:lstStyle/>
          <a:p>
            <a:pPr marL="285750" marR="0" lvl="0" indent="-285750" algn="just" defTabSz="914400" rtl="0" eaLnBrk="1" fontAlgn="base" latinLnBrk="0" hangingPunct="1">
              <a:lnSpc>
                <a:spcPct val="100000"/>
              </a:lnSpc>
              <a:spcBef>
                <a:spcPts val="13"/>
              </a:spcBef>
              <a:spcAft>
                <a:spcPts val="1013"/>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n-US"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La </a:t>
            </a:r>
            <a:r>
              <a:rPr kumimoji="0" lang="en-US" altLang="es-MX" sz="1800" b="0" i="0" u="none" strike="noStrike" kern="1200" cap="none" spc="0" normalizeH="0" baseline="0" noProof="0" dirty="0" err="1">
                <a:ln>
                  <a:noFill/>
                </a:ln>
                <a:solidFill>
                  <a:srgbClr val="FFFFFF"/>
                </a:solidFill>
                <a:effectLst/>
                <a:uLnTx/>
                <a:uFillTx/>
                <a:latin typeface="Calibri" panose="020F0502020204030204" pitchFamily="34" charset="0"/>
                <a:ea typeface="+mn-ea"/>
              </a:rPr>
              <a:t>cual</a:t>
            </a:r>
            <a:r>
              <a:rPr kumimoji="0" lang="en-US"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sz="1800" b="0" i="0" u="none" strike="noStrike" kern="1200" cap="none" spc="0" normalizeH="0" baseline="0" noProof="0" dirty="0" err="1">
                <a:ln>
                  <a:noFill/>
                </a:ln>
                <a:solidFill>
                  <a:srgbClr val="FFFFFF"/>
                </a:solidFill>
                <a:effectLst/>
                <a:uLnTx/>
                <a:uFillTx/>
                <a:latin typeface="Calibri" panose="020F0502020204030204" pitchFamily="34" charset="0"/>
                <a:ea typeface="+mn-ea"/>
              </a:rPr>
              <a:t>utilizamos</a:t>
            </a:r>
            <a:r>
              <a:rPr lang="en-US" altLang="es-MX" dirty="0">
                <a:solidFill>
                  <a:srgbClr val="FFFFFF"/>
                </a:solidFill>
                <a:latin typeface="Calibri" panose="020F0502020204030204" pitchFamily="34" charset="0"/>
              </a:rPr>
              <a:t> </a:t>
            </a:r>
            <a:r>
              <a:rPr lang="en-US" altLang="es-MX" dirty="0" err="1">
                <a:solidFill>
                  <a:srgbClr val="FFFFFF"/>
                </a:solidFill>
                <a:latin typeface="Calibri" panose="020F0502020204030204" pitchFamily="34" charset="0"/>
              </a:rPr>
              <a:t>si</a:t>
            </a:r>
            <a:r>
              <a:rPr lang="en-US" altLang="es-MX" dirty="0">
                <a:solidFill>
                  <a:srgbClr val="FFFFFF"/>
                </a:solidFill>
                <a:latin typeface="Calibri" panose="020F0502020204030204" pitchFamily="34" charset="0"/>
              </a:rPr>
              <a:t> </a:t>
            </a:r>
            <a:r>
              <a:rPr lang="en-US" altLang="es-MX" dirty="0" err="1">
                <a:solidFill>
                  <a:srgbClr val="FFFFFF"/>
                </a:solidFill>
                <a:latin typeface="Calibri" panose="020F0502020204030204" pitchFamily="34" charset="0"/>
              </a:rPr>
              <a:t>deseamos</a:t>
            </a:r>
            <a:r>
              <a:rPr lang="en-US" altLang="es-MX" dirty="0">
                <a:solidFill>
                  <a:srgbClr val="FFFFFF"/>
                </a:solidFill>
                <a:latin typeface="Calibri" panose="020F0502020204030204" pitchFamily="34" charset="0"/>
              </a:rPr>
              <a:t> </a:t>
            </a:r>
            <a:r>
              <a:rPr lang="en-US" altLang="es-MX" dirty="0" err="1">
                <a:solidFill>
                  <a:srgbClr val="FFFFFF"/>
                </a:solidFill>
                <a:latin typeface="Calibri" panose="020F0502020204030204" pitchFamily="34" charset="0"/>
              </a:rPr>
              <a:t>analisis</a:t>
            </a:r>
            <a:r>
              <a:rPr lang="en-US" altLang="es-MX" dirty="0">
                <a:solidFill>
                  <a:srgbClr val="FFFFFF"/>
                </a:solidFill>
                <a:latin typeface="Calibri" panose="020F0502020204030204" pitchFamily="34" charset="0"/>
              </a:rPr>
              <a:t> un población </a:t>
            </a:r>
            <a:r>
              <a:rPr lang="en-US" altLang="es-MX" dirty="0" err="1">
                <a:solidFill>
                  <a:srgbClr val="FFFFFF"/>
                </a:solidFill>
                <a:latin typeface="Calibri" panose="020F0502020204030204" pitchFamily="34" charset="0"/>
              </a:rPr>
              <a:t>por</a:t>
            </a:r>
            <a:r>
              <a:rPr lang="en-US" altLang="es-MX" dirty="0">
                <a:solidFill>
                  <a:srgbClr val="FFFFFF"/>
                </a:solidFill>
                <a:latin typeface="Calibri" panose="020F0502020204030204" pitchFamily="34" charset="0"/>
              </a:rPr>
              <a:t> medio de </a:t>
            </a:r>
            <a:r>
              <a:rPr lang="en-US" altLang="es-MX" dirty="0" err="1">
                <a:solidFill>
                  <a:srgbClr val="FFFFFF"/>
                </a:solidFill>
                <a:latin typeface="Calibri" panose="020F0502020204030204" pitchFamily="34" charset="0"/>
              </a:rPr>
              <a:t>una</a:t>
            </a:r>
            <a:r>
              <a:rPr lang="en-US" altLang="es-MX" dirty="0">
                <a:solidFill>
                  <a:srgbClr val="FFFFFF"/>
                </a:solidFill>
                <a:latin typeface="Calibri" panose="020F0502020204030204" pitchFamily="34" charset="0"/>
              </a:rPr>
              <a:t> </a:t>
            </a:r>
            <a:r>
              <a:rPr lang="en-US" altLang="es-MX" dirty="0" err="1">
                <a:solidFill>
                  <a:srgbClr val="FFFFFF"/>
                </a:solidFill>
                <a:latin typeface="Calibri" panose="020F0502020204030204" pitchFamily="34" charset="0"/>
              </a:rPr>
              <a:t>muestra</a:t>
            </a:r>
            <a:r>
              <a:rPr lang="en-US" altLang="es-MX" dirty="0">
                <a:solidFill>
                  <a:srgbClr val="FFFFFF"/>
                </a:solidFill>
                <a:latin typeface="Calibri" panose="020F0502020204030204" pitchFamily="34" charset="0"/>
              </a:rPr>
              <a:t>…</a:t>
            </a:r>
            <a:endPar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4166A90-436D-F0DF-CF42-D6D27FEED231}"/>
                  </a:ext>
                </a:extLst>
              </p:cNvPr>
              <p:cNvSpPr txBox="1"/>
              <p:nvPr/>
            </p:nvSpPr>
            <p:spPr>
              <a:xfrm>
                <a:off x="6919604" y="5355206"/>
                <a:ext cx="2912079" cy="447045"/>
              </a:xfrm>
              <a:prstGeom prst="rect">
                <a:avLst/>
              </a:prstGeom>
              <a:noFill/>
            </p:spPr>
            <p:txBody>
              <a:bodyPr wrap="none" lIns="0" tIns="0" rIns="0" bIns="0" rtlCol="0">
                <a:spAutoFit/>
              </a:bodyPr>
              <a:lstStyle/>
              <a:p>
                <a:r>
                  <a:rPr lang="es-MX" dirty="0">
                    <a:solidFill>
                      <a:schemeClr val="bg1"/>
                    </a:solidFill>
                  </a:rPr>
                  <a:t>Media del proceso: </a:t>
                </a:r>
                <a14:m>
                  <m:oMath xmlns:m="http://schemas.openxmlformats.org/officeDocument/2006/math">
                    <m:acc>
                      <m:accPr>
                        <m:chr m:val="̅"/>
                        <m:ctrlPr>
                          <a:rPr lang="es-MX" i="1" smtClean="0">
                            <a:solidFill>
                              <a:schemeClr val="bg1"/>
                            </a:solidFill>
                            <a:latin typeface="Cambria Math" panose="02040503050406030204" pitchFamily="18" charset="0"/>
                          </a:rPr>
                        </m:ctrlPr>
                      </m:accPr>
                      <m:e>
                        <m:r>
                          <a:rPr lang="en-US" b="0" i="1" smtClean="0">
                            <a:solidFill>
                              <a:schemeClr val="bg1"/>
                            </a:solidFill>
                            <a:latin typeface="Cambria Math" panose="02040503050406030204" pitchFamily="18" charset="0"/>
                          </a:rPr>
                          <m:t>𝑌</m:t>
                        </m:r>
                      </m:e>
                    </m:acc>
                    <m:r>
                      <a:rPr lang="en-US" b="0" i="1" smtClean="0">
                        <a:solidFill>
                          <a:schemeClr val="bg1"/>
                        </a:solidFill>
                        <a:latin typeface="Cambria Math" panose="02040503050406030204" pitchFamily="18" charset="0"/>
                      </a:rPr>
                      <m:t>= </m:t>
                    </m:r>
                    <m:f>
                      <m:fPr>
                        <m:ctrlPr>
                          <a:rPr lang="en-US" b="0" i="1" smtClean="0">
                            <a:solidFill>
                              <a:schemeClr val="bg1"/>
                            </a:solidFill>
                            <a:latin typeface="Cambria Math" panose="02040503050406030204" pitchFamily="18" charset="0"/>
                          </a:rPr>
                        </m:ctrlPr>
                      </m:fPr>
                      <m:num>
                        <m:nary>
                          <m:naryPr>
                            <m:chr m:val="∑"/>
                            <m:ctrlPr>
                              <a:rPr lang="en-US" b="0" i="1" smtClean="0">
                                <a:solidFill>
                                  <a:schemeClr val="bg1"/>
                                </a:solidFill>
                                <a:latin typeface="Cambria Math" panose="02040503050406030204" pitchFamily="18" charset="0"/>
                              </a:rPr>
                            </m:ctrlPr>
                          </m:naryPr>
                          <m:sub>
                            <m:r>
                              <m:rPr>
                                <m:brk m:alnAt="23"/>
                              </m:rPr>
                              <a:rPr lang="en-US" b="0" i="1" smtClean="0">
                                <a:solidFill>
                                  <a:schemeClr val="bg1"/>
                                </a:solidFill>
                                <a:latin typeface="Cambria Math" panose="02040503050406030204" pitchFamily="18" charset="0"/>
                              </a:rPr>
                              <m:t>𝑡</m:t>
                            </m:r>
                            <m:r>
                              <a:rPr lang="en-US" b="0" i="1" smtClean="0">
                                <a:solidFill>
                                  <a:schemeClr val="bg1"/>
                                </a:solidFill>
                                <a:latin typeface="Cambria Math" panose="02040503050406030204" pitchFamily="18" charset="0"/>
                              </a:rPr>
                              <m:t>=1</m:t>
                            </m:r>
                          </m:sub>
                          <m:sup>
                            <m:r>
                              <a:rPr lang="en-US" b="0" i="1" smtClean="0">
                                <a:solidFill>
                                  <a:schemeClr val="bg1"/>
                                </a:solidFill>
                                <a:latin typeface="Cambria Math" panose="02040503050406030204" pitchFamily="18" charset="0"/>
                              </a:rPr>
                              <m:t>𝑇</m:t>
                            </m:r>
                          </m:sup>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𝑌</m:t>
                                </m:r>
                              </m:e>
                              <m:sub>
                                <m:r>
                                  <a:rPr lang="en-US" b="0" i="1" smtClean="0">
                                    <a:solidFill>
                                      <a:schemeClr val="bg1"/>
                                    </a:solidFill>
                                    <a:latin typeface="Cambria Math" panose="02040503050406030204" pitchFamily="18" charset="0"/>
                                  </a:rPr>
                                  <m:t>𝑡</m:t>
                                </m:r>
                              </m:sub>
                            </m:sSub>
                          </m:e>
                        </m:nary>
                      </m:num>
                      <m:den>
                        <m:r>
                          <a:rPr lang="en-US" b="0" i="1" smtClean="0">
                            <a:solidFill>
                              <a:schemeClr val="bg1"/>
                            </a:solidFill>
                            <a:latin typeface="Cambria Math" panose="02040503050406030204" pitchFamily="18" charset="0"/>
                          </a:rPr>
                          <m:t>𝑇</m:t>
                        </m:r>
                      </m:den>
                    </m:f>
                  </m:oMath>
                </a14:m>
                <a:endParaRPr lang="es-MX" dirty="0">
                  <a:solidFill>
                    <a:schemeClr val="bg1"/>
                  </a:solidFill>
                </a:endParaRPr>
              </a:p>
            </p:txBody>
          </p:sp>
        </mc:Choice>
        <mc:Fallback xmlns="">
          <p:sp>
            <p:nvSpPr>
              <p:cNvPr id="23" name="CuadroTexto 22">
                <a:extLst>
                  <a:ext uri="{FF2B5EF4-FFF2-40B4-BE49-F238E27FC236}">
                    <a16:creationId xmlns:a16="http://schemas.microsoft.com/office/drawing/2014/main" id="{04166A90-436D-F0DF-CF42-D6D27FEED231}"/>
                  </a:ext>
                </a:extLst>
              </p:cNvPr>
              <p:cNvSpPr txBox="1">
                <a:spLocks noRot="1" noChangeAspect="1" noMove="1" noResize="1" noEditPoints="1" noAdjustHandles="1" noChangeArrowheads="1" noChangeShapeType="1" noTextEdit="1"/>
              </p:cNvSpPr>
              <p:nvPr/>
            </p:nvSpPr>
            <p:spPr>
              <a:xfrm>
                <a:off x="6919604" y="5355206"/>
                <a:ext cx="2912079" cy="447045"/>
              </a:xfrm>
              <a:prstGeom prst="rect">
                <a:avLst/>
              </a:prstGeom>
              <a:blipFill>
                <a:blip r:embed="rId10"/>
                <a:stretch>
                  <a:fillRect l="-4812" b="-18919"/>
                </a:stretch>
              </a:blipFill>
            </p:spPr>
            <p:txBody>
              <a:bodyPr/>
              <a:lstStyle/>
              <a:p>
                <a:r>
                  <a:rPr lang="es-MX">
                    <a:noFill/>
                  </a:rPr>
                  <a:t> </a:t>
                </a:r>
              </a:p>
            </p:txBody>
          </p:sp>
        </mc:Fallback>
      </mc:AlternateContent>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a:extLst>
              <a:ext uri="{FF2B5EF4-FFF2-40B4-BE49-F238E27FC236}">
                <a16:creationId xmlns:a16="http://schemas.microsoft.com/office/drawing/2014/main" id="{0983EB14-447F-B80F-0DC2-64511E17DB2A}"/>
              </a:ext>
            </a:extLst>
          </p:cNvPr>
          <p:cNvSpPr txBox="1">
            <a:spLocks noChangeArrowheads="1"/>
          </p:cNvSpPr>
          <p:nvPr/>
        </p:nvSpPr>
        <p:spPr bwMode="auto">
          <a:xfrm>
            <a:off x="7707312" y="296477"/>
            <a:ext cx="4127501" cy="13098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285750" marR="0" lvl="0" indent="-285750" algn="l" defTabSz="914400" rtl="0" eaLnBrk="1" fontAlgn="base" latinLnBrk="0" hangingPunct="1">
              <a:lnSpc>
                <a:spcPct val="100000"/>
              </a:lnSpc>
              <a:spcBef>
                <a:spcPts val="13"/>
              </a:spcBef>
              <a:spcAft>
                <a:spcPts val="10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lang="es-MX" altLang="es-MX" b="1" dirty="0">
                <a:solidFill>
                  <a:srgbClr val="FFFFFF"/>
                </a:solidFill>
                <a:latin typeface="Calibri" panose="020F0502020204030204" pitchFamily="34" charset="0"/>
              </a:rPr>
              <a:t>Nota:</a:t>
            </a:r>
          </a:p>
          <a:p>
            <a:pPr marL="285750" marR="0" lvl="0" indent="-285750" algn="l" defTabSz="914400" rtl="0" eaLnBrk="1" fontAlgn="base" latinLnBrk="0" hangingPunct="1">
              <a:lnSpc>
                <a:spcPct val="100000"/>
              </a:lnSpc>
              <a:spcBef>
                <a:spcPts val="13"/>
              </a:spcBef>
              <a:spcAft>
                <a:spcPts val="10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u="none" strike="noStrike" kern="1200" cap="none" spc="0" normalizeH="0" baseline="0" noProof="0" dirty="0">
                <a:ln>
                  <a:noFill/>
                </a:ln>
                <a:solidFill>
                  <a:srgbClr val="FFFFFF"/>
                </a:solidFill>
                <a:effectLst/>
                <a:uLnTx/>
                <a:uFillTx/>
                <a:latin typeface="Calibri" panose="020F0502020204030204" pitchFamily="34" charset="0"/>
              </a:rPr>
              <a:t>se requieren al menos 50 periodos o más para utilizar </a:t>
            </a:r>
            <a:r>
              <a:rPr kumimoji="0" lang="es-MX" altLang="es-MX" b="1" i="1" u="none" strike="noStrike" kern="1200" cap="none" spc="0" normalizeH="0" baseline="0" noProof="0" dirty="0">
                <a:ln>
                  <a:noFill/>
                </a:ln>
                <a:solidFill>
                  <a:srgbClr val="FFFFFF"/>
                </a:solidFill>
                <a:effectLst/>
                <a:uLnTx/>
                <a:uFillTx/>
                <a:latin typeface="Calibri" panose="020F0502020204030204" pitchFamily="34" charset="0"/>
              </a:rPr>
              <a:t>la metodología box - Jenkins</a:t>
            </a:r>
          </a:p>
        </p:txBody>
      </p:sp>
      <p:pic>
        <p:nvPicPr>
          <p:cNvPr id="4" name="Imagen 3">
            <a:extLst>
              <a:ext uri="{FF2B5EF4-FFF2-40B4-BE49-F238E27FC236}">
                <a16:creationId xmlns:a16="http://schemas.microsoft.com/office/drawing/2014/main" id="{42910397-3AD1-98C2-40A1-B70AA0DC44E7}"/>
              </a:ext>
            </a:extLst>
          </p:cNvPr>
          <p:cNvPicPr>
            <a:picLocks noChangeAspect="1"/>
          </p:cNvPicPr>
          <p:nvPr/>
        </p:nvPicPr>
        <p:blipFill>
          <a:blip r:embed="rId3"/>
          <a:stretch>
            <a:fillRect/>
          </a:stretch>
        </p:blipFill>
        <p:spPr>
          <a:xfrm>
            <a:off x="1820437" y="734980"/>
            <a:ext cx="4974063" cy="762845"/>
          </a:xfrm>
          <a:prstGeom prst="rect">
            <a:avLst/>
          </a:prstGeom>
        </p:spPr>
      </p:pic>
      <p:sp>
        <p:nvSpPr>
          <p:cNvPr id="6" name="CuadroTexto 5">
            <a:extLst>
              <a:ext uri="{FF2B5EF4-FFF2-40B4-BE49-F238E27FC236}">
                <a16:creationId xmlns:a16="http://schemas.microsoft.com/office/drawing/2014/main" id="{E9D6BB2D-0263-1468-DFAE-6E4D9C355E47}"/>
              </a:ext>
            </a:extLst>
          </p:cNvPr>
          <p:cNvSpPr txBox="1"/>
          <p:nvPr/>
        </p:nvSpPr>
        <p:spPr>
          <a:xfrm>
            <a:off x="357187" y="296477"/>
            <a:ext cx="6096000" cy="369332"/>
          </a:xfrm>
          <a:prstGeom prst="rect">
            <a:avLst/>
          </a:prstGeom>
          <a:noFill/>
        </p:spPr>
        <p:txBody>
          <a:bodyPr wrap="square">
            <a:spAutoFit/>
          </a:bodyPr>
          <a:lstStyle/>
          <a:p>
            <a:pPr marL="0" marR="0" lvl="0" indent="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la FAC se estima mediante la FAC muestral y se define como:</a:t>
            </a:r>
          </a:p>
        </p:txBody>
      </p:sp>
      <p:sp>
        <p:nvSpPr>
          <p:cNvPr id="7" name="Rectangle 1">
            <a:extLst>
              <a:ext uri="{FF2B5EF4-FFF2-40B4-BE49-F238E27FC236}">
                <a16:creationId xmlns:a16="http://schemas.microsoft.com/office/drawing/2014/main" id="{3C1205EA-D085-52BB-8099-8D4C2F9B8F25}"/>
              </a:ext>
            </a:extLst>
          </p:cNvPr>
          <p:cNvSpPr>
            <a:spLocks noGrp="1" noChangeArrowheads="1"/>
          </p:cNvSpPr>
          <p:nvPr>
            <p:ph type="title"/>
          </p:nvPr>
        </p:nvSpPr>
        <p:spPr>
          <a:xfrm>
            <a:off x="357187" y="1606294"/>
            <a:ext cx="7124700" cy="762845"/>
          </a:xfrm>
          <a:ln/>
        </p:spPr>
        <p:txBody>
          <a:bodyPr/>
          <a:lstStyle/>
          <a:p>
            <a:pP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solidFill>
                <a:latin typeface="Calibri Light" panose="020F0302020204030204" pitchFamily="34" charset="0"/>
              </a:rPr>
              <a:t>El ruido Blanco:</a:t>
            </a:r>
          </a:p>
        </p:txBody>
      </p:sp>
      <p:sp>
        <p:nvSpPr>
          <p:cNvPr id="9" name="CuadroTexto 8">
            <a:extLst>
              <a:ext uri="{FF2B5EF4-FFF2-40B4-BE49-F238E27FC236}">
                <a16:creationId xmlns:a16="http://schemas.microsoft.com/office/drawing/2014/main" id="{2E99EED7-9DE1-8E3F-0C43-20FB9C9FDB22}"/>
              </a:ext>
            </a:extLst>
          </p:cNvPr>
          <p:cNvSpPr txBox="1"/>
          <p:nvPr/>
        </p:nvSpPr>
        <p:spPr>
          <a:xfrm>
            <a:off x="225425" y="2253644"/>
            <a:ext cx="11741150" cy="369332"/>
          </a:xfrm>
          <a:prstGeom prst="rect">
            <a:avLst/>
          </a:prstGeom>
          <a:noFill/>
        </p:spPr>
        <p:txBody>
          <a:bodyPr wrap="square">
            <a:spAutoFit/>
          </a:bodyPr>
          <a:lstStyle/>
          <a:p>
            <a:pPr marR="0" lvl="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El ruido blanco se define como una estado de los residuos en los cuales no interviene e altera en el pronostico e estimación.</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7063DB16-5D6D-619F-EC41-6778CA27750C}"/>
                  </a:ext>
                </a:extLst>
              </p:cNvPr>
              <p:cNvSpPr txBox="1"/>
              <p:nvPr/>
            </p:nvSpPr>
            <p:spPr>
              <a:xfrm>
                <a:off x="2197101" y="2710877"/>
                <a:ext cx="1866899" cy="276999"/>
              </a:xfrm>
              <a:prstGeom prst="rect">
                <a:avLst/>
              </a:prstGeom>
              <a:noFill/>
            </p:spPr>
            <p:txBody>
              <a:bodyPr wrap="square" lIns="0" tIns="0" rIns="0" bIns="0" rtlCol="0">
                <a:spAutoFit/>
              </a:bodyPr>
              <a:lstStyle/>
              <a:p>
                <a:pPr marL="285750" indent="-285750">
                  <a:buFontTx/>
                  <a:buChar char="-"/>
                </a:pPr>
                <a14:m>
                  <m:oMath xmlns:m="http://schemas.openxmlformats.org/officeDocument/2006/math">
                    <m:r>
                      <m:rPr>
                        <m:sty m:val="p"/>
                      </m:rPr>
                      <a:rPr lang="en-US" b="0" i="0" smtClean="0">
                        <a:solidFill>
                          <a:schemeClr val="bg1"/>
                        </a:solidFill>
                        <a:latin typeface="Cambria Math" panose="02040503050406030204" pitchFamily="18" charset="0"/>
                      </a:rPr>
                      <m:t>e</m:t>
                    </m:r>
                    <m:r>
                      <a:rPr lang="en-US" b="0" i="0" smtClean="0">
                        <a:solidFill>
                          <a:schemeClr val="bg1"/>
                        </a:solidFill>
                        <a:latin typeface="Cambria Math" panose="02040503050406030204" pitchFamily="18" charset="0"/>
                      </a:rPr>
                      <m:t>=</m:t>
                    </m:r>
                    <m:r>
                      <m:rPr>
                        <m:sty m:val="p"/>
                      </m:rPr>
                      <a:rPr lang="en-US" b="0" i="0" smtClean="0">
                        <a:solidFill>
                          <a:schemeClr val="bg1"/>
                        </a:solidFill>
                        <a:latin typeface="Cambria Math" panose="02040503050406030204" pitchFamily="18" charset="0"/>
                      </a:rPr>
                      <m:t>E</m:t>
                    </m:r>
                    <m:d>
                      <m:dPr>
                        <m:begChr m:val="["/>
                        <m:endChr m:val="]"/>
                        <m:ctrlPr>
                          <a:rPr lang="en-US" b="0" i="1" smtClean="0">
                            <a:solidFill>
                              <a:schemeClr val="bg1"/>
                            </a:solidFill>
                            <a:latin typeface="Cambria Math" panose="02040503050406030204" pitchFamily="18" charset="0"/>
                          </a:rPr>
                        </m:ctrlPr>
                      </m:dP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𝑌</m:t>
                            </m:r>
                          </m:e>
                          <m:sub>
                            <m:r>
                              <a:rPr lang="en-US" b="0" i="1" smtClean="0">
                                <a:solidFill>
                                  <a:schemeClr val="bg1"/>
                                </a:solidFill>
                                <a:latin typeface="Cambria Math" panose="02040503050406030204" pitchFamily="18" charset="0"/>
                              </a:rPr>
                              <m:t>𝑡</m:t>
                            </m:r>
                          </m:sub>
                        </m:sSub>
                      </m:e>
                    </m:d>
                    <m:r>
                      <a:rPr lang="en-US" b="0" i="1" smtClean="0">
                        <a:solidFill>
                          <a:schemeClr val="bg1"/>
                        </a:solidFill>
                        <a:latin typeface="Cambria Math" panose="02040503050406030204" pitchFamily="18" charset="0"/>
                      </a:rPr>
                      <m:t>=0 </m:t>
                    </m:r>
                  </m:oMath>
                </a14:m>
                <a:endParaRPr lang="en-US" b="0" i="1" dirty="0">
                  <a:solidFill>
                    <a:schemeClr val="bg1"/>
                  </a:solidFill>
                  <a:latin typeface="Cambria Math" panose="02040503050406030204" pitchFamily="18" charset="0"/>
                </a:endParaRPr>
              </a:p>
            </p:txBody>
          </p:sp>
        </mc:Choice>
        <mc:Fallback xmlns="">
          <p:sp>
            <p:nvSpPr>
              <p:cNvPr id="10" name="CuadroTexto 9">
                <a:extLst>
                  <a:ext uri="{FF2B5EF4-FFF2-40B4-BE49-F238E27FC236}">
                    <a16:creationId xmlns:a16="http://schemas.microsoft.com/office/drawing/2014/main" id="{7063DB16-5D6D-619F-EC41-6778CA27750C}"/>
                  </a:ext>
                </a:extLst>
              </p:cNvPr>
              <p:cNvSpPr txBox="1">
                <a:spLocks noRot="1" noChangeAspect="1" noMove="1" noResize="1" noEditPoints="1" noAdjustHandles="1" noChangeArrowheads="1" noChangeShapeType="1" noTextEdit="1"/>
              </p:cNvSpPr>
              <p:nvPr/>
            </p:nvSpPr>
            <p:spPr>
              <a:xfrm>
                <a:off x="2197101" y="2710877"/>
                <a:ext cx="1866899" cy="276999"/>
              </a:xfrm>
              <a:prstGeom prst="rect">
                <a:avLst/>
              </a:prstGeom>
              <a:blipFill>
                <a:blip r:embed="rId4"/>
                <a:stretch>
                  <a:fillRect l="-7166" t="-26667" b="-4666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3B4CEA70-166A-A3D9-950F-FD96A9C52621}"/>
                  </a:ext>
                </a:extLst>
              </p:cNvPr>
              <p:cNvSpPr txBox="1"/>
              <p:nvPr/>
            </p:nvSpPr>
            <p:spPr>
              <a:xfrm>
                <a:off x="7421136" y="2710877"/>
                <a:ext cx="2349500" cy="374783"/>
              </a:xfrm>
              <a:prstGeom prst="rect">
                <a:avLst/>
              </a:prstGeom>
              <a:noFill/>
            </p:spPr>
            <p:txBody>
              <a:bodyPr wrap="square">
                <a:spAutoFit/>
              </a:bodyPr>
              <a:lstStyle/>
              <a:p>
                <a:pPr marL="285750" indent="-285750">
                  <a:buFontTx/>
                  <a:buChar char="-"/>
                </a:pPr>
                <a14:m>
                  <m:oMath xmlns:m="http://schemas.openxmlformats.org/officeDocument/2006/math">
                    <m:sSubSup>
                      <m:sSubSupPr>
                        <m:ctrlPr>
                          <a:rPr lang="es-MX" i="1" smtClean="0">
                            <a:solidFill>
                              <a:schemeClr val="bg1"/>
                            </a:solidFill>
                            <a:latin typeface="Cambria Math" panose="02040503050406030204" pitchFamily="18" charset="0"/>
                          </a:rPr>
                        </m:ctrlPr>
                      </m:sSubSupPr>
                      <m:e>
                        <m:r>
                          <a:rPr lang="en-US" b="0" i="1" smtClean="0">
                            <a:solidFill>
                              <a:schemeClr val="bg1"/>
                            </a:solidFill>
                            <a:latin typeface="Cambria Math" panose="02040503050406030204" pitchFamily="18" charset="0"/>
                          </a:rPr>
                          <m:t>𝑔</m:t>
                        </m:r>
                      </m:e>
                      <m:sub>
                        <m:r>
                          <a:rPr lang="en-US" b="0" i="1" smtClean="0">
                            <a:solidFill>
                              <a:schemeClr val="bg1"/>
                            </a:solidFill>
                            <a:latin typeface="Cambria Math" panose="02040503050406030204" pitchFamily="18" charset="0"/>
                          </a:rPr>
                          <m:t>0</m:t>
                        </m:r>
                      </m:sub>
                      <m:sup>
                        <m:r>
                          <a:rPr lang="en-US" b="0" i="1" smtClean="0">
                            <a:solidFill>
                              <a:schemeClr val="bg1"/>
                            </a:solidFill>
                            <a:latin typeface="Cambria Math" panose="02040503050406030204" pitchFamily="18" charset="0"/>
                          </a:rPr>
                          <m:t>2</m:t>
                        </m:r>
                      </m:sup>
                    </m:sSubSup>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𝑉𝑎𝑟</m:t>
                    </m:r>
                    <m:d>
                      <m:dPr>
                        <m:ctrlPr>
                          <a:rPr lang="en-US" b="0" i="1" smtClean="0">
                            <a:solidFill>
                              <a:schemeClr val="bg1"/>
                            </a:solidFill>
                            <a:latin typeface="Cambria Math" panose="02040503050406030204" pitchFamily="18" charset="0"/>
                          </a:rPr>
                        </m:ctrlPr>
                      </m:dP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𝑌</m:t>
                            </m:r>
                          </m:e>
                          <m:sub>
                            <m:r>
                              <a:rPr lang="en-US" b="0" i="1" smtClean="0">
                                <a:solidFill>
                                  <a:schemeClr val="bg1"/>
                                </a:solidFill>
                                <a:latin typeface="Cambria Math" panose="02040503050406030204" pitchFamily="18" charset="0"/>
                              </a:rPr>
                              <m:t>𝑡</m:t>
                            </m:r>
                          </m:sub>
                        </m:sSub>
                      </m:e>
                    </m:d>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𝜎</m:t>
                    </m:r>
                  </m:oMath>
                </a14:m>
                <a:endParaRPr lang="es-MX" dirty="0">
                  <a:solidFill>
                    <a:schemeClr val="bg1"/>
                  </a:solidFill>
                </a:endParaRPr>
              </a:p>
            </p:txBody>
          </p:sp>
        </mc:Choice>
        <mc:Fallback xmlns="">
          <p:sp>
            <p:nvSpPr>
              <p:cNvPr id="12" name="CuadroTexto 11">
                <a:extLst>
                  <a:ext uri="{FF2B5EF4-FFF2-40B4-BE49-F238E27FC236}">
                    <a16:creationId xmlns:a16="http://schemas.microsoft.com/office/drawing/2014/main" id="{3B4CEA70-166A-A3D9-950F-FD96A9C52621}"/>
                  </a:ext>
                </a:extLst>
              </p:cNvPr>
              <p:cNvSpPr txBox="1">
                <a:spLocks noRot="1" noChangeAspect="1" noMove="1" noResize="1" noEditPoints="1" noAdjustHandles="1" noChangeArrowheads="1" noChangeShapeType="1" noTextEdit="1"/>
              </p:cNvSpPr>
              <p:nvPr/>
            </p:nvSpPr>
            <p:spPr>
              <a:xfrm>
                <a:off x="7421136" y="2710877"/>
                <a:ext cx="2349500" cy="374783"/>
              </a:xfrm>
              <a:prstGeom prst="rect">
                <a:avLst/>
              </a:prstGeom>
              <a:blipFill>
                <a:blip r:embed="rId5"/>
                <a:stretch>
                  <a:fillRect l="-1813" t="-6557" b="-21311"/>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E81CA2F3-DFFF-2F7A-A6A2-96365393284B}"/>
                  </a:ext>
                </a:extLst>
              </p:cNvPr>
              <p:cNvSpPr txBox="1"/>
              <p:nvPr/>
            </p:nvSpPr>
            <p:spPr>
              <a:xfrm>
                <a:off x="4332868" y="2710877"/>
                <a:ext cx="2819400" cy="369332"/>
              </a:xfrm>
              <a:prstGeom prst="rect">
                <a:avLst/>
              </a:prstGeom>
              <a:noFill/>
            </p:spPr>
            <p:txBody>
              <a:bodyPr wrap="square">
                <a:spAutoFit/>
              </a:bodyPr>
              <a:lstStyle/>
              <a:p>
                <a:pPr marL="285750" indent="-285750">
                  <a:buFontTx/>
                  <a:buChar char="-"/>
                </a:pPr>
                <a14:m>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𝑔</m:t>
                        </m:r>
                      </m:e>
                      <m:sub>
                        <m:r>
                          <a:rPr lang="en-US" b="0" i="1" smtClean="0">
                            <a:solidFill>
                              <a:schemeClr val="bg1"/>
                            </a:solidFill>
                            <a:latin typeface="Cambria Math" panose="02040503050406030204" pitchFamily="18" charset="0"/>
                          </a:rPr>
                          <m:t>𝑘</m:t>
                        </m:r>
                      </m:sub>
                    </m:sSub>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𝐶𝑜𝑣</m:t>
                    </m:r>
                    <m:d>
                      <m:dPr>
                        <m:ctrlPr>
                          <a:rPr lang="en-US" b="0" i="1" smtClean="0">
                            <a:solidFill>
                              <a:schemeClr val="bg1"/>
                            </a:solidFill>
                            <a:latin typeface="Cambria Math" panose="02040503050406030204" pitchFamily="18" charset="0"/>
                          </a:rPr>
                        </m:ctrlPr>
                      </m:dP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𝑌</m:t>
                            </m:r>
                          </m:e>
                          <m:sub>
                            <m:r>
                              <a:rPr lang="en-US" b="0" i="1" smtClean="0">
                                <a:solidFill>
                                  <a:schemeClr val="bg1"/>
                                </a:solidFill>
                                <a:latin typeface="Cambria Math" panose="02040503050406030204" pitchFamily="18" charset="0"/>
                              </a:rPr>
                              <m:t>𝑡</m:t>
                            </m:r>
                          </m:sub>
                        </m:sSub>
                        <m:r>
                          <a:rPr lang="en-US" b="0" i="1" smtClean="0">
                            <a:solidFill>
                              <a:schemeClr val="bg1"/>
                            </a:solidFill>
                            <a:latin typeface="Cambria Math" panose="02040503050406030204" pitchFamily="18" charset="0"/>
                          </a:rPr>
                          <m:t>, </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𝑌</m:t>
                            </m:r>
                          </m:e>
                          <m:sub>
                            <m:r>
                              <a:rPr lang="en-US" b="0" i="1" smtClean="0">
                                <a:solidFill>
                                  <a:schemeClr val="bg1"/>
                                </a:solidFill>
                                <a:latin typeface="Cambria Math" panose="02040503050406030204" pitchFamily="18" charset="0"/>
                              </a:rPr>
                              <m:t>𝑡</m:t>
                            </m:r>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𝑘</m:t>
                            </m:r>
                          </m:sub>
                        </m:sSub>
                      </m:e>
                    </m:d>
                    <m:r>
                      <a:rPr lang="en-US" b="0" i="1" smtClean="0">
                        <a:solidFill>
                          <a:schemeClr val="bg1"/>
                        </a:solidFill>
                        <a:latin typeface="Cambria Math" panose="02040503050406030204" pitchFamily="18" charset="0"/>
                      </a:rPr>
                      <m:t>=0</m:t>
                    </m:r>
                  </m:oMath>
                </a14:m>
                <a:endParaRPr lang="es-MX" dirty="0">
                  <a:solidFill>
                    <a:schemeClr val="bg1"/>
                  </a:solidFill>
                </a:endParaRPr>
              </a:p>
            </p:txBody>
          </p:sp>
        </mc:Choice>
        <mc:Fallback xmlns="">
          <p:sp>
            <p:nvSpPr>
              <p:cNvPr id="14" name="CuadroTexto 13">
                <a:extLst>
                  <a:ext uri="{FF2B5EF4-FFF2-40B4-BE49-F238E27FC236}">
                    <a16:creationId xmlns:a16="http://schemas.microsoft.com/office/drawing/2014/main" id="{E81CA2F3-DFFF-2F7A-A6A2-96365393284B}"/>
                  </a:ext>
                </a:extLst>
              </p:cNvPr>
              <p:cNvSpPr txBox="1">
                <a:spLocks noRot="1" noChangeAspect="1" noMove="1" noResize="1" noEditPoints="1" noAdjustHandles="1" noChangeArrowheads="1" noChangeShapeType="1" noTextEdit="1"/>
              </p:cNvSpPr>
              <p:nvPr/>
            </p:nvSpPr>
            <p:spPr>
              <a:xfrm>
                <a:off x="4332868" y="2710877"/>
                <a:ext cx="2819400" cy="369332"/>
              </a:xfrm>
              <a:prstGeom prst="rect">
                <a:avLst/>
              </a:prstGeom>
              <a:blipFill>
                <a:blip r:embed="rId6"/>
                <a:stretch>
                  <a:fillRect l="-1732" t="-8333" b="-21667"/>
                </a:stretch>
              </a:blipFill>
            </p:spPr>
            <p:txBody>
              <a:bodyPr/>
              <a:lstStyle/>
              <a:p>
                <a:r>
                  <a:rPr lang="es-MX">
                    <a:noFill/>
                  </a:rPr>
                  <a:t> </a:t>
                </a:r>
              </a:p>
            </p:txBody>
          </p:sp>
        </mc:Fallback>
      </mc:AlternateContent>
      <p:sp>
        <p:nvSpPr>
          <p:cNvPr id="22530" name="Text Box 2">
            <a:extLst>
              <a:ext uri="{FF2B5EF4-FFF2-40B4-BE49-F238E27FC236}">
                <a16:creationId xmlns:a16="http://schemas.microsoft.com/office/drawing/2014/main" id="{A32D2497-F343-7D72-3730-AD68DD4FF48D}"/>
              </a:ext>
            </a:extLst>
          </p:cNvPr>
          <p:cNvSpPr txBox="1">
            <a:spLocks noChangeArrowheads="1"/>
          </p:cNvSpPr>
          <p:nvPr/>
        </p:nvSpPr>
        <p:spPr bwMode="auto">
          <a:xfrm>
            <a:off x="346655" y="3075777"/>
            <a:ext cx="5243513" cy="995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285750" marR="0" lvl="0" indent="-285750" algn="just" defTabSz="914400" rtl="0" eaLnBrk="1" fontAlgn="base" latinLnBrk="0" hangingPunct="1">
              <a:lnSpc>
                <a:spcPct val="100000"/>
              </a:lnSpc>
              <a:spcBef>
                <a:spcPts val="13"/>
              </a:spcBef>
              <a:spcAft>
                <a:spcPts val="10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1" i="0" u="none" strike="noStrike" kern="1200" cap="none" spc="0" normalizeH="0" baseline="0" noProof="0" dirty="0">
                <a:ln>
                  <a:noFill/>
                </a:ln>
                <a:solidFill>
                  <a:srgbClr val="FFFFFF"/>
                </a:solidFill>
                <a:effectLst/>
                <a:uLnTx/>
                <a:uFillTx/>
                <a:latin typeface="Calibri" panose="020F0502020204030204" pitchFamily="34" charset="0"/>
                <a:ea typeface="+mn-ea"/>
              </a:rPr>
              <a:t>Nota:</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En este tipo de proceso, su </a:t>
            </a:r>
            <a:r>
              <a:rPr kumimoji="0" lang="es-MX"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correlograma</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se reduce puramente a un segmento de longitud unitaria sobre el eje de ordenadas</a:t>
            </a:r>
            <a:r>
              <a:rPr lang="es-MX" altLang="es-MX" dirty="0">
                <a:solidFill>
                  <a:srgbClr val="FFFFFF"/>
                </a:solidFill>
                <a:latin typeface="Calibri" panose="020F0502020204030204" pitchFamily="34" charset="0"/>
              </a:rPr>
              <a:t> (en </a:t>
            </a:r>
            <a:r>
              <a:rPr lang="es-MX" altLang="es-MX" dirty="0" err="1">
                <a:solidFill>
                  <a:srgbClr val="FFFFFF"/>
                </a:solidFill>
                <a:latin typeface="Calibri" panose="020F0502020204030204" pitchFamily="34" charset="0"/>
              </a:rPr>
              <a:t>teoria</a:t>
            </a:r>
            <a:r>
              <a:rPr lang="es-MX" altLang="es-MX" dirty="0">
                <a:solidFill>
                  <a:srgbClr val="FFFFFF"/>
                </a:solidFill>
                <a:latin typeface="Calibri" panose="020F0502020204030204" pitchFamily="34" charset="0"/>
              </a:rPr>
              <a:t>).</a:t>
            </a:r>
            <a:endPar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p:sp>
        <p:nvSpPr>
          <p:cNvPr id="15" name="Rectangle 1">
            <a:extLst>
              <a:ext uri="{FF2B5EF4-FFF2-40B4-BE49-F238E27FC236}">
                <a16:creationId xmlns:a16="http://schemas.microsoft.com/office/drawing/2014/main" id="{CA53B048-79B0-AD98-5497-CB7D5E918F55}"/>
              </a:ext>
            </a:extLst>
          </p:cNvPr>
          <p:cNvSpPr txBox="1">
            <a:spLocks noChangeArrowheads="1"/>
          </p:cNvSpPr>
          <p:nvPr/>
        </p:nvSpPr>
        <p:spPr bwMode="auto">
          <a:xfrm>
            <a:off x="5700469" y="3309625"/>
            <a:ext cx="6491531" cy="13195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fontAlgn="base">
              <a:lnSpc>
                <a:spcPct val="83000"/>
              </a:lnSpc>
              <a:spcBef>
                <a:spcPts val="13"/>
              </a:spcBef>
              <a:spcAft>
                <a:spcPts val="13"/>
              </a:spcAft>
              <a:buClr>
                <a:srgbClr val="000000"/>
              </a:buClr>
              <a:buSzPct val="100000"/>
              <a:buFont typeface="Times New Roman" panose="02020603050405020304" pitchFamily="18" charset="0"/>
              <a:defRPr kern="1200">
                <a:solidFill>
                  <a:srgbClr val="FFFFFF"/>
                </a:solidFill>
                <a:latin typeface="+mj-lt"/>
                <a:ea typeface="+mj-ea"/>
                <a:cs typeface="+mj-cs"/>
              </a:defRPr>
            </a:lvl1pPr>
            <a:lvl2pPr marL="742950" indent="-28575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2pPr>
            <a:lvl3pPr marL="1143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3pPr>
            <a:lvl4pPr marL="1600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4pPr>
            <a:lvl5pPr marL="20574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5pPr>
            <a:lvl6pPr marL="25146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6pPr>
            <a:lvl7pPr marL="29718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7pPr>
            <a:lvl8pPr marL="34290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8pPr>
            <a:lvl9pPr marL="3886200" indent="-228600" algn="l" rtl="0" fontAlgn="base">
              <a:lnSpc>
                <a:spcPct val="83000"/>
              </a:lnSpc>
              <a:spcBef>
                <a:spcPts val="13"/>
              </a:spcBef>
              <a:spcAft>
                <a:spcPts val="13"/>
              </a:spcAft>
              <a:buClr>
                <a:srgbClr val="000000"/>
              </a:buClr>
              <a:buSzPct val="100000"/>
              <a:buFont typeface="Times New Roman" panose="02020603050405020304" pitchFamily="18" charset="0"/>
              <a:defRPr>
                <a:solidFill>
                  <a:srgbClr val="FFFFFF"/>
                </a:solidFill>
                <a:latin typeface="Calibri" panose="020F0502020204030204" pitchFamily="34" charset="0"/>
                <a:cs typeface="DejaVu Sans" charset="0"/>
              </a:defRPr>
            </a:lvl9pPr>
          </a:lstStyle>
          <a:p>
            <a:pPr algn="ct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200" dirty="0">
                <a:solidFill>
                  <a:schemeClr val="accent1"/>
                </a:solidFill>
                <a:latin typeface="Calibri Light" panose="020F0302020204030204" pitchFamily="34" charset="0"/>
              </a:rPr>
              <a:t>Función de autocorrelación parcial </a:t>
            </a:r>
            <a:r>
              <a:rPr lang="es-MX" altLang="es-MX" sz="3200" i="1" dirty="0">
                <a:solidFill>
                  <a:schemeClr val="accent1"/>
                </a:solidFill>
                <a:latin typeface="Calibri Light" panose="020F0302020204030204" pitchFamily="34" charset="0"/>
              </a:rPr>
              <a:t>(FACP)</a:t>
            </a:r>
            <a:r>
              <a:rPr lang="es-MX" altLang="es-MX" sz="3200" dirty="0">
                <a:solidFill>
                  <a:schemeClr val="accent1"/>
                </a:solidFill>
                <a:latin typeface="Calibri Light" panose="020F0302020204030204" pitchFamily="34" charset="0"/>
              </a:rPr>
              <a:t> en procesos estacionarios</a:t>
            </a:r>
          </a:p>
        </p:txBody>
      </p:sp>
      <p:sp>
        <p:nvSpPr>
          <p:cNvPr id="16" name="Text Box 2">
            <a:extLst>
              <a:ext uri="{FF2B5EF4-FFF2-40B4-BE49-F238E27FC236}">
                <a16:creationId xmlns:a16="http://schemas.microsoft.com/office/drawing/2014/main" id="{0AF41C49-E529-24F5-D2BC-71C69B73015D}"/>
              </a:ext>
            </a:extLst>
          </p:cNvPr>
          <p:cNvSpPr txBox="1">
            <a:spLocks noChangeArrowheads="1"/>
          </p:cNvSpPr>
          <p:nvPr/>
        </p:nvSpPr>
        <p:spPr bwMode="auto">
          <a:xfrm>
            <a:off x="346655" y="4436039"/>
            <a:ext cx="11619920" cy="995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285750" marR="0" lvl="0" indent="-285750" algn="just" defTabSz="914400" rtl="0" eaLnBrk="1" fontAlgn="base" latinLnBrk="0" hangingPunct="1">
              <a:lnSpc>
                <a:spcPct val="100000"/>
              </a:lnSpc>
              <a:spcBef>
                <a:spcPts val="13"/>
              </a:spcBef>
              <a:spcAft>
                <a:spcPts val="10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Otro</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tipo</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de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correlograma</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que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nos</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ayuda</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determinar</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la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estacionalidad</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de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una</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serie</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de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tiemposque</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tiene</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una</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iteracion</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especial…</a:t>
            </a:r>
            <a:endPar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p:sp>
        <p:nvSpPr>
          <p:cNvPr id="21" name="Text Box 2">
            <a:extLst>
              <a:ext uri="{FF2B5EF4-FFF2-40B4-BE49-F238E27FC236}">
                <a16:creationId xmlns:a16="http://schemas.microsoft.com/office/drawing/2014/main" id="{D7A013B4-059F-29FF-E7FD-7751436BDE19}"/>
              </a:ext>
            </a:extLst>
          </p:cNvPr>
          <p:cNvSpPr txBox="1">
            <a:spLocks noChangeArrowheads="1"/>
          </p:cNvSpPr>
          <p:nvPr/>
        </p:nvSpPr>
        <p:spPr bwMode="auto">
          <a:xfrm>
            <a:off x="1771541" y="5165809"/>
            <a:ext cx="4324459" cy="522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285750" marR="0" lvl="0" indent="-285750" algn="just" defTabSz="914400" rtl="0" eaLnBrk="1" fontAlgn="base" latinLnBrk="0" hangingPunct="1">
              <a:lnSpc>
                <a:spcPct val="100000"/>
              </a:lnSpc>
              <a:spcBef>
                <a:spcPts val="13"/>
              </a:spcBef>
              <a:spcAft>
                <a:spcPts val="10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Aplicamos</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una</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transformacion</a:t>
            </a:r>
            <a:r>
              <a:rPr lang="en-US" altLang="es-MX" dirty="0">
                <a:solidFill>
                  <a:srgbClr val="FFFFFF"/>
                </a:solidFill>
                <a:latin typeface="Calibri" panose="020F0502020204030204" pitchFamily="34" charset="0"/>
              </a:rPr>
              <a:t> a la </a:t>
            </a:r>
            <a:r>
              <a:rPr lang="en-US" altLang="es-MX" dirty="0" err="1">
                <a:solidFill>
                  <a:srgbClr val="FFFFFF"/>
                </a:solidFill>
                <a:latin typeface="Calibri" panose="020F0502020204030204" pitchFamily="34" charset="0"/>
              </a:rPr>
              <a:t>serie</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a:t>
            </a:r>
            <a:endPar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A2D045C5-A247-2BBA-39A1-A5A9029D4DB6}"/>
                  </a:ext>
                </a:extLst>
              </p:cNvPr>
              <p:cNvSpPr txBox="1"/>
              <p:nvPr/>
            </p:nvSpPr>
            <p:spPr>
              <a:xfrm>
                <a:off x="5779316" y="5315800"/>
                <a:ext cx="3157596" cy="276999"/>
              </a:xfrm>
              <a:prstGeom prst="rect">
                <a:avLst/>
              </a:prstGeom>
              <a:noFill/>
            </p:spPr>
            <p:txBody>
              <a:bodyPr wrap="none" lIns="0" tIns="0" rIns="0" bIns="0" rtlCol="0">
                <a:spAutoFit/>
              </a:bodyPr>
              <a:lstStyle/>
              <a:p>
                <a:r>
                  <a:rPr lang="es-MX" dirty="0">
                    <a:solidFill>
                      <a:schemeClr val="bg1"/>
                    </a:solidFill>
                  </a:rPr>
                  <a:t> </a:t>
                </a:r>
                <a14:m>
                  <m:oMath xmlns:m="http://schemas.openxmlformats.org/officeDocument/2006/math">
                    <m:sSub>
                      <m:sSubPr>
                        <m:ctrlPr>
                          <a:rPr lang="en-US" b="0" i="1" smtClean="0">
                            <a:solidFill>
                              <a:schemeClr val="bg1"/>
                            </a:solidFill>
                            <a:latin typeface="Cambria Math" panose="02040503050406030204" pitchFamily="18" charset="0"/>
                          </a:rPr>
                        </m:ctrlPr>
                      </m:sSubPr>
                      <m:e>
                        <m:r>
                          <m:rPr>
                            <m:sty m:val="p"/>
                          </m:rPr>
                          <a:rPr lang="en-US" b="0" i="0" smtClean="0">
                            <a:solidFill>
                              <a:schemeClr val="bg1"/>
                            </a:solidFill>
                            <a:latin typeface="Cambria Math" panose="02040503050406030204" pitchFamily="18" charset="0"/>
                          </a:rPr>
                          <m:t>W</m:t>
                        </m:r>
                      </m:e>
                      <m:sub>
                        <m:r>
                          <a:rPr lang="en-US" b="0" i="1" smtClean="0">
                            <a:solidFill>
                              <a:schemeClr val="bg1"/>
                            </a:solidFill>
                            <a:latin typeface="Cambria Math" panose="02040503050406030204" pitchFamily="18" charset="0"/>
                          </a:rPr>
                          <m:t>𝑡</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𝑌</m:t>
                        </m:r>
                      </m:e>
                      <m:sub>
                        <m:r>
                          <a:rPr lang="en-US" b="0" i="1" smtClean="0">
                            <a:solidFill>
                              <a:schemeClr val="bg1"/>
                            </a:solidFill>
                            <a:latin typeface="Cambria Math" panose="02040503050406030204" pitchFamily="18" charset="0"/>
                          </a:rPr>
                          <m:t>𝑡</m:t>
                        </m:r>
                      </m:sub>
                    </m:sSub>
                    <m:r>
                      <a:rPr lang="en-US" b="0" i="1" smtClean="0">
                        <a:solidFill>
                          <a:schemeClr val="bg1"/>
                        </a:solidFill>
                        <a:latin typeface="Cambria Math" panose="02040503050406030204" pitchFamily="18" charset="0"/>
                      </a:rPr>
                      <m:t> − </m:t>
                    </m:r>
                    <m:acc>
                      <m:accPr>
                        <m:chr m:val="̅"/>
                        <m:ctrlPr>
                          <a:rPr lang="en-US" b="0" i="1" smtClean="0">
                            <a:solidFill>
                              <a:schemeClr val="bg1"/>
                            </a:solidFill>
                            <a:latin typeface="Cambria Math" panose="02040503050406030204" pitchFamily="18" charset="0"/>
                          </a:rPr>
                        </m:ctrlPr>
                      </m:accPr>
                      <m:e>
                        <m:r>
                          <a:rPr lang="en-US" b="0" i="1" smtClean="0">
                            <a:solidFill>
                              <a:schemeClr val="bg1"/>
                            </a:solidFill>
                            <a:latin typeface="Cambria Math" panose="02040503050406030204" pitchFamily="18" charset="0"/>
                          </a:rPr>
                          <m:t>𝑌</m:t>
                        </m:r>
                      </m:e>
                    </m:acc>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𝑃𝑎𝑟𝑎</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𝑡</m:t>
                    </m:r>
                    <m:r>
                      <a:rPr lang="en-US" b="0" i="1" smtClean="0">
                        <a:solidFill>
                          <a:schemeClr val="bg1"/>
                        </a:solidFill>
                        <a:latin typeface="Cambria Math" panose="02040503050406030204" pitchFamily="18" charset="0"/>
                      </a:rPr>
                      <m:t>&gt;0</m:t>
                    </m:r>
                  </m:oMath>
                </a14:m>
                <a:endParaRPr lang="es-MX" dirty="0">
                  <a:solidFill>
                    <a:schemeClr val="bg1"/>
                  </a:solidFill>
                </a:endParaRPr>
              </a:p>
            </p:txBody>
          </p:sp>
        </mc:Choice>
        <mc:Fallback xmlns="">
          <p:sp>
            <p:nvSpPr>
              <p:cNvPr id="22" name="CuadroTexto 21">
                <a:extLst>
                  <a:ext uri="{FF2B5EF4-FFF2-40B4-BE49-F238E27FC236}">
                    <a16:creationId xmlns:a16="http://schemas.microsoft.com/office/drawing/2014/main" id="{A2D045C5-A247-2BBA-39A1-A5A9029D4DB6}"/>
                  </a:ext>
                </a:extLst>
              </p:cNvPr>
              <p:cNvSpPr txBox="1">
                <a:spLocks noRot="1" noChangeAspect="1" noMove="1" noResize="1" noEditPoints="1" noAdjustHandles="1" noChangeArrowheads="1" noChangeShapeType="1" noTextEdit="1"/>
              </p:cNvSpPr>
              <p:nvPr/>
            </p:nvSpPr>
            <p:spPr>
              <a:xfrm>
                <a:off x="5779316" y="5315800"/>
                <a:ext cx="3157596" cy="276999"/>
              </a:xfrm>
              <a:prstGeom prst="rect">
                <a:avLst/>
              </a:prstGeom>
              <a:blipFill>
                <a:blip r:embed="rId7"/>
                <a:stretch>
                  <a:fillRect l="-772" t="-4444" r="-1737" b="-15556"/>
                </a:stretch>
              </a:blipFill>
            </p:spPr>
            <p:txBody>
              <a:bodyPr/>
              <a:lstStyle/>
              <a:p>
                <a:r>
                  <a:rPr lang="es-MX">
                    <a:noFill/>
                  </a:rPr>
                  <a:t> </a:t>
                </a:r>
              </a:p>
            </p:txBody>
          </p:sp>
        </mc:Fallback>
      </mc:AlternateContent>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02CC53FA-41BB-FAD0-0923-2DE95F980968}"/>
                  </a:ext>
                </a:extLst>
              </p:cNvPr>
              <p:cNvSpPr txBox="1"/>
              <p:nvPr/>
            </p:nvSpPr>
            <p:spPr>
              <a:xfrm>
                <a:off x="281996" y="297201"/>
                <a:ext cx="10081204" cy="394532"/>
              </a:xfrm>
              <a:prstGeom prst="rect">
                <a:avLst/>
              </a:prstGeom>
              <a:noFill/>
            </p:spPr>
            <p:txBody>
              <a:bodyPr wrap="square">
                <a:spAutoFit/>
              </a:bodyPr>
              <a:lstStyle/>
              <a:p>
                <a:pPr marL="285750" lvl="0" indent="-285750" fontAlgn="base">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lang="es-MX" altLang="es-MX" dirty="0">
                    <a:solidFill>
                      <a:srgbClr val="FFFFFF"/>
                    </a:solidFill>
                    <a:latin typeface="Calibri" panose="020F0502020204030204" pitchFamily="34" charset="0"/>
                  </a:rPr>
                  <a:t>E</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l primer término de la FACP</a:t>
                </a:r>
                <a:r>
                  <a:rPr lang="es-MX" altLang="es-MX" dirty="0">
                    <a:solidFill>
                      <a:srgbClr val="FFFFFF"/>
                    </a:solidFill>
                    <a:latin typeface="Calibri" panose="020F0502020204030204" pitchFamily="34" charset="0"/>
                  </a:rPr>
                  <a:t> </a:t>
                </a:r>
                <a14:m>
                  <m:oMath xmlns:m="http://schemas.openxmlformats.org/officeDocument/2006/math">
                    <m:sSub>
                      <m:sSubPr>
                        <m:ctrlPr>
                          <a:rPr lang="en-US" altLang="es-MX" b="0" i="1" smtClean="0">
                            <a:solidFill>
                              <a:srgbClr val="FFFFFF"/>
                            </a:solidFill>
                            <a:latin typeface="Cambria Math" panose="02040503050406030204" pitchFamily="18" charset="0"/>
                          </a:rPr>
                        </m:ctrlPr>
                      </m:sSubPr>
                      <m:e>
                        <m:r>
                          <a:rPr lang="en-US" altLang="es-MX" b="0" i="1" smtClean="0">
                            <a:solidFill>
                              <a:srgbClr val="FFFFFF"/>
                            </a:solidFill>
                            <a:latin typeface="Cambria Math" panose="02040503050406030204" pitchFamily="18" charset="0"/>
                          </a:rPr>
                          <m:t>𝜙</m:t>
                        </m:r>
                      </m:e>
                      <m:sub>
                        <m:r>
                          <a:rPr lang="en-US" altLang="es-MX" b="0" i="1" smtClean="0">
                            <a:solidFill>
                              <a:srgbClr val="FFFFFF"/>
                            </a:solidFill>
                            <a:latin typeface="Cambria Math" panose="02040503050406030204" pitchFamily="18" charset="0"/>
                          </a:rPr>
                          <m:t>1,1</m:t>
                        </m:r>
                      </m:sub>
                    </m:sSub>
                  </m:oMath>
                </a14:m>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será el coeficiente de la regresión:   </a:t>
                </a:r>
                <a14:m>
                  <m:oMath xmlns:m="http://schemas.openxmlformats.org/officeDocument/2006/math">
                    <m:sSub>
                      <m:sSubPr>
                        <m:ctrlPr>
                          <a:rPr lang="en-US" i="1">
                            <a:solidFill>
                              <a:schemeClr val="bg1"/>
                            </a:solidFill>
                            <a:latin typeface="Cambria Math" panose="02040503050406030204" pitchFamily="18" charset="0"/>
                          </a:rPr>
                        </m:ctrlPr>
                      </m:sSubPr>
                      <m:e>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𝜇</m:t>
                            </m:r>
                          </m:e>
                          <m:sub>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𝑊</m:t>
                                </m:r>
                              </m:e>
                              <m:sub>
                                <m:r>
                                  <a:rPr lang="en-US" i="1">
                                    <a:solidFill>
                                      <a:schemeClr val="bg1"/>
                                    </a:solidFill>
                                    <a:latin typeface="Cambria Math" panose="02040503050406030204" pitchFamily="18" charset="0"/>
                                  </a:rPr>
                                  <m:t>𝑡</m:t>
                                </m:r>
                              </m:sub>
                            </m:sSub>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𝑊</m:t>
                                </m:r>
                              </m:e>
                              <m:sub>
                                <m:r>
                                  <a:rPr lang="en-US" i="1">
                                    <a:solidFill>
                                      <a:schemeClr val="bg1"/>
                                    </a:solidFill>
                                    <a:latin typeface="Cambria Math" panose="02040503050406030204" pitchFamily="18" charset="0"/>
                                  </a:rPr>
                                  <m:t>𝑡</m:t>
                                </m:r>
                                <m:r>
                                  <a:rPr lang="en-US" i="1">
                                    <a:solidFill>
                                      <a:schemeClr val="bg1"/>
                                    </a:solidFill>
                                    <a:latin typeface="Cambria Math" panose="02040503050406030204" pitchFamily="18" charset="0"/>
                                  </a:rPr>
                                  <m:t> −1</m:t>
                                </m:r>
                              </m:sub>
                            </m:sSub>
                          </m:sub>
                        </m:sSub>
                        <m:r>
                          <a:rPr lang="en-US" b="0" i="1" smtClean="0">
                            <a:solidFill>
                              <a:schemeClr val="bg1"/>
                            </a:solidFill>
                            <a:latin typeface="Cambria Math" panose="02040503050406030204" pitchFamily="18" charset="0"/>
                          </a:rPr>
                          <m:t>=</m:t>
                        </m:r>
                        <m:r>
                          <a:rPr lang="en-US" i="1">
                            <a:solidFill>
                              <a:schemeClr val="bg1"/>
                            </a:solidFill>
                            <a:latin typeface="Cambria Math" panose="02040503050406030204" pitchFamily="18" charset="0"/>
                          </a:rPr>
                          <m:t>𝜙</m:t>
                        </m:r>
                      </m:e>
                      <m:sub>
                        <m:r>
                          <a:rPr lang="en-US" i="1">
                            <a:solidFill>
                              <a:schemeClr val="bg1"/>
                            </a:solidFill>
                            <a:latin typeface="Cambria Math" panose="02040503050406030204" pitchFamily="18" charset="0"/>
                          </a:rPr>
                          <m:t>0</m:t>
                        </m:r>
                      </m:sub>
                    </m:sSub>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𝜙</m:t>
                        </m:r>
                      </m:e>
                      <m:sub>
                        <m:r>
                          <a:rPr lang="en-US" i="1">
                            <a:solidFill>
                              <a:schemeClr val="bg1"/>
                            </a:solidFill>
                            <a:latin typeface="Cambria Math" panose="02040503050406030204" pitchFamily="18" charset="0"/>
                          </a:rPr>
                          <m:t>1,1</m:t>
                        </m:r>
                      </m:sub>
                    </m:sSub>
                    <m:r>
                      <a:rPr lang="en-US" i="1">
                        <a:solidFill>
                          <a:schemeClr val="bg1"/>
                        </a:solidFill>
                        <a:latin typeface="Cambria Math" panose="02040503050406030204" pitchFamily="18" charset="0"/>
                      </a:rPr>
                      <m:t> </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𝑊</m:t>
                        </m:r>
                      </m:e>
                      <m:sub>
                        <m:r>
                          <a:rPr lang="en-US" i="1">
                            <a:solidFill>
                              <a:schemeClr val="bg1"/>
                            </a:solidFill>
                            <a:latin typeface="Cambria Math" panose="02040503050406030204" pitchFamily="18" charset="0"/>
                          </a:rPr>
                          <m:t>𝑡</m:t>
                        </m:r>
                        <m:r>
                          <a:rPr lang="en-US" i="1">
                            <a:solidFill>
                              <a:schemeClr val="bg1"/>
                            </a:solidFill>
                            <a:latin typeface="Cambria Math" panose="02040503050406030204" pitchFamily="18" charset="0"/>
                          </a:rPr>
                          <m:t> −1</m:t>
                        </m:r>
                      </m:sub>
                    </m:sSub>
                  </m:oMath>
                </a14:m>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a:t>
                </a:r>
              </a:p>
            </p:txBody>
          </p:sp>
        </mc:Choice>
        <mc:Fallback xmlns="">
          <p:sp>
            <p:nvSpPr>
              <p:cNvPr id="18" name="CuadroTexto 17">
                <a:extLst>
                  <a:ext uri="{FF2B5EF4-FFF2-40B4-BE49-F238E27FC236}">
                    <a16:creationId xmlns:a16="http://schemas.microsoft.com/office/drawing/2014/main" id="{02CC53FA-41BB-FAD0-0923-2DE95F980968}"/>
                  </a:ext>
                </a:extLst>
              </p:cNvPr>
              <p:cNvSpPr txBox="1">
                <a:spLocks noRot="1" noChangeAspect="1" noMove="1" noResize="1" noEditPoints="1" noAdjustHandles="1" noChangeArrowheads="1" noChangeShapeType="1" noTextEdit="1"/>
              </p:cNvSpPr>
              <p:nvPr/>
            </p:nvSpPr>
            <p:spPr>
              <a:xfrm>
                <a:off x="281996" y="297201"/>
                <a:ext cx="10081204" cy="394532"/>
              </a:xfrm>
              <a:prstGeom prst="rect">
                <a:avLst/>
              </a:prstGeom>
              <a:blipFill>
                <a:blip r:embed="rId3"/>
                <a:stretch>
                  <a:fillRect l="-363" t="-7813" b="-20313"/>
                </a:stretch>
              </a:blipFill>
            </p:spPr>
            <p:txBody>
              <a:bodyPr/>
              <a:lstStyle/>
              <a:p>
                <a:r>
                  <a:rPr lang="es-MX">
                    <a:noFill/>
                  </a:rPr>
                  <a:t> </a:t>
                </a:r>
              </a:p>
            </p:txBody>
          </p:sp>
        </mc:Fallback>
      </mc:AlternateContent>
      <p:sp>
        <p:nvSpPr>
          <p:cNvPr id="20" name="CuadroTexto 19">
            <a:extLst>
              <a:ext uri="{FF2B5EF4-FFF2-40B4-BE49-F238E27FC236}">
                <a16:creationId xmlns:a16="http://schemas.microsoft.com/office/drawing/2014/main" id="{56B6A6DC-AE91-4F35-D98F-3E5155B6F99B}"/>
              </a:ext>
            </a:extLst>
          </p:cNvPr>
          <p:cNvSpPr txBox="1"/>
          <p:nvPr/>
        </p:nvSpPr>
        <p:spPr>
          <a:xfrm>
            <a:off x="281996" y="2254798"/>
            <a:ext cx="2843380" cy="381515"/>
          </a:xfrm>
          <a:prstGeom prst="rect">
            <a:avLst/>
          </a:prstGeom>
          <a:noFill/>
        </p:spPr>
        <p:txBody>
          <a:bodyPr wrap="square">
            <a:spAutoFit/>
          </a:bodyPr>
          <a:lstStyle/>
          <a:p>
            <a:pPr marL="285750" marR="0" lvl="0" indent="-285750" algn="l" defTabSz="914400" rtl="0" eaLnBrk="1" fontAlgn="base" latinLnBrk="0" hangingPunct="1">
              <a:lnSpc>
                <a:spcPct val="10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n-US"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Y </a:t>
            </a:r>
            <a:r>
              <a:rPr kumimoji="0" lang="en-US" altLang="es-MX" sz="1800" b="0" i="0" u="none" strike="noStrike" kern="1200" cap="none" spc="0" normalizeH="0" baseline="0" noProof="0" dirty="0" err="1">
                <a:ln>
                  <a:noFill/>
                </a:ln>
                <a:solidFill>
                  <a:srgbClr val="FFFFFF"/>
                </a:solidFill>
                <a:effectLst/>
                <a:uLnTx/>
                <a:uFillTx/>
                <a:latin typeface="Calibri" panose="020F0502020204030204" pitchFamily="34" charset="0"/>
                <a:ea typeface="+mn-ea"/>
              </a:rPr>
              <a:t>asi</a:t>
            </a:r>
            <a:r>
              <a:rPr kumimoji="0" lang="en-US"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sz="1800" b="0" i="0" u="none" strike="noStrike" kern="1200" cap="none" spc="0" normalizeH="0" baseline="0" noProof="0" dirty="0" err="1">
                <a:ln>
                  <a:noFill/>
                </a:ln>
                <a:solidFill>
                  <a:srgbClr val="FFFFFF"/>
                </a:solidFill>
                <a:effectLst/>
                <a:uLnTx/>
                <a:uFillTx/>
                <a:latin typeface="Calibri" panose="020F0502020204030204" pitchFamily="34" charset="0"/>
                <a:ea typeface="+mn-ea"/>
              </a:rPr>
              <a:t>sucesivamente</a:t>
            </a:r>
            <a:r>
              <a:rPr kumimoji="0" lang="en-US"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a:t>
            </a:r>
            <a:endPar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3E36CC5B-14D2-ED36-6429-EECB5D67B3EE}"/>
                  </a:ext>
                </a:extLst>
              </p:cNvPr>
              <p:cNvSpPr txBox="1"/>
              <p:nvPr/>
            </p:nvSpPr>
            <p:spPr>
              <a:xfrm>
                <a:off x="281996" y="733246"/>
                <a:ext cx="11592504" cy="394532"/>
              </a:xfrm>
              <a:prstGeom prst="rect">
                <a:avLst/>
              </a:prstGeom>
              <a:noFill/>
            </p:spPr>
            <p:txBody>
              <a:bodyPr wrap="square">
                <a:spAutoFit/>
              </a:bodyPr>
              <a:lstStyle/>
              <a:p>
                <a:pPr marL="285750" lvl="0" indent="-285750" fontAlgn="base">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lang="es-MX" altLang="es-MX" dirty="0">
                    <a:solidFill>
                      <a:srgbClr val="FFFFFF"/>
                    </a:solidFill>
                    <a:latin typeface="Calibri" panose="020F0502020204030204" pitchFamily="34" charset="0"/>
                  </a:rPr>
                  <a:t>E</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l segundo término de la FACP</a:t>
                </a:r>
                <a:r>
                  <a:rPr lang="es-MX" altLang="es-MX" dirty="0">
                    <a:solidFill>
                      <a:srgbClr val="FFFFFF"/>
                    </a:solidFill>
                    <a:latin typeface="Calibri" panose="020F0502020204030204" pitchFamily="34" charset="0"/>
                  </a:rPr>
                  <a:t> </a:t>
                </a:r>
                <a14:m>
                  <m:oMath xmlns:m="http://schemas.openxmlformats.org/officeDocument/2006/math">
                    <m:sSub>
                      <m:sSubPr>
                        <m:ctrlPr>
                          <a:rPr lang="en-US" altLang="es-MX" b="0" i="1" smtClean="0">
                            <a:solidFill>
                              <a:srgbClr val="FFFFFF"/>
                            </a:solidFill>
                            <a:latin typeface="Cambria Math" panose="02040503050406030204" pitchFamily="18" charset="0"/>
                          </a:rPr>
                        </m:ctrlPr>
                      </m:sSubPr>
                      <m:e>
                        <m:r>
                          <a:rPr lang="en-US" altLang="es-MX" b="0" i="1" smtClean="0">
                            <a:solidFill>
                              <a:srgbClr val="FFFFFF"/>
                            </a:solidFill>
                            <a:latin typeface="Cambria Math" panose="02040503050406030204" pitchFamily="18" charset="0"/>
                          </a:rPr>
                          <m:t>𝜙</m:t>
                        </m:r>
                      </m:e>
                      <m:sub>
                        <m:r>
                          <a:rPr lang="en-US" altLang="es-MX" b="0" i="1" smtClean="0">
                            <a:solidFill>
                              <a:srgbClr val="FFFFFF"/>
                            </a:solidFill>
                            <a:latin typeface="Cambria Math" panose="02040503050406030204" pitchFamily="18" charset="0"/>
                          </a:rPr>
                          <m:t>2,2</m:t>
                        </m:r>
                      </m:sub>
                    </m:sSub>
                  </m:oMath>
                </a14:m>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será el coeficiente de la regresión:   </a:t>
                </a:r>
                <a14:m>
                  <m:oMath xmlns:m="http://schemas.openxmlformats.org/officeDocument/2006/math">
                    <m:sSub>
                      <m:sSubPr>
                        <m:ctrlPr>
                          <a:rPr lang="en-US" i="1">
                            <a:solidFill>
                              <a:schemeClr val="bg1"/>
                            </a:solidFill>
                            <a:latin typeface="Cambria Math" panose="02040503050406030204" pitchFamily="18" charset="0"/>
                          </a:rPr>
                        </m:ctrlPr>
                      </m:sSubPr>
                      <m:e>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𝜇</m:t>
                            </m:r>
                          </m:e>
                          <m:sub>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𝑊</m:t>
                                </m:r>
                              </m:e>
                              <m:sub>
                                <m:r>
                                  <a:rPr lang="en-US" i="1">
                                    <a:solidFill>
                                      <a:schemeClr val="bg1"/>
                                    </a:solidFill>
                                    <a:latin typeface="Cambria Math" panose="02040503050406030204" pitchFamily="18" charset="0"/>
                                  </a:rPr>
                                  <m:t>𝑡</m:t>
                                </m:r>
                              </m:sub>
                            </m:sSub>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𝑊</m:t>
                                </m:r>
                              </m:e>
                              <m:sub>
                                <m:r>
                                  <a:rPr lang="en-US" i="1">
                                    <a:solidFill>
                                      <a:schemeClr val="bg1"/>
                                    </a:solidFill>
                                    <a:latin typeface="Cambria Math" panose="02040503050406030204" pitchFamily="18" charset="0"/>
                                  </a:rPr>
                                  <m:t>𝑡</m:t>
                                </m:r>
                                <m:r>
                                  <a:rPr lang="en-US" i="1">
                                    <a:solidFill>
                                      <a:schemeClr val="bg1"/>
                                    </a:solidFill>
                                    <a:latin typeface="Cambria Math" panose="02040503050406030204" pitchFamily="18" charset="0"/>
                                  </a:rPr>
                                  <m:t> −1</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𝑊</m:t>
                                </m:r>
                              </m:e>
                              <m:sub>
                                <m:r>
                                  <a:rPr lang="en-US" b="0" i="1" smtClean="0">
                                    <a:solidFill>
                                      <a:schemeClr val="bg1"/>
                                    </a:solidFill>
                                    <a:latin typeface="Cambria Math" panose="02040503050406030204" pitchFamily="18" charset="0"/>
                                  </a:rPr>
                                  <m:t>𝑡</m:t>
                                </m:r>
                                <m:r>
                                  <a:rPr lang="en-US" b="0" i="1" smtClean="0">
                                    <a:solidFill>
                                      <a:schemeClr val="bg1"/>
                                    </a:solidFill>
                                    <a:latin typeface="Cambria Math" panose="02040503050406030204" pitchFamily="18" charset="0"/>
                                  </a:rPr>
                                  <m:t> −2</m:t>
                                </m:r>
                              </m:sub>
                            </m:sSub>
                          </m:sub>
                        </m:sSub>
                        <m:r>
                          <a:rPr lang="en-US" b="0" i="1" smtClean="0">
                            <a:solidFill>
                              <a:schemeClr val="bg1"/>
                            </a:solidFill>
                            <a:latin typeface="Cambria Math" panose="02040503050406030204" pitchFamily="18" charset="0"/>
                          </a:rPr>
                          <m:t>=</m:t>
                        </m:r>
                        <m:r>
                          <a:rPr lang="en-US" i="1">
                            <a:solidFill>
                              <a:schemeClr val="bg1"/>
                            </a:solidFill>
                            <a:latin typeface="Cambria Math" panose="02040503050406030204" pitchFamily="18" charset="0"/>
                          </a:rPr>
                          <m:t>𝜙</m:t>
                        </m:r>
                      </m:e>
                      <m:sub>
                        <m:r>
                          <a:rPr lang="en-US" i="1">
                            <a:solidFill>
                              <a:schemeClr val="bg1"/>
                            </a:solidFill>
                            <a:latin typeface="Cambria Math" panose="02040503050406030204" pitchFamily="18" charset="0"/>
                          </a:rPr>
                          <m:t>0</m:t>
                        </m:r>
                      </m:sub>
                    </m:sSub>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𝜙</m:t>
                        </m:r>
                      </m:e>
                      <m:sub>
                        <m:r>
                          <a:rPr lang="en-US" b="0" i="1" smtClean="0">
                            <a:solidFill>
                              <a:schemeClr val="bg1"/>
                            </a:solidFill>
                            <a:latin typeface="Cambria Math" panose="02040503050406030204" pitchFamily="18" charset="0"/>
                          </a:rPr>
                          <m:t>2</m:t>
                        </m:r>
                        <m:r>
                          <a:rPr lang="en-US" i="1">
                            <a:solidFill>
                              <a:schemeClr val="bg1"/>
                            </a:solidFill>
                            <a:latin typeface="Cambria Math" panose="02040503050406030204" pitchFamily="18" charset="0"/>
                          </a:rPr>
                          <m:t>,1</m:t>
                        </m:r>
                      </m:sub>
                    </m:sSub>
                    <m:r>
                      <a:rPr lang="en-US" i="1">
                        <a:solidFill>
                          <a:schemeClr val="bg1"/>
                        </a:solidFill>
                        <a:latin typeface="Cambria Math" panose="02040503050406030204" pitchFamily="18" charset="0"/>
                      </a:rPr>
                      <m:t> </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𝑊</m:t>
                        </m:r>
                      </m:e>
                      <m:sub>
                        <m:r>
                          <a:rPr lang="en-US" i="1">
                            <a:solidFill>
                              <a:schemeClr val="bg1"/>
                            </a:solidFill>
                            <a:latin typeface="Cambria Math" panose="02040503050406030204" pitchFamily="18" charset="0"/>
                          </a:rPr>
                          <m:t>𝑡</m:t>
                        </m:r>
                        <m:r>
                          <a:rPr lang="en-US" i="1">
                            <a:solidFill>
                              <a:schemeClr val="bg1"/>
                            </a:solidFill>
                            <a:latin typeface="Cambria Math" panose="02040503050406030204" pitchFamily="18" charset="0"/>
                          </a:rPr>
                          <m:t> −1</m:t>
                        </m:r>
                      </m:sub>
                    </m:sSub>
                    <m:r>
                      <a:rPr lang="en-US" b="0" i="1" smtClean="0">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𝜙</m:t>
                        </m:r>
                      </m:e>
                      <m:sub>
                        <m:r>
                          <a:rPr lang="en-US" i="1">
                            <a:solidFill>
                              <a:schemeClr val="bg1"/>
                            </a:solidFill>
                            <a:latin typeface="Cambria Math" panose="02040503050406030204" pitchFamily="18" charset="0"/>
                          </a:rPr>
                          <m:t>2,</m:t>
                        </m:r>
                        <m:r>
                          <a:rPr lang="en-US" b="0" i="1" smtClean="0">
                            <a:solidFill>
                              <a:schemeClr val="bg1"/>
                            </a:solidFill>
                            <a:latin typeface="Cambria Math" panose="02040503050406030204" pitchFamily="18" charset="0"/>
                          </a:rPr>
                          <m:t>2</m:t>
                        </m:r>
                      </m:sub>
                    </m:sSub>
                    <m:r>
                      <a:rPr lang="en-US" i="1">
                        <a:solidFill>
                          <a:schemeClr val="bg1"/>
                        </a:solidFill>
                        <a:latin typeface="Cambria Math" panose="02040503050406030204" pitchFamily="18" charset="0"/>
                      </a:rPr>
                      <m:t> </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𝑊</m:t>
                        </m:r>
                      </m:e>
                      <m:sub>
                        <m:r>
                          <a:rPr lang="en-US" i="1">
                            <a:solidFill>
                              <a:schemeClr val="bg1"/>
                            </a:solidFill>
                            <a:latin typeface="Cambria Math" panose="02040503050406030204" pitchFamily="18" charset="0"/>
                          </a:rPr>
                          <m:t>𝑡</m:t>
                        </m:r>
                        <m:r>
                          <a:rPr lang="en-US" i="1">
                            <a:solidFill>
                              <a:schemeClr val="bg1"/>
                            </a:solidFill>
                            <a:latin typeface="Cambria Math" panose="02040503050406030204" pitchFamily="18" charset="0"/>
                          </a:rPr>
                          <m:t> −2</m:t>
                        </m:r>
                      </m:sub>
                    </m:sSub>
                  </m:oMath>
                </a14:m>
                <a:endPar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mc:Choice>
        <mc:Fallback xmlns="">
          <p:sp>
            <p:nvSpPr>
              <p:cNvPr id="4" name="CuadroTexto 3">
                <a:extLst>
                  <a:ext uri="{FF2B5EF4-FFF2-40B4-BE49-F238E27FC236}">
                    <a16:creationId xmlns:a16="http://schemas.microsoft.com/office/drawing/2014/main" id="{3E36CC5B-14D2-ED36-6429-EECB5D67B3EE}"/>
                  </a:ext>
                </a:extLst>
              </p:cNvPr>
              <p:cNvSpPr txBox="1">
                <a:spLocks noRot="1" noChangeAspect="1" noMove="1" noResize="1" noEditPoints="1" noAdjustHandles="1" noChangeArrowheads="1" noChangeShapeType="1" noTextEdit="1"/>
              </p:cNvSpPr>
              <p:nvPr/>
            </p:nvSpPr>
            <p:spPr>
              <a:xfrm>
                <a:off x="281996" y="733246"/>
                <a:ext cx="11592504" cy="394532"/>
              </a:xfrm>
              <a:prstGeom prst="rect">
                <a:avLst/>
              </a:prstGeom>
              <a:blipFill>
                <a:blip r:embed="rId4"/>
                <a:stretch>
                  <a:fillRect l="-315" t="-6154" b="-1846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B00B8B9D-228B-4EB3-9F52-87FD936E04A4}"/>
                  </a:ext>
                </a:extLst>
              </p:cNvPr>
              <p:cNvSpPr txBox="1"/>
              <p:nvPr/>
            </p:nvSpPr>
            <p:spPr>
              <a:xfrm>
                <a:off x="281996" y="1169291"/>
                <a:ext cx="11592504" cy="821635"/>
              </a:xfrm>
              <a:prstGeom prst="rect">
                <a:avLst/>
              </a:prstGeom>
              <a:noFill/>
            </p:spPr>
            <p:txBody>
              <a:bodyPr wrap="square">
                <a:spAutoFit/>
              </a:bodyPr>
              <a:lstStyle/>
              <a:p>
                <a:pPr marL="285750" lvl="0" indent="-285750" fontAlgn="base">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lang="es-MX" altLang="es-MX" dirty="0">
                    <a:solidFill>
                      <a:srgbClr val="FFFFFF"/>
                    </a:solidFill>
                    <a:latin typeface="Calibri" panose="020F0502020204030204" pitchFamily="34" charset="0"/>
                  </a:rPr>
                  <a:t>E</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l segundo término de la FACP</a:t>
                </a:r>
                <a:r>
                  <a:rPr lang="es-MX" altLang="es-MX" dirty="0">
                    <a:solidFill>
                      <a:srgbClr val="FFFFFF"/>
                    </a:solidFill>
                    <a:latin typeface="Calibri" panose="020F0502020204030204" pitchFamily="34" charset="0"/>
                  </a:rPr>
                  <a:t> </a:t>
                </a:r>
                <a14:m>
                  <m:oMath xmlns:m="http://schemas.openxmlformats.org/officeDocument/2006/math">
                    <m:sSub>
                      <m:sSubPr>
                        <m:ctrlPr>
                          <a:rPr lang="en-US" altLang="es-MX" b="0" i="1" smtClean="0">
                            <a:solidFill>
                              <a:srgbClr val="FFFFFF"/>
                            </a:solidFill>
                            <a:latin typeface="Cambria Math" panose="02040503050406030204" pitchFamily="18" charset="0"/>
                          </a:rPr>
                        </m:ctrlPr>
                      </m:sSubPr>
                      <m:e>
                        <m:r>
                          <a:rPr lang="en-US" altLang="es-MX" b="0" i="1" smtClean="0">
                            <a:solidFill>
                              <a:srgbClr val="FFFFFF"/>
                            </a:solidFill>
                            <a:latin typeface="Cambria Math" panose="02040503050406030204" pitchFamily="18" charset="0"/>
                          </a:rPr>
                          <m:t>𝜙</m:t>
                        </m:r>
                      </m:e>
                      <m:sub>
                        <m:r>
                          <a:rPr lang="en-US" altLang="es-MX" b="0" i="1" smtClean="0">
                            <a:solidFill>
                              <a:srgbClr val="FFFFFF"/>
                            </a:solidFill>
                            <a:latin typeface="Cambria Math" panose="02040503050406030204" pitchFamily="18" charset="0"/>
                          </a:rPr>
                          <m:t>3,3</m:t>
                        </m:r>
                      </m:sub>
                    </m:sSub>
                  </m:oMath>
                </a14:m>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será el coeficiente de la regresión:  </a:t>
                </a:r>
              </a:p>
              <a:p>
                <a:pPr lvl="0" algn="ctr" fontAlgn="base">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a:t>
                </a:r>
                <a14:m>
                  <m:oMath xmlns:m="http://schemas.openxmlformats.org/officeDocument/2006/math">
                    <m:sSub>
                      <m:sSubPr>
                        <m:ctrlPr>
                          <a:rPr lang="en-US" i="1">
                            <a:solidFill>
                              <a:schemeClr val="bg1"/>
                            </a:solidFill>
                            <a:latin typeface="Cambria Math" panose="02040503050406030204" pitchFamily="18" charset="0"/>
                          </a:rPr>
                        </m:ctrlPr>
                      </m:sSubPr>
                      <m:e>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𝜇</m:t>
                            </m:r>
                          </m:e>
                          <m:sub>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𝑊</m:t>
                                </m:r>
                              </m:e>
                              <m:sub>
                                <m:r>
                                  <a:rPr lang="en-US" i="1">
                                    <a:solidFill>
                                      <a:schemeClr val="bg1"/>
                                    </a:solidFill>
                                    <a:latin typeface="Cambria Math" panose="02040503050406030204" pitchFamily="18" charset="0"/>
                                  </a:rPr>
                                  <m:t>𝑡</m:t>
                                </m:r>
                              </m:sub>
                            </m:sSub>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𝑊</m:t>
                                </m:r>
                              </m:e>
                              <m:sub>
                                <m:r>
                                  <a:rPr lang="en-US" i="1">
                                    <a:solidFill>
                                      <a:schemeClr val="bg1"/>
                                    </a:solidFill>
                                    <a:latin typeface="Cambria Math" panose="02040503050406030204" pitchFamily="18" charset="0"/>
                                  </a:rPr>
                                  <m:t>𝑡</m:t>
                                </m:r>
                                <m:r>
                                  <a:rPr lang="en-US" i="1">
                                    <a:solidFill>
                                      <a:schemeClr val="bg1"/>
                                    </a:solidFill>
                                    <a:latin typeface="Cambria Math" panose="02040503050406030204" pitchFamily="18" charset="0"/>
                                  </a:rPr>
                                  <m:t> −1</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𝑊</m:t>
                                </m:r>
                              </m:e>
                              <m:sub>
                                <m:r>
                                  <a:rPr lang="en-US" b="0" i="1" smtClean="0">
                                    <a:solidFill>
                                      <a:schemeClr val="bg1"/>
                                    </a:solidFill>
                                    <a:latin typeface="Cambria Math" panose="02040503050406030204" pitchFamily="18" charset="0"/>
                                  </a:rPr>
                                  <m:t>𝑡</m:t>
                                </m:r>
                                <m:r>
                                  <a:rPr lang="en-US" b="0" i="1" smtClean="0">
                                    <a:solidFill>
                                      <a:schemeClr val="bg1"/>
                                    </a:solidFill>
                                    <a:latin typeface="Cambria Math" panose="02040503050406030204" pitchFamily="18" charset="0"/>
                                  </a:rPr>
                                  <m:t> −2</m:t>
                                </m:r>
                              </m:sub>
                            </m:sSub>
                            <m:r>
                              <a:rPr lang="en-US" b="0" i="1" smtClean="0">
                                <a:solidFill>
                                  <a:schemeClr val="bg1"/>
                                </a:solidFill>
                                <a:latin typeface="Cambria Math" panose="02040503050406030204" pitchFamily="18" charset="0"/>
                              </a:rPr>
                              <m:t>, </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𝑊</m:t>
                                </m:r>
                              </m:e>
                              <m:sub>
                                <m:r>
                                  <a:rPr lang="en-US" b="0" i="1" smtClean="0">
                                    <a:solidFill>
                                      <a:schemeClr val="bg1"/>
                                    </a:solidFill>
                                    <a:latin typeface="Cambria Math" panose="02040503050406030204" pitchFamily="18" charset="0"/>
                                  </a:rPr>
                                  <m:t>𝑡</m:t>
                                </m:r>
                                <m:r>
                                  <a:rPr lang="en-US" b="0" i="1" smtClean="0">
                                    <a:solidFill>
                                      <a:schemeClr val="bg1"/>
                                    </a:solidFill>
                                    <a:latin typeface="Cambria Math" panose="02040503050406030204" pitchFamily="18" charset="0"/>
                                  </a:rPr>
                                  <m:t> −3</m:t>
                                </m:r>
                              </m:sub>
                            </m:sSub>
                          </m:sub>
                        </m:sSub>
                        <m:r>
                          <a:rPr lang="en-US" b="0" i="1" smtClean="0">
                            <a:solidFill>
                              <a:schemeClr val="bg1"/>
                            </a:solidFill>
                            <a:latin typeface="Cambria Math" panose="02040503050406030204" pitchFamily="18" charset="0"/>
                          </a:rPr>
                          <m:t>=</m:t>
                        </m:r>
                        <m:r>
                          <a:rPr lang="en-US" i="1">
                            <a:solidFill>
                              <a:schemeClr val="bg1"/>
                            </a:solidFill>
                            <a:latin typeface="Cambria Math" panose="02040503050406030204" pitchFamily="18" charset="0"/>
                          </a:rPr>
                          <m:t>𝜙</m:t>
                        </m:r>
                      </m:e>
                      <m:sub>
                        <m:r>
                          <a:rPr lang="en-US" i="1">
                            <a:solidFill>
                              <a:schemeClr val="bg1"/>
                            </a:solidFill>
                            <a:latin typeface="Cambria Math" panose="02040503050406030204" pitchFamily="18" charset="0"/>
                          </a:rPr>
                          <m:t>0</m:t>
                        </m:r>
                      </m:sub>
                    </m:sSub>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𝜙</m:t>
                        </m:r>
                      </m:e>
                      <m:sub>
                        <m:r>
                          <a:rPr lang="en-US" b="0" i="1" smtClean="0">
                            <a:solidFill>
                              <a:schemeClr val="bg1"/>
                            </a:solidFill>
                            <a:latin typeface="Cambria Math" panose="02040503050406030204" pitchFamily="18" charset="0"/>
                          </a:rPr>
                          <m:t>3</m:t>
                        </m:r>
                        <m:r>
                          <a:rPr lang="en-US" i="1">
                            <a:solidFill>
                              <a:schemeClr val="bg1"/>
                            </a:solidFill>
                            <a:latin typeface="Cambria Math" panose="02040503050406030204" pitchFamily="18" charset="0"/>
                          </a:rPr>
                          <m:t>,1</m:t>
                        </m:r>
                      </m:sub>
                    </m:sSub>
                    <m:r>
                      <a:rPr lang="en-US" i="1">
                        <a:solidFill>
                          <a:schemeClr val="bg1"/>
                        </a:solidFill>
                        <a:latin typeface="Cambria Math" panose="02040503050406030204" pitchFamily="18" charset="0"/>
                      </a:rPr>
                      <m:t> </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𝑊</m:t>
                        </m:r>
                      </m:e>
                      <m:sub>
                        <m:r>
                          <a:rPr lang="en-US" i="1">
                            <a:solidFill>
                              <a:schemeClr val="bg1"/>
                            </a:solidFill>
                            <a:latin typeface="Cambria Math" panose="02040503050406030204" pitchFamily="18" charset="0"/>
                          </a:rPr>
                          <m:t>𝑡</m:t>
                        </m:r>
                        <m:r>
                          <a:rPr lang="en-US" i="1">
                            <a:solidFill>
                              <a:schemeClr val="bg1"/>
                            </a:solidFill>
                            <a:latin typeface="Cambria Math" panose="02040503050406030204" pitchFamily="18" charset="0"/>
                          </a:rPr>
                          <m:t> −1</m:t>
                        </m:r>
                      </m:sub>
                    </m:sSub>
                    <m:r>
                      <a:rPr lang="en-US" b="0" i="1" smtClean="0">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𝜙</m:t>
                        </m:r>
                      </m:e>
                      <m:sub>
                        <m:r>
                          <a:rPr lang="en-US" b="0" i="1" smtClean="0">
                            <a:solidFill>
                              <a:schemeClr val="bg1"/>
                            </a:solidFill>
                            <a:latin typeface="Cambria Math" panose="02040503050406030204" pitchFamily="18" charset="0"/>
                          </a:rPr>
                          <m:t>3</m:t>
                        </m:r>
                        <m:r>
                          <a:rPr lang="en-US" i="1">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2</m:t>
                        </m:r>
                      </m:sub>
                    </m:sSub>
                    <m:r>
                      <a:rPr lang="en-US" i="1">
                        <a:solidFill>
                          <a:schemeClr val="bg1"/>
                        </a:solidFill>
                        <a:latin typeface="Cambria Math" panose="02040503050406030204" pitchFamily="18" charset="0"/>
                      </a:rPr>
                      <m:t> </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𝑊</m:t>
                        </m:r>
                      </m:e>
                      <m:sub>
                        <m:r>
                          <a:rPr lang="en-US" i="1">
                            <a:solidFill>
                              <a:schemeClr val="bg1"/>
                            </a:solidFill>
                            <a:latin typeface="Cambria Math" panose="02040503050406030204" pitchFamily="18" charset="0"/>
                          </a:rPr>
                          <m:t>𝑡</m:t>
                        </m:r>
                        <m:r>
                          <a:rPr lang="en-US" i="1">
                            <a:solidFill>
                              <a:schemeClr val="bg1"/>
                            </a:solidFill>
                            <a:latin typeface="Cambria Math" panose="02040503050406030204" pitchFamily="18" charset="0"/>
                          </a:rPr>
                          <m:t> −2</m:t>
                        </m:r>
                      </m:sub>
                    </m:sSub>
                    <m:r>
                      <a:rPr lang="en-US" b="0" i="1" smtClean="0">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𝜙</m:t>
                        </m:r>
                      </m:e>
                      <m:sub>
                        <m:r>
                          <a:rPr lang="en-US" b="0" i="1" smtClean="0">
                            <a:solidFill>
                              <a:schemeClr val="bg1"/>
                            </a:solidFill>
                            <a:latin typeface="Cambria Math" panose="02040503050406030204" pitchFamily="18" charset="0"/>
                          </a:rPr>
                          <m:t>3,3</m:t>
                        </m:r>
                      </m:sub>
                    </m:sSub>
                    <m:r>
                      <a:rPr lang="en-US" i="1">
                        <a:solidFill>
                          <a:schemeClr val="bg1"/>
                        </a:solidFill>
                        <a:latin typeface="Cambria Math" panose="02040503050406030204" pitchFamily="18" charset="0"/>
                      </a:rPr>
                      <m:t> </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𝑊</m:t>
                        </m:r>
                      </m:e>
                      <m:sub>
                        <m:r>
                          <a:rPr lang="en-US" i="1">
                            <a:solidFill>
                              <a:schemeClr val="bg1"/>
                            </a:solidFill>
                            <a:latin typeface="Cambria Math" panose="02040503050406030204" pitchFamily="18" charset="0"/>
                          </a:rPr>
                          <m:t>𝑡</m:t>
                        </m:r>
                        <m:r>
                          <a:rPr lang="en-US" i="1">
                            <a:solidFill>
                              <a:schemeClr val="bg1"/>
                            </a:solidFill>
                            <a:latin typeface="Cambria Math" panose="02040503050406030204" pitchFamily="18" charset="0"/>
                          </a:rPr>
                          <m:t> −3</m:t>
                        </m:r>
                      </m:sub>
                    </m:sSub>
                  </m:oMath>
                </a14:m>
                <a:endPar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mc:Choice>
        <mc:Fallback xmlns="">
          <p:sp>
            <p:nvSpPr>
              <p:cNvPr id="5" name="CuadroTexto 4">
                <a:extLst>
                  <a:ext uri="{FF2B5EF4-FFF2-40B4-BE49-F238E27FC236}">
                    <a16:creationId xmlns:a16="http://schemas.microsoft.com/office/drawing/2014/main" id="{B00B8B9D-228B-4EB3-9F52-87FD936E04A4}"/>
                  </a:ext>
                </a:extLst>
              </p:cNvPr>
              <p:cNvSpPr txBox="1">
                <a:spLocks noRot="1" noChangeAspect="1" noMove="1" noResize="1" noEditPoints="1" noAdjustHandles="1" noChangeArrowheads="1" noChangeShapeType="1" noTextEdit="1"/>
              </p:cNvSpPr>
              <p:nvPr/>
            </p:nvSpPr>
            <p:spPr>
              <a:xfrm>
                <a:off x="281996" y="1169291"/>
                <a:ext cx="11592504" cy="821635"/>
              </a:xfrm>
              <a:prstGeom prst="rect">
                <a:avLst/>
              </a:prstGeom>
              <a:blipFill>
                <a:blip r:embed="rId5"/>
                <a:stretch>
                  <a:fillRect l="-315" t="-3704" b="-2222"/>
                </a:stretch>
              </a:blipFill>
            </p:spPr>
            <p:txBody>
              <a:bodyPr/>
              <a:lstStyle/>
              <a:p>
                <a:r>
                  <a:rPr lang="es-MX">
                    <a:noFill/>
                  </a:rPr>
                  <a:t> </a:t>
                </a:r>
              </a:p>
            </p:txBody>
          </p:sp>
        </mc:Fallback>
      </mc:AlternateContent>
      <p:sp>
        <p:nvSpPr>
          <p:cNvPr id="25601" name="Rectangle 1">
            <a:extLst>
              <a:ext uri="{FF2B5EF4-FFF2-40B4-BE49-F238E27FC236}">
                <a16:creationId xmlns:a16="http://schemas.microsoft.com/office/drawing/2014/main" id="{A43E1CFC-7279-33BB-EC35-AADCEF811E24}"/>
              </a:ext>
            </a:extLst>
          </p:cNvPr>
          <p:cNvSpPr>
            <a:spLocks noGrp="1" noChangeArrowheads="1"/>
          </p:cNvSpPr>
          <p:nvPr>
            <p:ph type="title"/>
          </p:nvPr>
        </p:nvSpPr>
        <p:spPr>
          <a:xfrm>
            <a:off x="5029201" y="2188008"/>
            <a:ext cx="6197600" cy="821635"/>
          </a:xfrm>
          <a:ln/>
        </p:spPr>
        <p:txBody>
          <a:bodyPr/>
          <a:lstStyle/>
          <a:p>
            <a:pP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solidFill>
                <a:latin typeface="Calibri Light" panose="020F0302020204030204" pitchFamily="34" charset="0"/>
              </a:rPr>
              <a:t>Detección de la estacionariedad</a:t>
            </a:r>
          </a:p>
        </p:txBody>
      </p:sp>
      <p:sp>
        <p:nvSpPr>
          <p:cNvPr id="25602" name="Text Box 2">
            <a:extLst>
              <a:ext uri="{FF2B5EF4-FFF2-40B4-BE49-F238E27FC236}">
                <a16:creationId xmlns:a16="http://schemas.microsoft.com/office/drawing/2014/main" id="{D632E90B-9260-BA97-E68B-B7377E3DE4CD}"/>
              </a:ext>
            </a:extLst>
          </p:cNvPr>
          <p:cNvSpPr txBox="1">
            <a:spLocks noChangeArrowheads="1"/>
          </p:cNvSpPr>
          <p:nvPr/>
        </p:nvSpPr>
        <p:spPr bwMode="auto">
          <a:xfrm>
            <a:off x="777297" y="2767513"/>
            <a:ext cx="4251904" cy="439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285750" marR="0" lvl="0" indent="-285750" algn="just" defTabSz="914400" rtl="0" eaLnBrk="1" fontAlgn="base" latinLnBrk="0" hangingPunct="1">
              <a:lnSpc>
                <a:spcPct val="100000"/>
              </a:lnSpc>
              <a:spcBef>
                <a:spcPts val="13"/>
              </a:spcBef>
              <a:spcAft>
                <a:spcPts val="1013"/>
              </a:spcAft>
              <a:buClr>
                <a:srgbClr val="FFFFFF"/>
              </a:buClr>
              <a:buSzPct val="100000"/>
              <a:buFont typeface="Wingdings" panose="05000000000000000000" pitchFamily="2" charset="2"/>
              <a:buChar char="v"/>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Calcular por tramos media y varianza</a:t>
            </a:r>
          </a:p>
        </p:txBody>
      </p:sp>
      <p:pic>
        <p:nvPicPr>
          <p:cNvPr id="24579" name="Picture 3">
            <a:extLst>
              <a:ext uri="{FF2B5EF4-FFF2-40B4-BE49-F238E27FC236}">
                <a16:creationId xmlns:a16="http://schemas.microsoft.com/office/drawing/2014/main" id="{E7C7F740-E15B-9CD6-6F54-0C84E5181B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297" y="3200207"/>
            <a:ext cx="3902655" cy="2702272"/>
          </a:xfrm>
          <a:prstGeom prst="rect">
            <a:avLst/>
          </a:prstGeom>
          <a:noFill/>
          <a:effectLst>
            <a:outerShdw algn="ctr" rotWithShape="0">
              <a:srgbClr val="000000">
                <a:alpha val="43031"/>
              </a:srgbClr>
            </a:outerShdw>
          </a:effectLst>
          <a:extLst>
            <a:ext uri="{909E8E84-426E-40DD-AFC4-6F175D3DCCD1}">
              <a14:hiddenFill xmlns:a14="http://schemas.microsoft.com/office/drawing/2010/main">
                <a:blipFill dpi="0" rotWithShape="0">
                  <a:blip/>
                  <a:srcRect/>
                  <a:stretch>
                    <a:fillRect/>
                  </a:stretch>
                </a:blipFill>
              </a14:hiddenFill>
            </a:ext>
          </a:extLst>
        </p:spPr>
      </p:pic>
      <p:sp>
        <p:nvSpPr>
          <p:cNvPr id="8" name="CuadroTexto 7">
            <a:extLst>
              <a:ext uri="{FF2B5EF4-FFF2-40B4-BE49-F238E27FC236}">
                <a16:creationId xmlns:a16="http://schemas.microsoft.com/office/drawing/2014/main" id="{7616DB45-F612-C72B-8270-599AB3DB2B2C}"/>
              </a:ext>
            </a:extLst>
          </p:cNvPr>
          <p:cNvSpPr txBox="1"/>
          <p:nvPr/>
        </p:nvSpPr>
        <p:spPr>
          <a:xfrm>
            <a:off x="5029201" y="2942817"/>
            <a:ext cx="6324600" cy="646331"/>
          </a:xfrm>
          <a:prstGeom prst="rect">
            <a:avLst/>
          </a:prstGeom>
          <a:noFill/>
        </p:spPr>
        <p:txBody>
          <a:bodyPr wrap="square">
            <a:spAutoFit/>
          </a:bodyPr>
          <a:lstStyle/>
          <a:p>
            <a:pPr marL="285750" marR="0" lvl="0" indent="-285750" algn="just" defTabSz="914400" rtl="0" eaLnBrk="1" fontAlgn="base" latinLnBrk="0" hangingPunct="1">
              <a:lnSpc>
                <a:spcPct val="100000"/>
              </a:lnSpc>
              <a:spcBef>
                <a:spcPts val="13"/>
              </a:spcBef>
              <a:spcAft>
                <a:spcPts val="1013"/>
              </a:spcAft>
              <a:buClr>
                <a:srgbClr val="FFFFFF"/>
              </a:buClr>
              <a:buSzPct val="100000"/>
              <a:buFont typeface="Wingdings" panose="05000000000000000000" pitchFamily="2" charset="2"/>
              <a:buChar char="v"/>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Contrastes estadísticos de raíces unitarias</a:t>
            </a:r>
            <a:r>
              <a:rPr lang="es-MX" altLang="es-MX" dirty="0">
                <a:solidFill>
                  <a:srgbClr val="FFFFFF"/>
                </a:solidFill>
                <a:latin typeface="Calibri" panose="020F0502020204030204" pitchFamily="34" charset="0"/>
              </a:rPr>
              <a:t> </a:t>
            </a:r>
            <a:r>
              <a:rPr lang="es-MX" altLang="es-MX" i="1" dirty="0">
                <a:solidFill>
                  <a:srgbClr val="FFFFFF"/>
                </a:solidFill>
                <a:latin typeface="Calibri" panose="020F0502020204030204" pitchFamily="34" charset="0"/>
              </a:rPr>
              <a:t>(una raíz unitaria es indicio de que la serie presenta no estacionalidad en general)</a:t>
            </a:r>
            <a:endParaRPr kumimoji="0" lang="es-MX" altLang="es-MX" b="0" i="1"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p:sp>
        <p:nvSpPr>
          <p:cNvPr id="9" name="CuadroTexto 8">
            <a:extLst>
              <a:ext uri="{FF2B5EF4-FFF2-40B4-BE49-F238E27FC236}">
                <a16:creationId xmlns:a16="http://schemas.microsoft.com/office/drawing/2014/main" id="{4842DBE7-B14B-A4DF-51E6-6706EB1899E1}"/>
              </a:ext>
            </a:extLst>
          </p:cNvPr>
          <p:cNvSpPr txBox="1"/>
          <p:nvPr/>
        </p:nvSpPr>
        <p:spPr>
          <a:xfrm>
            <a:off x="5143501" y="3815252"/>
            <a:ext cx="6096000" cy="1605568"/>
          </a:xfrm>
          <a:prstGeom prst="rect">
            <a:avLst/>
          </a:prstGeom>
          <a:noFill/>
        </p:spPr>
        <p:txBody>
          <a:bodyPr wrap="square">
            <a:spAutoFit/>
          </a:bodyPr>
          <a:lstStyle/>
          <a:p>
            <a:pPr marL="285750" marR="0" lvl="0" indent="-285750" algn="just" defTabSz="914400" rtl="0" eaLnBrk="1" fontAlgn="base" latinLnBrk="0" hangingPunct="1">
              <a:lnSpc>
                <a:spcPct val="100000"/>
              </a:lnSpc>
              <a:spcBef>
                <a:spcPts val="13"/>
              </a:spcBef>
              <a:spcAft>
                <a:spcPts val="1013"/>
              </a:spcAft>
              <a:buClr>
                <a:srgbClr val="FFFFFF"/>
              </a:buClr>
              <a:buSzPct val="100000"/>
              <a:buFont typeface="Wingdings" panose="05000000000000000000" pitchFamily="2" charset="2"/>
              <a:buChar char="v"/>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Otro criterio para detectar la estacionariedad es el </a:t>
            </a:r>
            <a:r>
              <a:rPr kumimoji="0" lang="es-MX" altLang="es-MX" b="0" i="1" u="none" strike="noStrike" kern="1200" cap="none" spc="0" normalizeH="0" baseline="0" noProof="0" dirty="0">
                <a:ln>
                  <a:noFill/>
                </a:ln>
                <a:solidFill>
                  <a:srgbClr val="FFFFFF"/>
                </a:solidFill>
                <a:effectLst/>
                <a:uLnTx/>
                <a:uFillTx/>
                <a:latin typeface="Calibri" panose="020F0502020204030204" pitchFamily="34" charset="0"/>
                <a:ea typeface="+mn-ea"/>
              </a:rPr>
              <a:t>criterio de </a:t>
            </a:r>
            <a:r>
              <a:rPr kumimoji="0" lang="es-MX" altLang="es-MX" b="1" i="1" u="none" strike="noStrike" kern="1200" cap="none" spc="0" normalizeH="0" baseline="0" noProof="0" dirty="0">
                <a:ln>
                  <a:noFill/>
                </a:ln>
                <a:solidFill>
                  <a:srgbClr val="FFFFFF"/>
                </a:solidFill>
                <a:effectLst/>
                <a:uLnTx/>
                <a:uFillTx/>
                <a:latin typeface="Calibri" panose="020F0502020204030204" pitchFamily="34" charset="0"/>
                <a:ea typeface="+mn-ea"/>
              </a:rPr>
              <a:t>la función de autocorrelación estimada</a:t>
            </a:r>
            <a:r>
              <a:rPr lang="es-MX" altLang="es-MX" b="1" dirty="0">
                <a:solidFill>
                  <a:srgbClr val="FFFFFF"/>
                </a:solidFill>
                <a:latin typeface="Calibri" panose="020F0502020204030204" pitchFamily="34" charset="0"/>
              </a:rPr>
              <a:t>:</a:t>
            </a:r>
          </a:p>
          <a:p>
            <a:pPr marL="0" marR="0" lvl="0" indent="0" algn="just"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0000"/>
                </a:solidFill>
                <a:effectLst/>
                <a:uLnTx/>
                <a:uFillTx/>
                <a:latin typeface="Calibri" panose="020F0502020204030204" pitchFamily="34" charset="0"/>
                <a:ea typeface="+mn-ea"/>
              </a:rPr>
              <a:t>Si los coeficientes de la FAC no decaen rápidamente hay un indicio claro de falta de estacionariedad en media </a:t>
            </a:r>
            <a:r>
              <a:rPr kumimoji="0" lang="es-MX" altLang="es-MX" b="0" i="1" u="none" strike="noStrike" kern="1200" cap="none" spc="0" normalizeH="0" baseline="0" noProof="0" dirty="0">
                <a:ln>
                  <a:noFill/>
                </a:ln>
                <a:solidFill>
                  <a:srgbClr val="FF0000"/>
                </a:solidFill>
                <a:effectLst/>
                <a:uLnTx/>
                <a:uFillTx/>
                <a:latin typeface="Calibri" panose="020F0502020204030204" pitchFamily="34" charset="0"/>
                <a:ea typeface="+mn-ea"/>
              </a:rPr>
              <a:t>(lo que nos llevaría a tomar primeras diferencias en la serie original).</a:t>
            </a:r>
            <a:r>
              <a:rPr kumimoji="0" lang="es-MX" altLang="es-MX" b="0" i="0" u="none" strike="noStrike" kern="1200" cap="none" spc="0" normalizeH="0" baseline="0" noProof="0" dirty="0">
                <a:ln>
                  <a:noFill/>
                </a:ln>
                <a:solidFill>
                  <a:srgbClr val="FF0000"/>
                </a:solidFill>
                <a:effectLst/>
                <a:uLnTx/>
                <a:uFillTx/>
                <a:latin typeface="Calibri" panose="020F0502020204030204" pitchFamily="34" charset="0"/>
                <a:ea typeface="+mn-ea"/>
              </a:rPr>
              <a:t> </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a:extLst>
              <a:ext uri="{FF2B5EF4-FFF2-40B4-BE49-F238E27FC236}">
                <a16:creationId xmlns:a16="http://schemas.microsoft.com/office/drawing/2014/main" id="{64654F40-B4E4-66A6-B8D6-39F4E3055C0C}"/>
              </a:ext>
            </a:extLst>
          </p:cNvPr>
          <p:cNvSpPr>
            <a:spLocks noGrp="1" noChangeArrowheads="1"/>
          </p:cNvSpPr>
          <p:nvPr>
            <p:ph type="title"/>
          </p:nvPr>
        </p:nvSpPr>
        <p:spPr>
          <a:xfrm>
            <a:off x="487363" y="190500"/>
            <a:ext cx="9444037" cy="728663"/>
          </a:xfrm>
          <a:ln/>
        </p:spPr>
        <p:txBody>
          <a:bodyPr/>
          <a:lstStyle/>
          <a:p>
            <a:pP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solidFill>
                <a:latin typeface="Calibri Light" panose="020F0302020204030204" pitchFamily="34" charset="0"/>
              </a:rPr>
              <a:t>Trabajar la estacionariedad de la serie (Tendencia)</a:t>
            </a:r>
          </a:p>
        </p:txBody>
      </p:sp>
      <mc:AlternateContent xmlns:mc="http://schemas.openxmlformats.org/markup-compatibility/2006" xmlns:a14="http://schemas.microsoft.com/office/drawing/2010/main">
        <mc:Choice Requires="a14">
          <p:sp>
            <p:nvSpPr>
              <p:cNvPr id="26626" name="Text Box 2">
                <a:extLst>
                  <a:ext uri="{FF2B5EF4-FFF2-40B4-BE49-F238E27FC236}">
                    <a16:creationId xmlns:a16="http://schemas.microsoft.com/office/drawing/2014/main" id="{DC0E88F3-F4A4-2655-914E-87C97A9FC91B}"/>
                  </a:ext>
                </a:extLst>
              </p:cNvPr>
              <p:cNvSpPr txBox="1">
                <a:spLocks noChangeArrowheads="1"/>
              </p:cNvSpPr>
              <p:nvPr/>
            </p:nvSpPr>
            <p:spPr bwMode="auto">
              <a:xfrm>
                <a:off x="338138" y="2781211"/>
                <a:ext cx="11491913" cy="2260689"/>
              </a:xfrm>
              <a:prstGeom prst="rect">
                <a:avLst/>
              </a:prstGeom>
              <a:noFill/>
              <a:ln>
                <a:noFill/>
              </a:ln>
              <a:effectLst/>
              <a:extLst>
                <a:ext uri="{909E8E84-426E-40DD-AFC4-6F175D3DCCD1}">
                  <a14:hiddenFill>
                    <a:solidFill>
                      <a:srgbClr val="FFFFFF"/>
                    </a:solidFill>
                  </a14:hiddenFill>
                </a:ext>
                <a:ext uri="{91240B29-F687-4F45-9708-019B960494DF}">
                  <a14:hiddenLine w="9525" cap="flat">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9pPr>
              </a:lstStyle>
              <a:p>
                <a:pPr marL="0" lvl="0" indent="0" algn="just" fontAlgn="base">
                  <a:spcBef>
                    <a:spcPts val="13"/>
                  </a:spcBef>
                  <a:spcAft>
                    <a:spcPts val="1013"/>
                  </a:spcAft>
                  <a:buClr>
                    <a:srgbClr val="FFFFFF"/>
                  </a:buClr>
                  <a:buSzPct val="100000"/>
                  <a:defRPr/>
                </a:pPr>
                <a:r>
                  <a:rPr kumimoji="0" lang="es-MX" altLang="es-MX" b="0" i="0" u="none" strike="noStrike" kern="1200" cap="none" spc="0" normalizeH="0" baseline="0" noProof="0" dirty="0">
                    <a:ln>
                      <a:noFill/>
                    </a:ln>
                    <a:solidFill>
                      <a:srgbClr val="FFFFFF"/>
                    </a:solidFill>
                    <a:effectLst/>
                    <a:uLnTx/>
                    <a:uFillTx/>
                    <a:latin typeface="+mn-lt"/>
                  </a:rPr>
                  <a:t>La eliminación de una tendencia cuadrática puede conseguirse mediante </a:t>
                </a:r>
                <a:r>
                  <a:rPr kumimoji="0" lang="es-MX" altLang="es-MX" b="1" i="0" u="none" strike="noStrike" kern="1200" cap="none" spc="0" normalizeH="0" baseline="0" noProof="0" dirty="0">
                    <a:ln>
                      <a:noFill/>
                    </a:ln>
                    <a:solidFill>
                      <a:srgbClr val="FFFFFF"/>
                    </a:solidFill>
                    <a:effectLst/>
                    <a:uLnTx/>
                    <a:uFillTx/>
                    <a:latin typeface="+mn-lt"/>
                  </a:rPr>
                  <a:t>doble diferenciación</a:t>
                </a:r>
                <a:r>
                  <a:rPr lang="es-MX" altLang="es-MX" dirty="0">
                    <a:solidFill>
                      <a:srgbClr val="FFFFFF"/>
                    </a:solidFill>
                    <a:latin typeface="+mn-lt"/>
                  </a:rPr>
                  <a:t>, es decir;</a:t>
                </a:r>
                <a:r>
                  <a:rPr lang="es-MX" altLang="es-MX" b="1" dirty="0">
                    <a:solidFill>
                      <a:srgbClr val="FFFFFF"/>
                    </a:solidFill>
                    <a:latin typeface="+mn-lt"/>
                  </a:rPr>
                  <a:t> </a:t>
                </a:r>
                <a:r>
                  <a:rPr kumimoji="0" lang="es-MX" altLang="es-MX" b="0" i="0" u="none" strike="noStrike" kern="1200" cap="none" spc="0" normalizeH="0" baseline="0" noProof="0" dirty="0">
                    <a:ln>
                      <a:noFill/>
                    </a:ln>
                    <a:solidFill>
                      <a:srgbClr val="FFFFFF"/>
                    </a:solidFill>
                    <a:effectLst/>
                    <a:uLnTx/>
                    <a:uFillTx/>
                    <a:latin typeface="+mn-lt"/>
                  </a:rPr>
                  <a:t>primero se obtiene </a:t>
                </a:r>
                <a14:m>
                  <m:oMath xmlns:m="http://schemas.openxmlformats.org/officeDocument/2006/math">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𝑍</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𝑡</m:t>
                        </m:r>
                      </m:sub>
                    </m:sSub>
                  </m:oMath>
                </a14:m>
                <a:r>
                  <a:rPr kumimoji="0" lang="es-MX" altLang="es-MX" b="0" i="0" u="none" strike="noStrike" kern="1200" cap="none" spc="0" normalizeH="0" baseline="0" noProof="0" dirty="0">
                    <a:ln>
                      <a:noFill/>
                    </a:ln>
                    <a:solidFill>
                      <a:srgbClr val="FFFFFF"/>
                    </a:solidFill>
                    <a:effectLst/>
                    <a:uLnTx/>
                    <a:uFillTx/>
                    <a:latin typeface="+mn-lt"/>
                  </a:rPr>
                  <a:t> y, si sigue existiendo tendencia, se obtiene:</a:t>
                </a:r>
              </a:p>
              <a:p>
                <a:pPr marL="0" lvl="0" indent="0" algn="ctr" fontAlgn="base">
                  <a:spcBef>
                    <a:spcPts val="13"/>
                  </a:spcBef>
                  <a:spcAft>
                    <a:spcPts val="1013"/>
                  </a:spcAft>
                  <a:buClr>
                    <a:srgbClr val="FFFFFF"/>
                  </a:buClr>
                  <a:buSzPct val="100000"/>
                  <a:defRPr/>
                </a:pPr>
                <a:r>
                  <a:rPr kumimoji="0" lang="es-MX" altLang="es-MX" b="0" i="0" u="none" strike="noStrike" kern="1200" cap="none" spc="0" normalizeH="0" baseline="0" noProof="0" dirty="0">
                    <a:ln>
                      <a:noFill/>
                    </a:ln>
                    <a:solidFill>
                      <a:srgbClr val="FFFFFF"/>
                    </a:solidFill>
                    <a:effectLst/>
                    <a:uLnTx/>
                    <a:uFillTx/>
                    <a:latin typeface="+mn-lt"/>
                  </a:rPr>
                  <a:t> </a:t>
                </a:r>
                <a14:m>
                  <m:oMath xmlns:m="http://schemas.openxmlformats.org/officeDocument/2006/math">
                    <m:sSub>
                      <m:sSubPr>
                        <m:ctrlPr>
                          <a:rPr lang="en-US" altLang="es-MX" i="1">
                            <a:solidFill>
                              <a:srgbClr val="FFFFFF"/>
                            </a:solidFill>
                            <a:latin typeface="Cambria Math" panose="02040503050406030204" pitchFamily="18" charset="0"/>
                          </a:rPr>
                        </m:ctrlPr>
                      </m:sSubPr>
                      <m:e>
                        <m:r>
                          <a:rPr lang="en-US" altLang="es-MX" b="0" i="1" smtClean="0">
                            <a:solidFill>
                              <a:srgbClr val="FFFFFF"/>
                            </a:solidFill>
                            <a:latin typeface="Cambria Math" panose="02040503050406030204" pitchFamily="18" charset="0"/>
                          </a:rPr>
                          <m:t>𝑊</m:t>
                        </m:r>
                      </m:e>
                      <m:sub>
                        <m:r>
                          <a:rPr lang="en-US" altLang="es-MX" i="1">
                            <a:solidFill>
                              <a:srgbClr val="FFFFFF"/>
                            </a:solidFill>
                            <a:latin typeface="Cambria Math" panose="02040503050406030204" pitchFamily="18" charset="0"/>
                          </a:rPr>
                          <m:t>𝑡</m:t>
                        </m:r>
                      </m:sub>
                    </m:sSub>
                    <m:r>
                      <a:rPr lang="en-US" altLang="es-MX" i="1">
                        <a:solidFill>
                          <a:srgbClr val="FFFFFF"/>
                        </a:solidFill>
                        <a:latin typeface="Cambria Math" panose="02040503050406030204" pitchFamily="18" charset="0"/>
                      </a:rPr>
                      <m:t>=</m:t>
                    </m:r>
                    <m:sSub>
                      <m:sSubPr>
                        <m:ctrlPr>
                          <a:rPr lang="en-US" altLang="es-MX" i="1">
                            <a:solidFill>
                              <a:srgbClr val="FFFFFF"/>
                            </a:solidFill>
                            <a:latin typeface="Cambria Math" panose="02040503050406030204" pitchFamily="18" charset="0"/>
                          </a:rPr>
                        </m:ctrlPr>
                      </m:sSubPr>
                      <m:e>
                        <m:r>
                          <a:rPr lang="en-US" altLang="es-MX" b="0" i="1" smtClean="0">
                            <a:solidFill>
                              <a:srgbClr val="FFFFFF"/>
                            </a:solidFill>
                            <a:latin typeface="Cambria Math" panose="02040503050406030204" pitchFamily="18" charset="0"/>
                          </a:rPr>
                          <m:t>𝑍</m:t>
                        </m:r>
                      </m:e>
                      <m:sub>
                        <m:r>
                          <a:rPr lang="en-US" altLang="es-MX" i="1">
                            <a:solidFill>
                              <a:srgbClr val="FFFFFF"/>
                            </a:solidFill>
                            <a:latin typeface="Cambria Math" panose="02040503050406030204" pitchFamily="18" charset="0"/>
                          </a:rPr>
                          <m:t>𝑡</m:t>
                        </m:r>
                      </m:sub>
                    </m:sSub>
                    <m:r>
                      <a:rPr lang="en-US" altLang="es-MX" i="1">
                        <a:solidFill>
                          <a:srgbClr val="FFFFFF"/>
                        </a:solidFill>
                        <a:latin typeface="Cambria Math" panose="02040503050406030204" pitchFamily="18" charset="0"/>
                      </a:rPr>
                      <m:t> −</m:t>
                    </m:r>
                    <m:sSub>
                      <m:sSubPr>
                        <m:ctrlPr>
                          <a:rPr lang="en-US" altLang="es-MX" i="1">
                            <a:solidFill>
                              <a:srgbClr val="FFFFFF"/>
                            </a:solidFill>
                            <a:latin typeface="Cambria Math" panose="02040503050406030204" pitchFamily="18" charset="0"/>
                          </a:rPr>
                        </m:ctrlPr>
                      </m:sSubPr>
                      <m:e>
                        <m:r>
                          <a:rPr lang="en-US" altLang="es-MX" b="0" i="1" smtClean="0">
                            <a:solidFill>
                              <a:srgbClr val="FFFFFF"/>
                            </a:solidFill>
                            <a:latin typeface="Cambria Math" panose="02040503050406030204" pitchFamily="18" charset="0"/>
                          </a:rPr>
                          <m:t>𝑍</m:t>
                        </m:r>
                      </m:e>
                      <m:sub>
                        <m:r>
                          <a:rPr lang="en-US" altLang="es-MX" i="1">
                            <a:solidFill>
                              <a:srgbClr val="FFFFFF"/>
                            </a:solidFill>
                            <a:latin typeface="Cambria Math" panose="02040503050406030204" pitchFamily="18" charset="0"/>
                          </a:rPr>
                          <m:t>𝑡</m:t>
                        </m:r>
                        <m:r>
                          <a:rPr lang="en-US" altLang="es-MX" i="1">
                            <a:solidFill>
                              <a:srgbClr val="FFFFFF"/>
                            </a:solidFill>
                            <a:latin typeface="Cambria Math" panose="02040503050406030204" pitchFamily="18" charset="0"/>
                          </a:rPr>
                          <m:t>−1</m:t>
                        </m:r>
                      </m:sub>
                    </m:sSub>
                  </m:oMath>
                </a14:m>
                <a:endParaRPr kumimoji="0" lang="es-MX" altLang="es-MX" b="0" i="0" u="none" strike="noStrike" kern="1200" cap="none" spc="0" normalizeH="0" baseline="0" noProof="0" dirty="0">
                  <a:ln>
                    <a:noFill/>
                  </a:ln>
                  <a:solidFill>
                    <a:srgbClr val="FFFFFF"/>
                  </a:solidFill>
                  <a:effectLst/>
                  <a:uLnTx/>
                  <a:uFillTx/>
                  <a:latin typeface="+mn-lt"/>
                </a:endParaRPr>
              </a:p>
              <a:p>
                <a:pPr marL="0" lvl="0" indent="0" algn="just" fontAlgn="base">
                  <a:spcBef>
                    <a:spcPts val="13"/>
                  </a:spcBef>
                  <a:spcAft>
                    <a:spcPts val="1013"/>
                  </a:spcAft>
                  <a:buClr>
                    <a:srgbClr val="FFFFFF"/>
                  </a:buClr>
                  <a:buSzPct val="100000"/>
                  <a:defRPr/>
                </a:pPr>
                <a:r>
                  <a:rPr kumimoji="0" lang="es-MX" altLang="es-MX" b="0" i="0" u="none" strike="noStrike" kern="1200" cap="none" spc="0" normalizeH="0" baseline="0" noProof="0" dirty="0">
                    <a:ln>
                      <a:noFill/>
                    </a:ln>
                    <a:solidFill>
                      <a:srgbClr val="FFFFFF"/>
                    </a:solidFill>
                    <a:effectLst/>
                    <a:uLnTx/>
                    <a:uFillTx/>
                    <a:latin typeface="+mn-lt"/>
                  </a:rPr>
                  <a:t>Si ya no incorpora tendencia </a:t>
                </a:r>
                <a:r>
                  <a:rPr kumimoji="0" lang="es-MX" altLang="es-MX" b="0" i="1" u="none" strike="noStrike" kern="1200" cap="none" spc="0" normalizeH="0" baseline="0" noProof="0" dirty="0">
                    <a:ln>
                      <a:noFill/>
                    </a:ln>
                    <a:solidFill>
                      <a:srgbClr val="FFFFFF"/>
                    </a:solidFill>
                    <a:effectLst/>
                    <a:uLnTx/>
                    <a:uFillTx/>
                    <a:latin typeface="+mn-lt"/>
                  </a:rPr>
                  <a:t>(ésta es ya estacionaria)</a:t>
                </a:r>
                <a:r>
                  <a:rPr kumimoji="0" lang="es-MX" altLang="es-MX" b="0" i="0" u="none" strike="noStrike" kern="1200" cap="none" spc="0" normalizeH="0" baseline="0" noProof="0" dirty="0">
                    <a:ln>
                      <a:noFill/>
                    </a:ln>
                    <a:solidFill>
                      <a:srgbClr val="FFFFFF"/>
                    </a:solidFill>
                    <a:effectLst/>
                    <a:uLnTx/>
                    <a:uFillTx/>
                    <a:latin typeface="+mn-lt"/>
                  </a:rPr>
                  <a:t>, y se dice que</a:t>
                </a:r>
                <a:r>
                  <a:rPr kumimoji="0" lang="es-MX" altLang="es-MX" b="0" i="0" u="none" strike="noStrike" kern="1200" cap="none" spc="0" normalizeH="0" noProof="0" dirty="0">
                    <a:ln>
                      <a:noFill/>
                    </a:ln>
                    <a:solidFill>
                      <a:srgbClr val="FFFFFF"/>
                    </a:solidFill>
                    <a:effectLst/>
                    <a:uLnTx/>
                    <a:uFillTx/>
                    <a:latin typeface="+mn-lt"/>
                  </a:rPr>
                  <a:t> </a:t>
                </a:r>
                <a:r>
                  <a:rPr kumimoji="0" lang="es-MX" altLang="es-MX" b="0" i="0" u="none" strike="noStrike" kern="1200" cap="none" spc="0" normalizeH="0" baseline="0" noProof="0" dirty="0">
                    <a:ln>
                      <a:noFill/>
                    </a:ln>
                    <a:solidFill>
                      <a:srgbClr val="FFFFFF"/>
                    </a:solidFill>
                    <a:effectLst/>
                    <a:uLnTx/>
                    <a:uFillTx/>
                    <a:latin typeface="+mn-lt"/>
                  </a:rPr>
                  <a:t>es</a:t>
                </a:r>
                <a:r>
                  <a:rPr lang="es-MX" altLang="es-MX" i="1" dirty="0">
                    <a:solidFill>
                      <a:srgbClr val="FFFFFF"/>
                    </a:solidFill>
                    <a:latin typeface="+mn-lt"/>
                  </a:rPr>
                  <a:t> “</a:t>
                </a:r>
                <a:r>
                  <a:rPr lang="es-MX" altLang="es-MX" dirty="0">
                    <a:solidFill>
                      <a:srgbClr val="FFFFFF"/>
                    </a:solidFill>
                    <a:latin typeface="+mn-lt"/>
                  </a:rPr>
                  <a:t>serie temporal </a:t>
                </a:r>
                <a:r>
                  <a:rPr lang="es-MX" altLang="es-MX" b="1" i="1" dirty="0">
                    <a:solidFill>
                      <a:srgbClr val="FFFFFF"/>
                    </a:solidFill>
                    <a:latin typeface="+mn-lt"/>
                  </a:rPr>
                  <a:t>homogénea de segundo orden o integrada de segundo orden”</a:t>
                </a:r>
                <a:r>
                  <a:rPr lang="es-MX" altLang="es-MX" i="1" dirty="0">
                    <a:solidFill>
                      <a:srgbClr val="FFFFFF"/>
                    </a:solidFill>
                    <a:latin typeface="+mn-lt"/>
                  </a:rPr>
                  <a:t> </a:t>
                </a:r>
                <a:r>
                  <a:rPr lang="es-MX" altLang="es-MX" dirty="0">
                    <a:solidFill>
                      <a:srgbClr val="FFFFFF"/>
                    </a:solidFill>
                    <a:latin typeface="+mn-lt"/>
                  </a:rPr>
                  <a:t>y se denota por </a:t>
                </a:r>
                <a14:m>
                  <m:oMath xmlns:m="http://schemas.openxmlformats.org/officeDocument/2006/math">
                    <m:r>
                      <a:rPr lang="en-US" altLang="es-MX" i="1">
                        <a:solidFill>
                          <a:srgbClr val="FFFFFF"/>
                        </a:solidFill>
                        <a:latin typeface="Cambria Math" panose="02040503050406030204" pitchFamily="18" charset="0"/>
                      </a:rPr>
                      <m:t>𝐼</m:t>
                    </m:r>
                    <m:r>
                      <a:rPr lang="en-US" altLang="es-MX" i="1">
                        <a:solidFill>
                          <a:srgbClr val="FFFFFF"/>
                        </a:solidFill>
                        <a:latin typeface="Cambria Math" panose="02040503050406030204" pitchFamily="18" charset="0"/>
                      </a:rPr>
                      <m:t>(2)</m:t>
                    </m:r>
                  </m:oMath>
                </a14:m>
                <a:r>
                  <a:rPr kumimoji="0" lang="es-MX" altLang="es-MX" b="0" i="0" u="none" strike="noStrike" kern="1200" cap="none" spc="0" normalizeH="0" baseline="0" noProof="0" dirty="0">
                    <a:ln>
                      <a:noFill/>
                    </a:ln>
                    <a:solidFill>
                      <a:srgbClr val="FFFFFF"/>
                    </a:solidFill>
                    <a:effectLst/>
                    <a:uLnTx/>
                    <a:uFillTx/>
                    <a:latin typeface="+mn-lt"/>
                  </a:rPr>
                  <a:t>.</a:t>
                </a:r>
              </a:p>
            </p:txBody>
          </p:sp>
        </mc:Choice>
        <mc:Fallback xmlns="">
          <p:sp>
            <p:nvSpPr>
              <p:cNvPr id="26626" name="Text Box 2">
                <a:extLst>
                  <a:ext uri="{FF2B5EF4-FFF2-40B4-BE49-F238E27FC236}">
                    <a16:creationId xmlns:a16="http://schemas.microsoft.com/office/drawing/2014/main" id="{DC0E88F3-F4A4-2655-914E-87C97A9FC91B}"/>
                  </a:ext>
                </a:extLst>
              </p:cNvPr>
              <p:cNvSpPr txBox="1">
                <a:spLocks noRot="1" noChangeAspect="1" noMove="1" noResize="1" noEditPoints="1" noAdjustHandles="1" noChangeArrowheads="1" noChangeShapeType="1" noTextEdit="1"/>
              </p:cNvSpPr>
              <p:nvPr/>
            </p:nvSpPr>
            <p:spPr bwMode="auto">
              <a:xfrm>
                <a:off x="338138" y="2781211"/>
                <a:ext cx="11491913" cy="2260689"/>
              </a:xfrm>
              <a:prstGeom prst="rect">
                <a:avLst/>
              </a:prstGeom>
              <a:blipFill>
                <a:blip r:embed="rId3"/>
                <a:stretch>
                  <a:fillRect l="-424" r="-42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45C5025-DF11-51E3-77D8-1325F0BFDFFE}"/>
                  </a:ext>
                </a:extLst>
              </p:cNvPr>
              <p:cNvSpPr txBox="1"/>
              <p:nvPr/>
            </p:nvSpPr>
            <p:spPr>
              <a:xfrm>
                <a:off x="361949" y="919163"/>
                <a:ext cx="10725151" cy="1862048"/>
              </a:xfrm>
              <a:prstGeom prst="rect">
                <a:avLst/>
              </a:prstGeom>
              <a:noFill/>
            </p:spPr>
            <p:txBody>
              <a:bodyPr wrap="square">
                <a:spAutoFit/>
              </a:bodyPr>
              <a:lstStyle/>
              <a:p>
                <a:pPr marL="342900" marR="0" lvl="0" indent="-342900" algn="just" defTabSz="914400" rtl="0" eaLnBrk="1" fontAlgn="base" latinLnBrk="0" hangingPunct="1">
                  <a:lnSpc>
                    <a:spcPct val="10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1800" b="0" i="0" u="none" strike="noStrike" kern="1200" cap="none" spc="0" normalizeH="0" baseline="0" noProof="0" dirty="0">
                    <a:ln>
                      <a:noFill/>
                    </a:ln>
                    <a:solidFill>
                      <a:srgbClr val="FF0000"/>
                    </a:solidFill>
                    <a:effectLst/>
                    <a:uLnTx/>
                    <a:uFillTx/>
                    <a:latin typeface="Calibri" panose="020F0502020204030204" pitchFamily="34" charset="0"/>
                    <a:ea typeface="+mn-ea"/>
                  </a:rPr>
                  <a:t>Primera opción:</a:t>
                </a:r>
              </a:p>
              <a:p>
                <a:pPr marL="0" marR="0" lvl="0" indent="0"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Las series no estacionarias que presentan una tendencia lineal se las somete a la transformación: </a:t>
                </a:r>
              </a:p>
              <a:p>
                <a:pPr marL="0" marR="0" lvl="0" indent="0" algn="ctr"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14:m>
                  <m:oMath xmlns:m="http://schemas.openxmlformats.org/officeDocument/2006/math">
                    <m:sSub>
                      <m:sSub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sSub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𝑍</m:t>
                        </m:r>
                      </m:e>
                      <m: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sub>
                    </m:s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m:t>
                    </m:r>
                    <m:sSub>
                      <m:sSub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sSub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𝑌</m:t>
                        </m:r>
                      </m:e>
                      <m: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sub>
                    </m:s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 −</m:t>
                    </m:r>
                    <m:sSub>
                      <m:sSub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sSub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𝑌</m:t>
                        </m:r>
                      </m:e>
                      <m: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−1</m:t>
                        </m:r>
                      </m:sub>
                    </m:sSub>
                  </m:oMath>
                </a14:m>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a:t>
                </a:r>
              </a:p>
              <a:p>
                <a:pPr marL="285750" marR="0" lvl="0" indent="-285750" defTabSz="914400" rtl="0" eaLnBrk="1" fontAlgn="base" latinLnBrk="0" hangingPunct="1">
                  <a:lnSpc>
                    <a:spcPct val="100000"/>
                  </a:lnSpc>
                  <a:spcBef>
                    <a:spcPts val="13"/>
                  </a:spcBef>
                  <a:spcAft>
                    <a:spcPts val="10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para convertirlas en </a:t>
                </a:r>
                <a:r>
                  <a:rPr kumimoji="0" lang="es-MX" altLang="es-MX" sz="1800" b="1" u="none" strike="noStrike" kern="1200" cap="none" spc="0" normalizeH="0" baseline="0" noProof="0" dirty="0">
                    <a:ln>
                      <a:noFill/>
                    </a:ln>
                    <a:solidFill>
                      <a:srgbClr val="FFFFFF"/>
                    </a:solidFill>
                    <a:effectLst/>
                    <a:uLnTx/>
                    <a:uFillTx/>
                    <a:latin typeface="Calibri" panose="020F0502020204030204" pitchFamily="34" charset="0"/>
                    <a:ea typeface="+mn-ea"/>
                  </a:rPr>
                  <a:t>estacionarias</a:t>
                </a:r>
                <a:r>
                  <a:rPr kumimoji="0" lang="es-MX" altLang="es-MX" sz="1800" b="0" i="1" u="none" strike="noStrike" kern="1200" cap="none" spc="0" normalizeH="0" baseline="0" noProof="0" dirty="0">
                    <a:ln>
                      <a:noFill/>
                    </a:ln>
                    <a:solidFill>
                      <a:srgbClr val="FFFFFF"/>
                    </a:solidFill>
                    <a:effectLst/>
                    <a:uLnTx/>
                    <a:uFillTx/>
                    <a:latin typeface="Calibri" panose="020F0502020204030204" pitchFamily="34" charset="0"/>
                    <a:ea typeface="+mn-ea"/>
                  </a:rPr>
                  <a:t> (en media). </a:t>
                </a:r>
                <a:r>
                  <a:rPr kumimoji="0" lang="es-MX" altLang="es-MX" sz="1800" b="0" u="none" strike="noStrike" kern="1200" cap="none" spc="0" normalizeH="0" baseline="0" noProof="0" dirty="0">
                    <a:ln>
                      <a:noFill/>
                    </a:ln>
                    <a:solidFill>
                      <a:srgbClr val="FFFFFF"/>
                    </a:solidFill>
                    <a:effectLst/>
                    <a:uLnTx/>
                    <a:uFillTx/>
                    <a:latin typeface="Calibri" panose="020F0502020204030204" pitchFamily="34" charset="0"/>
                    <a:ea typeface="+mn-ea"/>
                  </a:rPr>
                  <a:t>Con esto dicha tendencia desaparece de la serie nueva y recibe le nombre</a:t>
                </a:r>
                <a:r>
                  <a:rPr lang="es-MX" altLang="es-MX" sz="1800" i="1" dirty="0">
                    <a:solidFill>
                      <a:srgbClr val="FFFFFF"/>
                    </a:solidFill>
                    <a:latin typeface="Calibri" panose="020F0502020204030204" pitchFamily="34" charset="0"/>
                  </a:rPr>
                  <a:t>: “</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serie</a:t>
                </a:r>
                <a:r>
                  <a:rPr lang="es-MX" altLang="es-MX" sz="1800" dirty="0">
                    <a:solidFill>
                      <a:srgbClr val="FFFFFF"/>
                    </a:solidFill>
                    <a:latin typeface="Calibri" panose="020F0502020204030204" pitchFamily="34" charset="0"/>
                  </a:rPr>
                  <a:t> </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temporal </a:t>
                </a:r>
                <a:r>
                  <a:rPr kumimoji="0" lang="es-MX" altLang="es-MX" sz="1800" b="1" i="1" u="none" strike="noStrike" kern="1200" cap="none" spc="0" normalizeH="0" baseline="0" noProof="0" dirty="0">
                    <a:ln>
                      <a:noFill/>
                    </a:ln>
                    <a:solidFill>
                      <a:srgbClr val="FFFFFF"/>
                    </a:solidFill>
                    <a:effectLst/>
                    <a:uLnTx/>
                    <a:uFillTx/>
                    <a:latin typeface="Calibri" panose="020F0502020204030204" pitchFamily="34" charset="0"/>
                    <a:ea typeface="+mn-ea"/>
                  </a:rPr>
                  <a:t>homogénea de primer orden o integrada de primer orden”</a:t>
                </a:r>
                <a:r>
                  <a:rPr kumimoji="0" lang="es-MX" altLang="es-MX" sz="1800" b="0" i="1"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y se denota por </a:t>
                </a:r>
                <a14:m>
                  <m:oMath xmlns:m="http://schemas.openxmlformats.org/officeDocument/2006/math">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𝐼</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(1)</m:t>
                    </m:r>
                  </m:oMath>
                </a14:m>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a:t>
                </a:r>
              </a:p>
            </p:txBody>
          </p:sp>
        </mc:Choice>
        <mc:Fallback xmlns="">
          <p:sp>
            <p:nvSpPr>
              <p:cNvPr id="3" name="CuadroTexto 2">
                <a:extLst>
                  <a:ext uri="{FF2B5EF4-FFF2-40B4-BE49-F238E27FC236}">
                    <a16:creationId xmlns:a16="http://schemas.microsoft.com/office/drawing/2014/main" id="{E45C5025-DF11-51E3-77D8-1325F0BFDFFE}"/>
                  </a:ext>
                </a:extLst>
              </p:cNvPr>
              <p:cNvSpPr txBox="1">
                <a:spLocks noRot="1" noChangeAspect="1" noMove="1" noResize="1" noEditPoints="1" noAdjustHandles="1" noChangeArrowheads="1" noChangeShapeType="1" noTextEdit="1"/>
              </p:cNvSpPr>
              <p:nvPr/>
            </p:nvSpPr>
            <p:spPr>
              <a:xfrm>
                <a:off x="361949" y="919163"/>
                <a:ext cx="10725151" cy="1862048"/>
              </a:xfrm>
              <a:prstGeom prst="rect">
                <a:avLst/>
              </a:prstGeom>
              <a:blipFill>
                <a:blip r:embed="rId4"/>
                <a:stretch>
                  <a:fillRect l="-455" t="-1967" r="-795" b="-4590"/>
                </a:stretch>
              </a:blipFill>
            </p:spPr>
            <p:txBody>
              <a:bodyPr/>
              <a:lstStyle/>
              <a:p>
                <a:r>
                  <a:rPr lang="es-MX">
                    <a:noFill/>
                  </a:rPr>
                  <a:t> </a:t>
                </a:r>
              </a:p>
            </p:txBody>
          </p:sp>
        </mc:Fallback>
      </mc:AlternateContent>
      <p:sp>
        <p:nvSpPr>
          <p:cNvPr id="4" name="Text Box 2">
            <a:extLst>
              <a:ext uri="{FF2B5EF4-FFF2-40B4-BE49-F238E27FC236}">
                <a16:creationId xmlns:a16="http://schemas.microsoft.com/office/drawing/2014/main" id="{99E8A6AB-6F07-7321-E8E5-A3C90FF0FF81}"/>
              </a:ext>
            </a:extLst>
          </p:cNvPr>
          <p:cNvSpPr txBox="1">
            <a:spLocks noChangeArrowheads="1"/>
          </p:cNvSpPr>
          <p:nvPr/>
        </p:nvSpPr>
        <p:spPr bwMode="auto">
          <a:xfrm>
            <a:off x="5724524" y="4897437"/>
            <a:ext cx="5943600" cy="1041400"/>
          </a:xfrm>
          <a:prstGeom prst="rect">
            <a:avLst/>
          </a:prstGeom>
          <a:noFill/>
          <a:ln w="9525" cap="flat">
            <a:solidFill>
              <a:srgbClr val="3465A4"/>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9pPr>
          </a:lstStyle>
          <a:p>
            <a:pPr marL="0" lvl="0" indent="0" algn="just" fontAlgn="base">
              <a:spcBef>
                <a:spcPts val="13"/>
              </a:spcBef>
              <a:spcAft>
                <a:spcPts val="1013"/>
              </a:spcAft>
              <a:buClr>
                <a:srgbClr val="FFFFFF"/>
              </a:buClr>
              <a:buSzPct val="100000"/>
              <a:defRPr/>
            </a:pPr>
            <a:r>
              <a:rPr lang="es-MX" altLang="es-MX" b="1" dirty="0">
                <a:solidFill>
                  <a:srgbClr val="FFFFFF"/>
                </a:solidFill>
                <a:latin typeface="+mn-lt"/>
              </a:rPr>
              <a:t>Nota:</a:t>
            </a:r>
            <a:r>
              <a:rPr lang="es-MX" altLang="es-MX" dirty="0">
                <a:solidFill>
                  <a:srgbClr val="FFFFFF"/>
                </a:solidFill>
                <a:latin typeface="+mn-lt"/>
              </a:rPr>
              <a:t> Hay que tener en cuenta que hay perdida de datos conforme se hace esta diferencia y hay que tener precaución en este aspecto.</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7650" name="Text Box 2">
                <a:extLst>
                  <a:ext uri="{FF2B5EF4-FFF2-40B4-BE49-F238E27FC236}">
                    <a16:creationId xmlns:a16="http://schemas.microsoft.com/office/drawing/2014/main" id="{4F27FBCF-C5F8-E677-4122-825F5CB725BD}"/>
                  </a:ext>
                </a:extLst>
              </p:cNvPr>
              <p:cNvSpPr txBox="1">
                <a:spLocks noChangeArrowheads="1"/>
              </p:cNvSpPr>
              <p:nvPr/>
            </p:nvSpPr>
            <p:spPr bwMode="auto">
              <a:xfrm>
                <a:off x="516731" y="692666"/>
                <a:ext cx="11158538" cy="1681162"/>
              </a:xfrm>
              <a:prstGeom prst="rect">
                <a:avLst/>
              </a:prstGeom>
              <a:noFill/>
              <a:ln>
                <a:noFill/>
              </a:ln>
              <a:effectLst/>
              <a:extLst>
                <a:ext uri="{909E8E84-426E-40DD-AFC4-6F175D3DCCD1}">
                  <a14:hiddenFill>
                    <a:solidFill>
                      <a:srgbClr val="FFFFFF"/>
                    </a:solidFill>
                  </a14:hiddenFill>
                </a:ext>
                <a:ext uri="{91240B29-F687-4F45-9708-019B960494DF}">
                  <a14:hiddenLine w="9525" cap="flat">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9pPr>
              </a:lstStyle>
              <a:p>
                <a:pPr marL="342900" indent="-342900" algn="just" fontAlgn="base">
                  <a:spcBef>
                    <a:spcPts val="13"/>
                  </a:spcBef>
                  <a:spcAft>
                    <a:spcPts val="1013"/>
                  </a:spcAft>
                  <a:buClr>
                    <a:srgbClr val="FFFFFF"/>
                  </a:buClr>
                  <a:buSzPct val="100000"/>
                  <a:buFont typeface="Arial" panose="020B0604020202020204" pitchFamily="34" charset="0"/>
                  <a:buChar char="•"/>
                  <a:defRPr/>
                </a:pPr>
                <a:r>
                  <a:rPr kumimoji="0" lang="es-MX" altLang="es-MX" b="0" i="0" u="none" strike="noStrike" kern="1200" cap="none" spc="0" normalizeH="0" baseline="0" noProof="0" dirty="0">
                    <a:ln>
                      <a:noFill/>
                    </a:ln>
                    <a:solidFill>
                      <a:srgbClr val="FF0000"/>
                    </a:solidFill>
                    <a:effectLst/>
                    <a:uLnTx/>
                    <a:uFillTx/>
                    <a:latin typeface="+mn-lt"/>
                    <a:ea typeface="+mn-ea"/>
                  </a:rPr>
                  <a:t>Segunda opción:</a:t>
                </a:r>
              </a:p>
              <a:p>
                <a:pPr marL="0" marR="0" lvl="0" indent="0" algn="just"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b="0" i="0" u="none" strike="noStrike" kern="1200" cap="none" spc="0" normalizeH="0" baseline="0" noProof="0" dirty="0">
                    <a:ln>
                      <a:noFill/>
                    </a:ln>
                    <a:solidFill>
                      <a:srgbClr val="FFFFFF"/>
                    </a:solidFill>
                    <a:effectLst/>
                    <a:uLnTx/>
                    <a:uFillTx/>
                    <a:latin typeface="+mn-lt"/>
                    <a:ea typeface="+mn-ea"/>
                  </a:rPr>
                  <a:t>Si </a:t>
                </a:r>
                <a:r>
                  <a:rPr kumimoji="0" lang="es-MX" altLang="es-MX" b="0" i="1" u="none" strike="noStrike" kern="1200" cap="none" spc="0" normalizeH="0" baseline="0" noProof="0" dirty="0">
                    <a:ln>
                      <a:noFill/>
                    </a:ln>
                    <a:solidFill>
                      <a:srgbClr val="FFFFFF"/>
                    </a:solidFill>
                    <a:effectLst/>
                    <a:uLnTx/>
                    <a:uFillTx/>
                    <a:latin typeface="+mn-lt"/>
                    <a:ea typeface="+mn-ea"/>
                  </a:rPr>
                  <a:t> </a:t>
                </a:r>
                <a:r>
                  <a:rPr kumimoji="0" lang="es-MX" altLang="es-MX" b="0" i="0" u="none" strike="noStrike" kern="1200" cap="none" spc="0" normalizeH="0" baseline="0" noProof="0" dirty="0">
                    <a:ln>
                      <a:noFill/>
                    </a:ln>
                    <a:solidFill>
                      <a:srgbClr val="FFFFFF"/>
                    </a:solidFill>
                    <a:effectLst/>
                    <a:uLnTx/>
                    <a:uFillTx/>
                    <a:latin typeface="+mn-lt"/>
                    <a:ea typeface="+mn-ea"/>
                  </a:rPr>
                  <a:t>muestra una tendencia exponencial, puede eliminarse la tendencia hallando primero el logaritmo de la serie y luego la diferencia primera de la nueva serie así calculada. La serie </a:t>
                </a:r>
                <a14:m>
                  <m:oMath xmlns:m="http://schemas.openxmlformats.org/officeDocument/2006/math">
                    <m:sSub>
                      <m:sSub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sSub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𝑍</m:t>
                        </m:r>
                      </m:e>
                      <m: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sub>
                    </m:s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𝑖𝑛</m:t>
                    </m:r>
                    <m:d>
                      <m:d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dPr>
                      <m:e>
                        <m:sSub>
                          <m:sSub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sSub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𝑌</m:t>
                            </m:r>
                          </m:e>
                          <m: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sub>
                        </m:sSub>
                      </m:e>
                    </m:d>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 −</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𝑖𝑛</m:t>
                    </m:r>
                    <m:d>
                      <m:d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dPr>
                      <m:e>
                        <m:sSub>
                          <m:sSubPr>
                            <m:ctrlP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ctrlPr>
                          </m:sSubPr>
                          <m:e>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𝑌</m:t>
                            </m:r>
                          </m:e>
                          <m:sub>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𝑡</m:t>
                            </m:r>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−1</m:t>
                            </m:r>
                          </m:sub>
                        </m:sSub>
                      </m:e>
                    </m:d>
                  </m:oMath>
                </a14:m>
                <a:r>
                  <a:rPr kumimoji="0" lang="es-MX" altLang="es-MX" b="0" i="0" u="none" strike="noStrike" kern="1200" cap="none" spc="0" normalizeH="0" baseline="0" noProof="0" dirty="0">
                    <a:ln>
                      <a:noFill/>
                    </a:ln>
                    <a:solidFill>
                      <a:srgbClr val="FFFFFF"/>
                    </a:solidFill>
                    <a:effectLst/>
                    <a:uLnTx/>
                    <a:uFillTx/>
                    <a:latin typeface="+mn-lt"/>
                    <a:ea typeface="+mn-ea"/>
                  </a:rPr>
                  <a:t> puede tener tal tendencia eliminada.</a:t>
                </a:r>
              </a:p>
            </p:txBody>
          </p:sp>
        </mc:Choice>
        <mc:Fallback xmlns="">
          <p:sp>
            <p:nvSpPr>
              <p:cNvPr id="27650" name="Text Box 2">
                <a:extLst>
                  <a:ext uri="{FF2B5EF4-FFF2-40B4-BE49-F238E27FC236}">
                    <a16:creationId xmlns:a16="http://schemas.microsoft.com/office/drawing/2014/main" id="{4F27FBCF-C5F8-E677-4122-825F5CB725BD}"/>
                  </a:ext>
                </a:extLst>
              </p:cNvPr>
              <p:cNvSpPr txBox="1">
                <a:spLocks noRot="1" noChangeAspect="1" noMove="1" noResize="1" noEditPoints="1" noAdjustHandles="1" noChangeArrowheads="1" noChangeShapeType="1" noTextEdit="1"/>
              </p:cNvSpPr>
              <p:nvPr/>
            </p:nvSpPr>
            <p:spPr bwMode="auto">
              <a:xfrm>
                <a:off x="516731" y="692666"/>
                <a:ext cx="11158538" cy="1681162"/>
              </a:xfrm>
              <a:prstGeom prst="rect">
                <a:avLst/>
              </a:prstGeom>
              <a:blipFill>
                <a:blip r:embed="rId3"/>
                <a:stretch>
                  <a:fillRect l="-492" r="-437"/>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891BA8FA-0A70-C61F-1468-392F700EB2B3}"/>
                  </a:ext>
                </a:extLst>
              </p:cNvPr>
              <p:cNvSpPr txBox="1"/>
              <p:nvPr/>
            </p:nvSpPr>
            <p:spPr>
              <a:xfrm>
                <a:off x="561974" y="198735"/>
                <a:ext cx="10423526" cy="646331"/>
              </a:xfrm>
              <a:prstGeom prst="rect">
                <a:avLst/>
              </a:prstGeom>
              <a:noFill/>
            </p:spPr>
            <p:txBody>
              <a:bodyPr wrap="square">
                <a:spAutoFit/>
              </a:bodyPr>
              <a:lstStyle/>
              <a:p>
                <a:pPr lvl="0" algn="just" fontAlgn="base">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Análogamente una tendencia de orden </a:t>
                </a:r>
                <a14:m>
                  <m:oMath xmlns:m="http://schemas.openxmlformats.org/officeDocument/2006/math">
                    <m:r>
                      <a:rPr kumimoji="0" lang="en-US" altLang="es-MX" sz="1800" b="0" i="1" u="none" strike="noStrike" kern="1200" cap="none" spc="0" normalizeH="0" baseline="0" noProof="0" smtClean="0">
                        <a:ln>
                          <a:noFill/>
                        </a:ln>
                        <a:solidFill>
                          <a:srgbClr val="FFFFFF"/>
                        </a:solidFill>
                        <a:effectLst/>
                        <a:uLnTx/>
                        <a:uFillTx/>
                        <a:latin typeface="Cambria Math" panose="02040503050406030204" pitchFamily="18" charset="0"/>
                        <a:ea typeface="+mn-ea"/>
                      </a:rPr>
                      <m:t>𝑝</m:t>
                    </m:r>
                  </m:oMath>
                </a14:m>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puede eliminarse llevando a cabo una diferenciación de orden </a:t>
                </a:r>
                <a14:m>
                  <m:oMath xmlns:m="http://schemas.openxmlformats.org/officeDocument/2006/math">
                    <m:r>
                      <a:rPr lang="en-US" altLang="es-MX" i="1">
                        <a:solidFill>
                          <a:srgbClr val="FFFFFF"/>
                        </a:solidFill>
                        <a:latin typeface="Cambria Math" panose="02040503050406030204" pitchFamily="18" charset="0"/>
                      </a:rPr>
                      <m:t>𝑝</m:t>
                    </m:r>
                  </m:oMath>
                </a14:m>
                <a:r>
                  <a:rPr kumimoji="0" lang="es-MX" altLang="es-MX" sz="1800" b="0" i="1"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dando lugar a una serie </a:t>
                </a:r>
                <a:r>
                  <a:rPr kumimoji="0" lang="pt-BR"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homogénea o integrada de </a:t>
                </a:r>
                <a:r>
                  <a:rPr kumimoji="0" lang="pt-BR" altLang="es-MX" sz="1800" b="0" i="0" u="none" strike="noStrike" kern="1200" cap="none" spc="0" normalizeH="0" baseline="0" noProof="0" dirty="0" err="1">
                    <a:ln>
                      <a:noFill/>
                    </a:ln>
                    <a:solidFill>
                      <a:srgbClr val="FFFFFF"/>
                    </a:solidFill>
                    <a:effectLst/>
                    <a:uLnTx/>
                    <a:uFillTx/>
                    <a:latin typeface="Calibri" panose="020F0502020204030204" pitchFamily="34" charset="0"/>
                    <a:ea typeface="+mn-ea"/>
                  </a:rPr>
                  <a:t>orden</a:t>
                </a:r>
                <a:r>
                  <a:rPr kumimoji="0" lang="pt-BR"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a:t>
                </a:r>
                <a14:m>
                  <m:oMath xmlns:m="http://schemas.openxmlformats.org/officeDocument/2006/math">
                    <m:r>
                      <a:rPr lang="en-US" altLang="es-MX" i="1">
                        <a:solidFill>
                          <a:srgbClr val="FFFFFF"/>
                        </a:solidFill>
                        <a:latin typeface="Cambria Math" panose="02040503050406030204" pitchFamily="18" charset="0"/>
                      </a:rPr>
                      <m:t>𝐼</m:t>
                    </m:r>
                    <m:r>
                      <a:rPr lang="en-US" altLang="es-MX" i="1">
                        <a:solidFill>
                          <a:srgbClr val="FFFFFF"/>
                        </a:solidFill>
                        <a:latin typeface="Cambria Math" panose="02040503050406030204" pitchFamily="18" charset="0"/>
                      </a:rPr>
                      <m:t>(</m:t>
                    </m:r>
                    <m:r>
                      <a:rPr lang="en-US" altLang="es-MX" b="0" i="1" smtClean="0">
                        <a:solidFill>
                          <a:srgbClr val="FFFFFF"/>
                        </a:solidFill>
                        <a:latin typeface="Cambria Math" panose="02040503050406030204" pitchFamily="18" charset="0"/>
                      </a:rPr>
                      <m:t>𝑝</m:t>
                    </m:r>
                    <m:r>
                      <a:rPr lang="en-US" altLang="es-MX" i="1">
                        <a:solidFill>
                          <a:srgbClr val="FFFFFF"/>
                        </a:solidFill>
                        <a:latin typeface="Cambria Math" panose="02040503050406030204" pitchFamily="18" charset="0"/>
                      </a:rPr>
                      <m:t>)</m:t>
                    </m:r>
                  </m:oMath>
                </a14:m>
                <a:r>
                  <a:rPr kumimoji="0" lang="pt-BR" altLang="es-MX" sz="1800" b="0" i="0" u="none" strike="noStrike" kern="1200" cap="none" spc="0" normalizeH="0" baseline="0" noProof="0" dirty="0">
                    <a:ln>
                      <a:noFill/>
                    </a:ln>
                    <a:solidFill>
                      <a:srgbClr val="FFFFFF"/>
                    </a:solidFill>
                    <a:effectLst/>
                    <a:uLnTx/>
                    <a:uFillTx/>
                    <a:latin typeface="TimesNewRomanPSMT" charset="0"/>
                    <a:ea typeface="+mn-ea"/>
                  </a:rPr>
                  <a:t>.</a:t>
                </a:r>
              </a:p>
            </p:txBody>
          </p:sp>
        </mc:Choice>
        <mc:Fallback xmlns="">
          <p:sp>
            <p:nvSpPr>
              <p:cNvPr id="3" name="CuadroTexto 2">
                <a:extLst>
                  <a:ext uri="{FF2B5EF4-FFF2-40B4-BE49-F238E27FC236}">
                    <a16:creationId xmlns:a16="http://schemas.microsoft.com/office/drawing/2014/main" id="{891BA8FA-0A70-C61F-1468-392F700EB2B3}"/>
                  </a:ext>
                </a:extLst>
              </p:cNvPr>
              <p:cNvSpPr txBox="1">
                <a:spLocks noRot="1" noChangeAspect="1" noMove="1" noResize="1" noEditPoints="1" noAdjustHandles="1" noChangeArrowheads="1" noChangeShapeType="1" noTextEdit="1"/>
              </p:cNvSpPr>
              <p:nvPr/>
            </p:nvSpPr>
            <p:spPr>
              <a:xfrm>
                <a:off x="561974" y="198735"/>
                <a:ext cx="10423526" cy="646331"/>
              </a:xfrm>
              <a:prstGeom prst="rect">
                <a:avLst/>
              </a:prstGeom>
              <a:blipFill>
                <a:blip r:embed="rId4"/>
                <a:stretch>
                  <a:fillRect l="-468" t="-5660" b="-14151"/>
                </a:stretch>
              </a:blipFill>
            </p:spPr>
            <p:txBody>
              <a:bodyPr/>
              <a:lstStyle/>
              <a:p>
                <a:r>
                  <a:rPr lang="es-MX">
                    <a:noFill/>
                  </a:rPr>
                  <a:t> </a:t>
                </a:r>
              </a:p>
            </p:txBody>
          </p:sp>
        </mc:Fallback>
      </mc:AlternateContent>
      <p:pic>
        <p:nvPicPr>
          <p:cNvPr id="5" name="Imagen 4">
            <a:extLst>
              <a:ext uri="{FF2B5EF4-FFF2-40B4-BE49-F238E27FC236}">
                <a16:creationId xmlns:a16="http://schemas.microsoft.com/office/drawing/2014/main" id="{6F1E4BBF-2123-6EBA-F18B-1D5C42805996}"/>
              </a:ext>
            </a:extLst>
          </p:cNvPr>
          <p:cNvPicPr>
            <a:picLocks noChangeAspect="1"/>
          </p:cNvPicPr>
          <p:nvPr/>
        </p:nvPicPr>
        <p:blipFill>
          <a:blip r:embed="rId5"/>
          <a:stretch>
            <a:fillRect/>
          </a:stretch>
        </p:blipFill>
        <p:spPr>
          <a:xfrm>
            <a:off x="3040733" y="3167955"/>
            <a:ext cx="6573167" cy="2581635"/>
          </a:xfrm>
          <a:prstGeom prst="rect">
            <a:avLst/>
          </a:prstGeom>
        </p:spPr>
      </p:pic>
      <p:sp>
        <p:nvSpPr>
          <p:cNvPr id="7" name="CuadroTexto 6">
            <a:extLst>
              <a:ext uri="{FF2B5EF4-FFF2-40B4-BE49-F238E27FC236}">
                <a16:creationId xmlns:a16="http://schemas.microsoft.com/office/drawing/2014/main" id="{ABE059D6-1B47-38FD-F66E-52047336DA63}"/>
              </a:ext>
            </a:extLst>
          </p:cNvPr>
          <p:cNvSpPr txBox="1"/>
          <p:nvPr/>
        </p:nvSpPr>
        <p:spPr>
          <a:xfrm>
            <a:off x="516731" y="2625127"/>
            <a:ext cx="11306969" cy="646331"/>
          </a:xfrm>
          <a:prstGeom prst="rect">
            <a:avLst/>
          </a:prstGeom>
          <a:noFill/>
        </p:spPr>
        <p:txBody>
          <a:bodyPr wrap="square">
            <a:spAutoFit/>
          </a:bodyPr>
          <a:lstStyle/>
          <a:p>
            <a:pPr marR="0" lvl="0" algn="just"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b="0" i="0" u="none" strike="noStrike" kern="1200" cap="none" spc="0" normalizeH="0" baseline="0" noProof="0" dirty="0">
                <a:ln>
                  <a:noFill/>
                </a:ln>
                <a:solidFill>
                  <a:srgbClr val="FFFFFF"/>
                </a:solidFill>
                <a:effectLst/>
                <a:uLnTx/>
                <a:uFillTx/>
                <a:latin typeface="+mn-lt"/>
                <a:ea typeface="+mn-ea"/>
              </a:rPr>
              <a:t>La </a:t>
            </a:r>
            <a:r>
              <a:rPr kumimoji="0" lang="es-MX" altLang="es-MX" b="1" i="1" u="none" strike="noStrike" kern="1200" cap="none" spc="0" normalizeH="0" baseline="0" noProof="0" dirty="0">
                <a:ln>
                  <a:noFill/>
                </a:ln>
                <a:solidFill>
                  <a:srgbClr val="FFFFFF"/>
                </a:solidFill>
                <a:effectLst/>
                <a:uLnTx/>
                <a:uFillTx/>
                <a:latin typeface="+mn-lt"/>
                <a:ea typeface="+mn-ea"/>
              </a:rPr>
              <a:t>no estacionariedad en varianza </a:t>
            </a:r>
            <a:r>
              <a:rPr kumimoji="0" lang="es-MX" altLang="es-MX" b="0" i="0" u="none" strike="noStrike" kern="1200" cap="none" spc="0" normalizeH="0" baseline="0" noProof="0" dirty="0">
                <a:ln>
                  <a:noFill/>
                </a:ln>
                <a:solidFill>
                  <a:srgbClr val="FFFFFF"/>
                </a:solidFill>
                <a:effectLst/>
                <a:uLnTx/>
                <a:uFillTx/>
                <a:latin typeface="+mn-lt"/>
                <a:ea typeface="+mn-ea"/>
              </a:rPr>
              <a:t>suele corregirse aplicando logaritmos o una transformación más general como la de Box-Cox.</a:t>
            </a:r>
          </a:p>
        </p:txBody>
      </p:sp>
      <p:sp>
        <p:nvSpPr>
          <p:cNvPr id="8" name="Rectangle 1">
            <a:extLst>
              <a:ext uri="{FF2B5EF4-FFF2-40B4-BE49-F238E27FC236}">
                <a16:creationId xmlns:a16="http://schemas.microsoft.com/office/drawing/2014/main" id="{66DCA437-1F5B-0EA7-5AD1-97E12617A837}"/>
              </a:ext>
            </a:extLst>
          </p:cNvPr>
          <p:cNvSpPr>
            <a:spLocks noGrp="1" noChangeArrowheads="1"/>
          </p:cNvSpPr>
          <p:nvPr>
            <p:ph type="title"/>
          </p:nvPr>
        </p:nvSpPr>
        <p:spPr>
          <a:xfrm>
            <a:off x="2379663" y="1974566"/>
            <a:ext cx="9444037" cy="728663"/>
          </a:xfrm>
          <a:ln/>
        </p:spPr>
        <p:txBody>
          <a:bodyPr/>
          <a:lstStyle/>
          <a:p>
            <a:pP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solidFill>
                <a:latin typeface="Calibri Light" panose="020F0302020204030204" pitchFamily="34" charset="0"/>
              </a:rPr>
              <a:t>Trabajar la estacionariedad de la serie (Variación)</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673" name="Text Box 1">
                <a:extLst>
                  <a:ext uri="{FF2B5EF4-FFF2-40B4-BE49-F238E27FC236}">
                    <a16:creationId xmlns:a16="http://schemas.microsoft.com/office/drawing/2014/main" id="{05FEE155-0A2B-B36F-5F85-8390FE17139F}"/>
                  </a:ext>
                </a:extLst>
              </p:cNvPr>
              <p:cNvSpPr txBox="1">
                <a:spLocks noChangeArrowheads="1"/>
              </p:cNvSpPr>
              <p:nvPr/>
            </p:nvSpPr>
            <p:spPr bwMode="auto">
              <a:xfrm>
                <a:off x="611188" y="185739"/>
                <a:ext cx="10766425" cy="2824161"/>
              </a:xfrm>
              <a:prstGeom prst="rect">
                <a:avLst/>
              </a:prstGeom>
              <a:noFill/>
              <a:ln>
                <a:noFill/>
              </a:ln>
              <a:effectLst/>
              <a:extLst>
                <a:ext uri="{909E8E84-426E-40DD-AFC4-6F175D3DCCD1}">
                  <a14:hiddenFill>
                    <a:solidFill>
                      <a:srgbClr val="FFFFFF"/>
                    </a:solidFill>
                  </a14:hiddenFill>
                </a:ext>
                <a:ext uri="{91240B29-F687-4F45-9708-019B960494DF}">
                  <a14:hiddenLine w="9525" cap="flat">
                    <a:solidFill>
                      <a:srgbClr val="3465A4"/>
                    </a:solidFill>
                    <a:round/>
                    <a:headEnd/>
                    <a:tailEnd/>
                  </a14:hiddenLine>
                </a:ext>
                <a:ext uri="{AF507438-7753-43E0-B8FC-AC1667EBCBE1}">
                  <a14:hiddenEffects>
                    <a:effectLst>
                      <a:outerShdw dist="35921" dir="2700000" algn="ctr" rotWithShape="0">
                        <a:srgbClr val="808080"/>
                      </a:outerShdw>
                    </a:effectLst>
                  </a14:hiddenEffects>
                </a:ext>
              </a:extLst>
            </p:spPr>
            <p:txBody>
              <a:bodyPr anchor="ctr"/>
              <a:lstStyle>
                <a:lvl1pPr marL="285750" indent="-28575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DejaVu Sans" charset="0"/>
                  </a:defRPr>
                </a:lvl9pPr>
              </a:lstStyle>
              <a:p>
                <a:pPr marL="0" marR="0" lvl="0" indent="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u="none" strike="noStrike" kern="1200" cap="none" spc="0" normalizeH="0" baseline="0" noProof="0" dirty="0">
                    <a:ln>
                      <a:noFill/>
                    </a:ln>
                    <a:solidFill>
                      <a:srgbClr val="FFFFFF"/>
                    </a:solidFill>
                    <a:effectLst/>
                    <a:uLnTx/>
                    <a:uFillTx/>
                    <a:latin typeface="+mn-lt"/>
                  </a:rPr>
                  <a:t>La eliminación de las variaciones estacionales</a:t>
                </a:r>
                <a:r>
                  <a:rPr lang="es-MX" altLang="es-MX" i="1" dirty="0">
                    <a:solidFill>
                      <a:srgbClr val="FFFFFF"/>
                    </a:solidFill>
                    <a:latin typeface="+mn-lt"/>
                  </a:rPr>
                  <a:t> (</a:t>
                </a:r>
                <a:r>
                  <a:rPr kumimoji="0" lang="es-MX" altLang="es-MX" b="0" i="1" u="none" strike="noStrike" kern="1200" cap="none" spc="0" normalizeH="0" baseline="0" noProof="0" dirty="0">
                    <a:ln>
                      <a:noFill/>
                    </a:ln>
                    <a:solidFill>
                      <a:srgbClr val="FFFFFF"/>
                    </a:solidFill>
                    <a:effectLst/>
                    <a:uLnTx/>
                    <a:uFillTx/>
                    <a:latin typeface="+mn-lt"/>
                  </a:rPr>
                  <a:t>para inducir la estacionariedad)</a:t>
                </a:r>
                <a:r>
                  <a:rPr lang="es-MX" altLang="es-MX" i="1" dirty="0">
                    <a:solidFill>
                      <a:srgbClr val="FFFFFF"/>
                    </a:solidFill>
                    <a:latin typeface="+mn-lt"/>
                  </a:rPr>
                  <a:t>, </a:t>
                </a:r>
                <a:r>
                  <a:rPr kumimoji="0" lang="es-MX" altLang="es-MX" b="0" i="0" u="none" strike="noStrike" kern="1200" cap="none" spc="0" normalizeH="0" baseline="0" noProof="0" dirty="0">
                    <a:ln>
                      <a:noFill/>
                    </a:ln>
                    <a:solidFill>
                      <a:srgbClr val="FFFFFF"/>
                    </a:solidFill>
                    <a:effectLst/>
                    <a:uLnTx/>
                    <a:uFillTx/>
                    <a:latin typeface="+mn-lt"/>
                  </a:rPr>
                  <a:t>suele hacerse casi siempre</a:t>
                </a:r>
                <a:r>
                  <a:rPr lang="es-MX" altLang="es-MX" dirty="0">
                    <a:solidFill>
                      <a:srgbClr val="FFFFFF"/>
                    </a:solidFill>
                    <a:latin typeface="+mn-lt"/>
                  </a:rPr>
                  <a:t> </a:t>
                </a:r>
                <a:r>
                  <a:rPr kumimoji="0" lang="es-MX" altLang="es-MX" b="0" i="0" u="none" strike="noStrike" kern="1200" cap="none" spc="0" normalizeH="0" baseline="0" noProof="0" dirty="0">
                    <a:ln>
                      <a:noFill/>
                    </a:ln>
                    <a:solidFill>
                      <a:srgbClr val="FFFFFF"/>
                    </a:solidFill>
                    <a:effectLst/>
                    <a:uLnTx/>
                    <a:uFillTx/>
                    <a:latin typeface="+mn-lt"/>
                  </a:rPr>
                  <a:t>mediante </a:t>
                </a:r>
                <a:r>
                  <a:rPr kumimoji="0" lang="es-MX" altLang="es-MX" b="1" i="0" u="none" strike="noStrike" kern="1200" cap="none" spc="0" normalizeH="0" baseline="0" noProof="0" dirty="0">
                    <a:ln>
                      <a:noFill/>
                    </a:ln>
                    <a:solidFill>
                      <a:srgbClr val="FFFFFF"/>
                    </a:solidFill>
                    <a:effectLst/>
                    <a:uLnTx/>
                    <a:uFillTx/>
                    <a:latin typeface="+mn-lt"/>
                  </a:rPr>
                  <a:t>la diferenciación estacional. </a:t>
                </a:r>
              </a:p>
              <a:p>
                <a:pPr marL="285750" marR="0" lvl="0" indent="-285750" algn="l" defTabSz="914400" rtl="0" eaLnBrk="1" fontAlgn="base" latinLnBrk="0" hangingPunct="1">
                  <a:lnSpc>
                    <a:spcPct val="100000"/>
                  </a:lnSpc>
                  <a:spcBef>
                    <a:spcPts val="13"/>
                  </a:spcBef>
                  <a:spcAft>
                    <a:spcPts val="1013"/>
                  </a:spcAft>
                  <a:buClr>
                    <a:srgbClr val="FFFFFF"/>
                  </a:buClr>
                  <a:buSzPct val="100000"/>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C000"/>
                    </a:solidFill>
                    <a:effectLst/>
                    <a:uLnTx/>
                    <a:uFillTx/>
                    <a:latin typeface="+mn-lt"/>
                  </a:rPr>
                  <a:t>Ejemplo:</a:t>
                </a:r>
              </a:p>
              <a:p>
                <a:pPr marL="0" marR="0" lvl="0" indent="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FFFF"/>
                    </a:solidFill>
                    <a:effectLst/>
                    <a:uLnTx/>
                    <a:uFillTx/>
                    <a:latin typeface="+mn-lt"/>
                  </a:rPr>
                  <a:t>Si los datos son mensuales; </a:t>
                </a:r>
                <a:r>
                  <a:rPr kumimoji="0" lang="es-MX" altLang="es-MX" b="1" i="0" u="none" strike="noStrike" kern="1200" cap="none" spc="0" normalizeH="0" baseline="0" noProof="0" dirty="0">
                    <a:ln>
                      <a:noFill/>
                    </a:ln>
                    <a:solidFill>
                      <a:srgbClr val="FFFFFF"/>
                    </a:solidFill>
                    <a:effectLst/>
                    <a:uLnTx/>
                    <a:uFillTx/>
                    <a:latin typeface="+mn-lt"/>
                  </a:rPr>
                  <a:t>la diferenciación estacional de la serie temporal</a:t>
                </a:r>
                <a:r>
                  <a:rPr kumimoji="0" lang="es-MX" altLang="es-MX" b="0" i="0" u="none" strike="noStrike" kern="1200" cap="none" spc="0" normalizeH="0" baseline="0" noProof="0" dirty="0">
                    <a:ln>
                      <a:noFill/>
                    </a:ln>
                    <a:solidFill>
                      <a:srgbClr val="FFFFFF"/>
                    </a:solidFill>
                    <a:effectLst/>
                    <a:uLnTx/>
                    <a:uFillTx/>
                    <a:latin typeface="+mn-lt"/>
                  </a:rPr>
                  <a:t> consiste en calcular:</a:t>
                </a:r>
              </a:p>
              <a:p>
                <a:pPr marL="0" marR="0" lvl="0" indent="0" algn="l" defTabSz="914400" rtl="0" eaLnBrk="1" fontAlgn="base" latinLnBrk="0" hangingPunct="1">
                  <a:lnSpc>
                    <a:spcPct val="100000"/>
                  </a:lnSpc>
                  <a:spcBef>
                    <a:spcPts val="13"/>
                  </a:spcBef>
                  <a:spcAft>
                    <a:spcPts val="1013"/>
                  </a:spcAft>
                  <a:buClr>
                    <a:srgbClr val="FFFFFF"/>
                  </a:buClr>
                  <a:buSzPct val="100000"/>
                  <a:tabLst>
                    <a:tab pos="914400" algn="l"/>
                    <a:tab pos="1828800" algn="l"/>
                    <a:tab pos="2743200" algn="l"/>
                    <a:tab pos="3657600" algn="l"/>
                    <a:tab pos="4572000" algn="l"/>
                    <a:tab pos="5486400" algn="l"/>
                    <a:tab pos="6400800" algn="l"/>
                    <a:tab pos="7315200" algn="l"/>
                    <a:tab pos="8229600" algn="l"/>
                    <a:tab pos="9144000" algn="l"/>
                    <a:tab pos="10058400" algn="l"/>
                  </a:tabLst>
                  <a:defRPr/>
                </a:pPr>
                <a14:m>
                  <m:oMathPara xmlns:m="http://schemas.openxmlformats.org/officeDocument/2006/math">
                    <m:oMathParaPr>
                      <m:jc m:val="centerGroup"/>
                    </m:oMathParaPr>
                    <m:oMath xmlns:m="http://schemas.openxmlformats.org/officeDocument/2006/math">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𝑍</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𝑡</m:t>
                          </m:r>
                        </m:sub>
                      </m:s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m:t>
                      </m:r>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𝑌</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𝑡</m:t>
                          </m:r>
                        </m:sub>
                      </m:s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 −</m:t>
                      </m:r>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𝑌</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𝑡</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 −12</m:t>
                          </m:r>
                        </m:sub>
                      </m:sSub>
                    </m:oMath>
                  </m:oMathPara>
                </a14:m>
                <a:endParaRPr kumimoji="0" lang="es-MX" altLang="es-MX" b="0" i="0" u="none" strike="noStrike" kern="1200" cap="none" spc="0" normalizeH="0" baseline="0" noProof="0" dirty="0">
                  <a:ln>
                    <a:noFill/>
                  </a:ln>
                  <a:solidFill>
                    <a:srgbClr val="FFFFFF"/>
                  </a:solidFill>
                  <a:effectLst/>
                  <a:uLnTx/>
                  <a:uFillTx/>
                  <a:latin typeface="+mn-lt"/>
                </a:endParaRPr>
              </a:p>
              <a:p>
                <a:pPr marL="285750" marR="0" lvl="0" indent="-285750" algn="l" defTabSz="914400" rtl="0" eaLnBrk="1" fontAlgn="base" latinLnBrk="0" hangingPunct="1">
                  <a:lnSpc>
                    <a:spcPct val="100000"/>
                  </a:lnSpc>
                  <a:spcBef>
                    <a:spcPts val="13"/>
                  </a:spcBef>
                  <a:spcAft>
                    <a:spcPts val="10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FFFF"/>
                    </a:solidFill>
                    <a:effectLst/>
                    <a:uLnTx/>
                    <a:uFillTx/>
                    <a:latin typeface="+mn-lt"/>
                  </a:rPr>
                  <a:t>Con datos trimestrales seria:</a:t>
                </a:r>
              </a:p>
              <a:p>
                <a:pPr marL="285750" marR="0" lvl="0" indent="-285750" algn="ctr" defTabSz="914400" rtl="0" eaLnBrk="1" fontAlgn="base" latinLnBrk="0" hangingPunct="1">
                  <a:lnSpc>
                    <a:spcPct val="100000"/>
                  </a:lnSpc>
                  <a:spcBef>
                    <a:spcPts val="13"/>
                  </a:spcBef>
                  <a:spcAft>
                    <a:spcPts val="10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b="0" i="0" u="none" strike="noStrike" kern="1200" cap="none" spc="0" normalizeH="0" baseline="0" noProof="0" dirty="0">
                    <a:ln>
                      <a:noFill/>
                    </a:ln>
                    <a:solidFill>
                      <a:srgbClr val="FFFFFF"/>
                    </a:solidFill>
                    <a:effectLst/>
                    <a:uLnTx/>
                    <a:uFillTx/>
                    <a:latin typeface="+mn-lt"/>
                  </a:rPr>
                  <a:t> </a:t>
                </a:r>
                <a14:m>
                  <m:oMath xmlns:m="http://schemas.openxmlformats.org/officeDocument/2006/math">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𝑍</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𝑡</m:t>
                        </m:r>
                      </m:sub>
                    </m:s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m:t>
                    </m:r>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𝑌</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𝑡</m:t>
                        </m:r>
                      </m:sub>
                    </m:s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 −</m:t>
                    </m:r>
                    <m:sSub>
                      <m:sSubPr>
                        <m:ctrlP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ctrlPr>
                      </m:sSubPr>
                      <m:e>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𝑌</m:t>
                        </m:r>
                      </m:e>
                      <m:sub>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𝑡</m:t>
                        </m:r>
                        <m:r>
                          <a:rPr kumimoji="0" lang="en-US" altLang="es-MX" b="0" i="1" u="none" strike="noStrike" kern="1200" cap="none" spc="0" normalizeH="0" baseline="0" noProof="0" smtClean="0">
                            <a:ln>
                              <a:noFill/>
                            </a:ln>
                            <a:solidFill>
                              <a:srgbClr val="FFFFFF"/>
                            </a:solidFill>
                            <a:effectLst/>
                            <a:uLnTx/>
                            <a:uFillTx/>
                            <a:latin typeface="Cambria Math" panose="02040503050406030204" pitchFamily="18" charset="0"/>
                          </a:rPr>
                          <m:t> −4</m:t>
                        </m:r>
                      </m:sub>
                    </m:sSub>
                  </m:oMath>
                </a14:m>
                <a:endParaRPr kumimoji="0" lang="es-MX" altLang="es-MX" b="0" i="0" u="none" strike="noStrike" kern="1200" cap="none" spc="0" normalizeH="0" baseline="0" noProof="0" dirty="0">
                  <a:ln>
                    <a:noFill/>
                  </a:ln>
                  <a:solidFill>
                    <a:srgbClr val="FFFFFF"/>
                  </a:solidFill>
                  <a:effectLst/>
                  <a:uLnTx/>
                  <a:uFillTx/>
                  <a:latin typeface="+mn-lt"/>
                </a:endParaRPr>
              </a:p>
            </p:txBody>
          </p:sp>
        </mc:Choice>
        <mc:Fallback xmlns="">
          <p:sp>
            <p:nvSpPr>
              <p:cNvPr id="28673" name="Text Box 1">
                <a:extLst>
                  <a:ext uri="{FF2B5EF4-FFF2-40B4-BE49-F238E27FC236}">
                    <a16:creationId xmlns:a16="http://schemas.microsoft.com/office/drawing/2014/main" id="{05FEE155-0A2B-B36F-5F85-8390FE17139F}"/>
                  </a:ext>
                </a:extLst>
              </p:cNvPr>
              <p:cNvSpPr txBox="1">
                <a:spLocks noRot="1" noChangeAspect="1" noMove="1" noResize="1" noEditPoints="1" noAdjustHandles="1" noChangeArrowheads="1" noChangeShapeType="1" noTextEdit="1"/>
              </p:cNvSpPr>
              <p:nvPr/>
            </p:nvSpPr>
            <p:spPr bwMode="auto">
              <a:xfrm>
                <a:off x="611188" y="185739"/>
                <a:ext cx="10766425" cy="2824161"/>
              </a:xfrm>
              <a:prstGeom prst="rect">
                <a:avLst/>
              </a:prstGeom>
              <a:blipFill>
                <a:blip r:embed="rId3"/>
                <a:stretch>
                  <a:fillRect l="-453"/>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MX">
                    <a:noFill/>
                  </a:rPr>
                  <a:t> </a:t>
                </a:r>
              </a:p>
            </p:txBody>
          </p:sp>
        </mc:Fallback>
      </mc:AlternateContent>
      <p:sp>
        <p:nvSpPr>
          <p:cNvPr id="3" name="CuadroTexto 2">
            <a:extLst>
              <a:ext uri="{FF2B5EF4-FFF2-40B4-BE49-F238E27FC236}">
                <a16:creationId xmlns:a16="http://schemas.microsoft.com/office/drawing/2014/main" id="{2B7FA0BE-A7B8-8978-BA6E-82456A625AB1}"/>
              </a:ext>
            </a:extLst>
          </p:cNvPr>
          <p:cNvSpPr txBox="1"/>
          <p:nvPr/>
        </p:nvSpPr>
        <p:spPr>
          <a:xfrm>
            <a:off x="330199" y="3009900"/>
            <a:ext cx="11328401" cy="646331"/>
          </a:xfrm>
          <a:prstGeom prst="rect">
            <a:avLst/>
          </a:prstGeom>
          <a:noFill/>
        </p:spPr>
        <p:txBody>
          <a:bodyPr wrap="square">
            <a:spAutoFit/>
          </a:bodyPr>
          <a:lstStyle/>
          <a:p>
            <a:pPr marL="285750" marR="0" lvl="0" indent="-285750" algn="l" defTabSz="914400" rtl="0" eaLnBrk="1" fontAlgn="base" latinLnBrk="0" hangingPunct="1">
              <a:lnSpc>
                <a:spcPct val="100000"/>
              </a:lnSpc>
              <a:spcBef>
                <a:spcPts val="13"/>
              </a:spcBef>
              <a:spcAft>
                <a:spcPts val="1013"/>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	Si después de efectuar esta transformación la serie sigue presentando evidencias de variaciones estacionales, es posible aplicar de nuevo el procedimiento</a:t>
            </a:r>
            <a:r>
              <a:rPr lang="es-MX" altLang="es-MX" dirty="0">
                <a:solidFill>
                  <a:srgbClr val="FFFFFF"/>
                </a:solidFill>
                <a:latin typeface="Calibri" panose="020F0502020204030204" pitchFamily="34" charset="0"/>
              </a:rPr>
              <a:t>; </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es decir, calcular las diferencias de segundo orden</a:t>
            </a:r>
            <a:r>
              <a:rPr lang="es-MX" altLang="es-MX" dirty="0">
                <a:solidFill>
                  <a:srgbClr val="FFFFFF"/>
                </a:solidFill>
                <a:latin typeface="Calibri" panose="020F0502020204030204" pitchFamily="34" charset="0"/>
              </a:rPr>
              <a:t> </a:t>
            </a:r>
            <a:r>
              <a:rPr kumimoji="0" lang="es-MX" altLang="es-MX" sz="1800" b="0" i="0" u="none" strike="noStrike" kern="1200" cap="none" spc="0" normalizeH="0" baseline="0" noProof="0" dirty="0">
                <a:ln>
                  <a:noFill/>
                </a:ln>
                <a:solidFill>
                  <a:srgbClr val="FFFFFF"/>
                </a:solidFill>
                <a:effectLst/>
                <a:uLnTx/>
                <a:uFillTx/>
                <a:latin typeface="Calibri" panose="020F0502020204030204" pitchFamily="34" charset="0"/>
                <a:ea typeface="+mn-ea"/>
              </a:rPr>
              <a:t>y así sucesivamente…</a:t>
            </a:r>
          </a:p>
        </p:txBody>
      </p:sp>
      <p:sp>
        <p:nvSpPr>
          <p:cNvPr id="29697" name="Rectangle 1">
            <a:extLst>
              <a:ext uri="{FF2B5EF4-FFF2-40B4-BE49-F238E27FC236}">
                <a16:creationId xmlns:a16="http://schemas.microsoft.com/office/drawing/2014/main" id="{EC051D7C-F460-8647-D8AA-EC9C5830AFF9}"/>
              </a:ext>
            </a:extLst>
          </p:cNvPr>
          <p:cNvSpPr>
            <a:spLocks noGrp="1" noChangeArrowheads="1"/>
          </p:cNvSpPr>
          <p:nvPr>
            <p:ph type="title"/>
          </p:nvPr>
        </p:nvSpPr>
        <p:spPr>
          <a:xfrm>
            <a:off x="611188" y="3656231"/>
            <a:ext cx="11071225" cy="852487"/>
          </a:xfrm>
          <a:ln/>
        </p:spPr>
        <p:txBody>
          <a:bodyPr/>
          <a:lstStyle/>
          <a:p>
            <a:pPr algn="ct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3600" dirty="0">
                <a:solidFill>
                  <a:schemeClr val="accent1"/>
                </a:solidFill>
                <a:latin typeface="Calibri Light" panose="020F0302020204030204" pitchFamily="34" charset="0"/>
              </a:rPr>
              <a:t>Detección de la estacionariedad por medio de FAC y FACP</a:t>
            </a:r>
          </a:p>
        </p:txBody>
      </p:sp>
      <p:sp>
        <p:nvSpPr>
          <p:cNvPr id="5" name="CuadroTexto 4">
            <a:extLst>
              <a:ext uri="{FF2B5EF4-FFF2-40B4-BE49-F238E27FC236}">
                <a16:creationId xmlns:a16="http://schemas.microsoft.com/office/drawing/2014/main" id="{0A937371-E527-0CDF-D53A-76E499D10D3E}"/>
              </a:ext>
            </a:extLst>
          </p:cNvPr>
          <p:cNvSpPr txBox="1"/>
          <p:nvPr/>
        </p:nvSpPr>
        <p:spPr>
          <a:xfrm>
            <a:off x="611188" y="4508718"/>
            <a:ext cx="10653712" cy="1328569"/>
          </a:xfrm>
          <a:prstGeom prst="rect">
            <a:avLst/>
          </a:prstGeom>
          <a:noFill/>
        </p:spPr>
        <p:txBody>
          <a:bodyPr wrap="square">
            <a:spAutoFit/>
          </a:bodyPr>
          <a:lstStyle/>
          <a:p>
            <a:pPr marL="0" marR="0" lvl="0" indent="0" algn="just"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Hay diferentes aspecto que podemos usar para establecer si una serie es estacional o no con las graficas de autocorrelación….</a:t>
            </a:r>
          </a:p>
          <a:p>
            <a:pPr marL="0" marR="0" lvl="0" indent="0" algn="just"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lang="es-MX" altLang="es-MX" noProof="0" dirty="0">
                <a:solidFill>
                  <a:srgbClr val="FFFFFF"/>
                </a:solidFill>
                <a:latin typeface="Calibri" panose="020F0502020204030204" pitchFamily="34" charset="0"/>
              </a:rPr>
              <a:t>- </a:t>
            </a: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Los coeficientes de la FAC para retardos múltiplos del período estacional S de la serie deben ser significativamente distintos de cero.</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56461945-68A9-EA7C-D00B-B747986929C7}"/>
              </a:ext>
            </a:extLst>
          </p:cNvPr>
          <p:cNvSpPr txBox="1">
            <a:spLocks noChangeArrowheads="1"/>
          </p:cNvSpPr>
          <p:nvPr/>
        </p:nvSpPr>
        <p:spPr bwMode="auto">
          <a:xfrm>
            <a:off x="560387" y="131763"/>
            <a:ext cx="11071225" cy="181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9pPr>
          </a:lstStyle>
          <a:p>
            <a:pPr marL="0" marR="0" lvl="0" indent="0" algn="just"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Para una cantidad grande de retardos la FAC se configura en forma de abanico que completa su ciclo girando sobre el eje de abscisas para una cantidad de retardos igual al período estacional. La FACP debe presentar estructura de coeficientes significativos para retardos periódicos (largos).</a:t>
            </a:r>
          </a:p>
          <a:p>
            <a:pPr marL="0" marR="0" lvl="0" indent="0" algn="just"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La FAC y la FACP deben considerase a la vez, pues a veces intercambian sus papeles en el comportamiento estacional.</a:t>
            </a:r>
          </a:p>
        </p:txBody>
      </p:sp>
      <p:sp>
        <p:nvSpPr>
          <p:cNvPr id="30721" name="Rectangle 1">
            <a:extLst>
              <a:ext uri="{FF2B5EF4-FFF2-40B4-BE49-F238E27FC236}">
                <a16:creationId xmlns:a16="http://schemas.microsoft.com/office/drawing/2014/main" id="{C7428307-1077-505C-CD9C-173E206F953E}"/>
              </a:ext>
            </a:extLst>
          </p:cNvPr>
          <p:cNvSpPr>
            <a:spLocks noGrp="1" noChangeArrowheads="1"/>
          </p:cNvSpPr>
          <p:nvPr>
            <p:ph type="title"/>
          </p:nvPr>
        </p:nvSpPr>
        <p:spPr>
          <a:xfrm>
            <a:off x="395287" y="1943100"/>
            <a:ext cx="11401425" cy="673100"/>
          </a:xfrm>
          <a:ln/>
        </p:spPr>
        <p:txBody>
          <a:bodyPr/>
          <a:lstStyle/>
          <a:p>
            <a:pPr>
              <a:lnSpc>
                <a:spcPct val="100000"/>
              </a:lnSpc>
              <a:tabLst>
                <a:tab pos="914400" algn="l"/>
                <a:tab pos="1828800" algn="l"/>
                <a:tab pos="2743200" algn="l"/>
                <a:tab pos="3657600" algn="l"/>
                <a:tab pos="4572000" algn="l"/>
                <a:tab pos="5486400" algn="l"/>
                <a:tab pos="6400800" algn="l"/>
                <a:tab pos="7315200" algn="l"/>
                <a:tab pos="8229600" algn="l"/>
                <a:tab pos="9144000" algn="l"/>
                <a:tab pos="10058400" algn="l"/>
              </a:tabLst>
            </a:pPr>
            <a:r>
              <a:rPr lang="es-MX" altLang="es-MX" sz="2400" dirty="0">
                <a:solidFill>
                  <a:schemeClr val="accent1"/>
                </a:solidFill>
                <a:latin typeface="Calibri Light" panose="020F0302020204030204" pitchFamily="34" charset="0"/>
              </a:rPr>
              <a:t>Ejemplo: </a:t>
            </a:r>
            <a:r>
              <a:rPr lang="es-MX" altLang="es-MX" sz="2400" dirty="0">
                <a:latin typeface="Calibri Light" panose="020F0302020204030204" pitchFamily="34" charset="0"/>
              </a:rPr>
              <a:t>Tenemos una serie de tiempo sobre el precio de los plásticos a lo largo de los días.</a:t>
            </a:r>
          </a:p>
        </p:txBody>
      </p:sp>
      <p:pic>
        <p:nvPicPr>
          <p:cNvPr id="30724" name="Picture 4">
            <a:extLst>
              <a:ext uri="{FF2B5EF4-FFF2-40B4-BE49-F238E27FC236}">
                <a16:creationId xmlns:a16="http://schemas.microsoft.com/office/drawing/2014/main" id="{2E49071D-0A92-077E-26AA-436256D57D7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582"/>
          <a:stretch/>
        </p:blipFill>
        <p:spPr bwMode="auto">
          <a:xfrm>
            <a:off x="2718592" y="2616200"/>
            <a:ext cx="6754814" cy="294159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Text Box 2">
            <a:extLst>
              <a:ext uri="{FF2B5EF4-FFF2-40B4-BE49-F238E27FC236}">
                <a16:creationId xmlns:a16="http://schemas.microsoft.com/office/drawing/2014/main" id="{F95A7355-1B36-4DA5-32FE-728A77A4B573}"/>
              </a:ext>
            </a:extLst>
          </p:cNvPr>
          <p:cNvSpPr txBox="1">
            <a:spLocks noChangeArrowheads="1"/>
          </p:cNvSpPr>
          <p:nvPr/>
        </p:nvSpPr>
        <p:spPr bwMode="auto">
          <a:xfrm>
            <a:off x="560387" y="5715000"/>
            <a:ext cx="1107122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5pPr>
            <a:lvl6pPr marL="25146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6pPr>
            <a:lvl7pPr marL="29718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7pPr>
            <a:lvl8pPr marL="34290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8pPr>
            <a:lvl9pPr marL="3886200" indent="-228600" fontAlgn="base" hangingPunct="0">
              <a:lnSpc>
                <a:spcPct val="93000"/>
              </a:lnSpc>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solidFill>
                  <a:srgbClr val="000000"/>
                </a:solidFill>
                <a:latin typeface="Arial" panose="020B0604020202020204" pitchFamily="34" charset="0"/>
                <a:cs typeface="DejaVu Sans" charset="0"/>
              </a:defRPr>
            </a:lvl9pPr>
          </a:lstStyle>
          <a:p>
            <a:pPr marL="0" marR="0" lvl="0" indent="0" algn="just" defTabSz="914400" rtl="0" eaLnBrk="1" fontAlgn="base" latinLnBrk="0" hangingPunct="1">
              <a:lnSpc>
                <a:spcPct val="100000"/>
              </a:lnSpc>
              <a:spcBef>
                <a:spcPts val="13"/>
              </a:spcBef>
              <a:spcAft>
                <a:spcPts val="1013"/>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Podemos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notar</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que hay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existe</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una</a:t>
            </a:r>
            <a:r>
              <a:rPr kumimoji="0" lang="en-US" altLang="es-MX" b="0" i="0" u="none" strike="noStrike" kern="1200" cap="none" spc="0" normalizeH="0" baseline="0" noProof="0" dirty="0">
                <a:ln>
                  <a:noFill/>
                </a:ln>
                <a:solidFill>
                  <a:srgbClr val="FFFFFF"/>
                </a:solidFill>
                <a:effectLst/>
                <a:uLnTx/>
                <a:uFillTx/>
                <a:latin typeface="Calibri" panose="020F0502020204030204" pitchFamily="34" charset="0"/>
                <a:ea typeface="+mn-ea"/>
              </a:rPr>
              <a:t> </a:t>
            </a:r>
            <a:r>
              <a:rPr kumimoji="0" lang="en-US" altLang="es-MX" b="0" i="0" u="none" strike="noStrike" kern="1200" cap="none" spc="0" normalizeH="0" baseline="0" noProof="0" dirty="0" err="1">
                <a:ln>
                  <a:noFill/>
                </a:ln>
                <a:solidFill>
                  <a:srgbClr val="FFFFFF"/>
                </a:solidFill>
                <a:effectLst/>
                <a:uLnTx/>
                <a:uFillTx/>
                <a:latin typeface="Calibri" panose="020F0502020204030204" pitchFamily="34" charset="0"/>
                <a:ea typeface="+mn-ea"/>
              </a:rPr>
              <a:t>tendencia</a:t>
            </a:r>
            <a:r>
              <a:rPr lang="en-US" altLang="es-MX" dirty="0">
                <a:solidFill>
                  <a:srgbClr val="FFFFFF"/>
                </a:solidFill>
                <a:latin typeface="Calibri" panose="020F0502020204030204" pitchFamily="34" charset="0"/>
              </a:rPr>
              <a:t> </a:t>
            </a:r>
            <a:r>
              <a:rPr lang="en-US" altLang="es-MX" dirty="0" err="1">
                <a:solidFill>
                  <a:srgbClr val="FFFFFF"/>
                </a:solidFill>
                <a:latin typeface="Calibri" panose="020F0502020204030204" pitchFamily="34" charset="0"/>
              </a:rPr>
              <a:t>creciente</a:t>
            </a:r>
            <a:r>
              <a:rPr lang="en-US" altLang="es-MX" dirty="0">
                <a:solidFill>
                  <a:srgbClr val="FFFFFF"/>
                </a:solidFill>
                <a:latin typeface="Calibri" panose="020F0502020204030204" pitchFamily="34" charset="0"/>
              </a:rPr>
              <a:t> y la </a:t>
            </a:r>
            <a:r>
              <a:rPr lang="en-US" altLang="es-MX" dirty="0" err="1">
                <a:solidFill>
                  <a:srgbClr val="FFFFFF"/>
                </a:solidFill>
                <a:latin typeface="Calibri" panose="020F0502020204030204" pitchFamily="34" charset="0"/>
              </a:rPr>
              <a:t>variancion</a:t>
            </a:r>
            <a:r>
              <a:rPr lang="en-US" altLang="es-MX" dirty="0">
                <a:solidFill>
                  <a:srgbClr val="FFFFFF"/>
                </a:solidFill>
                <a:latin typeface="Calibri" panose="020F0502020204030204" pitchFamily="34" charset="0"/>
              </a:rPr>
              <a:t> es </a:t>
            </a:r>
            <a:r>
              <a:rPr lang="en-US" altLang="es-MX" dirty="0" err="1">
                <a:solidFill>
                  <a:srgbClr val="FFFFFF"/>
                </a:solidFill>
                <a:latin typeface="Calibri" panose="020F0502020204030204" pitchFamily="34" charset="0"/>
              </a:rPr>
              <a:t>muy</a:t>
            </a:r>
            <a:r>
              <a:rPr lang="en-US" altLang="es-MX" dirty="0">
                <a:solidFill>
                  <a:srgbClr val="FFFFFF"/>
                </a:solidFill>
                <a:latin typeface="Calibri" panose="020F0502020204030204" pitchFamily="34" charset="0"/>
              </a:rPr>
              <a:t> </a:t>
            </a:r>
            <a:r>
              <a:rPr lang="en-US" altLang="es-MX" dirty="0" err="1">
                <a:solidFill>
                  <a:srgbClr val="FFFFFF"/>
                </a:solidFill>
                <a:latin typeface="Calibri" panose="020F0502020204030204" pitchFamily="34" charset="0"/>
              </a:rPr>
              <a:t>diferente</a:t>
            </a:r>
            <a:r>
              <a:rPr lang="en-US" altLang="es-MX" dirty="0">
                <a:solidFill>
                  <a:srgbClr val="FFFFFF"/>
                </a:solidFill>
                <a:latin typeface="Calibri" panose="020F0502020204030204" pitchFamily="34" charset="0"/>
              </a:rPr>
              <a:t> </a:t>
            </a:r>
            <a:r>
              <a:rPr lang="en-US" altLang="es-MX" dirty="0" err="1">
                <a:solidFill>
                  <a:srgbClr val="FFFFFF"/>
                </a:solidFill>
                <a:latin typeface="Calibri" panose="020F0502020204030204" pitchFamily="34" charset="0"/>
              </a:rPr>
              <a:t>en</a:t>
            </a:r>
            <a:r>
              <a:rPr lang="en-US" altLang="es-MX" dirty="0">
                <a:solidFill>
                  <a:srgbClr val="FFFFFF"/>
                </a:solidFill>
                <a:latin typeface="Calibri" panose="020F0502020204030204" pitchFamily="34" charset="0"/>
              </a:rPr>
              <a:t> </a:t>
            </a:r>
            <a:r>
              <a:rPr lang="en-US" altLang="es-MX" dirty="0" err="1">
                <a:solidFill>
                  <a:srgbClr val="FFFFFF"/>
                </a:solidFill>
                <a:latin typeface="Calibri" panose="020F0502020204030204" pitchFamily="34" charset="0"/>
              </a:rPr>
              <a:t>cualquier</a:t>
            </a:r>
            <a:r>
              <a:rPr lang="en-US" altLang="es-MX" dirty="0">
                <a:solidFill>
                  <a:srgbClr val="FFFFFF"/>
                </a:solidFill>
                <a:latin typeface="Calibri" panose="020F0502020204030204" pitchFamily="34" charset="0"/>
              </a:rPr>
              <a:t> </a:t>
            </a:r>
            <a:r>
              <a:rPr lang="en-US" altLang="es-MX" dirty="0" err="1">
                <a:solidFill>
                  <a:srgbClr val="FFFFFF"/>
                </a:solidFill>
                <a:latin typeface="Calibri" panose="020F0502020204030204" pitchFamily="34" charset="0"/>
              </a:rPr>
              <a:t>parte</a:t>
            </a:r>
            <a:r>
              <a:rPr lang="en-US" altLang="es-MX" dirty="0">
                <a:solidFill>
                  <a:srgbClr val="FFFFFF"/>
                </a:solidFill>
                <a:latin typeface="Calibri" panose="020F0502020204030204" pitchFamily="34" charset="0"/>
              </a:rPr>
              <a:t> de la </a:t>
            </a:r>
            <a:r>
              <a:rPr lang="en-US" altLang="es-MX" dirty="0" err="1">
                <a:solidFill>
                  <a:srgbClr val="FFFFFF"/>
                </a:solidFill>
                <a:latin typeface="Calibri" panose="020F0502020204030204" pitchFamily="34" charset="0"/>
              </a:rPr>
              <a:t>serie</a:t>
            </a:r>
            <a:r>
              <a:rPr lang="en-US" altLang="es-MX" dirty="0">
                <a:solidFill>
                  <a:srgbClr val="FFFFFF"/>
                </a:solidFill>
                <a:latin typeface="Calibri" panose="020F0502020204030204" pitchFamily="34" charset="0"/>
              </a:rPr>
              <a:t>; </a:t>
            </a:r>
            <a:r>
              <a:rPr lang="en-US" altLang="es-MX" dirty="0" err="1">
                <a:solidFill>
                  <a:srgbClr val="FFFFFF"/>
                </a:solidFill>
                <a:latin typeface="Calibri" panose="020F0502020204030204" pitchFamily="34" charset="0"/>
              </a:rPr>
              <a:t>por</a:t>
            </a:r>
            <a:r>
              <a:rPr lang="en-US" altLang="es-MX" dirty="0">
                <a:solidFill>
                  <a:srgbClr val="FFFFFF"/>
                </a:solidFill>
                <a:latin typeface="Calibri" panose="020F0502020204030204" pitchFamily="34" charset="0"/>
              </a:rPr>
              <a:t> lo que no Podemos </a:t>
            </a:r>
            <a:r>
              <a:rPr lang="en-US" altLang="es-MX" dirty="0" err="1">
                <a:solidFill>
                  <a:srgbClr val="FFFFFF"/>
                </a:solidFill>
                <a:latin typeface="Calibri" panose="020F0502020204030204" pitchFamily="34" charset="0"/>
              </a:rPr>
              <a:t>sacar</a:t>
            </a:r>
            <a:r>
              <a:rPr lang="en-US" altLang="es-MX" dirty="0">
                <a:solidFill>
                  <a:srgbClr val="FFFFFF"/>
                </a:solidFill>
                <a:latin typeface="Calibri" panose="020F0502020204030204" pitchFamily="34" charset="0"/>
              </a:rPr>
              <a:t> </a:t>
            </a:r>
            <a:r>
              <a:rPr lang="en-US" altLang="es-MX" dirty="0" err="1">
                <a:solidFill>
                  <a:srgbClr val="FFFFFF"/>
                </a:solidFill>
                <a:latin typeface="Calibri" panose="020F0502020204030204" pitchFamily="34" charset="0"/>
              </a:rPr>
              <a:t>una</a:t>
            </a:r>
            <a:r>
              <a:rPr lang="en-US" altLang="es-MX" dirty="0">
                <a:solidFill>
                  <a:srgbClr val="FFFFFF"/>
                </a:solidFill>
                <a:latin typeface="Calibri" panose="020F0502020204030204" pitchFamily="34" charset="0"/>
              </a:rPr>
              <a:t> conclusion </a:t>
            </a:r>
            <a:r>
              <a:rPr lang="en-US" altLang="es-MX" dirty="0" err="1">
                <a:solidFill>
                  <a:srgbClr val="FFFFFF"/>
                </a:solidFill>
                <a:latin typeface="Calibri" panose="020F0502020204030204" pitchFamily="34" charset="0"/>
              </a:rPr>
              <a:t>fiel</a:t>
            </a:r>
            <a:r>
              <a:rPr lang="en-US" altLang="es-MX" dirty="0">
                <a:solidFill>
                  <a:srgbClr val="FFFFFF"/>
                </a:solidFill>
                <a:latin typeface="Calibri" panose="020F0502020204030204" pitchFamily="34" charset="0"/>
              </a:rPr>
              <a:t>…</a:t>
            </a:r>
            <a:endParaRPr kumimoji="0" lang="es-MX" altLang="es-MX" b="0" i="0" u="none" strike="noStrike" kern="1200" cap="none" spc="0" normalizeH="0" baseline="0" noProof="0" dirty="0">
              <a:ln>
                <a:noFill/>
              </a:ln>
              <a:solidFill>
                <a:srgbClr val="FFFFFF"/>
              </a:solidFill>
              <a:effectLst/>
              <a:uLnTx/>
              <a:uFillTx/>
              <a:latin typeface="Calibri" panose="020F0502020204030204" pitchFamily="34" charset="0"/>
              <a:ea typeface="+mn-ea"/>
            </a:endParaRPr>
          </a:p>
        </p:txBody>
      </p:sp>
      <p:cxnSp>
        <p:nvCxnSpPr>
          <p:cNvPr id="6" name="Conector recto 5">
            <a:extLst>
              <a:ext uri="{FF2B5EF4-FFF2-40B4-BE49-F238E27FC236}">
                <a16:creationId xmlns:a16="http://schemas.microsoft.com/office/drawing/2014/main" id="{92BF7FAE-FB16-8CAB-5C7C-02C2C9EE1A57}"/>
              </a:ext>
            </a:extLst>
          </p:cNvPr>
          <p:cNvCxnSpPr/>
          <p:nvPr/>
        </p:nvCxnSpPr>
        <p:spPr bwMode="auto">
          <a:xfrm flipV="1">
            <a:off x="3687580" y="3429000"/>
            <a:ext cx="4706912" cy="1367852"/>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a:extLst>
              <a:ext uri="{FF2B5EF4-FFF2-40B4-BE49-F238E27FC236}">
                <a16:creationId xmlns:a16="http://schemas.microsoft.com/office/drawing/2014/main" id="{571586AF-9716-58FC-FF08-F6048B6096E5}"/>
              </a:ext>
            </a:extLst>
          </p:cNvPr>
          <p:cNvSpPr txBox="1">
            <a:spLocks noChangeArrowheads="1"/>
          </p:cNvSpPr>
          <p:nvPr/>
        </p:nvSpPr>
        <p:spPr bwMode="auto">
          <a:xfrm>
            <a:off x="6170614" y="722598"/>
            <a:ext cx="6078091" cy="1265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dirty="0">
                <a:solidFill>
                  <a:schemeClr val="bg1"/>
                </a:solidFill>
                <a:cs typeface="DejaVu Sans" charset="0"/>
              </a:rPr>
              <a:t>El </a:t>
            </a:r>
            <a:r>
              <a:rPr lang="es-MX" altLang="es-MX" sz="1800" b="1" i="1" dirty="0" err="1">
                <a:solidFill>
                  <a:schemeClr val="bg1"/>
                </a:solidFill>
                <a:cs typeface="DejaVu Sans" charset="0"/>
              </a:rPr>
              <a:t>periodograma</a:t>
            </a:r>
            <a:r>
              <a:rPr lang="es-MX" altLang="es-MX" sz="1800" b="1" i="1" dirty="0">
                <a:solidFill>
                  <a:schemeClr val="bg1"/>
                </a:solidFill>
                <a:cs typeface="DejaVu Sans" charset="0"/>
              </a:rPr>
              <a:t> </a:t>
            </a:r>
            <a:r>
              <a:rPr lang="es-MX" altLang="es-MX" sz="1800" dirty="0">
                <a:solidFill>
                  <a:schemeClr val="bg1"/>
                </a:solidFill>
                <a:cs typeface="DejaVu Sans" charset="0"/>
              </a:rPr>
              <a:t>transforma la serie temporal de su dominio </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dirty="0">
                <a:solidFill>
                  <a:schemeClr val="bg1"/>
                </a:solidFill>
                <a:cs typeface="DejaVu Sans" charset="0"/>
              </a:rPr>
              <a:t>natural, que es el tiempo, al dominio de las frecuencias </a:t>
            </a: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i="1" dirty="0">
                <a:solidFill>
                  <a:schemeClr val="bg1"/>
                </a:solidFill>
                <a:cs typeface="DejaVu Sans" charset="0"/>
              </a:rPr>
              <a:t>(a los valores de la serie se le aplican transformadas de Fourier)</a:t>
            </a:r>
            <a:r>
              <a:rPr lang="es-MX" altLang="es-MX" sz="1800" dirty="0">
                <a:solidFill>
                  <a:schemeClr val="bg1"/>
                </a:solidFill>
                <a:cs typeface="DejaVu Sans" charset="0"/>
              </a:rPr>
              <a:t>. </a:t>
            </a:r>
          </a:p>
        </p:txBody>
      </p:sp>
      <p:pic>
        <p:nvPicPr>
          <p:cNvPr id="30723" name="Picture 3">
            <a:extLst>
              <a:ext uri="{FF2B5EF4-FFF2-40B4-BE49-F238E27FC236}">
                <a16:creationId xmlns:a16="http://schemas.microsoft.com/office/drawing/2014/main" id="{502FC0E8-ABDF-A648-F269-97F6BEF8F3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69875"/>
            <a:ext cx="5335588" cy="53276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CuadroTexto 3">
            <a:extLst>
              <a:ext uri="{FF2B5EF4-FFF2-40B4-BE49-F238E27FC236}">
                <a16:creationId xmlns:a16="http://schemas.microsoft.com/office/drawing/2014/main" id="{C46B9E68-EDD2-150C-C7C7-2991429AB5A6}"/>
              </a:ext>
            </a:extLst>
          </p:cNvPr>
          <p:cNvSpPr txBox="1"/>
          <p:nvPr/>
        </p:nvSpPr>
        <p:spPr>
          <a:xfrm>
            <a:off x="1767681" y="5683250"/>
            <a:ext cx="3171825" cy="369332"/>
          </a:xfrm>
          <a:prstGeom prst="rect">
            <a:avLst/>
          </a:prstGeom>
          <a:noFill/>
        </p:spPr>
        <p:txBody>
          <a:bodyPr wrap="square">
            <a:spAutoFit/>
          </a:bodyPr>
          <a:lstStyle/>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b="1" dirty="0">
                <a:solidFill>
                  <a:schemeClr val="bg1"/>
                </a:solidFill>
                <a:latin typeface="Arial" panose="020B0604020202020204" pitchFamily="34" charset="0"/>
                <a:cs typeface="DejaVu Sans" charset="0"/>
              </a:rPr>
              <a:t>Grafica de </a:t>
            </a:r>
            <a:r>
              <a:rPr lang="es-MX" altLang="es-MX" b="1" dirty="0" err="1">
                <a:solidFill>
                  <a:schemeClr val="bg1"/>
                </a:solidFill>
                <a:latin typeface="Arial" panose="020B0604020202020204" pitchFamily="34" charset="0"/>
                <a:cs typeface="DejaVu Sans" charset="0"/>
              </a:rPr>
              <a:t>P</a:t>
            </a:r>
            <a:r>
              <a:rPr lang="es-MX" altLang="es-MX" sz="1800" b="1" dirty="0" err="1">
                <a:solidFill>
                  <a:schemeClr val="bg1"/>
                </a:solidFill>
                <a:latin typeface="Arial" panose="020B0604020202020204" pitchFamily="34" charset="0"/>
                <a:cs typeface="DejaVu Sans" charset="0"/>
              </a:rPr>
              <a:t>eriodograma</a:t>
            </a:r>
            <a:r>
              <a:rPr lang="es-MX" altLang="es-MX" sz="1800" b="1" dirty="0">
                <a:solidFill>
                  <a:schemeClr val="bg1"/>
                </a:solidFill>
                <a:latin typeface="Arial" panose="020B0604020202020204" pitchFamily="34" charset="0"/>
                <a:cs typeface="DejaVu Sans" charset="0"/>
              </a:rPr>
              <a:t> </a:t>
            </a:r>
          </a:p>
        </p:txBody>
      </p:sp>
      <p:sp>
        <p:nvSpPr>
          <p:cNvPr id="8" name="CuadroTexto 7">
            <a:extLst>
              <a:ext uri="{FF2B5EF4-FFF2-40B4-BE49-F238E27FC236}">
                <a16:creationId xmlns:a16="http://schemas.microsoft.com/office/drawing/2014/main" id="{7484B753-0739-25D0-56C5-6F4E545D81C5}"/>
              </a:ext>
            </a:extLst>
          </p:cNvPr>
          <p:cNvSpPr txBox="1"/>
          <p:nvPr/>
        </p:nvSpPr>
        <p:spPr>
          <a:xfrm>
            <a:off x="6170614" y="1907274"/>
            <a:ext cx="5856071" cy="2862322"/>
          </a:xfrm>
          <a:prstGeom prst="rect">
            <a:avLst/>
          </a:prstGeom>
          <a:noFill/>
        </p:spPr>
        <p:txBody>
          <a:bodyPr wrap="square">
            <a:spAutoFit/>
          </a:bodyPr>
          <a:lstStyle/>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b="1" dirty="0">
                <a:solidFill>
                  <a:schemeClr val="bg1"/>
                </a:solidFill>
                <a:cs typeface="DejaVu Sans" charset="0"/>
              </a:rPr>
              <a:t>Condiciones:</a:t>
            </a:r>
          </a:p>
          <a:p>
            <a:pPr marL="215900" indent="-215900" eaLnBrk="1">
              <a:spcBef>
                <a:spcPts val="13"/>
              </a:spcBef>
              <a:spcAft>
                <a:spcPts val="13"/>
              </a:spcAft>
              <a:tabLst>
                <a:tab pos="914400" algn="l"/>
                <a:tab pos="1828800" algn="l"/>
                <a:tab pos="2743200" algn="l"/>
                <a:tab pos="3657600" algn="l"/>
                <a:tab pos="4572000" algn="l"/>
                <a:tab pos="5486400" algn="l"/>
              </a:tabLst>
            </a:pPr>
            <a:endParaRPr lang="es-MX" altLang="es-MX" sz="1800" dirty="0">
              <a:solidFill>
                <a:schemeClr val="bg1"/>
              </a:solidFill>
              <a:cs typeface="DejaVu Sans" charset="0"/>
            </a:endParaRPr>
          </a:p>
          <a:p>
            <a:pPr marL="285750" indent="-285750" eaLnBrk="1">
              <a:spcBef>
                <a:spcPts val="13"/>
              </a:spcBef>
              <a:spcAft>
                <a:spcPts val="13"/>
              </a:spcAft>
              <a:buFont typeface="Wingdings" panose="05000000000000000000" pitchFamily="2" charset="2"/>
              <a:buChar char="§"/>
              <a:tabLst>
                <a:tab pos="914400" algn="l"/>
                <a:tab pos="1828800" algn="l"/>
                <a:tab pos="2743200" algn="l"/>
                <a:tab pos="3657600" algn="l"/>
                <a:tab pos="4572000" algn="l"/>
                <a:tab pos="5486400" algn="l"/>
              </a:tabLst>
            </a:pPr>
            <a:r>
              <a:rPr lang="es-MX" altLang="es-MX" sz="1800" dirty="0">
                <a:solidFill>
                  <a:schemeClr val="bg1"/>
                </a:solidFill>
                <a:cs typeface="DejaVu Sans" charset="0"/>
              </a:rPr>
              <a:t>Si no hay picos destacables en el </a:t>
            </a:r>
            <a:r>
              <a:rPr lang="es-MX" altLang="es-MX" sz="1800" dirty="0" err="1">
                <a:solidFill>
                  <a:schemeClr val="bg1"/>
                </a:solidFill>
                <a:cs typeface="DejaVu Sans" charset="0"/>
              </a:rPr>
              <a:t>periodograma</a:t>
            </a:r>
            <a:r>
              <a:rPr lang="es-MX" altLang="es-MX" sz="1800" dirty="0">
                <a:solidFill>
                  <a:schemeClr val="bg1"/>
                </a:solidFill>
                <a:cs typeface="DejaVu Sans" charset="0"/>
              </a:rPr>
              <a:t> no hay estacionalidad.</a:t>
            </a:r>
          </a:p>
          <a:p>
            <a:pPr marL="285750" indent="-285750" eaLnBrk="1">
              <a:spcBef>
                <a:spcPts val="13"/>
              </a:spcBef>
              <a:spcAft>
                <a:spcPts val="13"/>
              </a:spcAft>
              <a:buFont typeface="Wingdings" panose="05000000000000000000" pitchFamily="2" charset="2"/>
              <a:buChar char="§"/>
              <a:tabLst>
                <a:tab pos="914400" algn="l"/>
                <a:tab pos="1828800" algn="l"/>
                <a:tab pos="2743200" algn="l"/>
                <a:tab pos="3657600" algn="l"/>
                <a:tab pos="4572000" algn="l"/>
                <a:tab pos="5486400" algn="l"/>
              </a:tabLst>
            </a:pPr>
            <a:endParaRPr lang="es-MX" altLang="es-MX" sz="1800" dirty="0">
              <a:solidFill>
                <a:schemeClr val="bg1"/>
              </a:solidFill>
              <a:cs typeface="DejaVu Sans" charset="0"/>
            </a:endParaRPr>
          </a:p>
          <a:p>
            <a:pPr marL="285750" indent="-285750" eaLnBrk="1">
              <a:spcBef>
                <a:spcPts val="13"/>
              </a:spcBef>
              <a:spcAft>
                <a:spcPts val="13"/>
              </a:spcAft>
              <a:buFont typeface="Wingdings" panose="05000000000000000000" pitchFamily="2" charset="2"/>
              <a:buChar char="§"/>
              <a:tabLst>
                <a:tab pos="914400" algn="l"/>
                <a:tab pos="1828800" algn="l"/>
                <a:tab pos="2743200" algn="l"/>
                <a:tab pos="3657600" algn="l"/>
                <a:tab pos="4572000" algn="l"/>
                <a:tab pos="5486400" algn="l"/>
              </a:tabLst>
            </a:pPr>
            <a:r>
              <a:rPr lang="es-MX" altLang="es-MX" dirty="0">
                <a:solidFill>
                  <a:schemeClr val="bg1"/>
                </a:solidFill>
                <a:cs typeface="DejaVu Sans" charset="0"/>
              </a:rPr>
              <a:t>C</a:t>
            </a:r>
            <a:r>
              <a:rPr lang="es-MX" altLang="es-MX" sz="1800" dirty="0">
                <a:solidFill>
                  <a:schemeClr val="bg1"/>
                </a:solidFill>
                <a:cs typeface="DejaVu Sans" charset="0"/>
              </a:rPr>
              <a:t>ada pico destacable identifica un período que incluso puede ser un ciclo</a:t>
            </a:r>
            <a:r>
              <a:rPr lang="es-MX" altLang="es-MX" dirty="0">
                <a:solidFill>
                  <a:schemeClr val="bg1"/>
                </a:solidFill>
                <a:cs typeface="DejaVu Sans" charset="0"/>
              </a:rPr>
              <a:t> </a:t>
            </a:r>
            <a:r>
              <a:rPr lang="es-MX" altLang="es-MX" i="1" dirty="0">
                <a:solidFill>
                  <a:schemeClr val="bg1"/>
                </a:solidFill>
                <a:cs typeface="DejaVu Sans" charset="0"/>
              </a:rPr>
              <a:t>(lo veremos mas adelante).</a:t>
            </a:r>
            <a:endParaRPr lang="es-MX" altLang="es-MX" sz="1800" i="1" dirty="0">
              <a:solidFill>
                <a:schemeClr val="bg1"/>
              </a:solidFill>
              <a:cs typeface="DejaVu Sans" charset="0"/>
            </a:endParaRPr>
          </a:p>
          <a:p>
            <a:pPr marL="285750" indent="-285750" eaLnBrk="1">
              <a:spcBef>
                <a:spcPts val="13"/>
              </a:spcBef>
              <a:spcAft>
                <a:spcPts val="13"/>
              </a:spcAft>
              <a:buFont typeface="Wingdings" panose="05000000000000000000" pitchFamily="2" charset="2"/>
              <a:buChar char="§"/>
              <a:tabLst>
                <a:tab pos="914400" algn="l"/>
                <a:tab pos="1828800" algn="l"/>
                <a:tab pos="2743200" algn="l"/>
                <a:tab pos="3657600" algn="l"/>
                <a:tab pos="4572000" algn="l"/>
                <a:tab pos="5486400" algn="l"/>
              </a:tabLst>
            </a:pPr>
            <a:endParaRPr lang="es-MX" altLang="es-MX" dirty="0">
              <a:solidFill>
                <a:schemeClr val="bg1"/>
              </a:solidFill>
              <a:cs typeface="DejaVu Sans" charset="0"/>
            </a:endParaRPr>
          </a:p>
          <a:p>
            <a:pPr marL="285750" indent="-285750" eaLnBrk="1">
              <a:spcBef>
                <a:spcPts val="13"/>
              </a:spcBef>
              <a:spcAft>
                <a:spcPts val="13"/>
              </a:spcAft>
              <a:buFont typeface="Wingdings" panose="05000000000000000000" pitchFamily="2" charset="2"/>
              <a:buChar char="§"/>
              <a:tabLst>
                <a:tab pos="914400" algn="l"/>
                <a:tab pos="1828800" algn="l"/>
                <a:tab pos="2743200" algn="l"/>
                <a:tab pos="3657600" algn="l"/>
                <a:tab pos="4572000" algn="l"/>
                <a:tab pos="5486400" algn="l"/>
              </a:tabLst>
            </a:pPr>
            <a:r>
              <a:rPr lang="es-MX" altLang="es-MX" sz="1800" dirty="0">
                <a:solidFill>
                  <a:schemeClr val="bg1"/>
                </a:solidFill>
                <a:cs typeface="DejaVu Sans" charset="0"/>
              </a:rPr>
              <a:t>A cada amplitud destacable le corresponde una frecuencia cuya inversa es </a:t>
            </a:r>
            <a:r>
              <a:rPr lang="pt-BR" altLang="es-MX" sz="1800" dirty="0" err="1">
                <a:solidFill>
                  <a:schemeClr val="bg1"/>
                </a:solidFill>
                <a:cs typeface="DejaVu Sans" charset="0"/>
              </a:rPr>
              <a:t>el</a:t>
            </a:r>
            <a:r>
              <a:rPr lang="pt-BR" altLang="es-MX" sz="1800" dirty="0">
                <a:solidFill>
                  <a:schemeClr val="bg1"/>
                </a:solidFill>
                <a:cs typeface="DejaVu Sans" charset="0"/>
              </a:rPr>
              <a:t> período estacional o cíclico.</a:t>
            </a:r>
          </a:p>
        </p:txBody>
      </p:sp>
      <p:sp>
        <p:nvSpPr>
          <p:cNvPr id="10" name="CuadroTexto 9">
            <a:extLst>
              <a:ext uri="{FF2B5EF4-FFF2-40B4-BE49-F238E27FC236}">
                <a16:creationId xmlns:a16="http://schemas.microsoft.com/office/drawing/2014/main" id="{ECC536A0-1552-D0C3-1873-E2A2473DEF08}"/>
              </a:ext>
            </a:extLst>
          </p:cNvPr>
          <p:cNvSpPr txBox="1"/>
          <p:nvPr/>
        </p:nvSpPr>
        <p:spPr>
          <a:xfrm>
            <a:off x="6170614" y="4769596"/>
            <a:ext cx="6191572" cy="646331"/>
          </a:xfrm>
          <a:prstGeom prst="rect">
            <a:avLst/>
          </a:prstGeom>
          <a:noFill/>
        </p:spPr>
        <p:txBody>
          <a:bodyPr wrap="square">
            <a:spAutoFit/>
          </a:bodyPr>
          <a:lstStyle/>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dirty="0">
                <a:solidFill>
                  <a:schemeClr val="bg1"/>
                </a:solidFill>
                <a:cs typeface="DejaVu Sans" charset="0"/>
              </a:rPr>
              <a:t>El</a:t>
            </a:r>
            <a:r>
              <a:rPr lang="es-MX" altLang="es-MX" sz="1800" b="1" i="1" dirty="0">
                <a:solidFill>
                  <a:schemeClr val="bg1"/>
                </a:solidFill>
                <a:cs typeface="DejaVu Sans" charset="0"/>
              </a:rPr>
              <a:t> </a:t>
            </a:r>
            <a:r>
              <a:rPr lang="es-MX" altLang="es-MX" sz="1800" b="1" i="1" dirty="0" err="1">
                <a:solidFill>
                  <a:schemeClr val="bg1"/>
                </a:solidFill>
                <a:cs typeface="DejaVu Sans" charset="0"/>
              </a:rPr>
              <a:t>periodograma</a:t>
            </a:r>
            <a:r>
              <a:rPr lang="es-MX" altLang="es-MX" sz="1800" b="1" i="1" dirty="0">
                <a:solidFill>
                  <a:schemeClr val="bg1"/>
                </a:solidFill>
                <a:cs typeface="DejaVu Sans" charset="0"/>
              </a:rPr>
              <a:t> </a:t>
            </a:r>
            <a:r>
              <a:rPr lang="es-MX" altLang="es-MX" sz="1800" dirty="0">
                <a:solidFill>
                  <a:schemeClr val="bg1"/>
                </a:solidFill>
                <a:cs typeface="DejaVu Sans" charset="0"/>
              </a:rPr>
              <a:t>es un instrumento que identifica la longitud del período estacional y en su caso la del ciclo. </a:t>
            </a:r>
          </a:p>
        </p:txBody>
      </p:sp>
      <p:cxnSp>
        <p:nvCxnSpPr>
          <p:cNvPr id="12" name="Conector recto 11">
            <a:extLst>
              <a:ext uri="{FF2B5EF4-FFF2-40B4-BE49-F238E27FC236}">
                <a16:creationId xmlns:a16="http://schemas.microsoft.com/office/drawing/2014/main" id="{8D538277-CA89-FD07-D60B-1BAA2AC1C8FE}"/>
              </a:ext>
            </a:extLst>
          </p:cNvPr>
          <p:cNvCxnSpPr/>
          <p:nvPr/>
        </p:nvCxnSpPr>
        <p:spPr bwMode="auto">
          <a:xfrm>
            <a:off x="1439056" y="1502539"/>
            <a:ext cx="4212236" cy="2862322"/>
          </a:xfrm>
          <a:prstGeom prst="lin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Conector recto 18">
            <a:extLst>
              <a:ext uri="{FF2B5EF4-FFF2-40B4-BE49-F238E27FC236}">
                <a16:creationId xmlns:a16="http://schemas.microsoft.com/office/drawing/2014/main" id="{E82C14A5-8EBF-AD91-9845-DB1370EBC1D2}"/>
              </a:ext>
            </a:extLst>
          </p:cNvPr>
          <p:cNvCxnSpPr/>
          <p:nvPr/>
        </p:nvCxnSpPr>
        <p:spPr bwMode="auto">
          <a:xfrm>
            <a:off x="1767681" y="1034321"/>
            <a:ext cx="3883611" cy="2394679"/>
          </a:xfrm>
          <a:prstGeom prst="line">
            <a:avLst/>
          </a:prstGeom>
          <a:solidFill>
            <a:srgbClr val="00B8FF"/>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ector recto 20">
            <a:extLst>
              <a:ext uri="{FF2B5EF4-FFF2-40B4-BE49-F238E27FC236}">
                <a16:creationId xmlns:a16="http://schemas.microsoft.com/office/drawing/2014/main" id="{B002F39F-F491-A174-87DB-FD7893C310BC}"/>
              </a:ext>
            </a:extLst>
          </p:cNvPr>
          <p:cNvCxnSpPr/>
          <p:nvPr/>
        </p:nvCxnSpPr>
        <p:spPr bwMode="auto">
          <a:xfrm>
            <a:off x="1439056" y="2278505"/>
            <a:ext cx="3717560" cy="2368446"/>
          </a:xfrm>
          <a:prstGeom prst="line">
            <a:avLst/>
          </a:prstGeom>
          <a:solidFill>
            <a:srgbClr val="00B8FF"/>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CuadroTexto 22">
            <a:extLst>
              <a:ext uri="{FF2B5EF4-FFF2-40B4-BE49-F238E27FC236}">
                <a16:creationId xmlns:a16="http://schemas.microsoft.com/office/drawing/2014/main" id="{A81B426F-CB69-895A-BD18-578028D5DA57}"/>
              </a:ext>
            </a:extLst>
          </p:cNvPr>
          <p:cNvSpPr txBox="1"/>
          <p:nvPr/>
        </p:nvSpPr>
        <p:spPr>
          <a:xfrm>
            <a:off x="6021388" y="5544750"/>
            <a:ext cx="6191572" cy="923330"/>
          </a:xfrm>
          <a:prstGeom prst="rect">
            <a:avLst/>
          </a:prstGeom>
          <a:noFill/>
        </p:spPr>
        <p:txBody>
          <a:bodyPr wrap="square">
            <a:spAutoFit/>
          </a:bodyPr>
          <a:lstStyle/>
          <a:p>
            <a:pPr marL="215900" indent="-215900" eaLnBrk="1">
              <a:spcBef>
                <a:spcPts val="13"/>
              </a:spcBef>
              <a:spcAft>
                <a:spcPts val="13"/>
              </a:spcAft>
              <a:tabLst>
                <a:tab pos="914400" algn="l"/>
                <a:tab pos="1828800" algn="l"/>
                <a:tab pos="2743200" algn="l"/>
                <a:tab pos="3657600" algn="l"/>
                <a:tab pos="4572000" algn="l"/>
                <a:tab pos="5486400" algn="l"/>
              </a:tabLst>
            </a:pPr>
            <a:r>
              <a:rPr lang="en-US" altLang="es-MX" sz="1800" dirty="0">
                <a:solidFill>
                  <a:schemeClr val="bg1"/>
                </a:solidFill>
                <a:cs typeface="DejaVu Sans" charset="0"/>
              </a:rPr>
              <a:t>De </a:t>
            </a:r>
            <a:r>
              <a:rPr lang="en-US" altLang="es-MX" sz="1800" dirty="0" err="1">
                <a:solidFill>
                  <a:schemeClr val="bg1"/>
                </a:solidFill>
                <a:cs typeface="DejaVu Sans" charset="0"/>
              </a:rPr>
              <a:t>hecho</a:t>
            </a:r>
            <a:r>
              <a:rPr lang="en-US" altLang="es-MX" sz="1800" dirty="0">
                <a:solidFill>
                  <a:schemeClr val="bg1"/>
                </a:solidFill>
                <a:cs typeface="DejaVu Sans" charset="0"/>
              </a:rPr>
              <a:t> </a:t>
            </a:r>
            <a:r>
              <a:rPr lang="en-US" altLang="es-MX" sz="1800" dirty="0" err="1">
                <a:solidFill>
                  <a:schemeClr val="bg1"/>
                </a:solidFill>
                <a:cs typeface="DejaVu Sans" charset="0"/>
              </a:rPr>
              <a:t>podemos</a:t>
            </a:r>
            <a:r>
              <a:rPr lang="en-US" altLang="es-MX" sz="1800" dirty="0">
                <a:solidFill>
                  <a:schemeClr val="bg1"/>
                </a:solidFill>
                <a:cs typeface="DejaVu Sans" charset="0"/>
              </a:rPr>
              <a:t> </a:t>
            </a:r>
            <a:r>
              <a:rPr lang="en-US" altLang="es-MX" sz="1800" dirty="0" err="1">
                <a:solidFill>
                  <a:schemeClr val="bg1"/>
                </a:solidFill>
                <a:cs typeface="DejaVu Sans" charset="0"/>
              </a:rPr>
              <a:t>ver</a:t>
            </a:r>
            <a:r>
              <a:rPr lang="en-US" altLang="es-MX" sz="1800" dirty="0">
                <a:solidFill>
                  <a:schemeClr val="bg1"/>
                </a:solidFill>
                <a:cs typeface="DejaVu Sans" charset="0"/>
              </a:rPr>
              <a:t> que hay un </a:t>
            </a:r>
            <a:r>
              <a:rPr lang="en-US" altLang="es-MX" sz="1800" dirty="0" err="1">
                <a:solidFill>
                  <a:schemeClr val="bg1"/>
                </a:solidFill>
                <a:cs typeface="DejaVu Sans" charset="0"/>
              </a:rPr>
              <a:t>banda</a:t>
            </a:r>
            <a:r>
              <a:rPr lang="en-US" altLang="es-MX" sz="1800" dirty="0">
                <a:solidFill>
                  <a:schemeClr val="bg1"/>
                </a:solidFill>
                <a:cs typeface="DejaVu Sans" charset="0"/>
              </a:rPr>
              <a:t> invisible que </a:t>
            </a:r>
            <a:r>
              <a:rPr lang="en-US" altLang="es-MX" sz="1800" dirty="0" err="1">
                <a:solidFill>
                  <a:schemeClr val="bg1"/>
                </a:solidFill>
                <a:cs typeface="DejaVu Sans" charset="0"/>
              </a:rPr>
              <a:t>cubre</a:t>
            </a:r>
            <a:r>
              <a:rPr lang="en-US" altLang="es-MX" sz="1800" dirty="0">
                <a:solidFill>
                  <a:schemeClr val="bg1"/>
                </a:solidFill>
                <a:cs typeface="DejaVu Sans" charset="0"/>
              </a:rPr>
              <a:t> </a:t>
            </a:r>
            <a:r>
              <a:rPr lang="en-US" altLang="es-MX" sz="1800" dirty="0" err="1">
                <a:solidFill>
                  <a:schemeClr val="bg1"/>
                </a:solidFill>
                <a:cs typeface="DejaVu Sans" charset="0"/>
              </a:rPr>
              <a:t>el</a:t>
            </a:r>
            <a:r>
              <a:rPr lang="en-US" altLang="es-MX" sz="1800" dirty="0">
                <a:solidFill>
                  <a:schemeClr val="bg1"/>
                </a:solidFill>
                <a:cs typeface="DejaVu Sans" charset="0"/>
              </a:rPr>
              <a:t> </a:t>
            </a:r>
            <a:r>
              <a:rPr lang="en-US" altLang="es-MX" sz="1800" dirty="0" err="1">
                <a:solidFill>
                  <a:schemeClr val="bg1"/>
                </a:solidFill>
                <a:cs typeface="DejaVu Sans" charset="0"/>
              </a:rPr>
              <a:t>periodograma</a:t>
            </a:r>
            <a:r>
              <a:rPr lang="en-US" altLang="es-MX" sz="1800" dirty="0">
                <a:solidFill>
                  <a:schemeClr val="bg1"/>
                </a:solidFill>
                <a:cs typeface="DejaVu Sans" charset="0"/>
              </a:rPr>
              <a:t> lo </a:t>
            </a:r>
            <a:r>
              <a:rPr lang="en-US" altLang="es-MX" sz="1800" dirty="0" err="1">
                <a:solidFill>
                  <a:schemeClr val="bg1"/>
                </a:solidFill>
                <a:cs typeface="DejaVu Sans" charset="0"/>
              </a:rPr>
              <a:t>cual</a:t>
            </a:r>
            <a:r>
              <a:rPr lang="en-US" altLang="es-MX" sz="1800" dirty="0">
                <a:solidFill>
                  <a:schemeClr val="bg1"/>
                </a:solidFill>
                <a:cs typeface="DejaVu Sans" charset="0"/>
              </a:rPr>
              <a:t> </a:t>
            </a:r>
            <a:r>
              <a:rPr lang="en-US" altLang="es-MX" sz="1800" dirty="0" err="1">
                <a:solidFill>
                  <a:schemeClr val="bg1"/>
                </a:solidFill>
                <a:cs typeface="DejaVu Sans" charset="0"/>
              </a:rPr>
              <a:t>estaria</a:t>
            </a:r>
            <a:r>
              <a:rPr lang="en-US" altLang="es-MX" sz="1800" dirty="0">
                <a:solidFill>
                  <a:schemeClr val="bg1"/>
                </a:solidFill>
                <a:cs typeface="DejaVu Sans" charset="0"/>
              </a:rPr>
              <a:t> </a:t>
            </a:r>
            <a:r>
              <a:rPr lang="en-US" altLang="es-MX" sz="1800" dirty="0" err="1">
                <a:solidFill>
                  <a:schemeClr val="bg1"/>
                </a:solidFill>
                <a:cs typeface="DejaVu Sans" charset="0"/>
              </a:rPr>
              <a:t>dando</a:t>
            </a:r>
            <a:r>
              <a:rPr lang="en-US" altLang="es-MX" sz="1800" dirty="0">
                <a:solidFill>
                  <a:schemeClr val="bg1"/>
                </a:solidFill>
                <a:cs typeface="DejaVu Sans" charset="0"/>
              </a:rPr>
              <a:t> incision de </a:t>
            </a:r>
            <a:r>
              <a:rPr lang="en-US" altLang="es-MX" sz="1800" dirty="0" err="1">
                <a:solidFill>
                  <a:schemeClr val="bg1"/>
                </a:solidFill>
                <a:cs typeface="DejaVu Sans" charset="0"/>
              </a:rPr>
              <a:t>estacionalidad</a:t>
            </a:r>
            <a:r>
              <a:rPr lang="en-US" altLang="es-MX" sz="1800" dirty="0">
                <a:solidFill>
                  <a:schemeClr val="bg1"/>
                </a:solidFill>
                <a:cs typeface="DejaVu Sans" charset="0"/>
              </a:rPr>
              <a:t> de </a:t>
            </a:r>
            <a:r>
              <a:rPr lang="en-US" altLang="es-MX" sz="1800" dirty="0" err="1">
                <a:solidFill>
                  <a:schemeClr val="bg1"/>
                </a:solidFill>
                <a:cs typeface="DejaVu Sans" charset="0"/>
              </a:rPr>
              <a:t>variacion</a:t>
            </a:r>
            <a:r>
              <a:rPr lang="en-US" altLang="es-MX" sz="1800" dirty="0">
                <a:solidFill>
                  <a:schemeClr val="bg1"/>
                </a:solidFill>
                <a:cs typeface="DejaVu Sans" charset="0"/>
              </a:rPr>
              <a:t>.</a:t>
            </a:r>
            <a:endParaRPr lang="es-MX" altLang="es-MX" sz="1800" dirty="0">
              <a:solidFill>
                <a:schemeClr val="bg1"/>
              </a:solidFill>
              <a:cs typeface="DejaVu Sans" charset="0"/>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3">
            <a:extLst>
              <a:ext uri="{FF2B5EF4-FFF2-40B4-BE49-F238E27FC236}">
                <a16:creationId xmlns:a16="http://schemas.microsoft.com/office/drawing/2014/main" id="{002C248A-E6D2-6C63-E5D4-70E0620731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973" y="118624"/>
            <a:ext cx="5483225" cy="464824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748" name="Picture 4">
            <a:extLst>
              <a:ext uri="{FF2B5EF4-FFF2-40B4-BE49-F238E27FC236}">
                <a16:creationId xmlns:a16="http://schemas.microsoft.com/office/drawing/2014/main" id="{063887B4-36F8-7682-92EC-63AD35C1E8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1010" y="118625"/>
            <a:ext cx="5554663" cy="46819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CuadroTexto 2">
            <a:extLst>
              <a:ext uri="{FF2B5EF4-FFF2-40B4-BE49-F238E27FC236}">
                <a16:creationId xmlns:a16="http://schemas.microsoft.com/office/drawing/2014/main" id="{6698D4DB-D109-DD54-9A9B-13486E7FAEEE}"/>
              </a:ext>
            </a:extLst>
          </p:cNvPr>
          <p:cNvSpPr txBox="1"/>
          <p:nvPr/>
        </p:nvSpPr>
        <p:spPr>
          <a:xfrm>
            <a:off x="841037" y="4985049"/>
            <a:ext cx="10178321" cy="1754326"/>
          </a:xfrm>
          <a:prstGeom prst="rect">
            <a:avLst/>
          </a:prstGeom>
          <a:noFill/>
        </p:spPr>
        <p:txBody>
          <a:bodyPr wrap="square">
            <a:spAutoFit/>
          </a:bodyPr>
          <a:lstStyle/>
          <a:p>
            <a:pPr marL="285750" indent="-285750" eaLnBrk="1">
              <a:spcBef>
                <a:spcPts val="13"/>
              </a:spcBef>
              <a:spcAft>
                <a:spcPts val="13"/>
              </a:spcAft>
              <a:buFontTx/>
              <a:buChar char="-"/>
              <a:tabLst>
                <a:tab pos="914400" algn="l"/>
                <a:tab pos="1828800" algn="l"/>
                <a:tab pos="2743200" algn="l"/>
                <a:tab pos="3657600" algn="l"/>
                <a:tab pos="4572000" algn="l"/>
                <a:tab pos="5486400" algn="l"/>
              </a:tabLst>
            </a:pPr>
            <a:r>
              <a:rPr lang="es-MX" altLang="es-MX" sz="1800" dirty="0">
                <a:solidFill>
                  <a:schemeClr val="bg1"/>
                </a:solidFill>
                <a:cs typeface="DejaVu Sans" charset="0"/>
              </a:rPr>
              <a:t>Se observa que los coeficientes de la FAC no decaen rápidamente, lo que indica falta de estacionariedad en media.</a:t>
            </a:r>
          </a:p>
          <a:p>
            <a:pPr marL="285750" indent="-285750" eaLnBrk="1">
              <a:spcBef>
                <a:spcPts val="13"/>
              </a:spcBef>
              <a:spcAft>
                <a:spcPts val="13"/>
              </a:spcAft>
              <a:buFontTx/>
              <a:buChar char="-"/>
              <a:tabLst>
                <a:tab pos="914400" algn="l"/>
                <a:tab pos="1828800" algn="l"/>
                <a:tab pos="2743200" algn="l"/>
                <a:tab pos="3657600" algn="l"/>
                <a:tab pos="4572000" algn="l"/>
                <a:tab pos="5486400" algn="l"/>
              </a:tabLst>
            </a:pPr>
            <a:r>
              <a:rPr lang="es-MX" altLang="es-MX" sz="1800" dirty="0">
                <a:solidFill>
                  <a:schemeClr val="bg1"/>
                </a:solidFill>
                <a:cs typeface="DejaVu Sans" charset="0"/>
              </a:rPr>
              <a:t>Además ni la FAC ni la FACP presentan valores muy significativos en múltiplos de ningún valor ni presentan sinusoides de la misma amplitud. </a:t>
            </a:r>
          </a:p>
          <a:p>
            <a:pPr eaLnBrk="1">
              <a:spcBef>
                <a:spcPts val="13"/>
              </a:spcBef>
              <a:spcAft>
                <a:spcPts val="13"/>
              </a:spcAft>
              <a:tabLst>
                <a:tab pos="914400" algn="l"/>
                <a:tab pos="1828800" algn="l"/>
                <a:tab pos="2743200" algn="l"/>
                <a:tab pos="3657600" algn="l"/>
                <a:tab pos="4572000" algn="l"/>
                <a:tab pos="5486400" algn="l"/>
              </a:tabLst>
            </a:pPr>
            <a:endParaRPr lang="es-MX" altLang="es-MX" sz="1800" dirty="0">
              <a:solidFill>
                <a:schemeClr val="bg1"/>
              </a:solidFill>
              <a:cs typeface="DejaVu Sans" charset="0"/>
            </a:endParaRPr>
          </a:p>
          <a:p>
            <a:pPr marL="215900" indent="-215900" algn="ctr" eaLnBrk="1">
              <a:spcBef>
                <a:spcPts val="13"/>
              </a:spcBef>
              <a:spcAft>
                <a:spcPts val="13"/>
              </a:spcAft>
              <a:tabLst>
                <a:tab pos="914400" algn="l"/>
                <a:tab pos="1828800" algn="l"/>
                <a:tab pos="2743200" algn="l"/>
                <a:tab pos="3657600" algn="l"/>
                <a:tab pos="4572000" algn="l"/>
                <a:tab pos="5486400" algn="l"/>
              </a:tabLst>
            </a:pPr>
            <a:r>
              <a:rPr lang="es-MX" altLang="es-MX" sz="1800" dirty="0">
                <a:solidFill>
                  <a:schemeClr val="bg1"/>
                </a:solidFill>
                <a:cs typeface="DejaVu Sans" charset="0"/>
              </a:rPr>
              <a:t>Por lo tanto, la serie no es estacional</a:t>
            </a:r>
          </a:p>
        </p:txBody>
      </p:sp>
      <mc:AlternateContent xmlns:mc="http://schemas.openxmlformats.org/markup-compatibility/2006" xmlns:a14="http://schemas.microsoft.com/office/drawing/2010/main">
        <mc:Choice Requires="a14">
          <p:sp>
            <p:nvSpPr>
              <p:cNvPr id="4" name="Elipse 3">
                <a:extLst>
                  <a:ext uri="{FF2B5EF4-FFF2-40B4-BE49-F238E27FC236}">
                    <a16:creationId xmlns:a16="http://schemas.microsoft.com/office/drawing/2014/main" id="{92B9CEA9-05A1-2795-9E15-AC8A8370813C}"/>
                  </a:ext>
                </a:extLst>
              </p:cNvPr>
              <p:cNvSpPr/>
              <p:nvPr/>
            </p:nvSpPr>
            <p:spPr bwMode="auto">
              <a:xfrm>
                <a:off x="6613160" y="479685"/>
                <a:ext cx="884420" cy="494675"/>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14:m>
                  <m:oMathPara xmlns:m="http://schemas.openxmlformats.org/officeDocument/2006/math">
                    <m:oMathParaPr>
                      <m:jc m:val="centerGroup"/>
                    </m:oMathParaPr>
                    <m:oMath xmlns:m="http://schemas.openxmlformats.org/officeDocument/2006/math">
                      <m:sSub>
                        <m:sSubPr>
                          <m:ctrlPr>
                            <a:rPr kumimoji="0" lang="en-US" sz="1800" b="0" i="1" u="none" strike="noStrike" cap="none" normalizeH="0" baseline="0" smtClean="0">
                              <a:ln>
                                <a:noFill/>
                              </a:ln>
                              <a:effectLst/>
                              <a:latin typeface="Cambria Math" panose="02040503050406030204" pitchFamily="18" charset="0"/>
                              <a:cs typeface="DejaVu Sans" charset="0"/>
                            </a:rPr>
                          </m:ctrlPr>
                        </m:sSubPr>
                        <m:e>
                          <m:r>
                            <a:rPr kumimoji="0" lang="en-US" sz="1800" b="0" i="1" u="none" strike="noStrike" cap="none" normalizeH="0" baseline="0" smtClean="0">
                              <a:ln>
                                <a:noFill/>
                              </a:ln>
                              <a:effectLst/>
                              <a:latin typeface="Cambria Math" panose="02040503050406030204" pitchFamily="18" charset="0"/>
                              <a:cs typeface="DejaVu Sans" charset="0"/>
                            </a:rPr>
                            <m:t>𝜙</m:t>
                          </m:r>
                        </m:e>
                        <m:sub>
                          <m:r>
                            <a:rPr kumimoji="0" lang="en-US" sz="1800" b="0" i="1" u="none" strike="noStrike" cap="none" normalizeH="0" baseline="0" smtClean="0">
                              <a:ln>
                                <a:noFill/>
                              </a:ln>
                              <a:effectLst/>
                              <a:latin typeface="Cambria Math" panose="02040503050406030204" pitchFamily="18" charset="0"/>
                              <a:cs typeface="DejaVu Sans" charset="0"/>
                            </a:rPr>
                            <m:t>1,1</m:t>
                          </m:r>
                        </m:sub>
                      </m:sSub>
                    </m:oMath>
                  </m:oMathPara>
                </a14:m>
                <a:endParaRPr kumimoji="0" lang="es-MX" sz="1800" b="0" i="0" u="none" strike="noStrike" cap="none" normalizeH="0" baseline="0" dirty="0">
                  <a:ln>
                    <a:noFill/>
                  </a:ln>
                  <a:effectLst/>
                  <a:latin typeface="Arial" panose="020B0604020202020204" pitchFamily="34" charset="0"/>
                  <a:cs typeface="DejaVu Sans" charset="0"/>
                </a:endParaRPr>
              </a:p>
            </p:txBody>
          </p:sp>
        </mc:Choice>
        <mc:Fallback xmlns="">
          <p:sp>
            <p:nvSpPr>
              <p:cNvPr id="4" name="Elipse 3">
                <a:extLst>
                  <a:ext uri="{FF2B5EF4-FFF2-40B4-BE49-F238E27FC236}">
                    <a16:creationId xmlns:a16="http://schemas.microsoft.com/office/drawing/2014/main" id="{92B9CEA9-05A1-2795-9E15-AC8A8370813C}"/>
                  </a:ext>
                </a:extLst>
              </p:cNvPr>
              <p:cNvSpPr>
                <a:spLocks noRot="1" noChangeAspect="1" noMove="1" noResize="1" noEditPoints="1" noAdjustHandles="1" noChangeArrowheads="1" noChangeShapeType="1" noTextEdit="1"/>
              </p:cNvSpPr>
              <p:nvPr/>
            </p:nvSpPr>
            <p:spPr bwMode="auto">
              <a:xfrm>
                <a:off x="6613160" y="479685"/>
                <a:ext cx="884420" cy="494675"/>
              </a:xfrm>
              <a:prstGeom prst="ellipse">
                <a:avLst/>
              </a:prstGeom>
              <a:blipFill>
                <a:blip r:embed="rId5"/>
                <a:stretch>
                  <a:fillRect/>
                </a:stretch>
              </a:blipFill>
              <a:ln>
                <a:headEnd type="none" w="med" len="med"/>
                <a:tailEnd type="none" w="med" len="med"/>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Elipse 5">
                <a:extLst>
                  <a:ext uri="{FF2B5EF4-FFF2-40B4-BE49-F238E27FC236}">
                    <a16:creationId xmlns:a16="http://schemas.microsoft.com/office/drawing/2014/main" id="{6BF901E5-C4DE-D7D9-C244-B991D49AD6FF}"/>
                  </a:ext>
                </a:extLst>
              </p:cNvPr>
              <p:cNvSpPr/>
              <p:nvPr/>
            </p:nvSpPr>
            <p:spPr bwMode="auto">
              <a:xfrm>
                <a:off x="6613160" y="3720059"/>
                <a:ext cx="884420" cy="494675"/>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pPr>
                <a14:m>
                  <m:oMathPara xmlns:m="http://schemas.openxmlformats.org/officeDocument/2006/math">
                    <m:oMathParaPr>
                      <m:jc m:val="centerGroup"/>
                    </m:oMathParaPr>
                    <m:oMath xmlns:m="http://schemas.openxmlformats.org/officeDocument/2006/math">
                      <m:sSub>
                        <m:sSubPr>
                          <m:ctrlPr>
                            <a:rPr kumimoji="0" lang="en-US" sz="1800" b="0" i="1" u="none" strike="noStrike" cap="none" normalizeH="0" baseline="0" smtClean="0">
                              <a:ln>
                                <a:noFill/>
                              </a:ln>
                              <a:effectLst/>
                              <a:latin typeface="Cambria Math" panose="02040503050406030204" pitchFamily="18" charset="0"/>
                              <a:cs typeface="DejaVu Sans" charset="0"/>
                            </a:rPr>
                          </m:ctrlPr>
                        </m:sSubPr>
                        <m:e>
                          <m:r>
                            <a:rPr kumimoji="0" lang="en-US" sz="1800" b="0" i="1" u="none" strike="noStrike" cap="none" normalizeH="0" baseline="0" smtClean="0">
                              <a:ln>
                                <a:noFill/>
                              </a:ln>
                              <a:effectLst/>
                              <a:latin typeface="Cambria Math" panose="02040503050406030204" pitchFamily="18" charset="0"/>
                              <a:cs typeface="DejaVu Sans" charset="0"/>
                            </a:rPr>
                            <m:t>𝜙</m:t>
                          </m:r>
                        </m:e>
                        <m:sub>
                          <m:r>
                            <a:rPr kumimoji="0" lang="en-US" sz="1800" b="0" i="1" u="none" strike="noStrike" cap="none" normalizeH="0" baseline="0" smtClean="0">
                              <a:ln>
                                <a:noFill/>
                              </a:ln>
                              <a:effectLst/>
                              <a:latin typeface="Cambria Math" panose="02040503050406030204" pitchFamily="18" charset="0"/>
                              <a:cs typeface="DejaVu Sans" charset="0"/>
                            </a:rPr>
                            <m:t>2,2</m:t>
                          </m:r>
                        </m:sub>
                      </m:sSub>
                    </m:oMath>
                  </m:oMathPara>
                </a14:m>
                <a:endParaRPr kumimoji="0" lang="es-MX" sz="1800" b="0" i="0" u="none" strike="noStrike" cap="none" normalizeH="0" baseline="0" dirty="0">
                  <a:ln>
                    <a:noFill/>
                  </a:ln>
                  <a:effectLst/>
                  <a:latin typeface="Arial" panose="020B0604020202020204" pitchFamily="34" charset="0"/>
                  <a:cs typeface="DejaVu Sans" charset="0"/>
                </a:endParaRPr>
              </a:p>
            </p:txBody>
          </p:sp>
        </mc:Choice>
        <mc:Fallback xmlns="">
          <p:sp>
            <p:nvSpPr>
              <p:cNvPr id="6" name="Elipse 5">
                <a:extLst>
                  <a:ext uri="{FF2B5EF4-FFF2-40B4-BE49-F238E27FC236}">
                    <a16:creationId xmlns:a16="http://schemas.microsoft.com/office/drawing/2014/main" id="{6BF901E5-C4DE-D7D9-C244-B991D49AD6FF}"/>
                  </a:ext>
                </a:extLst>
              </p:cNvPr>
              <p:cNvSpPr>
                <a:spLocks noRot="1" noChangeAspect="1" noMove="1" noResize="1" noEditPoints="1" noAdjustHandles="1" noChangeArrowheads="1" noChangeShapeType="1" noTextEdit="1"/>
              </p:cNvSpPr>
              <p:nvPr/>
            </p:nvSpPr>
            <p:spPr bwMode="auto">
              <a:xfrm>
                <a:off x="6613160" y="3720059"/>
                <a:ext cx="884420" cy="494675"/>
              </a:xfrm>
              <a:prstGeom prst="ellipse">
                <a:avLst/>
              </a:prstGeom>
              <a:blipFill>
                <a:blip r:embed="rId6"/>
                <a:stretch>
                  <a:fillRect/>
                </a:stretch>
              </a:blipFill>
              <a:ln>
                <a:headEnd type="none" w="med" len="med"/>
                <a:tailEnd type="none" w="med" len="med"/>
              </a:ln>
            </p:spPr>
            <p:txBody>
              <a:bodyPr/>
              <a:lstStyle/>
              <a:p>
                <a:r>
                  <a:rPr lang="es-MX">
                    <a:noFill/>
                  </a:rPr>
                  <a:t> </a:t>
                </a:r>
              </a:p>
            </p:txBody>
          </p:sp>
        </mc:Fallback>
      </mc:AlternateContent>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a:extLst>
              <a:ext uri="{FF2B5EF4-FFF2-40B4-BE49-F238E27FC236}">
                <a16:creationId xmlns:a16="http://schemas.microsoft.com/office/drawing/2014/main" id="{A928E587-B021-D40F-2818-D32E0F6FAB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0"/>
            <a:ext cx="5972175" cy="36480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2771" name="Picture 3">
            <a:extLst>
              <a:ext uri="{FF2B5EF4-FFF2-40B4-BE49-F238E27FC236}">
                <a16:creationId xmlns:a16="http://schemas.microsoft.com/office/drawing/2014/main" id="{EA884173-B242-5B06-1EC3-9DBA61AF61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8804" y="2713221"/>
            <a:ext cx="6439372" cy="393346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CuadroTexto 2">
            <a:extLst>
              <a:ext uri="{FF2B5EF4-FFF2-40B4-BE49-F238E27FC236}">
                <a16:creationId xmlns:a16="http://schemas.microsoft.com/office/drawing/2014/main" id="{DC22EC2F-9EAD-253A-877D-A13C705707B0}"/>
              </a:ext>
            </a:extLst>
          </p:cNvPr>
          <p:cNvSpPr txBox="1"/>
          <p:nvPr/>
        </p:nvSpPr>
        <p:spPr>
          <a:xfrm>
            <a:off x="123824" y="4270215"/>
            <a:ext cx="5393258" cy="1754326"/>
          </a:xfrm>
          <a:prstGeom prst="rect">
            <a:avLst/>
          </a:prstGeom>
          <a:noFill/>
        </p:spPr>
        <p:txBody>
          <a:bodyPr wrap="square">
            <a:spAutoFit/>
          </a:bodyPr>
          <a:lstStyle/>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sz="1800" dirty="0">
                <a:solidFill>
                  <a:schemeClr val="bg1"/>
                </a:solidFill>
                <a:cs typeface="DejaVu Sans" charset="0"/>
              </a:rPr>
              <a:t>Ahora los retardos significativos de la FAC decaen tan rápidamente que </a:t>
            </a:r>
            <a:r>
              <a:rPr lang="es-MX" altLang="es-MX" sz="1800" i="1" dirty="0">
                <a:solidFill>
                  <a:schemeClr val="bg1"/>
                </a:solidFill>
                <a:cs typeface="DejaVu Sans" charset="0"/>
              </a:rPr>
              <a:t>(sólo es significativo el primero)</a:t>
            </a:r>
            <a:r>
              <a:rPr lang="es-MX" altLang="es-MX" sz="1800" dirty="0">
                <a:solidFill>
                  <a:schemeClr val="bg1"/>
                </a:solidFill>
                <a:cs typeface="DejaVu Sans" charset="0"/>
              </a:rPr>
              <a:t>, luego ya no existen problemas de estacionariedad.</a:t>
            </a:r>
          </a:p>
          <a:p>
            <a:pPr marL="215900" indent="-215900" eaLnBrk="1">
              <a:spcBef>
                <a:spcPts val="13"/>
              </a:spcBef>
              <a:spcAft>
                <a:spcPts val="13"/>
              </a:spcAft>
              <a:tabLst>
                <a:tab pos="914400" algn="l"/>
                <a:tab pos="1828800" algn="l"/>
                <a:tab pos="2743200" algn="l"/>
                <a:tab pos="3657600" algn="l"/>
                <a:tab pos="4572000" algn="l"/>
                <a:tab pos="5486400" algn="l"/>
              </a:tabLst>
            </a:pPr>
            <a:endParaRPr lang="es-MX" altLang="es-MX" sz="1800" dirty="0">
              <a:solidFill>
                <a:schemeClr val="bg1"/>
              </a:solidFill>
              <a:cs typeface="DejaVu Sans" charset="0"/>
            </a:endParaRPr>
          </a:p>
          <a:p>
            <a:pPr marL="215900" indent="-215900" eaLnBrk="1">
              <a:spcBef>
                <a:spcPts val="13"/>
              </a:spcBef>
              <a:spcAft>
                <a:spcPts val="13"/>
              </a:spcAft>
              <a:tabLst>
                <a:tab pos="914400" algn="l"/>
                <a:tab pos="1828800" algn="l"/>
                <a:tab pos="2743200" algn="l"/>
                <a:tab pos="3657600" algn="l"/>
                <a:tab pos="4572000" algn="l"/>
                <a:tab pos="5486400" algn="l"/>
              </a:tabLst>
            </a:pPr>
            <a:r>
              <a:rPr lang="es-MX" altLang="es-MX" dirty="0">
                <a:solidFill>
                  <a:schemeClr val="bg1"/>
                </a:solidFill>
                <a:cs typeface="DejaVu Sans" charset="0"/>
              </a:rPr>
              <a:t>E</a:t>
            </a:r>
            <a:r>
              <a:rPr lang="es-MX" altLang="es-MX" sz="1800" dirty="0">
                <a:solidFill>
                  <a:schemeClr val="bg1"/>
                </a:solidFill>
                <a:cs typeface="DejaVu Sans" charset="0"/>
              </a:rPr>
              <a:t>n la serie diferenciada, es decir, la serie diferenciada es </a:t>
            </a:r>
            <a:r>
              <a:rPr lang="es-MX" altLang="es-MX" sz="1800" i="1" dirty="0">
                <a:solidFill>
                  <a:schemeClr val="bg1"/>
                </a:solidFill>
                <a:cs typeface="DejaVu Sans" charset="0"/>
              </a:rPr>
              <a:t>I</a:t>
            </a:r>
            <a:r>
              <a:rPr lang="es-MX" altLang="es-MX" sz="1800" dirty="0">
                <a:solidFill>
                  <a:schemeClr val="bg1"/>
                </a:solidFill>
                <a:cs typeface="DejaVu Sans" charset="0"/>
              </a:rPr>
              <a:t>(0) y la serie original es </a:t>
            </a:r>
            <a:r>
              <a:rPr lang="es-MX" altLang="es-MX" sz="1800" i="1" dirty="0">
                <a:solidFill>
                  <a:schemeClr val="bg1"/>
                </a:solidFill>
                <a:cs typeface="DejaVu Sans" charset="0"/>
              </a:rPr>
              <a:t>I</a:t>
            </a:r>
            <a:r>
              <a:rPr lang="es-MX" altLang="es-MX" sz="1800" dirty="0">
                <a:solidFill>
                  <a:schemeClr val="bg1"/>
                </a:solidFill>
                <a:cs typeface="DejaVu Sans" charset="0"/>
              </a:rPr>
              <a:t>(1).</a:t>
            </a:r>
          </a:p>
        </p:txBody>
      </p:sp>
      <p:sp>
        <p:nvSpPr>
          <p:cNvPr id="4" name="CuadroTexto 3">
            <a:extLst>
              <a:ext uri="{FF2B5EF4-FFF2-40B4-BE49-F238E27FC236}">
                <a16:creationId xmlns:a16="http://schemas.microsoft.com/office/drawing/2014/main" id="{8AE54CBB-0823-EE2C-14B6-39640F121E11}"/>
              </a:ext>
            </a:extLst>
          </p:cNvPr>
          <p:cNvSpPr txBox="1"/>
          <p:nvPr/>
        </p:nvSpPr>
        <p:spPr>
          <a:xfrm>
            <a:off x="6577637" y="211319"/>
            <a:ext cx="5039740" cy="1477328"/>
          </a:xfrm>
          <a:prstGeom prst="rect">
            <a:avLst/>
          </a:prstGeom>
          <a:noFill/>
        </p:spPr>
        <p:txBody>
          <a:bodyPr wrap="square">
            <a:spAutoFit/>
          </a:bodyPr>
          <a:lstStyle/>
          <a:p>
            <a:pPr marL="215900" indent="-215900" eaLnBrk="1">
              <a:spcBef>
                <a:spcPts val="13"/>
              </a:spcBef>
              <a:spcAft>
                <a:spcPts val="13"/>
              </a:spcAft>
              <a:tabLst>
                <a:tab pos="914400" algn="l"/>
                <a:tab pos="1828800" algn="l"/>
                <a:tab pos="2743200" algn="l"/>
                <a:tab pos="3657600" algn="l"/>
                <a:tab pos="4572000" algn="l"/>
                <a:tab pos="5486400" algn="l"/>
              </a:tabLst>
            </a:pPr>
            <a:r>
              <a:rPr lang="en-US" altLang="es-MX" dirty="0">
                <a:solidFill>
                  <a:schemeClr val="bg1"/>
                </a:solidFill>
                <a:cs typeface="DejaVu Sans" charset="0"/>
              </a:rPr>
              <a:t>Dado a que </a:t>
            </a:r>
            <a:r>
              <a:rPr lang="en-US" altLang="es-MX" dirty="0" err="1">
                <a:solidFill>
                  <a:schemeClr val="bg1"/>
                </a:solidFill>
                <a:cs typeface="DejaVu Sans" charset="0"/>
              </a:rPr>
              <a:t>los</a:t>
            </a:r>
            <a:r>
              <a:rPr lang="en-US" altLang="es-MX" dirty="0">
                <a:solidFill>
                  <a:schemeClr val="bg1"/>
                </a:solidFill>
                <a:cs typeface="DejaVu Sans" charset="0"/>
              </a:rPr>
              <a:t> </a:t>
            </a:r>
            <a:r>
              <a:rPr lang="en-US" altLang="es-MX" dirty="0" err="1">
                <a:solidFill>
                  <a:schemeClr val="bg1"/>
                </a:solidFill>
                <a:cs typeface="DejaVu Sans" charset="0"/>
              </a:rPr>
              <a:t>datos</a:t>
            </a:r>
            <a:r>
              <a:rPr lang="en-US" altLang="es-MX" dirty="0">
                <a:solidFill>
                  <a:schemeClr val="bg1"/>
                </a:solidFill>
                <a:cs typeface="DejaVu Sans" charset="0"/>
              </a:rPr>
              <a:t> </a:t>
            </a:r>
            <a:r>
              <a:rPr lang="en-US" altLang="es-MX" dirty="0" err="1">
                <a:solidFill>
                  <a:schemeClr val="bg1"/>
                </a:solidFill>
                <a:cs typeface="DejaVu Sans" charset="0"/>
              </a:rPr>
              <a:t>originales</a:t>
            </a:r>
            <a:r>
              <a:rPr lang="en-US" altLang="es-MX" dirty="0">
                <a:solidFill>
                  <a:schemeClr val="bg1"/>
                </a:solidFill>
                <a:cs typeface="DejaVu Sans" charset="0"/>
              </a:rPr>
              <a:t> no </a:t>
            </a:r>
            <a:r>
              <a:rPr lang="en-US" altLang="es-MX" dirty="0" err="1">
                <a:solidFill>
                  <a:schemeClr val="bg1"/>
                </a:solidFill>
                <a:cs typeface="DejaVu Sans" charset="0"/>
              </a:rPr>
              <a:t>fueron</a:t>
            </a:r>
            <a:r>
              <a:rPr lang="en-US" altLang="es-MX" dirty="0">
                <a:solidFill>
                  <a:schemeClr val="bg1"/>
                </a:solidFill>
                <a:cs typeface="DejaVu Sans" charset="0"/>
              </a:rPr>
              <a:t> </a:t>
            </a:r>
            <a:r>
              <a:rPr lang="en-US" altLang="es-MX" dirty="0" err="1">
                <a:solidFill>
                  <a:schemeClr val="bg1"/>
                </a:solidFill>
                <a:cs typeface="DejaVu Sans" charset="0"/>
              </a:rPr>
              <a:t>suficientes</a:t>
            </a:r>
            <a:r>
              <a:rPr lang="en-US" altLang="es-MX" dirty="0">
                <a:solidFill>
                  <a:schemeClr val="bg1"/>
                </a:solidFill>
                <a:cs typeface="DejaVu Sans" charset="0"/>
              </a:rPr>
              <a:t> para  </a:t>
            </a:r>
            <a:r>
              <a:rPr lang="en-US" altLang="es-MX" dirty="0" err="1">
                <a:solidFill>
                  <a:schemeClr val="bg1"/>
                </a:solidFill>
                <a:cs typeface="DejaVu Sans" charset="0"/>
              </a:rPr>
              <a:t>indicar</a:t>
            </a:r>
            <a:r>
              <a:rPr lang="en-US" altLang="es-MX" dirty="0">
                <a:solidFill>
                  <a:schemeClr val="bg1"/>
                </a:solidFill>
                <a:cs typeface="DejaVu Sans" charset="0"/>
              </a:rPr>
              <a:t> la </a:t>
            </a:r>
            <a:r>
              <a:rPr lang="en-US" altLang="es-MX" dirty="0" err="1">
                <a:solidFill>
                  <a:schemeClr val="bg1"/>
                </a:solidFill>
                <a:cs typeface="DejaVu Sans" charset="0"/>
              </a:rPr>
              <a:t>estacionalidad</a:t>
            </a:r>
            <a:r>
              <a:rPr lang="en-US" altLang="es-MX" dirty="0">
                <a:solidFill>
                  <a:schemeClr val="bg1"/>
                </a:solidFill>
                <a:cs typeface="DejaVu Sans" charset="0"/>
              </a:rPr>
              <a:t>, </a:t>
            </a:r>
            <a:r>
              <a:rPr lang="en-US" altLang="es-MX" dirty="0" err="1">
                <a:solidFill>
                  <a:schemeClr val="bg1"/>
                </a:solidFill>
                <a:cs typeface="DejaVu Sans" charset="0"/>
              </a:rPr>
              <a:t>vamos</a:t>
            </a:r>
            <a:r>
              <a:rPr lang="en-US" altLang="es-MX" dirty="0">
                <a:solidFill>
                  <a:schemeClr val="bg1"/>
                </a:solidFill>
                <a:cs typeface="DejaVu Sans" charset="0"/>
              </a:rPr>
              <a:t> </a:t>
            </a:r>
            <a:r>
              <a:rPr lang="en-US" altLang="es-MX" dirty="0" err="1">
                <a:solidFill>
                  <a:schemeClr val="bg1"/>
                </a:solidFill>
                <a:cs typeface="DejaVu Sans" charset="0"/>
              </a:rPr>
              <a:t>sacar</a:t>
            </a:r>
            <a:r>
              <a:rPr lang="en-US" altLang="es-MX" dirty="0">
                <a:solidFill>
                  <a:schemeClr val="bg1"/>
                </a:solidFill>
                <a:cs typeface="DejaVu Sans" charset="0"/>
              </a:rPr>
              <a:t> la </a:t>
            </a:r>
            <a:r>
              <a:rPr lang="en-US" altLang="es-MX" dirty="0" err="1">
                <a:solidFill>
                  <a:schemeClr val="bg1"/>
                </a:solidFill>
                <a:cs typeface="DejaVu Sans" charset="0"/>
              </a:rPr>
              <a:t>primera</a:t>
            </a:r>
            <a:r>
              <a:rPr lang="en-US" altLang="es-MX" dirty="0">
                <a:solidFill>
                  <a:schemeClr val="bg1"/>
                </a:solidFill>
                <a:cs typeface="DejaVu Sans" charset="0"/>
              </a:rPr>
              <a:t> </a:t>
            </a:r>
            <a:r>
              <a:rPr lang="en-US" altLang="es-MX" dirty="0" err="1">
                <a:solidFill>
                  <a:schemeClr val="bg1"/>
                </a:solidFill>
                <a:cs typeface="DejaVu Sans" charset="0"/>
              </a:rPr>
              <a:t>diferencia</a:t>
            </a:r>
            <a:r>
              <a:rPr lang="en-US" altLang="es-MX" dirty="0">
                <a:solidFill>
                  <a:schemeClr val="bg1"/>
                </a:solidFill>
                <a:cs typeface="DejaVu Sans" charset="0"/>
              </a:rPr>
              <a:t> entre sus </a:t>
            </a:r>
            <a:r>
              <a:rPr lang="en-US" altLang="es-MX" dirty="0" err="1">
                <a:solidFill>
                  <a:schemeClr val="bg1"/>
                </a:solidFill>
                <a:cs typeface="DejaVu Sans" charset="0"/>
              </a:rPr>
              <a:t>valores</a:t>
            </a:r>
            <a:r>
              <a:rPr lang="en-US" altLang="es-MX" dirty="0">
                <a:solidFill>
                  <a:schemeClr val="bg1"/>
                </a:solidFill>
                <a:cs typeface="DejaVu Sans" charset="0"/>
              </a:rPr>
              <a:t> </a:t>
            </a:r>
            <a:r>
              <a:rPr lang="en-US" altLang="es-MX" i="1" dirty="0">
                <a:solidFill>
                  <a:schemeClr val="bg1"/>
                </a:solidFill>
                <a:cs typeface="DejaVu Sans" charset="0"/>
              </a:rPr>
              <a:t>(</a:t>
            </a:r>
            <a:r>
              <a:rPr lang="en-US" altLang="es-MX" i="1" dirty="0" err="1">
                <a:solidFill>
                  <a:schemeClr val="bg1"/>
                </a:solidFill>
                <a:cs typeface="DejaVu Sans" charset="0"/>
              </a:rPr>
              <a:t>como</a:t>
            </a:r>
            <a:r>
              <a:rPr lang="en-US" altLang="es-MX" i="1" dirty="0">
                <a:solidFill>
                  <a:schemeClr val="bg1"/>
                </a:solidFill>
                <a:cs typeface="DejaVu Sans" charset="0"/>
              </a:rPr>
              <a:t> lo </a:t>
            </a:r>
            <a:r>
              <a:rPr lang="en-US" altLang="es-MX" i="1" dirty="0" err="1">
                <a:solidFill>
                  <a:schemeClr val="bg1"/>
                </a:solidFill>
                <a:cs typeface="DejaVu Sans" charset="0"/>
              </a:rPr>
              <a:t>habiamos</a:t>
            </a:r>
            <a:r>
              <a:rPr lang="en-US" altLang="es-MX" i="1" dirty="0">
                <a:solidFill>
                  <a:schemeClr val="bg1"/>
                </a:solidFill>
                <a:cs typeface="DejaVu Sans" charset="0"/>
              </a:rPr>
              <a:t> </a:t>
            </a:r>
            <a:r>
              <a:rPr lang="en-US" altLang="es-MX" i="1" dirty="0" err="1">
                <a:solidFill>
                  <a:schemeClr val="bg1"/>
                </a:solidFill>
                <a:cs typeface="DejaVu Sans" charset="0"/>
              </a:rPr>
              <a:t>establecido</a:t>
            </a:r>
            <a:r>
              <a:rPr lang="en-US" altLang="es-MX" i="1" dirty="0">
                <a:solidFill>
                  <a:schemeClr val="bg1"/>
                </a:solidFill>
                <a:cs typeface="DejaVu Sans" charset="0"/>
              </a:rPr>
              <a:t>) </a:t>
            </a:r>
            <a:r>
              <a:rPr lang="en-US" altLang="es-MX" dirty="0">
                <a:solidFill>
                  <a:schemeClr val="bg1"/>
                </a:solidFill>
                <a:cs typeface="DejaVu Sans" charset="0"/>
              </a:rPr>
              <a:t>y </a:t>
            </a:r>
            <a:r>
              <a:rPr lang="en-US" altLang="es-MX" dirty="0" err="1">
                <a:solidFill>
                  <a:schemeClr val="bg1"/>
                </a:solidFill>
                <a:cs typeface="DejaVu Sans" charset="0"/>
              </a:rPr>
              <a:t>volvamos</a:t>
            </a:r>
            <a:r>
              <a:rPr lang="en-US" altLang="es-MX" dirty="0">
                <a:solidFill>
                  <a:schemeClr val="bg1"/>
                </a:solidFill>
                <a:cs typeface="DejaVu Sans" charset="0"/>
              </a:rPr>
              <a:t> a </a:t>
            </a:r>
            <a:r>
              <a:rPr lang="en-US" altLang="es-MX" dirty="0" err="1">
                <a:solidFill>
                  <a:schemeClr val="bg1"/>
                </a:solidFill>
                <a:cs typeface="DejaVu Sans" charset="0"/>
              </a:rPr>
              <a:t>graficar</a:t>
            </a:r>
            <a:r>
              <a:rPr lang="en-US" altLang="es-MX" dirty="0">
                <a:solidFill>
                  <a:schemeClr val="bg1"/>
                </a:solidFill>
                <a:cs typeface="DejaVu Sans" charset="0"/>
              </a:rPr>
              <a:t> las </a:t>
            </a:r>
            <a:r>
              <a:rPr lang="en-US" altLang="es-MX" dirty="0" err="1">
                <a:solidFill>
                  <a:schemeClr val="bg1"/>
                </a:solidFill>
                <a:cs typeface="DejaVu Sans" charset="0"/>
              </a:rPr>
              <a:t>funciones</a:t>
            </a:r>
            <a:r>
              <a:rPr lang="en-US" altLang="es-MX" dirty="0">
                <a:solidFill>
                  <a:schemeClr val="bg1"/>
                </a:solidFill>
                <a:cs typeface="DejaVu Sans" charset="0"/>
              </a:rPr>
              <a:t> de </a:t>
            </a:r>
            <a:r>
              <a:rPr lang="en-US" altLang="es-MX" dirty="0" err="1">
                <a:solidFill>
                  <a:schemeClr val="bg1"/>
                </a:solidFill>
                <a:cs typeface="DejaVu Sans" charset="0"/>
              </a:rPr>
              <a:t>autocorrelacion</a:t>
            </a:r>
            <a:r>
              <a:rPr lang="en-US" altLang="es-MX" dirty="0">
                <a:solidFill>
                  <a:schemeClr val="bg1"/>
                </a:solidFill>
                <a:cs typeface="DejaVu Sans" charset="0"/>
              </a:rPr>
              <a:t>…</a:t>
            </a:r>
            <a:endParaRPr lang="es-MX" altLang="es-MX" sz="1800" i="1" dirty="0">
              <a:solidFill>
                <a:schemeClr val="bg1"/>
              </a:solidFill>
              <a:cs typeface="DejaVu Sans" charset="0"/>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Tema de Office">
  <a:themeElements>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a de Office">
      <a:majorFont>
        <a:latin typeface="Calibri"/>
        <a:ea typeface=""/>
        <a:cs typeface="DejaVu Sans"/>
      </a:majorFont>
      <a:minorFont>
        <a:latin typeface="Calibri"/>
        <a:ea typeface=""/>
        <a:cs typeface="DejaVu Sa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kumimoji="0" lang="en-GB" altLang="es-MX" sz="1800" b="0" i="0" u="none" strike="noStrike" cap="none" normalizeH="0" baseline="0" smtClean="0">
            <a:ln>
              <a:noFill/>
            </a:ln>
            <a:effectLst/>
            <a:latin typeface="Arial" panose="020B0604020202020204" pitchFamily="34" charset="0"/>
            <a:cs typeface="DejaVu Sans"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kumimoji="0" lang="en-GB" altLang="es-MX" sz="1800" b="0" i="0" u="none" strike="noStrike" cap="none" normalizeH="0" baseline="0" smtClean="0">
            <a:ln>
              <a:noFill/>
            </a:ln>
            <a:effectLst/>
            <a:latin typeface="Arial" panose="020B0604020202020204" pitchFamily="34" charset="0"/>
            <a:cs typeface="DejaVu Sans" charset="0"/>
          </a:defRPr>
        </a:defPPr>
      </a:lstStyle>
    </a:lnDef>
  </a:objectDefaults>
  <a:extraClrSchemeLst>
    <a:extraClrScheme>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Tema de Office">
  <a:themeElements>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a de Office">
      <a:majorFont>
        <a:latin typeface="Calibri"/>
        <a:ea typeface=""/>
        <a:cs typeface="DejaVu Sans"/>
      </a:majorFont>
      <a:minorFont>
        <a:latin typeface="Calibri"/>
        <a:ea typeface=""/>
        <a:cs typeface="DejaVu Sa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kumimoji="0" lang="en-GB" altLang="es-MX" sz="1800" b="0" i="0" u="none" strike="noStrike" cap="none" normalizeH="0" baseline="0" smtClean="0">
            <a:ln>
              <a:noFill/>
            </a:ln>
            <a:effectLst/>
            <a:latin typeface="Arial" panose="020B0604020202020204" pitchFamily="34" charset="0"/>
            <a:cs typeface="DejaVu Sans"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kumimoji="0" lang="en-GB" altLang="es-MX" sz="1800" b="0" i="0" u="none" strike="noStrike" cap="none" normalizeH="0" baseline="0" smtClean="0">
            <a:ln>
              <a:noFill/>
            </a:ln>
            <a:effectLst/>
            <a:latin typeface="Arial" panose="020B0604020202020204" pitchFamily="34" charset="0"/>
            <a:cs typeface="DejaVu Sans" charset="0"/>
          </a:defRPr>
        </a:defPPr>
      </a:lstStyle>
    </a:lnDef>
  </a:objectDefaults>
  <a:extraClrSchemeLst>
    <a:extraClrScheme>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4625</TotalTime>
  <Words>2732</Words>
  <Application>Microsoft Office PowerPoint</Application>
  <PresentationFormat>Panorámica</PresentationFormat>
  <Paragraphs>251</Paragraphs>
  <Slides>20</Slides>
  <Notes>18</Notes>
  <HiddenSlides>0</HiddenSlides>
  <MMClips>0</MMClips>
  <ScaleCrop>false</ScaleCrop>
  <HeadingPairs>
    <vt:vector size="8" baseType="variant">
      <vt:variant>
        <vt:lpstr>Fuentes usadas</vt:lpstr>
      </vt:variant>
      <vt:variant>
        <vt:i4>12</vt:i4>
      </vt:variant>
      <vt:variant>
        <vt:lpstr>Tema</vt:lpstr>
      </vt:variant>
      <vt:variant>
        <vt:i4>2</vt:i4>
      </vt:variant>
      <vt:variant>
        <vt:lpstr>Servidores OLE incrustados</vt:lpstr>
      </vt:variant>
      <vt:variant>
        <vt:i4>0</vt:i4>
      </vt:variant>
      <vt:variant>
        <vt:lpstr>Títulos de diapositiva</vt:lpstr>
      </vt:variant>
      <vt:variant>
        <vt:i4>20</vt:i4>
      </vt:variant>
    </vt:vector>
  </HeadingPairs>
  <TitlesOfParts>
    <vt:vector size="34" baseType="lpstr">
      <vt:lpstr>Aptos</vt:lpstr>
      <vt:lpstr>Arial</vt:lpstr>
      <vt:lpstr>Calibri</vt:lpstr>
      <vt:lpstr>Calibri Light</vt:lpstr>
      <vt:lpstr>Cambria Math</vt:lpstr>
      <vt:lpstr>Courier New</vt:lpstr>
      <vt:lpstr>DejaVu Sans</vt:lpstr>
      <vt:lpstr>Times New Roman</vt:lpstr>
      <vt:lpstr>TimesNewRomanPS-BoldItalicMT</vt:lpstr>
      <vt:lpstr>TimesNewRomanPS-ItalicMT</vt:lpstr>
      <vt:lpstr>TimesNewRomanPSMT</vt:lpstr>
      <vt:lpstr>Wingdings</vt:lpstr>
      <vt:lpstr>1_Tema de Office</vt:lpstr>
      <vt:lpstr>2_Tema de Office</vt:lpstr>
      <vt:lpstr>Tema II: Modelos lineales de Series de tiempo</vt:lpstr>
      <vt:lpstr>Preliminares</vt:lpstr>
      <vt:lpstr>Descomposición de una serie de tiempo</vt:lpstr>
      <vt:lpstr>Estacionalidad y Cíclica</vt:lpstr>
      <vt:lpstr>Estructura teórica de los modelos de series de tiempo.</vt:lpstr>
      <vt:lpstr>Diversas Tendencias: </vt:lpstr>
      <vt:lpstr>Modelación de la tendencia</vt:lpstr>
      <vt:lpstr>Modelos ARIMA</vt:lpstr>
      <vt:lpstr>Momentos de un proceso estocástico:</vt:lpstr>
      <vt:lpstr>Estacionariedad</vt:lpstr>
      <vt:lpstr>Función de Autocorrelación (FAC) en procesos estacionarios</vt:lpstr>
      <vt:lpstr>El ruido Blanco:</vt:lpstr>
      <vt:lpstr>Detección de la estacionariedad</vt:lpstr>
      <vt:lpstr>Trabajar la estacionariedad de la serie (Tendencia)</vt:lpstr>
      <vt:lpstr>Trabajar la estacionariedad de la serie (Variación)</vt:lpstr>
      <vt:lpstr>Detección de la estacionariedad por medio de FAC y FACP</vt:lpstr>
      <vt:lpstr>Ejemplo: Tenemos una serie de tiempo sobre el precio de los plásticos a lo largo de los días.</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MENDIETA LOPEZ</dc:creator>
  <cp:lastModifiedBy>DAVID MENDIETA LOPEZ</cp:lastModifiedBy>
  <cp:revision>12</cp:revision>
  <dcterms:created xsi:type="dcterms:W3CDTF">2025-05-20T03:01:11Z</dcterms:created>
  <dcterms:modified xsi:type="dcterms:W3CDTF">2025-05-28T04:18:12Z</dcterms:modified>
</cp:coreProperties>
</file>