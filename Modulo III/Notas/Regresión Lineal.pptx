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Lst>
  <p:notesMasterIdLst>
    <p:notesMasterId r:id="rId40"/>
  </p:notesMasterIdLst>
  <p:sldIdLst>
    <p:sldId id="267" r:id="rId3"/>
    <p:sldId id="265" r:id="rId4"/>
    <p:sldId id="266" r:id="rId5"/>
    <p:sldId id="296" r:id="rId6"/>
    <p:sldId id="268" r:id="rId7"/>
    <p:sldId id="269" r:id="rId8"/>
    <p:sldId id="297" r:id="rId9"/>
    <p:sldId id="270" r:id="rId10"/>
    <p:sldId id="299" r:id="rId11"/>
    <p:sldId id="300" r:id="rId12"/>
    <p:sldId id="274" r:id="rId13"/>
    <p:sldId id="298" r:id="rId14"/>
    <p:sldId id="302" r:id="rId15"/>
    <p:sldId id="281" r:id="rId16"/>
    <p:sldId id="280" r:id="rId17"/>
    <p:sldId id="303" r:id="rId18"/>
    <p:sldId id="276" r:id="rId19"/>
    <p:sldId id="277" r:id="rId20"/>
    <p:sldId id="304" r:id="rId21"/>
    <p:sldId id="278" r:id="rId22"/>
    <p:sldId id="279" r:id="rId23"/>
    <p:sldId id="312" r:id="rId24"/>
    <p:sldId id="313" r:id="rId25"/>
    <p:sldId id="306" r:id="rId26"/>
    <p:sldId id="307" r:id="rId27"/>
    <p:sldId id="282" r:id="rId28"/>
    <p:sldId id="283" r:id="rId29"/>
    <p:sldId id="284" r:id="rId30"/>
    <p:sldId id="285" r:id="rId31"/>
    <p:sldId id="309" r:id="rId32"/>
    <p:sldId id="287" r:id="rId33"/>
    <p:sldId id="286" r:id="rId34"/>
    <p:sldId id="289" r:id="rId35"/>
    <p:sldId id="290" r:id="rId36"/>
    <p:sldId id="292" r:id="rId37"/>
    <p:sldId id="294" r:id="rId38"/>
    <p:sldId id="295" r:id="rId39"/>
  </p:sldIdLst>
  <p:sldSz cx="12192000" cy="6858000"/>
  <p:notesSz cx="6858000" cy="9144000"/>
  <p:embeddedFontLst>
    <p:embeddedFont>
      <p:font typeface="Cambria Math" panose="02040503050406030204" pitchFamily="18" charset="0"/>
      <p:regular r:id="rId41"/>
    </p:embeddedFont>
    <p:embeddedFont>
      <p:font typeface="Century Gothic" panose="020B050202020202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b="0" i="0">
                <a:latin typeface="Cambria Math"/>
                <a:ea typeface="Cambria Math"/>
                <a:cs typeface="Cambria Math"/>
                <a:sym typeface="Cambria Math"/>
              </a:rPr>
              <a:t>𝜌</a:t>
            </a:r>
            <a:r>
              <a:rPr lang="es-MX"/>
              <a:t> no tiene las mismas unidades que X y Y</a:t>
            </a:r>
            <a:endParaRPr/>
          </a:p>
          <a:p>
            <a:pPr marL="0" lvl="0" indent="0" algn="l" rtl="0">
              <a:spcBef>
                <a:spcPts val="0"/>
              </a:spcBef>
              <a:spcAft>
                <a:spcPts val="0"/>
              </a:spcAft>
              <a:buNone/>
            </a:pPr>
            <a:endParaRPr/>
          </a:p>
          <a:p>
            <a:pPr marL="0" lvl="0" indent="0" algn="l" rtl="0">
              <a:spcBef>
                <a:spcPts val="0"/>
              </a:spcBef>
              <a:spcAft>
                <a:spcPts val="0"/>
              </a:spcAft>
              <a:buNone/>
            </a:pPr>
            <a:r>
              <a:rPr lang="es-MX"/>
              <a:t>Dos variables aleatorias son independientes si </a:t>
            </a:r>
            <a:r>
              <a:rPr lang="es-MX" b="0" i="0">
                <a:latin typeface="Cambria Math"/>
                <a:ea typeface="Cambria Math"/>
                <a:cs typeface="Cambria Math"/>
                <a:sym typeface="Cambria Math"/>
              </a:rPr>
              <a:t>𝜌</a:t>
            </a:r>
            <a:r>
              <a:rPr lang="es-MX"/>
              <a:t>=0 y se dice que las variables no están correlacionadas</a:t>
            </a:r>
            <a:endParaRPr/>
          </a:p>
          <a:p>
            <a:pPr marL="0" lvl="0" indent="0" algn="l" rtl="0">
              <a:spcBef>
                <a:spcPts val="0"/>
              </a:spcBef>
              <a:spcAft>
                <a:spcPts val="0"/>
              </a:spcAft>
              <a:buNone/>
            </a:pPr>
            <a:endParaRPr/>
          </a:p>
          <a:p>
            <a:pPr marL="0" lvl="0" indent="0" algn="l" rtl="0">
              <a:spcBef>
                <a:spcPts val="0"/>
              </a:spcBef>
              <a:spcAft>
                <a:spcPts val="0"/>
              </a:spcAft>
              <a:buNone/>
            </a:pPr>
            <a:r>
              <a:rPr lang="es-MX"/>
              <a:t>En la practica </a:t>
            </a:r>
            <a:r>
              <a:rPr lang="es-MX" b="0" i="0">
                <a:latin typeface="Cambria Math"/>
                <a:ea typeface="Cambria Math"/>
                <a:cs typeface="Cambria Math"/>
                <a:sym typeface="Cambria Math"/>
              </a:rPr>
              <a:t>−1&lt;𝜌&lt;1</a:t>
            </a:r>
            <a:endParaRPr/>
          </a:p>
        </p:txBody>
      </p:sp>
      <p:sp>
        <p:nvSpPr>
          <p:cNvPr id="281" name="Google Shape;28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Investigar cuál es más adecuado Pearson o Speraman</a:t>
            </a:r>
            <a:endParaRPr/>
          </a:p>
        </p:txBody>
      </p:sp>
      <p:sp>
        <p:nvSpPr>
          <p:cNvPr id="295" name="Google Shape;29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Primer ejercicio</a:t>
            </a:r>
            <a:endParaRPr/>
          </a:p>
        </p:txBody>
      </p:sp>
      <p:sp>
        <p:nvSpPr>
          <p:cNvPr id="309" name="Google Shape;30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20</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La variable (no aleatoria) X la controla el investigador y sus valores x son fijos (constantes) y la variable Y es una v.a.</a:t>
            </a:r>
            <a:endParaRPr/>
          </a:p>
          <a:p>
            <a:pPr marL="0" lvl="0" indent="0" algn="l" rtl="0">
              <a:spcBef>
                <a:spcPts val="0"/>
              </a:spcBef>
              <a:spcAft>
                <a:spcPts val="0"/>
              </a:spcAft>
              <a:buNone/>
            </a:pPr>
            <a:r>
              <a:rPr lang="es-MX"/>
              <a:t>(es decir, la intersección al eje </a:t>
            </a:r>
            <a:r>
              <a:rPr lang="es-MX" b="0" i="0">
                <a:latin typeface="Cambria Math"/>
                <a:ea typeface="Cambria Math"/>
                <a:cs typeface="Cambria Math"/>
                <a:sym typeface="Cambria Math"/>
              </a:rPr>
              <a:t>𝑌</a:t>
            </a:r>
            <a:r>
              <a:rPr lang="es-MX"/>
              <a:t> y la abscisa)</a:t>
            </a:r>
            <a:endParaRPr/>
          </a:p>
        </p:txBody>
      </p:sp>
      <p:sp>
        <p:nvSpPr>
          <p:cNvPr id="345" name="Google Shape;34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Inferir: Evaluación o aproximación de una cantidad desconocida utilizando información disponible</a:t>
            </a:r>
            <a:endParaRPr/>
          </a:p>
          <a:p>
            <a:pPr marL="0" lvl="0" indent="0" algn="l" rtl="0">
              <a:spcBef>
                <a:spcPts val="0"/>
              </a:spcBef>
              <a:spcAft>
                <a:spcPts val="0"/>
              </a:spcAft>
              <a:buNone/>
            </a:pPr>
            <a:r>
              <a:rPr lang="es-MX"/>
              <a:t>calcular o inferir el valor de un parámetro de interés en una población, basándose en muestras de datos observados. La estimación puede ser puntual, donde se proporciona un único valor como la mejor suposición para el parámetro, o puede ser intervalar</a:t>
            </a:r>
            <a:endParaRPr/>
          </a:p>
          <a:p>
            <a:pPr marL="0" lvl="0" indent="0" algn="l" rtl="0">
              <a:spcBef>
                <a:spcPts val="0"/>
              </a:spcBef>
              <a:spcAft>
                <a:spcPts val="0"/>
              </a:spcAft>
              <a:buNone/>
            </a:pPr>
            <a:endParaRPr/>
          </a:p>
        </p:txBody>
      </p:sp>
      <p:sp>
        <p:nvSpPr>
          <p:cNvPr id="358" name="Google Shape;35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latin typeface="Cambria Math"/>
                <a:ea typeface="Cambria Math"/>
                <a:cs typeface="Cambria Math"/>
                <a:sym typeface="Cambria Math"/>
              </a:rPr>
              <a:t>₴ dos funciones de verosimilitud contienen la misma información sobre el parámetro si son proporcionales</a:t>
            </a:r>
            <a:endParaRPr/>
          </a:p>
          <a:p>
            <a:pPr marL="0" lvl="0" indent="0" algn="l" rtl="0">
              <a:spcBef>
                <a:spcPts val="0"/>
              </a:spcBef>
              <a:spcAft>
                <a:spcPts val="0"/>
              </a:spcAft>
              <a:buNone/>
            </a:pPr>
            <a:r>
              <a:rPr lang="es-MX" b="0" i="0">
                <a:latin typeface="Cambria Math"/>
                <a:ea typeface="Cambria Math"/>
                <a:cs typeface="Cambria Math"/>
                <a:sym typeface="Cambria Math"/>
              </a:rPr>
              <a:t>₰</a:t>
            </a:r>
            <a:r>
              <a:rPr lang="es-MX">
                <a:latin typeface="Cambria Math"/>
                <a:ea typeface="Cambria Math"/>
                <a:cs typeface="Cambria Math"/>
                <a:sym typeface="Cambria Math"/>
              </a:rPr>
              <a:t> ley de verosimilitud</a:t>
            </a:r>
            <a:endParaRPr/>
          </a:p>
          <a:p>
            <a:pPr marL="0" lvl="0" indent="0" algn="l" rtl="0">
              <a:spcBef>
                <a:spcPts val="0"/>
              </a:spcBef>
              <a:spcAft>
                <a:spcPts val="0"/>
              </a:spcAft>
              <a:buNone/>
            </a:pPr>
            <a:endParaRPr>
              <a:latin typeface="Cambria Math"/>
              <a:ea typeface="Cambria Math"/>
              <a:cs typeface="Cambria Math"/>
              <a:sym typeface="Cambria Math"/>
            </a:endParaRPr>
          </a:p>
          <a:p>
            <a:pPr marL="0" lvl="0" indent="0" algn="l" rtl="0">
              <a:spcBef>
                <a:spcPts val="0"/>
              </a:spcBef>
              <a:spcAft>
                <a:spcPts val="0"/>
              </a:spcAft>
              <a:buNone/>
            </a:pPr>
            <a:r>
              <a:rPr lang="es-MX">
                <a:latin typeface="Cambria Math"/>
                <a:ea typeface="Cambria Math"/>
                <a:cs typeface="Cambria Math"/>
                <a:sym typeface="Cambria Math"/>
              </a:rPr>
              <a:t>Es decir, </a:t>
            </a:r>
            <a:r>
              <a:rPr lang="es-MX" b="0" i="0">
                <a:latin typeface="Cambria Math"/>
                <a:ea typeface="Cambria Math"/>
                <a:cs typeface="Cambria Math"/>
                <a:sym typeface="Cambria Math"/>
              </a:rPr>
              <a:t>𝑘</a:t>
            </a:r>
            <a:r>
              <a:rPr lang="es-MX" i="0">
                <a:latin typeface="Cambria Math"/>
                <a:ea typeface="Cambria Math"/>
                <a:cs typeface="Cambria Math"/>
                <a:sym typeface="Cambria Math"/>
              </a:rPr>
              <a:t>𝑃(𝑋|𝜃</a:t>
            </a:r>
            <a:r>
              <a:rPr lang="es-MX" b="0" i="0">
                <a:latin typeface="Cambria Math"/>
                <a:ea typeface="Cambria Math"/>
                <a:cs typeface="Cambria Math"/>
                <a:sym typeface="Cambria Math"/>
              </a:rPr>
              <a:t>_1</a:t>
            </a:r>
            <a:r>
              <a:rPr lang="es-MX" i="0">
                <a:latin typeface="Cambria Math"/>
                <a:ea typeface="Cambria Math"/>
                <a:cs typeface="Cambria Math"/>
                <a:sym typeface="Cambria Math"/>
              </a:rPr>
              <a:t>)</a:t>
            </a:r>
            <a:r>
              <a:rPr lang="es-MX"/>
              <a:t>&gt;</a:t>
            </a:r>
            <a:r>
              <a:rPr lang="es-MX" b="0" i="0">
                <a:latin typeface="Cambria Math"/>
                <a:ea typeface="Cambria Math"/>
                <a:cs typeface="Cambria Math"/>
                <a:sym typeface="Cambria Math"/>
              </a:rPr>
              <a:t>𝑘</a:t>
            </a:r>
            <a:r>
              <a:rPr lang="es-MX" i="0">
                <a:latin typeface="Cambria Math"/>
                <a:ea typeface="Cambria Math"/>
                <a:cs typeface="Cambria Math"/>
                <a:sym typeface="Cambria Math"/>
              </a:rPr>
              <a:t>𝑃(𝑋|𝜃</a:t>
            </a:r>
            <a:r>
              <a:rPr lang="es-MX" b="0" i="0">
                <a:latin typeface="Cambria Math"/>
                <a:ea typeface="Cambria Math"/>
                <a:cs typeface="Cambria Math"/>
                <a:sym typeface="Cambria Math"/>
              </a:rPr>
              <a:t>_2</a:t>
            </a:r>
            <a:r>
              <a:rPr lang="es-MX" i="0">
                <a:latin typeface="Cambria Math"/>
                <a:ea typeface="Cambria Math"/>
                <a:cs typeface="Cambria Math"/>
                <a:sym typeface="Cambria Math"/>
              </a:rPr>
              <a:t>)</a:t>
            </a:r>
            <a:r>
              <a:rPr lang="es-MX"/>
              <a:t>, dando lugar a una regla de decisión entre dos posibles valores del parámetro desconocido, puesto que una probabilidad izquierda es mayor que la de la derecha</a:t>
            </a:r>
            <a:endParaRPr/>
          </a:p>
        </p:txBody>
      </p:sp>
      <p:sp>
        <p:nvSpPr>
          <p:cNvPr id="378" name="Google Shape;378;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31</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Cerca posible: la distancia (euclidiana) global entre los  valores observados y los teóricos proporcionada por la función ajustada sea mínima </a:t>
            </a:r>
            <a:endParaRPr/>
          </a:p>
          <a:p>
            <a:pPr marL="0" lvl="0" indent="0" algn="l" rtl="0">
              <a:spcBef>
                <a:spcPts val="0"/>
              </a:spcBef>
              <a:spcAft>
                <a:spcPts val="0"/>
              </a:spcAft>
              <a:buNone/>
            </a:pPr>
            <a:endParaRPr/>
          </a:p>
          <a:p>
            <a:pPr marL="0" lvl="0" indent="0" algn="l" rtl="0">
              <a:spcBef>
                <a:spcPts val="0"/>
              </a:spcBef>
              <a:spcAft>
                <a:spcPts val="0"/>
              </a:spcAft>
              <a:buNone/>
            </a:pPr>
            <a:r>
              <a:rPr lang="es-MX"/>
              <a:t>Función verosimil </a:t>
            </a:r>
            <a:r>
              <a:rPr lang="es-MX" b="0" i="0">
                <a:latin typeface="Cambria Math"/>
                <a:ea typeface="Cambria Math"/>
                <a:cs typeface="Cambria Math"/>
                <a:sym typeface="Cambria Math"/>
              </a:rPr>
              <a:t>𝜃 </a:t>
            </a:r>
            <a:r>
              <a:rPr lang="es-MX"/>
              <a:t>es v.a. y </a:t>
            </a:r>
            <a:r>
              <a:rPr lang="es-MX" i="0">
                <a:latin typeface="Cambria Math"/>
                <a:ea typeface="Cambria Math"/>
                <a:cs typeface="Cambria Math"/>
                <a:sym typeface="Cambria Math"/>
              </a:rPr>
              <a:t>𝑋</a:t>
            </a:r>
            <a:r>
              <a:rPr lang="es-MX"/>
              <a:t> es constante o fija</a:t>
            </a:r>
            <a:endParaRPr/>
          </a:p>
        </p:txBody>
      </p:sp>
      <p:sp>
        <p:nvSpPr>
          <p:cNvPr id="370" name="Google Shape;37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32</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Adrien Legrende principios del s. XIX</a:t>
            </a:r>
            <a:endParaRPr/>
          </a:p>
        </p:txBody>
      </p:sp>
      <p:sp>
        <p:nvSpPr>
          <p:cNvPr id="392" name="Google Shape;39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33</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30" name="Google Shape;30;p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36" name="Google Shape;36;p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2" name="Google Shape;42;p5"/>
          <p:cNvSpPr txBox="1">
            <a:spLocks noGrp="1"/>
          </p:cNvSpPr>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3" name="Google Shape;43;p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9" name="Google Shape;49;p6"/>
          <p:cNvSpPr txBox="1">
            <a:spLocks noGrp="1"/>
          </p:cNvSpPr>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50" name="Google Shape;50;p6"/>
          <p:cNvSpPr txBox="1">
            <a:spLocks noGrp="1"/>
          </p:cNvSpPr>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51" name="Google Shape;51;p6"/>
          <p:cNvSpPr txBox="1">
            <a:spLocks noGrp="1"/>
          </p:cNvSpPr>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52" name="Google Shape;52;p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1154953"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7" name="Google Shape;67;p9"/>
          <p:cNvSpPr txBox="1">
            <a:spLocks noGrp="1"/>
          </p:cNvSpPr>
          <p:nvPr>
            <p:ph type="body" idx="2"/>
          </p:nvPr>
        </p:nvSpPr>
        <p:spPr>
          <a:xfrm>
            <a:off x="1154953"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8" name="Google Shape;68;p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a:spLocks noGrp="1"/>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4" name="Google Shape;74;p10"/>
          <p:cNvSpPr txBox="1">
            <a:spLocks noGrp="1"/>
          </p:cNvSpPr>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5" name="Google Shape;75;p1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panorámica con descripción">
  <p:cSld name="Imagen panorámica con descripción">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a:spLocks noGrp="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81" name="Google Shape;81;p11"/>
          <p:cNvSpPr txBox="1">
            <a:spLocks noGrp="1"/>
          </p:cNvSpPr>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2" name="Google Shape;82;p1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8" name="Google Shape;88;p1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body" idx="1"/>
          </p:nvPr>
        </p:nvSpPr>
        <p:spPr>
          <a:xfrm>
            <a:off x="1930400" y="3771174"/>
            <a:ext cx="727964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86D1D8"/>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4" name="Google Shape;94;p13"/>
          <p:cNvSpPr txBox="1">
            <a:spLocks noGrp="1"/>
          </p:cNvSpPr>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5" name="Google Shape;95;p1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
        <p:nvSpPr>
          <p:cNvPr id="98" name="Google Shape;98;p13"/>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12200" b="0" i="0">
                <a:solidFill>
                  <a:srgbClr val="86D1D8"/>
                </a:solidFill>
                <a:latin typeface="Arial"/>
                <a:ea typeface="Arial"/>
                <a:cs typeface="Arial"/>
                <a:sym typeface="Arial"/>
              </a:rPr>
              <a:t>“</a:t>
            </a:r>
            <a:endParaRPr/>
          </a:p>
        </p:txBody>
      </p:sp>
      <p:sp>
        <p:nvSpPr>
          <p:cNvPr id="99" name="Google Shape;99;p13"/>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12200" b="0" i="0">
                <a:solidFill>
                  <a:srgbClr val="86D1D8"/>
                </a:solidFill>
                <a:latin typeface="Arial"/>
                <a:ea typeface="Arial"/>
                <a:cs typeface="Arial"/>
                <a:sym typeface="Arial"/>
              </a:rPr>
              <a: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1154954" y="3124201"/>
            <a:ext cx="8825660"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body" idx="1"/>
          </p:nvPr>
        </p:nvSpPr>
        <p:spPr>
          <a:xfrm>
            <a:off x="1154954" y="4777381"/>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03" name="Google Shape;103;p1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lumna 3">
  <p:cSld name="Columna 3">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5"/>
          <p:cNvSpPr txBox="1">
            <a:spLocks noGrp="1"/>
          </p:cNvSpPr>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9" name="Google Shape;109;p15"/>
          <p:cNvSpPr txBox="1">
            <a:spLocks noGrp="1"/>
          </p:cNvSpPr>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0" name="Google Shape;110;p15"/>
          <p:cNvSpPr txBox="1">
            <a:spLocks noGrp="1"/>
          </p:cNvSpPr>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1" name="Google Shape;111;p15"/>
          <p:cNvSpPr txBox="1">
            <a:spLocks noGrp="1"/>
          </p:cNvSpPr>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2" name="Google Shape;112;p15"/>
          <p:cNvSpPr txBox="1">
            <a:spLocks noGrp="1"/>
          </p:cNvSpPr>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3" name="Google Shape;113;p15"/>
          <p:cNvSpPr txBox="1">
            <a:spLocks noGrp="1"/>
          </p:cNvSpPr>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14" name="Google Shape;114;p15"/>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15" name="Google Shape;115;p15"/>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16" name="Google Shape;116;p1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lumna de imagen 3">
  <p:cSld name="Columna de imagen 3">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6"/>
          <p:cNvSpPr txBox="1">
            <a:spLocks noGrp="1"/>
          </p:cNvSpPr>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2" name="Google Shape;122;p16"/>
          <p:cNvSpPr>
            <a:spLocks noGrp="1"/>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3" name="Google Shape;123;p16"/>
          <p:cNvSpPr txBox="1">
            <a:spLocks noGrp="1"/>
          </p:cNvSpPr>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4" name="Google Shape;124;p16"/>
          <p:cNvSpPr txBox="1">
            <a:spLocks noGrp="1"/>
          </p:cNvSpPr>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5" name="Google Shape;125;p16"/>
          <p:cNvSpPr>
            <a:spLocks noGrp="1"/>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6" name="Google Shape;126;p16"/>
          <p:cNvSpPr txBox="1">
            <a:spLocks noGrp="1"/>
          </p:cNvSpPr>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7" name="Google Shape;127;p16"/>
          <p:cNvSpPr txBox="1">
            <a:spLocks noGrp="1"/>
          </p:cNvSpPr>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8" name="Google Shape;128;p16"/>
          <p:cNvSpPr>
            <a:spLocks noGrp="1"/>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9" name="Google Shape;129;p16"/>
          <p:cNvSpPr txBox="1">
            <a:spLocks noGrp="1"/>
          </p:cNvSpPr>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30" name="Google Shape;130;p16"/>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31" name="Google Shape;131;p16"/>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32" name="Google Shape;132;p1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8" name="Google Shape;138;p1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41"/>
        <p:cNvGrpSpPr/>
        <p:nvPr/>
      </p:nvGrpSpPr>
      <p:grpSpPr>
        <a:xfrm>
          <a:off x="0" y="0"/>
          <a:ext cx="0" cy="0"/>
          <a:chOff x="0" y="0"/>
          <a:chExt cx="0" cy="0"/>
        </a:xfrm>
      </p:grpSpPr>
      <p:sp>
        <p:nvSpPr>
          <p:cNvPr id="142" name="Google Shape;142;p18"/>
          <p:cNvSpPr txBox="1">
            <a:spLocks noGrp="1"/>
          </p:cNvSpPr>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4" name="Google Shape;144;p1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20"/>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62" name="Google Shape;162;p2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2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7">
            <a:alphaModFix/>
          </a:blip>
          <a:stretch>
            <a:fillRect/>
          </a:stretch>
        </a:blip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8">
            <a:alphaModFix/>
          </a:blip>
          <a:srcRect l="3613"/>
          <a:stretch/>
        </p:blipFill>
        <p:spPr>
          <a:xfrm>
            <a:off x="0" y="2669685"/>
            <a:ext cx="4037012" cy="4188315"/>
          </a:xfrm>
          <a:prstGeom prst="rect">
            <a:avLst/>
          </a:prstGeom>
          <a:noFill/>
          <a:ln>
            <a:noFill/>
          </a:ln>
        </p:spPr>
      </p:pic>
      <p:pic>
        <p:nvPicPr>
          <p:cNvPr id="11" name="Google Shape;11;p1"/>
          <p:cNvPicPr preferRelativeResize="0"/>
          <p:nvPr/>
        </p:nvPicPr>
        <p:blipFill rotWithShape="1">
          <a:blip r:embed="rId19">
            <a:alphaModFix/>
          </a:blip>
          <a:srcRect l="35640"/>
          <a:stretch/>
        </p:blipFill>
        <p:spPr>
          <a:xfrm>
            <a:off x="0" y="2892347"/>
            <a:ext cx="1522412" cy="2365453"/>
          </a:xfrm>
          <a:prstGeom prst="rect">
            <a:avLst/>
          </a:prstGeom>
          <a:noFill/>
          <a:ln>
            <a:noFill/>
          </a:ln>
        </p:spPr>
      </p:pic>
      <p:sp>
        <p:nvSpPr>
          <p:cNvPr id="12" name="Google Shape;12;p1"/>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p:cNvPicPr preferRelativeResize="0"/>
          <p:nvPr/>
        </p:nvPicPr>
        <p:blipFill rotWithShape="1">
          <a:blip r:embed="rId20">
            <a:alphaModFix/>
          </a:blip>
          <a:srcRect t="28812"/>
          <a:stretch/>
        </p:blipFill>
        <p:spPr>
          <a:xfrm>
            <a:off x="7999412" y="0"/>
            <a:ext cx="1603387" cy="1141407"/>
          </a:xfrm>
          <a:prstGeom prst="rect">
            <a:avLst/>
          </a:prstGeom>
          <a:noFill/>
          <a:ln>
            <a:noFill/>
          </a:ln>
        </p:spPr>
      </p:pic>
      <p:pic>
        <p:nvPicPr>
          <p:cNvPr id="14" name="Google Shape;14;p1"/>
          <p:cNvPicPr preferRelativeResize="0"/>
          <p:nvPr/>
        </p:nvPicPr>
        <p:blipFill rotWithShape="1">
          <a:blip r:embed="rId21">
            <a:alphaModFix/>
          </a:blip>
          <a:srcRect b="23320"/>
          <a:stretch/>
        </p:blipFill>
        <p:spPr>
          <a:xfrm>
            <a:off x="8605878" y="6096000"/>
            <a:ext cx="993734" cy="762000"/>
          </a:xfrm>
          <a:prstGeom prst="rect">
            <a:avLst/>
          </a:prstGeom>
          <a:noFill/>
          <a:ln>
            <a:noFill/>
          </a:ln>
        </p:spPr>
      </p:pic>
      <p:sp>
        <p:nvSpPr>
          <p:cNvPr id="15" name="Google Shape;15;p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7" name="Google Shape;17;p1"/>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rgbClr val="86D1D8"/>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spcBef>
                <a:spcPts val="1000"/>
              </a:spcBef>
              <a:spcAft>
                <a:spcPts val="0"/>
              </a:spcAft>
              <a:buClr>
                <a:srgbClr val="86D1D8"/>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8" name="Google Shape;18;p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9" name="Google Shape;19;p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20" name="Google Shape;20;p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
        <p:cNvGrpSpPr/>
        <p:nvPr/>
      </p:nvGrpSpPr>
      <p:grpSpPr>
        <a:xfrm>
          <a:off x="0" y="0"/>
          <a:ext cx="0" cy="0"/>
          <a:chOff x="0" y="0"/>
          <a:chExt cx="0" cy="0"/>
        </a:xfrm>
      </p:grpSpPr>
      <p:pic>
        <p:nvPicPr>
          <p:cNvPr id="148" name="Google Shape;148;p19"/>
          <p:cNvPicPr preferRelativeResize="0"/>
          <p:nvPr/>
        </p:nvPicPr>
        <p:blipFill rotWithShape="1">
          <a:blip r:embed="rId4">
            <a:alphaModFix/>
          </a:blip>
          <a:srcRect l="3613"/>
          <a:stretch/>
        </p:blipFill>
        <p:spPr>
          <a:xfrm>
            <a:off x="0" y="2669685"/>
            <a:ext cx="4037012" cy="4188315"/>
          </a:xfrm>
          <a:prstGeom prst="rect">
            <a:avLst/>
          </a:prstGeom>
          <a:noFill/>
          <a:ln>
            <a:noFill/>
          </a:ln>
        </p:spPr>
      </p:pic>
      <p:pic>
        <p:nvPicPr>
          <p:cNvPr id="149" name="Google Shape;149;p19"/>
          <p:cNvPicPr preferRelativeResize="0"/>
          <p:nvPr/>
        </p:nvPicPr>
        <p:blipFill rotWithShape="1">
          <a:blip r:embed="rId5">
            <a:alphaModFix/>
          </a:blip>
          <a:srcRect l="35640"/>
          <a:stretch/>
        </p:blipFill>
        <p:spPr>
          <a:xfrm>
            <a:off x="0" y="2892347"/>
            <a:ext cx="1522412" cy="2365453"/>
          </a:xfrm>
          <a:prstGeom prst="rect">
            <a:avLst/>
          </a:prstGeom>
          <a:noFill/>
          <a:ln>
            <a:noFill/>
          </a:ln>
        </p:spPr>
      </p:pic>
      <p:sp>
        <p:nvSpPr>
          <p:cNvPr id="150" name="Google Shape;150;p19"/>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1" name="Google Shape;151;p19"/>
          <p:cNvPicPr preferRelativeResize="0"/>
          <p:nvPr/>
        </p:nvPicPr>
        <p:blipFill rotWithShape="1">
          <a:blip r:embed="rId6">
            <a:alphaModFix/>
          </a:blip>
          <a:srcRect t="28812"/>
          <a:stretch/>
        </p:blipFill>
        <p:spPr>
          <a:xfrm>
            <a:off x="7999412" y="0"/>
            <a:ext cx="1603387" cy="1141407"/>
          </a:xfrm>
          <a:prstGeom prst="rect">
            <a:avLst/>
          </a:prstGeom>
          <a:noFill/>
          <a:ln>
            <a:noFill/>
          </a:ln>
        </p:spPr>
      </p:pic>
      <p:pic>
        <p:nvPicPr>
          <p:cNvPr id="152" name="Google Shape;152;p19"/>
          <p:cNvPicPr preferRelativeResize="0"/>
          <p:nvPr/>
        </p:nvPicPr>
        <p:blipFill rotWithShape="1">
          <a:blip r:embed="rId7">
            <a:alphaModFix/>
          </a:blip>
          <a:srcRect b="23320"/>
          <a:stretch/>
        </p:blipFill>
        <p:spPr>
          <a:xfrm>
            <a:off x="8605878" y="6096000"/>
            <a:ext cx="993734" cy="762000"/>
          </a:xfrm>
          <a:prstGeom prst="rect">
            <a:avLst/>
          </a:prstGeom>
          <a:noFill/>
          <a:ln>
            <a:noFill/>
          </a:ln>
        </p:spPr>
      </p:pic>
      <p:sp>
        <p:nvSpPr>
          <p:cNvPr id="153" name="Google Shape;153;p19"/>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2"/>
              </a:buClr>
              <a:buSzPts val="4200"/>
              <a:buFont typeface="Century Gothic"/>
              <a:buNone/>
              <a:defRPr sz="42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55" name="Google Shape;155;p19"/>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rgbClr val="F7F7F7"/>
              </a:buClr>
              <a:buSzPts val="1600"/>
              <a:buFont typeface="Noto Sans Symbols"/>
              <a:buChar char="►"/>
              <a:defRPr sz="2000" b="0" i="0" u="none" strike="noStrike" cap="none">
                <a:solidFill>
                  <a:schemeClr val="dk1"/>
                </a:solidFill>
                <a:latin typeface="Century Gothic"/>
                <a:ea typeface="Century Gothic"/>
                <a:cs typeface="Century Gothic"/>
                <a:sym typeface="Century Gothic"/>
              </a:defRPr>
            </a:lvl1pPr>
            <a:lvl2pPr marL="914400" marR="0" lvl="1" indent="-320040" algn="l" rtl="0">
              <a:spcBef>
                <a:spcPts val="1000"/>
              </a:spcBef>
              <a:spcAft>
                <a:spcPts val="0"/>
              </a:spcAft>
              <a:buClr>
                <a:srgbClr val="F7F7F7"/>
              </a:buClr>
              <a:buSzPts val="1440"/>
              <a:buFont typeface="Noto Sans Symbols"/>
              <a:buChar char="►"/>
              <a:defRPr sz="1800" b="0" i="0" u="none" strike="noStrike" cap="none">
                <a:solidFill>
                  <a:schemeClr val="dk1"/>
                </a:solidFill>
                <a:latin typeface="Century Gothic"/>
                <a:ea typeface="Century Gothic"/>
                <a:cs typeface="Century Gothic"/>
                <a:sym typeface="Century Gothic"/>
              </a:defRPr>
            </a:lvl2pPr>
            <a:lvl3pPr marL="1371600" marR="0" lvl="2" indent="-309880" algn="l" rtl="0">
              <a:spcBef>
                <a:spcPts val="1000"/>
              </a:spcBef>
              <a:spcAft>
                <a:spcPts val="0"/>
              </a:spcAft>
              <a:buClr>
                <a:srgbClr val="F7F7F7"/>
              </a:buClr>
              <a:buSzPts val="1280"/>
              <a:buFont typeface="Noto Sans Symbols"/>
              <a:buChar char="►"/>
              <a:defRPr sz="1600" b="0" i="0" u="none" strike="noStrike" cap="none">
                <a:solidFill>
                  <a:schemeClr val="dk1"/>
                </a:solidFill>
                <a:latin typeface="Century Gothic"/>
                <a:ea typeface="Century Gothic"/>
                <a:cs typeface="Century Gothic"/>
                <a:sym typeface="Century Gothic"/>
              </a:defRPr>
            </a:lvl3pPr>
            <a:lvl4pPr marL="1828800" marR="0" lvl="3" indent="-299719"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4pPr>
            <a:lvl5pPr marL="2286000" marR="0" lvl="4" indent="-299720"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5pPr>
            <a:lvl6pPr marL="2743200" marR="0" lvl="5" indent="-299720"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6pPr>
            <a:lvl7pPr marL="3200400" marR="0" lvl="6" indent="-299720"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7pPr>
            <a:lvl8pPr marL="3657600" marR="0" lvl="7" indent="-299720"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8pPr>
            <a:lvl9pPr marL="4114800" marR="0" lvl="8" indent="-299720" algn="l" rtl="0">
              <a:spcBef>
                <a:spcPts val="1000"/>
              </a:spcBef>
              <a:spcAft>
                <a:spcPts val="0"/>
              </a:spcAft>
              <a:buClr>
                <a:srgbClr val="F7F7F7"/>
              </a:buClr>
              <a:buSzPts val="1120"/>
              <a:buFont typeface="Noto Sans Symbols"/>
              <a:buChar char="►"/>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56" name="Google Shape;156;p1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57" name="Google Shape;157;p1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58" name="Google Shape;158;p1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rgbClr val="888888"/>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rgbClr val="888888"/>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rgbClr val="888888"/>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rgbClr val="888888"/>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rgbClr val="888888"/>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rgbClr val="888888"/>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rgbClr val="888888"/>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rgbClr val="888888"/>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36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0.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3.jpe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7" name="Google Shape;247;p33"/>
          <p:cNvSpPr txBox="1">
            <a:spLocks noGrp="1"/>
          </p:cNvSpPr>
          <p:nvPr>
            <p:ph type="title"/>
          </p:nvPr>
        </p:nvSpPr>
        <p:spPr>
          <a:xfrm>
            <a:off x="1393638" y="2592564"/>
            <a:ext cx="9404723" cy="83643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4200"/>
              <a:buFont typeface="Century Gothic"/>
              <a:buNone/>
            </a:pPr>
            <a:r>
              <a:rPr lang="es-MX" b="1" dirty="0">
                <a:solidFill>
                  <a:schemeClr val="tx1"/>
                </a:solidFill>
              </a:rPr>
              <a:t>Tema 1: Análisis de regresión</a:t>
            </a:r>
            <a:endParaRPr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title"/>
          </p:nvPr>
        </p:nvSpPr>
        <p:spPr>
          <a:xfrm>
            <a:off x="398138" y="393992"/>
            <a:ext cx="10427610" cy="1400530"/>
          </a:xfrm>
        </p:spPr>
        <p:txBody>
          <a:bodyPr spcFirstLastPara="1" wrap="square" lIns="91425" tIns="45700" rIns="91425" bIns="45700" anchor="ctr" anchorCtr="0">
            <a:normAutofit/>
          </a:bodyPr>
          <a:lstStyle/>
          <a:p>
            <a:pPr marL="0" lvl="0" indent="0" rtl="0">
              <a:spcBef>
                <a:spcPts val="0"/>
              </a:spcBef>
              <a:spcAft>
                <a:spcPts val="0"/>
              </a:spcAft>
              <a:buClr>
                <a:schemeClr val="lt2"/>
              </a:buClr>
              <a:buSzPts val="4200"/>
              <a:buFont typeface="Century Gothic"/>
              <a:buNone/>
            </a:pPr>
            <a:r>
              <a:rPr lang="en-US" dirty="0"/>
              <a:t>Temas vistos </a:t>
            </a:r>
            <a:r>
              <a:rPr lang="en-US" dirty="0" err="1"/>
              <a:t>en</a:t>
            </a:r>
            <a:r>
              <a:rPr lang="en-US" dirty="0"/>
              <a:t> </a:t>
            </a:r>
            <a:r>
              <a:rPr lang="en-US" dirty="0" err="1"/>
              <a:t>el</a:t>
            </a:r>
            <a:r>
              <a:rPr lang="en-US" dirty="0"/>
              <a:t> modulo anterior….</a:t>
            </a:r>
            <a:endParaRPr lang="es-MX" dirty="0"/>
          </a:p>
        </p:txBody>
      </p:sp>
      <p:pic>
        <p:nvPicPr>
          <p:cNvPr id="1026" name="Picture 2" descr="Probabilidad y Estadística - Mind Map">
            <a:extLst>
              <a:ext uri="{FF2B5EF4-FFF2-40B4-BE49-F238E27FC236}">
                <a16:creationId xmlns:a16="http://schemas.microsoft.com/office/drawing/2014/main" id="{0E4DC3F1-3D60-75EB-8ED2-A34B4E05D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332" r="14954" b="2"/>
          <a:stretch/>
        </p:blipFill>
        <p:spPr bwMode="auto">
          <a:xfrm>
            <a:off x="398138" y="2052738"/>
            <a:ext cx="5915749" cy="4352544"/>
          </a:xfrm>
          <a:prstGeom prst="rect">
            <a:avLst/>
          </a:prstGeom>
          <a:solidFill>
            <a:srgbClr val="FFFFFF"/>
          </a:solidFill>
          <a:ln>
            <a:noFill/>
          </a:ln>
        </p:spPr>
      </p:pic>
      <p:sp>
        <p:nvSpPr>
          <p:cNvPr id="230" name="Google Shape;230;p30"/>
          <p:cNvSpPr txBox="1">
            <a:spLocks noGrp="1"/>
          </p:cNvSpPr>
          <p:nvPr>
            <p:ph type="body" idx="4294967295"/>
          </p:nvPr>
        </p:nvSpPr>
        <p:spPr>
          <a:xfrm>
            <a:off x="6561860" y="2052738"/>
            <a:ext cx="4511861" cy="4352544"/>
          </a:xfrm>
        </p:spPr>
        <p:txBody>
          <a:bodyPr spcFirstLastPara="1" lIns="91425" tIns="45700" rIns="91425" bIns="45700" anchor="t" anchorCtr="0">
            <a:normAutofit/>
          </a:bodyPr>
          <a:lstStyle/>
          <a:p>
            <a:pPr marL="342900" lvl="0" indent="-342900">
              <a:spcBef>
                <a:spcPts val="0"/>
              </a:spcBef>
              <a:spcAft>
                <a:spcPts val="600"/>
              </a:spcAft>
              <a:buClr>
                <a:srgbClr val="000000"/>
              </a:buClr>
              <a:buSzPts val="1600"/>
              <a:buFont typeface="Arial"/>
              <a:buChar char="►"/>
            </a:pPr>
            <a:r>
              <a:rPr lang="en-US" b="0" i="0" u="none" strike="noStrike" cap="none" dirty="0" err="1">
                <a:solidFill>
                  <a:schemeClr val="lt2"/>
                </a:solidFill>
              </a:rPr>
              <a:t>Recopilación</a:t>
            </a:r>
            <a:r>
              <a:rPr lang="en-US" b="0" i="0" u="none" strike="noStrike" cap="none" dirty="0">
                <a:solidFill>
                  <a:schemeClr val="lt2"/>
                </a:solidFill>
              </a:rPr>
              <a:t> de </a:t>
            </a:r>
            <a:r>
              <a:rPr lang="en-US" b="0" i="0" u="none" strike="noStrike" cap="none" dirty="0" err="1">
                <a:solidFill>
                  <a:schemeClr val="lt2"/>
                </a:solidFill>
              </a:rPr>
              <a:t>todos</a:t>
            </a:r>
            <a:r>
              <a:rPr lang="en-US" b="0" i="0" u="none" strike="noStrike" cap="none" dirty="0">
                <a:solidFill>
                  <a:schemeClr val="lt2"/>
                </a:solidFill>
              </a:rPr>
              <a:t> </a:t>
            </a:r>
            <a:r>
              <a:rPr lang="en-US" b="0" i="0" u="none" strike="noStrike" cap="none" dirty="0" err="1">
                <a:solidFill>
                  <a:schemeClr val="lt2"/>
                </a:solidFill>
              </a:rPr>
              <a:t>los</a:t>
            </a:r>
            <a:r>
              <a:rPr lang="en-US" b="0" i="0" u="none" strike="noStrike" cap="none" dirty="0">
                <a:solidFill>
                  <a:schemeClr val="lt2"/>
                </a:solidFill>
              </a:rPr>
              <a:t> </a:t>
            </a:r>
            <a:r>
              <a:rPr lang="en-US" b="0" i="0" u="none" strike="noStrike" cap="none" dirty="0" err="1">
                <a:solidFill>
                  <a:schemeClr val="lt2"/>
                </a:solidFill>
              </a:rPr>
              <a:t>archivos</a:t>
            </a:r>
            <a:r>
              <a:rPr lang="en-US" b="0" i="0" u="none" strike="noStrike" cap="none" dirty="0">
                <a:solidFill>
                  <a:schemeClr val="lt2"/>
                </a:solidFill>
              </a:rPr>
              <a:t>:</a:t>
            </a:r>
          </a:p>
          <a:p>
            <a:pPr marL="342900" lvl="0" indent="-342900">
              <a:spcBef>
                <a:spcPts val="0"/>
              </a:spcBef>
              <a:spcAft>
                <a:spcPts val="600"/>
              </a:spcAft>
              <a:buClr>
                <a:srgbClr val="000000"/>
              </a:buClr>
              <a:buSzPts val="1600"/>
              <a:buFont typeface="Arial"/>
              <a:buChar char="►"/>
            </a:pPr>
            <a:r>
              <a:rPr lang="en-US" b="0" i="0" u="none" strike="noStrike" cap="none" dirty="0" err="1">
                <a:solidFill>
                  <a:schemeClr val="lt2"/>
                </a:solidFill>
              </a:rPr>
              <a:t>Concepto</a:t>
            </a:r>
            <a:r>
              <a:rPr lang="en-US" b="0" i="0" u="none" strike="noStrike" cap="none" dirty="0">
                <a:solidFill>
                  <a:schemeClr val="lt2"/>
                </a:solidFill>
              </a:rPr>
              <a:t> de </a:t>
            </a:r>
            <a:r>
              <a:rPr lang="en-US" b="0" i="0" u="none" strike="noStrike" cap="none" dirty="0" err="1">
                <a:solidFill>
                  <a:schemeClr val="lt2"/>
                </a:solidFill>
              </a:rPr>
              <a:t>Probabilidad</a:t>
            </a:r>
            <a:r>
              <a:rPr lang="en-US" b="0" i="0" u="none" strike="noStrike" cap="none" dirty="0">
                <a:solidFill>
                  <a:schemeClr val="lt2"/>
                </a:solidFill>
              </a:rPr>
              <a:t> y </a:t>
            </a:r>
            <a:r>
              <a:rPr lang="en-US" b="0" i="0" u="none" strike="noStrike" cap="none" dirty="0" err="1">
                <a:solidFill>
                  <a:schemeClr val="lt2"/>
                </a:solidFill>
              </a:rPr>
              <a:t>Estadística</a:t>
            </a:r>
            <a:r>
              <a:rPr lang="en-US" b="0" i="0" u="none" strike="noStrike" cap="none" dirty="0">
                <a:solidFill>
                  <a:schemeClr val="lt2"/>
                </a:solidFill>
              </a:rPr>
              <a:t>.</a:t>
            </a:r>
          </a:p>
          <a:p>
            <a:pPr marL="342900" lvl="0" indent="-342900">
              <a:spcBef>
                <a:spcPts val="0"/>
              </a:spcBef>
              <a:spcAft>
                <a:spcPts val="600"/>
              </a:spcAft>
              <a:buClr>
                <a:srgbClr val="000000"/>
              </a:buClr>
              <a:buSzPts val="1600"/>
              <a:buFont typeface="Arial"/>
              <a:buChar char="►"/>
            </a:pPr>
            <a:r>
              <a:rPr lang="en-US" b="0" i="0" u="none" strike="noStrike" cap="none" dirty="0" err="1">
                <a:solidFill>
                  <a:schemeClr val="lt2"/>
                </a:solidFill>
              </a:rPr>
              <a:t>Estimadores</a:t>
            </a:r>
            <a:r>
              <a:rPr lang="en-US" b="0" i="0" u="none" strike="noStrike" cap="none" dirty="0">
                <a:solidFill>
                  <a:schemeClr val="lt2"/>
                </a:solidFill>
              </a:rPr>
              <a:t> </a:t>
            </a:r>
            <a:r>
              <a:rPr lang="en-US" b="0" i="0" u="none" strike="noStrike" cap="none" dirty="0" err="1">
                <a:solidFill>
                  <a:schemeClr val="lt2"/>
                </a:solidFill>
              </a:rPr>
              <a:t>Puntuales</a:t>
            </a:r>
            <a:r>
              <a:rPr lang="en-US" b="0" i="0" u="none" strike="noStrike" cap="none" dirty="0">
                <a:solidFill>
                  <a:schemeClr val="lt2"/>
                </a:solidFill>
              </a:rPr>
              <a:t>.</a:t>
            </a:r>
          </a:p>
          <a:p>
            <a:pPr marL="342900" indent="-342900">
              <a:spcBef>
                <a:spcPts val="0"/>
              </a:spcBef>
              <a:spcAft>
                <a:spcPts val="600"/>
              </a:spcAft>
              <a:buClr>
                <a:srgbClr val="000000"/>
              </a:buClr>
              <a:buSzPts val="1600"/>
              <a:buFont typeface="Arial"/>
            </a:pPr>
            <a:r>
              <a:rPr lang="en-US" b="0" i="0" u="none" strike="noStrike" cap="none" dirty="0" err="1">
                <a:solidFill>
                  <a:schemeClr val="lt2"/>
                </a:solidFill>
              </a:rPr>
              <a:t>Propiedades</a:t>
            </a:r>
            <a:r>
              <a:rPr lang="en-US" b="0" i="0" u="none" strike="noStrike" cap="none" dirty="0">
                <a:solidFill>
                  <a:schemeClr val="lt2"/>
                </a:solidFill>
              </a:rPr>
              <a:t> de </a:t>
            </a:r>
            <a:r>
              <a:rPr lang="en-US" b="0" i="0" u="none" strike="noStrike" cap="none" dirty="0" err="1">
                <a:solidFill>
                  <a:schemeClr val="lt2"/>
                </a:solidFill>
              </a:rPr>
              <a:t>estimadores</a:t>
            </a:r>
            <a:r>
              <a:rPr lang="en-US" b="0" i="0" u="none" strike="noStrike" cap="none" dirty="0">
                <a:solidFill>
                  <a:schemeClr val="lt2"/>
                </a:solidFill>
              </a:rPr>
              <a:t>: </a:t>
            </a:r>
            <a:r>
              <a:rPr lang="en-US" b="0" i="0" u="none" strike="noStrike" cap="none" dirty="0" err="1">
                <a:solidFill>
                  <a:schemeClr val="lt2"/>
                </a:solidFill>
              </a:rPr>
              <a:t>insesgado</a:t>
            </a:r>
            <a:r>
              <a:rPr lang="en-US" b="0" i="0" u="none" strike="noStrike" cap="none" dirty="0">
                <a:solidFill>
                  <a:schemeClr val="lt2"/>
                </a:solidFill>
              </a:rPr>
              <a:t>, </a:t>
            </a:r>
            <a:r>
              <a:rPr lang="en-US" b="0" i="0" u="none" strike="noStrike" cap="none" dirty="0" err="1">
                <a:solidFill>
                  <a:schemeClr val="lt2"/>
                </a:solidFill>
              </a:rPr>
              <a:t>completos</a:t>
            </a:r>
            <a:r>
              <a:rPr lang="en-US" b="0" i="0" u="none" strike="noStrike" cap="none" dirty="0">
                <a:solidFill>
                  <a:schemeClr val="lt2"/>
                </a:solidFill>
              </a:rPr>
              <a:t>, </a:t>
            </a:r>
            <a:r>
              <a:rPr lang="en-US" b="0" i="0" u="none" strike="noStrike" cap="none" dirty="0" err="1">
                <a:solidFill>
                  <a:schemeClr val="lt2"/>
                </a:solidFill>
              </a:rPr>
              <a:t>suficientes</a:t>
            </a:r>
            <a:r>
              <a:rPr lang="en-US" b="0" i="0" u="none" strike="noStrike" cap="none" dirty="0">
                <a:solidFill>
                  <a:schemeClr val="lt2"/>
                </a:solidFill>
              </a:rPr>
              <a:t>, </a:t>
            </a:r>
            <a:r>
              <a:rPr lang="en-US" b="0" i="0" u="none" strike="noStrike" cap="none" dirty="0" err="1">
                <a:solidFill>
                  <a:schemeClr val="lt2"/>
                </a:solidFill>
              </a:rPr>
              <a:t>robustos</a:t>
            </a:r>
            <a:r>
              <a:rPr lang="en-US" b="0" i="0" u="none" strike="noStrike" cap="none" dirty="0">
                <a:solidFill>
                  <a:schemeClr val="lt2"/>
                </a:solidFill>
              </a:rPr>
              <a:t>,..  </a:t>
            </a:r>
          </a:p>
          <a:p>
            <a:pPr marL="342900" lvl="0" indent="-342900">
              <a:spcBef>
                <a:spcPts val="0"/>
              </a:spcBef>
              <a:spcAft>
                <a:spcPts val="600"/>
              </a:spcAft>
              <a:buClr>
                <a:srgbClr val="000000"/>
              </a:buClr>
              <a:buSzPts val="1600"/>
              <a:buFont typeface="Arial"/>
              <a:buChar char="►"/>
            </a:pPr>
            <a:r>
              <a:rPr lang="en-US" b="0" i="0" u="none" strike="noStrike" cap="none" dirty="0">
                <a:solidFill>
                  <a:schemeClr val="lt2"/>
                </a:solidFill>
              </a:rPr>
              <a:t>Generación de </a:t>
            </a:r>
            <a:r>
              <a:rPr lang="en-US" b="0" i="0" u="none" strike="noStrike" cap="none" dirty="0" err="1">
                <a:solidFill>
                  <a:schemeClr val="lt2"/>
                </a:solidFill>
              </a:rPr>
              <a:t>números</a:t>
            </a:r>
            <a:r>
              <a:rPr lang="en-US" b="0" i="0" u="none" strike="noStrike" cap="none" dirty="0">
                <a:solidFill>
                  <a:schemeClr val="lt2"/>
                </a:solidFill>
              </a:rPr>
              <a:t> </a:t>
            </a:r>
            <a:r>
              <a:rPr lang="en-US" b="0" i="0" u="none" strike="noStrike" cap="none" dirty="0" err="1">
                <a:solidFill>
                  <a:schemeClr val="lt2"/>
                </a:solidFill>
              </a:rPr>
              <a:t>Pseudoaleatorios</a:t>
            </a:r>
            <a:r>
              <a:rPr lang="en-US" b="0" i="0" u="none" strike="noStrike" cap="none" dirty="0">
                <a:solidFill>
                  <a:schemeClr val="lt2"/>
                </a:solidFill>
              </a:rPr>
              <a:t>.</a:t>
            </a:r>
          </a:p>
          <a:p>
            <a:pPr marL="342900" lvl="0" indent="-342900">
              <a:spcBef>
                <a:spcPts val="0"/>
              </a:spcBef>
              <a:spcAft>
                <a:spcPts val="600"/>
              </a:spcAft>
              <a:buClr>
                <a:srgbClr val="000000"/>
              </a:buClr>
              <a:buSzPts val="1600"/>
              <a:buFont typeface="Arial"/>
              <a:buChar char="►"/>
            </a:pPr>
            <a:r>
              <a:rPr lang="en-US" b="0" i="0" u="none" strike="noStrike" cap="none" dirty="0" err="1">
                <a:solidFill>
                  <a:schemeClr val="lt2"/>
                </a:solidFill>
              </a:rPr>
              <a:t>Intervalos</a:t>
            </a:r>
            <a:r>
              <a:rPr lang="en-US" b="0" i="0" u="none" strike="noStrike" cap="none" dirty="0">
                <a:solidFill>
                  <a:schemeClr val="lt2"/>
                </a:solidFill>
              </a:rPr>
              <a:t> de </a:t>
            </a:r>
            <a:r>
              <a:rPr lang="en-US" b="0" i="0" u="none" strike="noStrike" cap="none" dirty="0" err="1">
                <a:solidFill>
                  <a:schemeClr val="lt2"/>
                </a:solidFill>
              </a:rPr>
              <a:t>confianza</a:t>
            </a:r>
            <a:r>
              <a:rPr lang="en-US" b="0" i="0" u="none" strike="noStrike" cap="none" dirty="0">
                <a:solidFill>
                  <a:schemeClr val="lt2"/>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7" name="CuadroTexto 6">
            <a:extLst>
              <a:ext uri="{FF2B5EF4-FFF2-40B4-BE49-F238E27FC236}">
                <a16:creationId xmlns:a16="http://schemas.microsoft.com/office/drawing/2014/main" id="{B71DF2B6-251D-927A-6C0E-852B422D02F0}"/>
              </a:ext>
            </a:extLst>
          </p:cNvPr>
          <p:cNvSpPr txBox="1"/>
          <p:nvPr/>
        </p:nvSpPr>
        <p:spPr>
          <a:xfrm>
            <a:off x="719526" y="420111"/>
            <a:ext cx="9623687" cy="5765681"/>
          </a:xfrm>
          <a:prstGeom prst="rect">
            <a:avLst/>
          </a:prstGeom>
          <a:noFill/>
        </p:spPr>
        <p:txBody>
          <a:bodyPr wrap="square">
            <a:spAutoFit/>
          </a:bodyPr>
          <a:lstStyle/>
          <a:p>
            <a:pPr rtl="0">
              <a:buNone/>
            </a:pPr>
            <a:r>
              <a:rPr lang="es-MX" sz="1400" b="1" i="0" u="sng" dirty="0">
                <a:solidFill>
                  <a:srgbClr val="FFFFFF"/>
                </a:solidFill>
                <a:effectLst/>
                <a:latin typeface="Century Gothic" panose="020B0502020202020204" pitchFamily="34" charset="0"/>
              </a:rPr>
              <a:t>Conceptos Antecedentes: </a:t>
            </a:r>
            <a:endParaRPr lang="es-MX" sz="1400" dirty="0"/>
          </a:p>
          <a:p>
            <a:pPr rtl="0">
              <a:buNone/>
            </a:pPr>
            <a:endParaRPr lang="es-MX" dirty="0">
              <a:solidFill>
                <a:srgbClr val="FFFFFF"/>
              </a:solidFill>
              <a:latin typeface="Century Gothic" panose="020B0502020202020204" pitchFamily="34" charset="0"/>
            </a:endParaRPr>
          </a:p>
          <a:p>
            <a:pPr marL="342900" indent="-342900" rtl="0">
              <a:buFont typeface="Wingdings" panose="05000000000000000000" pitchFamily="2" charset="2"/>
              <a:buChar char="Ø"/>
            </a:pPr>
            <a:r>
              <a:rPr lang="es-MX" b="0" i="0" u="none" strike="noStrike" dirty="0">
                <a:solidFill>
                  <a:srgbClr val="FFFFFF"/>
                </a:solidFill>
                <a:effectLst/>
                <a:latin typeface="Century Gothic" panose="020B0502020202020204" pitchFamily="34" charset="0"/>
              </a:rPr>
              <a:t>Población: conjunto de elementos (personas, objetos, catástrofes,</a:t>
            </a:r>
            <a:r>
              <a:rPr lang="es-MX" sz="1100" dirty="0">
                <a:solidFill>
                  <a:srgbClr val="86D1D8"/>
                </a:solidFill>
                <a:latin typeface="Noto Sans Symbols"/>
              </a:rPr>
              <a:t> </a:t>
            </a:r>
            <a:r>
              <a:rPr lang="es-MX" sz="1400" b="0" i="0" u="none" strike="noStrike" dirty="0">
                <a:solidFill>
                  <a:srgbClr val="FFFFFF"/>
                </a:solidFill>
                <a:effectLst/>
                <a:latin typeface="Century Gothic" panose="020B0502020202020204" pitchFamily="34" charset="0"/>
              </a:rPr>
              <a:t>etc.) con características de interés</a:t>
            </a:r>
            <a:endParaRPr lang="es-MX" sz="1100" b="0" i="0" u="none" strike="noStrike" dirty="0">
              <a:solidFill>
                <a:srgbClr val="86D1D8"/>
              </a:solidFill>
              <a:effectLst/>
              <a:latin typeface="Noto Sans Symbols"/>
            </a:endParaRPr>
          </a:p>
          <a:p>
            <a:pPr marL="342900" indent="-342900" rtl="0" fontAlgn="base">
              <a:spcBef>
                <a:spcPts val="1000"/>
              </a:spcBef>
              <a:buFont typeface="Wingdings" panose="05000000000000000000" pitchFamily="2" charset="2"/>
              <a:buChar char="Ø"/>
            </a:pPr>
            <a:r>
              <a:rPr lang="es-MX" dirty="0">
                <a:solidFill>
                  <a:srgbClr val="FFFFFF"/>
                </a:solidFill>
                <a:latin typeface="Century Gothic" panose="020B0502020202020204" pitchFamily="34" charset="0"/>
              </a:rPr>
              <a:t>M</a:t>
            </a:r>
            <a:r>
              <a:rPr lang="es-MX" sz="1400" b="0" i="0" u="none" strike="noStrike" dirty="0">
                <a:solidFill>
                  <a:srgbClr val="FFFFFF"/>
                </a:solidFill>
                <a:effectLst/>
                <a:latin typeface="Century Gothic" panose="020B0502020202020204" pitchFamily="34" charset="0"/>
              </a:rPr>
              <a:t>uestra: un subconjunto de la población</a:t>
            </a:r>
            <a:r>
              <a:rPr lang="es-MX" dirty="0">
                <a:solidFill>
                  <a:srgbClr val="FFFFFF"/>
                </a:solidFill>
                <a:latin typeface="Century Gothic" panose="020B0502020202020204" pitchFamily="34" charset="0"/>
              </a:rPr>
              <a:t> para realizar análisis y conclusiones sobre la población.</a:t>
            </a:r>
            <a:endParaRPr lang="es-MX" sz="1100" dirty="0">
              <a:solidFill>
                <a:srgbClr val="86D1D8"/>
              </a:solidFill>
              <a:latin typeface="Noto Sans Symbols"/>
            </a:endParaRPr>
          </a:p>
          <a:p>
            <a:pPr marL="285750" indent="-285750" rtl="0" fontAlgn="base">
              <a:spcBef>
                <a:spcPts val="1000"/>
              </a:spcBef>
              <a:buFont typeface="Wingdings" panose="05000000000000000000" pitchFamily="2" charset="2"/>
              <a:buChar char="Ø"/>
            </a:pPr>
            <a:r>
              <a:rPr lang="es-MX" b="0" i="0" u="none" strike="noStrike" dirty="0">
                <a:solidFill>
                  <a:srgbClr val="FFFFFF"/>
                </a:solidFill>
                <a:effectLst/>
                <a:latin typeface="Century Gothic" panose="020B0502020202020204" pitchFamily="34" charset="0"/>
              </a:rPr>
              <a:t>Características de la muestra </a:t>
            </a:r>
            <a:r>
              <a:rPr lang="es-MX" b="1" i="0" u="none" strike="noStrike" dirty="0">
                <a:solidFill>
                  <a:srgbClr val="FFFFFF"/>
                </a:solidFill>
                <a:effectLst/>
                <a:latin typeface="Century Gothic" panose="020B0502020202020204" pitchFamily="34" charset="0"/>
              </a:rPr>
              <a:t>ALEATORIA</a:t>
            </a:r>
          </a:p>
          <a:p>
            <a:pPr lvl="2" fontAlgn="base">
              <a:spcBef>
                <a:spcPts val="1000"/>
              </a:spcBef>
            </a:pPr>
            <a:r>
              <a:rPr lang="es-MX" b="1" dirty="0">
                <a:solidFill>
                  <a:srgbClr val="FFFFFF"/>
                </a:solidFill>
                <a:latin typeface="Century Gothic" panose="020B0502020202020204" pitchFamily="34" charset="0"/>
              </a:rPr>
              <a:t>	Representativa</a:t>
            </a:r>
          </a:p>
          <a:p>
            <a:pPr lvl="2" fontAlgn="base">
              <a:spcBef>
                <a:spcPts val="1000"/>
              </a:spcBef>
            </a:pPr>
            <a:r>
              <a:rPr lang="es-MX" b="1" dirty="0">
                <a:solidFill>
                  <a:srgbClr val="FFFFFF"/>
                </a:solidFill>
                <a:effectLst/>
                <a:latin typeface="Century Gothic" panose="020B0502020202020204" pitchFamily="34" charset="0"/>
              </a:rPr>
              <a:t>	Ale</a:t>
            </a:r>
            <a:r>
              <a:rPr lang="es-MX" b="1" dirty="0">
                <a:solidFill>
                  <a:srgbClr val="FFFFFF"/>
                </a:solidFill>
                <a:latin typeface="Century Gothic" panose="020B0502020202020204" pitchFamily="34" charset="0"/>
              </a:rPr>
              <a:t>atoria</a:t>
            </a:r>
          </a:p>
          <a:p>
            <a:pPr marL="285750" lvl="2" indent="-285750" fontAlgn="base">
              <a:spcBef>
                <a:spcPts val="1000"/>
              </a:spcBef>
              <a:buFont typeface="Wingdings" panose="05000000000000000000" pitchFamily="2" charset="2"/>
              <a:buChar char="Ø"/>
            </a:pPr>
            <a:r>
              <a:rPr lang="es-MX" sz="1400" b="0" i="0" u="none" strike="noStrike" dirty="0">
                <a:solidFill>
                  <a:srgbClr val="FFFFFF"/>
                </a:solidFill>
                <a:effectLst/>
                <a:latin typeface="Century Gothic" panose="020B0502020202020204" pitchFamily="34" charset="0"/>
              </a:rPr>
              <a:t>Para </a:t>
            </a:r>
            <a:r>
              <a:rPr lang="es-MX" dirty="0">
                <a:solidFill>
                  <a:srgbClr val="FFFFFF"/>
                </a:solidFill>
                <a:latin typeface="Century Gothic" panose="020B0502020202020204" pitchFamily="34" charset="0"/>
              </a:rPr>
              <a:t>el estudio de la </a:t>
            </a:r>
            <a:r>
              <a:rPr lang="es-MX" sz="1400" b="0" i="0" u="none" strike="noStrike" dirty="0">
                <a:solidFill>
                  <a:srgbClr val="FFFFFF"/>
                </a:solidFill>
                <a:effectLst/>
                <a:latin typeface="Century Gothic" panose="020B0502020202020204" pitchFamily="34" charset="0"/>
              </a:rPr>
              <a:t>Estadística paramétrica (Modelos paramétricos), comúnmente seguimos o utilizamos las siguientes distribuciones:</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Normal</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Bernoulli</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Binomial</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Gamma</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Uniforma</a:t>
            </a:r>
            <a:endParaRPr lang="es-MX" dirty="0">
              <a:solidFill>
                <a:srgbClr val="FFFFFF"/>
              </a:solidFill>
              <a:latin typeface="Century Gothic" panose="020B0502020202020204" pitchFamily="34" charset="0"/>
            </a:endParaRPr>
          </a:p>
          <a:p>
            <a:pPr lvl="2" fontAlgn="base">
              <a:spcBef>
                <a:spcPts val="1000"/>
              </a:spcBef>
            </a:pPr>
            <a:r>
              <a:rPr lang="es-MX" sz="1400" b="0" i="0" u="none" strike="noStrike" dirty="0">
                <a:solidFill>
                  <a:srgbClr val="FFFFFF"/>
                </a:solidFill>
                <a:effectLst/>
                <a:latin typeface="Century Gothic" panose="020B0502020202020204" pitchFamily="34" charset="0"/>
              </a:rPr>
              <a:t>	t-</a:t>
            </a:r>
            <a:r>
              <a:rPr lang="es-MX" sz="1400" b="0" i="0" u="none" strike="noStrike" dirty="0" err="1">
                <a:solidFill>
                  <a:srgbClr val="FFFFFF"/>
                </a:solidFill>
                <a:effectLst/>
                <a:latin typeface="Century Gothic" panose="020B0502020202020204" pitchFamily="34" charset="0"/>
              </a:rPr>
              <a:t>student</a:t>
            </a:r>
            <a:endParaRPr lang="es-MX" dirty="0">
              <a:solidFill>
                <a:srgbClr val="FFFFFF"/>
              </a:solidFill>
              <a:latin typeface="Century Gothic" panose="020B0502020202020204" pitchFamily="34" charset="0"/>
            </a:endParaRPr>
          </a:p>
          <a:p>
            <a:pPr lvl="2" fontAlgn="base">
              <a:spcBef>
                <a:spcPts val="1000"/>
              </a:spcBef>
            </a:pPr>
            <a:r>
              <a:rPr lang="es-MX" sz="1400" b="0" i="0" u="none" strike="noStrike" dirty="0">
                <a:solidFill>
                  <a:srgbClr val="FFFFFF"/>
                </a:solidFill>
                <a:effectLst/>
                <a:latin typeface="Century Gothic" panose="020B0502020202020204" pitchFamily="34" charset="0"/>
              </a:rPr>
              <a:t>	hipergeométrica</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exponencial</a:t>
            </a:r>
          </a:p>
          <a:p>
            <a:pPr lvl="2" fontAlgn="base">
              <a:spcBef>
                <a:spcPts val="1000"/>
              </a:spcBef>
            </a:pPr>
            <a:r>
              <a:rPr lang="es-MX" dirty="0">
                <a:solidFill>
                  <a:srgbClr val="FFFFFF"/>
                </a:solidFill>
                <a:latin typeface="Century Gothic" panose="020B0502020202020204" pitchFamily="34" charset="0"/>
              </a:rPr>
              <a:t>	</a:t>
            </a:r>
            <a:r>
              <a:rPr lang="es-MX" sz="1400" b="0" i="0" u="none" strike="noStrike" dirty="0">
                <a:solidFill>
                  <a:srgbClr val="FFFFFF"/>
                </a:solidFill>
                <a:effectLst/>
                <a:latin typeface="Century Gothic" panose="020B0502020202020204" pitchFamily="34" charset="0"/>
              </a:rPr>
              <a:t>Poisson, …</a:t>
            </a:r>
            <a:endParaRPr lang="es-MX" sz="1100" b="0" i="0" u="none" strike="noStrike" dirty="0">
              <a:solidFill>
                <a:srgbClr val="86D1D8"/>
              </a:solidFill>
              <a:effectLst/>
              <a:latin typeface="Noto Sans Symbols"/>
            </a:endParaRPr>
          </a:p>
        </p:txBody>
      </p:sp>
      <p:sp>
        <p:nvSpPr>
          <p:cNvPr id="9" name="CuadroTexto 8">
            <a:extLst>
              <a:ext uri="{FF2B5EF4-FFF2-40B4-BE49-F238E27FC236}">
                <a16:creationId xmlns:a16="http://schemas.microsoft.com/office/drawing/2014/main" id="{AE434035-936C-5450-310A-FFFF6CE598CB}"/>
              </a:ext>
            </a:extLst>
          </p:cNvPr>
          <p:cNvSpPr txBox="1"/>
          <p:nvPr/>
        </p:nvSpPr>
        <p:spPr>
          <a:xfrm>
            <a:off x="3479590" y="3429000"/>
            <a:ext cx="4103557" cy="995144"/>
          </a:xfrm>
          <a:prstGeom prst="rect">
            <a:avLst/>
          </a:prstGeom>
          <a:noFill/>
        </p:spPr>
        <p:txBody>
          <a:bodyPr wrap="square">
            <a:spAutoFit/>
          </a:bodyPr>
          <a:lstStyle/>
          <a:p>
            <a:pPr marL="285750" indent="-285750" rtl="0" fontAlgn="base">
              <a:spcBef>
                <a:spcPts val="1000"/>
              </a:spcBef>
              <a:buFont typeface="Wingdings" panose="05000000000000000000" pitchFamily="2" charset="2"/>
              <a:buChar char="Ø"/>
            </a:pPr>
            <a:r>
              <a:rPr lang="es-MX" sz="1400" b="0" i="0" u="none" strike="noStrike" dirty="0">
                <a:solidFill>
                  <a:srgbClr val="FFFFFF"/>
                </a:solidFill>
                <a:effectLst/>
                <a:latin typeface="Century Gothic" panose="020B0502020202020204" pitchFamily="34" charset="0"/>
              </a:rPr>
              <a:t>Supuestos de la estadística paramétrica:</a:t>
            </a:r>
          </a:p>
          <a:p>
            <a:pPr rtl="0" fontAlgn="base">
              <a:spcBef>
                <a:spcPts val="1000"/>
              </a:spcBef>
            </a:pPr>
            <a:r>
              <a:rPr lang="es-MX" sz="1400" b="0" i="0" u="none" strike="noStrike" dirty="0">
                <a:solidFill>
                  <a:srgbClr val="FFFFFF"/>
                </a:solidFill>
                <a:effectLst/>
                <a:latin typeface="Century Gothic" panose="020B0502020202020204" pitchFamily="34" charset="0"/>
              </a:rPr>
              <a:t>	I.C. (Intervalos de Confianza)</a:t>
            </a:r>
            <a:endParaRPr lang="es-MX" dirty="0">
              <a:solidFill>
                <a:srgbClr val="FFFFFF"/>
              </a:solidFill>
              <a:latin typeface="Century Gothic" panose="020B0502020202020204" pitchFamily="34" charset="0"/>
            </a:endParaRPr>
          </a:p>
          <a:p>
            <a:pPr rtl="0" fontAlgn="base">
              <a:spcBef>
                <a:spcPts val="1000"/>
              </a:spcBef>
            </a:pPr>
            <a:r>
              <a:rPr lang="es-MX" sz="1400" b="0" i="0" u="none" strike="noStrike" dirty="0">
                <a:solidFill>
                  <a:srgbClr val="FFFFFF"/>
                </a:solidFill>
                <a:effectLst/>
                <a:latin typeface="Century Gothic" panose="020B0502020202020204" pitchFamily="34" charset="0"/>
              </a:rPr>
              <a:t>	P.H (Pruebas de Hipótesis)</a:t>
            </a:r>
            <a:endParaRPr lang="es-MX" sz="1100" b="0" i="0" u="none" strike="noStrike" dirty="0">
              <a:solidFill>
                <a:srgbClr val="86D1D8"/>
              </a:solidFill>
              <a:effectLst/>
              <a:latin typeface="Noto Sans Symbols"/>
            </a:endParaRPr>
          </a:p>
        </p:txBody>
      </p:sp>
      <p:pic>
        <p:nvPicPr>
          <p:cNvPr id="2050" name="Picture 2" descr="Intervalos de confianza on emaze">
            <a:extLst>
              <a:ext uri="{FF2B5EF4-FFF2-40B4-BE49-F238E27FC236}">
                <a16:creationId xmlns:a16="http://schemas.microsoft.com/office/drawing/2014/main" id="{63465BAB-B4C0-19CE-78AB-3F31173C8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5219" y="4094898"/>
            <a:ext cx="4472065" cy="25252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1;p32">
            <a:extLst>
              <a:ext uri="{FF2B5EF4-FFF2-40B4-BE49-F238E27FC236}">
                <a16:creationId xmlns:a16="http://schemas.microsoft.com/office/drawing/2014/main" id="{99928E24-CAF5-3F8A-9908-DB8EF1A3F091}"/>
              </a:ext>
            </a:extLst>
          </p:cNvPr>
          <p:cNvSpPr txBox="1">
            <a:spLocks noGrp="1"/>
          </p:cNvSpPr>
          <p:nvPr>
            <p:ph type="title"/>
          </p:nvPr>
        </p:nvSpPr>
        <p:spPr>
          <a:xfrm>
            <a:off x="646111" y="452718"/>
            <a:ext cx="9404723" cy="776475"/>
          </a:xfrm>
        </p:spPr>
        <p:txBody>
          <a:bodyPr spcFirstLastPara="1" wrap="square" lIns="91425" tIns="45700" rIns="91425" bIns="45700" anchor="ctr" anchorCtr="0">
            <a:normAutofit/>
          </a:bodyPr>
          <a:lstStyle/>
          <a:p>
            <a:pPr marL="0" lvl="0" indent="0" rtl="0">
              <a:spcBef>
                <a:spcPts val="0"/>
              </a:spcBef>
              <a:spcAft>
                <a:spcPts val="0"/>
              </a:spcAft>
              <a:buClr>
                <a:schemeClr val="lt2"/>
              </a:buClr>
              <a:buSzPts val="4200"/>
              <a:buFont typeface="Century Gothic"/>
              <a:buNone/>
            </a:pPr>
            <a:r>
              <a:rPr lang="es-MX" b="1" dirty="0"/>
              <a:t>Ejemplo de una Muestra Aleatoria</a:t>
            </a:r>
          </a:p>
        </p:txBody>
      </p:sp>
      <p:pic>
        <p:nvPicPr>
          <p:cNvPr id="3074" name="Picture 2" descr="Niña va a la escuela 368587 Vector en Vecteezy">
            <a:extLst>
              <a:ext uri="{FF2B5EF4-FFF2-40B4-BE49-F238E27FC236}">
                <a16:creationId xmlns:a16="http://schemas.microsoft.com/office/drawing/2014/main" id="{82F3B2CE-DFA6-A090-509E-F4799E37D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42" b="-3"/>
          <a:stretch/>
        </p:blipFill>
        <p:spPr bwMode="auto">
          <a:xfrm>
            <a:off x="646111" y="1349115"/>
            <a:ext cx="4511861" cy="5047177"/>
          </a:xfrm>
          <a:prstGeom prst="rect">
            <a:avLst/>
          </a:prstGeom>
          <a:solidFill>
            <a:srgbClr val="FFFFFF"/>
          </a:solidFill>
          <a:ln>
            <a:noFill/>
          </a:ln>
        </p:spPr>
      </p:pic>
      <p:sp>
        <p:nvSpPr>
          <p:cNvPr id="9" name="Google Shape;248;p33">
            <a:extLst>
              <a:ext uri="{FF2B5EF4-FFF2-40B4-BE49-F238E27FC236}">
                <a16:creationId xmlns:a16="http://schemas.microsoft.com/office/drawing/2014/main" id="{AD3E35F0-769E-29D8-48CF-CFC62C2C99E3}"/>
              </a:ext>
            </a:extLst>
          </p:cNvPr>
          <p:cNvSpPr txBox="1">
            <a:spLocks noGrp="1"/>
          </p:cNvSpPr>
          <p:nvPr>
            <p:ph type="body" idx="4294967295"/>
          </p:nvPr>
        </p:nvSpPr>
        <p:spPr>
          <a:xfrm>
            <a:off x="5608855" y="1550355"/>
            <a:ext cx="6138366" cy="1334124"/>
          </a:xfrm>
        </p:spPr>
        <p:txBody>
          <a:bodyPr spcFirstLastPara="1" lIns="91425" tIns="45700" rIns="91425" bIns="45700" anchor="t" anchorCtr="0">
            <a:normAutofit/>
          </a:bodyPr>
          <a:lstStyle/>
          <a:p>
            <a:pPr marL="0" lvl="0" indent="0">
              <a:lnSpc>
                <a:spcPct val="90000"/>
              </a:lnSpc>
              <a:spcBef>
                <a:spcPts val="0"/>
              </a:spcBef>
              <a:spcAft>
                <a:spcPts val="600"/>
              </a:spcAft>
              <a:buClr>
                <a:srgbClr val="000000"/>
              </a:buClr>
              <a:buSzPts val="1760"/>
              <a:buNone/>
            </a:pPr>
            <a:r>
              <a:rPr lang="en-US" sz="1900" b="0" i="0" u="none" strike="noStrike" cap="none" dirty="0" err="1">
                <a:solidFill>
                  <a:schemeClr val="lt2"/>
                </a:solidFill>
              </a:rPr>
              <a:t>Suponga</a:t>
            </a:r>
            <a:r>
              <a:rPr lang="en-US" sz="1900" b="0" i="0" u="none" strike="noStrike" cap="none" dirty="0">
                <a:solidFill>
                  <a:schemeClr val="lt2"/>
                </a:solidFill>
              </a:rPr>
              <a:t> que </a:t>
            </a:r>
            <a:r>
              <a:rPr lang="en-US" sz="1900" b="0" i="0" u="none" strike="noStrike" cap="none" dirty="0" err="1">
                <a:solidFill>
                  <a:schemeClr val="lt2"/>
                </a:solidFill>
              </a:rPr>
              <a:t>deseamos</a:t>
            </a:r>
            <a:r>
              <a:rPr lang="en-US" sz="1900" b="0" i="0" u="none" strike="noStrike" cap="none" dirty="0">
                <a:solidFill>
                  <a:schemeClr val="lt2"/>
                </a:solidFill>
              </a:rPr>
              <a:t> </a:t>
            </a:r>
            <a:r>
              <a:rPr lang="en-US" sz="1900" b="0" i="0" u="none" strike="noStrike" cap="none" dirty="0" err="1">
                <a:solidFill>
                  <a:schemeClr val="lt2"/>
                </a:solidFill>
              </a:rPr>
              <a:t>establecer</a:t>
            </a:r>
            <a:r>
              <a:rPr lang="en-US" sz="1900" b="0" i="0" u="none" strike="noStrike" cap="none" dirty="0">
                <a:solidFill>
                  <a:schemeClr val="lt2"/>
                </a:solidFill>
              </a:rPr>
              <a:t> </a:t>
            </a:r>
            <a:r>
              <a:rPr lang="en-US" sz="1900" b="0" i="0" u="none" strike="noStrike" cap="none" dirty="0" err="1">
                <a:solidFill>
                  <a:schemeClr val="lt2"/>
                </a:solidFill>
              </a:rPr>
              <a:t>una</a:t>
            </a:r>
            <a:r>
              <a:rPr lang="en-US" sz="1900" b="0" i="0" u="none" strike="noStrike" cap="none" dirty="0">
                <a:solidFill>
                  <a:schemeClr val="lt2"/>
                </a:solidFill>
              </a:rPr>
              <a:t> media </a:t>
            </a:r>
            <a:r>
              <a:rPr lang="en-US" sz="1900" b="0" i="0" u="none" strike="noStrike" cap="none" dirty="0" err="1">
                <a:solidFill>
                  <a:schemeClr val="lt2"/>
                </a:solidFill>
              </a:rPr>
              <a:t>poblacional</a:t>
            </a:r>
            <a:r>
              <a:rPr lang="en-US" sz="1900" b="0" i="0" u="none" strike="noStrike" cap="none" dirty="0">
                <a:solidFill>
                  <a:schemeClr val="lt2"/>
                </a:solidFill>
              </a:rPr>
              <a:t> de 35 </a:t>
            </a:r>
            <a:r>
              <a:rPr lang="en-US" sz="1900" b="0" i="0" u="none" strike="noStrike" cap="none" dirty="0" err="1">
                <a:solidFill>
                  <a:schemeClr val="lt2"/>
                </a:solidFill>
              </a:rPr>
              <a:t>estudiante</a:t>
            </a:r>
            <a:r>
              <a:rPr lang="en-US" sz="1900" b="0" i="0" u="none" strike="noStrike" cap="none" dirty="0">
                <a:solidFill>
                  <a:schemeClr val="lt2"/>
                </a:solidFill>
              </a:rPr>
              <a:t> de la FES </a:t>
            </a:r>
            <a:r>
              <a:rPr lang="en-US" sz="1900" b="0" i="0" u="none" strike="noStrike" cap="none" dirty="0" err="1">
                <a:solidFill>
                  <a:schemeClr val="lt2"/>
                </a:solidFill>
              </a:rPr>
              <a:t>Acatlán</a:t>
            </a:r>
            <a:r>
              <a:rPr lang="en-US" sz="1900" b="0" i="0" u="none" strike="noStrike" cap="none" dirty="0">
                <a:solidFill>
                  <a:schemeClr val="lt2"/>
                </a:solidFill>
              </a:rPr>
              <a:t> </a:t>
            </a:r>
            <a:r>
              <a:rPr lang="en-US" sz="1900" b="0" i="0" u="none" strike="noStrike" cap="none" dirty="0" err="1">
                <a:solidFill>
                  <a:schemeClr val="lt2"/>
                </a:solidFill>
              </a:rPr>
              <a:t>sobre</a:t>
            </a:r>
            <a:r>
              <a:rPr lang="en-US" sz="1900" b="0" i="0" u="none" strike="noStrike" cap="none" dirty="0">
                <a:solidFill>
                  <a:schemeClr val="lt2"/>
                </a:solidFill>
              </a:rPr>
              <a:t> </a:t>
            </a:r>
            <a:r>
              <a:rPr lang="en-US" sz="1900" b="0" i="0" u="none" strike="noStrike" cap="none" dirty="0" err="1">
                <a:solidFill>
                  <a:schemeClr val="lt2"/>
                </a:solidFill>
              </a:rPr>
              <a:t>el</a:t>
            </a:r>
            <a:r>
              <a:rPr lang="en-US" sz="1900" b="0" i="0" u="none" strike="noStrike" cap="none" dirty="0">
                <a:solidFill>
                  <a:schemeClr val="lt2"/>
                </a:solidFill>
              </a:rPr>
              <a:t> </a:t>
            </a:r>
            <a:r>
              <a:rPr lang="en-US" sz="1900" b="0" i="0" u="none" strike="noStrike" cap="none" dirty="0" err="1">
                <a:solidFill>
                  <a:schemeClr val="lt2"/>
                </a:solidFill>
              </a:rPr>
              <a:t>tiempo</a:t>
            </a:r>
            <a:r>
              <a:rPr lang="en-US" sz="1900" b="0" i="0" u="none" strike="noStrike" cap="none" dirty="0">
                <a:solidFill>
                  <a:schemeClr val="lt2"/>
                </a:solidFill>
              </a:rPr>
              <a:t> </a:t>
            </a:r>
            <a:r>
              <a:rPr lang="en-US" sz="1900" b="0" i="0" u="none" strike="noStrike" cap="none" dirty="0" err="1">
                <a:solidFill>
                  <a:schemeClr val="lt2"/>
                </a:solidFill>
              </a:rPr>
              <a:t>en</a:t>
            </a:r>
            <a:r>
              <a:rPr lang="en-US" sz="1900" b="0" i="0" u="none" strike="noStrike" cap="none" dirty="0">
                <a:solidFill>
                  <a:schemeClr val="lt2"/>
                </a:solidFill>
              </a:rPr>
              <a:t> </a:t>
            </a:r>
            <a:r>
              <a:rPr lang="en-US" sz="1900" b="0" i="0" u="none" strike="noStrike" cap="none" dirty="0" err="1">
                <a:solidFill>
                  <a:schemeClr val="lt2"/>
                </a:solidFill>
              </a:rPr>
              <a:t>el</a:t>
            </a:r>
            <a:r>
              <a:rPr lang="en-US" sz="1900" b="0" i="0" u="none" strike="noStrike" cap="none" dirty="0">
                <a:solidFill>
                  <a:schemeClr val="lt2"/>
                </a:solidFill>
              </a:rPr>
              <a:t> se </a:t>
            </a:r>
            <a:r>
              <a:rPr lang="en-US" sz="1900" b="0" i="0" u="none" strike="noStrike" cap="none" dirty="0" err="1">
                <a:solidFill>
                  <a:schemeClr val="lt2"/>
                </a:solidFill>
              </a:rPr>
              <a:t>tardan</a:t>
            </a:r>
            <a:r>
              <a:rPr lang="en-US" sz="1900" b="0" i="0" u="none" strike="noStrike" cap="none" dirty="0">
                <a:solidFill>
                  <a:schemeClr val="lt2"/>
                </a:solidFill>
              </a:rPr>
              <a:t> </a:t>
            </a:r>
            <a:r>
              <a:rPr lang="en-US" sz="1900" b="0" i="0" u="none" strike="noStrike" cap="none" dirty="0" err="1">
                <a:solidFill>
                  <a:schemeClr val="lt2"/>
                </a:solidFill>
              </a:rPr>
              <a:t>en</a:t>
            </a:r>
            <a:r>
              <a:rPr lang="en-US" sz="1900" b="0" i="0" u="none" strike="noStrike" cap="none" dirty="0">
                <a:solidFill>
                  <a:schemeClr val="lt2"/>
                </a:solidFill>
              </a:rPr>
              <a:t> </a:t>
            </a:r>
            <a:r>
              <a:rPr lang="en-US" sz="1900" b="0" i="0" u="none" strike="noStrike" cap="none" dirty="0" err="1">
                <a:solidFill>
                  <a:schemeClr val="lt2"/>
                </a:solidFill>
              </a:rPr>
              <a:t>llegar</a:t>
            </a:r>
            <a:r>
              <a:rPr lang="en-US" sz="1900" b="0" i="0" u="none" strike="noStrike" cap="none" dirty="0">
                <a:solidFill>
                  <a:schemeClr val="lt2"/>
                </a:solidFill>
              </a:rPr>
              <a:t> </a:t>
            </a:r>
            <a:r>
              <a:rPr lang="en-US" sz="1900" b="0" i="0" u="none" strike="noStrike" cap="none" dirty="0" err="1">
                <a:solidFill>
                  <a:schemeClr val="lt2"/>
                </a:solidFill>
              </a:rPr>
              <a:t>desde</a:t>
            </a:r>
            <a:r>
              <a:rPr lang="en-US" sz="1900" b="0" i="0" u="none" strike="noStrike" cap="none" dirty="0">
                <a:solidFill>
                  <a:schemeClr val="lt2"/>
                </a:solidFill>
              </a:rPr>
              <a:t> </a:t>
            </a:r>
            <a:r>
              <a:rPr lang="en-US" sz="1900" b="0" i="0" u="none" strike="noStrike" cap="none" dirty="0" err="1">
                <a:solidFill>
                  <a:schemeClr val="lt2"/>
                </a:solidFill>
              </a:rPr>
              <a:t>su</a:t>
            </a:r>
            <a:r>
              <a:rPr lang="en-US" sz="1900" b="0" i="0" u="none" strike="noStrike" cap="none" dirty="0">
                <a:solidFill>
                  <a:schemeClr val="lt2"/>
                </a:solidFill>
              </a:rPr>
              <a:t> casa a las </a:t>
            </a:r>
            <a:r>
              <a:rPr lang="en-US" sz="1900" b="0" i="0" u="none" strike="noStrike" cap="none" dirty="0" err="1">
                <a:solidFill>
                  <a:schemeClr val="lt2"/>
                </a:solidFill>
              </a:rPr>
              <a:t>instalaciones</a:t>
            </a:r>
            <a:r>
              <a:rPr lang="en-US" sz="1900" b="0" i="0" u="none" strike="noStrike" cap="none" dirty="0">
                <a:solidFill>
                  <a:schemeClr val="lt2"/>
                </a:solidFill>
              </a:rPr>
              <a:t>…</a:t>
            </a:r>
          </a:p>
        </p:txBody>
      </p:sp>
      <p:sp>
        <p:nvSpPr>
          <p:cNvPr id="10" name="Google Shape;248;p33">
            <a:extLst>
              <a:ext uri="{FF2B5EF4-FFF2-40B4-BE49-F238E27FC236}">
                <a16:creationId xmlns:a16="http://schemas.microsoft.com/office/drawing/2014/main" id="{3BE5FDA2-77A8-FD91-2533-C289F18D2F70}"/>
              </a:ext>
            </a:extLst>
          </p:cNvPr>
          <p:cNvSpPr txBox="1">
            <a:spLocks/>
          </p:cNvSpPr>
          <p:nvPr/>
        </p:nvSpPr>
        <p:spPr>
          <a:xfrm>
            <a:off x="5608855" y="3188397"/>
            <a:ext cx="6138366" cy="27926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1000"/>
              </a:spcBef>
              <a:spcAft>
                <a:spcPts val="0"/>
              </a:spcAft>
              <a:buClr>
                <a:srgbClr val="86D1D8"/>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lnSpc>
                <a:spcPct val="100000"/>
              </a:lnSpc>
              <a:spcBef>
                <a:spcPts val="1000"/>
              </a:spcBef>
              <a:spcAft>
                <a:spcPts val="0"/>
              </a:spcAft>
              <a:buClr>
                <a:srgbClr val="86D1D8"/>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nSpc>
                <a:spcPct val="90000"/>
              </a:lnSpc>
              <a:spcBef>
                <a:spcPts val="0"/>
              </a:spcBef>
              <a:spcAft>
                <a:spcPts val="600"/>
              </a:spcAft>
              <a:buClr>
                <a:srgbClr val="000000"/>
              </a:buClr>
              <a:buSzPts val="1760"/>
              <a:buFont typeface="Noto Sans Symbols"/>
              <a:buNone/>
            </a:pPr>
            <a:r>
              <a:rPr lang="en-US" sz="1900" dirty="0">
                <a:solidFill>
                  <a:schemeClr val="lt2"/>
                </a:solidFill>
              </a:rPr>
              <a:t>Podemos </a:t>
            </a:r>
            <a:r>
              <a:rPr lang="en-US" sz="1900" dirty="0" err="1">
                <a:solidFill>
                  <a:schemeClr val="lt2"/>
                </a:solidFill>
              </a:rPr>
              <a:t>notar</a:t>
            </a:r>
            <a:r>
              <a:rPr lang="en-US" sz="1900" dirty="0">
                <a:solidFill>
                  <a:schemeClr val="lt2"/>
                </a:solidFill>
              </a:rPr>
              <a:t> </a:t>
            </a:r>
            <a:r>
              <a:rPr lang="en-US" sz="1900" dirty="0" err="1">
                <a:solidFill>
                  <a:schemeClr val="lt2"/>
                </a:solidFill>
              </a:rPr>
              <a:t>algunas</a:t>
            </a:r>
            <a:r>
              <a:rPr lang="en-US" sz="1900" dirty="0">
                <a:solidFill>
                  <a:schemeClr val="lt2"/>
                </a:solidFill>
              </a:rPr>
              <a:t> </a:t>
            </a:r>
            <a:r>
              <a:rPr lang="en-US" sz="1900" dirty="0" err="1">
                <a:solidFill>
                  <a:schemeClr val="lt2"/>
                </a:solidFill>
              </a:rPr>
              <a:t>cosas</a:t>
            </a:r>
            <a:r>
              <a:rPr lang="en-US" sz="1900" dirty="0">
                <a:solidFill>
                  <a:schemeClr val="lt2"/>
                </a:solidFill>
              </a:rPr>
              <a:t>:</a:t>
            </a:r>
          </a:p>
          <a:p>
            <a:pPr marL="342900" indent="-342900">
              <a:lnSpc>
                <a:spcPct val="90000"/>
              </a:lnSpc>
              <a:spcBef>
                <a:spcPts val="0"/>
              </a:spcBef>
              <a:spcAft>
                <a:spcPts val="600"/>
              </a:spcAft>
              <a:buClr>
                <a:srgbClr val="000000"/>
              </a:buClr>
              <a:buSzPts val="1760"/>
              <a:buFont typeface="Wingdings" panose="05000000000000000000" pitchFamily="2" charset="2"/>
              <a:buChar char="q"/>
            </a:pPr>
            <a:r>
              <a:rPr lang="en-US" sz="1900" dirty="0">
                <a:solidFill>
                  <a:schemeClr val="lt2"/>
                </a:solidFill>
              </a:rPr>
              <a:t>Los </a:t>
            </a:r>
            <a:r>
              <a:rPr lang="en-US" sz="1900" dirty="0" err="1">
                <a:solidFill>
                  <a:schemeClr val="lt2"/>
                </a:solidFill>
              </a:rPr>
              <a:t>datos</a:t>
            </a:r>
            <a:r>
              <a:rPr lang="en-US" sz="1900" dirty="0">
                <a:solidFill>
                  <a:schemeClr val="lt2"/>
                </a:solidFill>
              </a:rPr>
              <a:t> de </a:t>
            </a:r>
            <a:r>
              <a:rPr lang="en-US" sz="1900" dirty="0" err="1">
                <a:solidFill>
                  <a:schemeClr val="lt2"/>
                </a:solidFill>
              </a:rPr>
              <a:t>obtuve</a:t>
            </a:r>
            <a:r>
              <a:rPr lang="en-US" sz="1900" dirty="0">
                <a:solidFill>
                  <a:schemeClr val="lt2"/>
                </a:solidFill>
              </a:rPr>
              <a:t> </a:t>
            </a:r>
            <a:r>
              <a:rPr lang="en-US" sz="1900" dirty="0" err="1">
                <a:solidFill>
                  <a:schemeClr val="lt2"/>
                </a:solidFill>
              </a:rPr>
              <a:t>por</a:t>
            </a:r>
            <a:r>
              <a:rPr lang="en-US" sz="1900" dirty="0">
                <a:solidFill>
                  <a:schemeClr val="lt2"/>
                </a:solidFill>
              </a:rPr>
              <a:t> </a:t>
            </a:r>
            <a:r>
              <a:rPr lang="en-US" sz="1900" dirty="0" err="1">
                <a:solidFill>
                  <a:schemeClr val="lt2"/>
                </a:solidFill>
              </a:rPr>
              <a:t>encuentas</a:t>
            </a:r>
            <a:r>
              <a:rPr lang="en-US" sz="1900" dirty="0">
                <a:solidFill>
                  <a:schemeClr val="lt2"/>
                </a:solidFill>
              </a:rPr>
              <a:t> (</a:t>
            </a:r>
            <a:r>
              <a:rPr lang="en-US" sz="1900" dirty="0" err="1">
                <a:solidFill>
                  <a:schemeClr val="lt2"/>
                </a:solidFill>
              </a:rPr>
              <a:t>Intrumento</a:t>
            </a:r>
            <a:r>
              <a:rPr lang="en-US" sz="1900" dirty="0">
                <a:solidFill>
                  <a:schemeClr val="lt2"/>
                </a:solidFill>
              </a:rPr>
              <a:t> de </a:t>
            </a:r>
            <a:r>
              <a:rPr lang="en-US" sz="1900" dirty="0" err="1">
                <a:solidFill>
                  <a:schemeClr val="lt2"/>
                </a:solidFill>
              </a:rPr>
              <a:t>medicion</a:t>
            </a:r>
            <a:r>
              <a:rPr lang="en-US" sz="1900" dirty="0">
                <a:solidFill>
                  <a:schemeClr val="lt2"/>
                </a:solidFill>
              </a:rPr>
              <a:t>).</a:t>
            </a:r>
          </a:p>
          <a:p>
            <a:pPr marL="342900" indent="-342900">
              <a:lnSpc>
                <a:spcPct val="90000"/>
              </a:lnSpc>
              <a:spcBef>
                <a:spcPts val="0"/>
              </a:spcBef>
              <a:spcAft>
                <a:spcPts val="600"/>
              </a:spcAft>
              <a:buClr>
                <a:srgbClr val="000000"/>
              </a:buClr>
              <a:buSzPts val="1760"/>
              <a:buFont typeface="Wingdings" panose="05000000000000000000" pitchFamily="2" charset="2"/>
              <a:buChar char="q"/>
            </a:pPr>
            <a:r>
              <a:rPr lang="en-US" sz="1900" dirty="0">
                <a:solidFill>
                  <a:schemeClr val="lt2"/>
                </a:solidFill>
              </a:rPr>
              <a:t>N = 35</a:t>
            </a:r>
          </a:p>
          <a:p>
            <a:pPr marL="342900" indent="-342900">
              <a:lnSpc>
                <a:spcPct val="90000"/>
              </a:lnSpc>
              <a:spcBef>
                <a:spcPts val="0"/>
              </a:spcBef>
              <a:spcAft>
                <a:spcPts val="600"/>
              </a:spcAft>
              <a:buClr>
                <a:srgbClr val="000000"/>
              </a:buClr>
              <a:buSzPts val="1760"/>
              <a:buFont typeface="Wingdings" panose="05000000000000000000" pitchFamily="2" charset="2"/>
              <a:buChar char="q"/>
            </a:pPr>
            <a:r>
              <a:rPr lang="en-US" sz="1900" dirty="0">
                <a:solidFill>
                  <a:schemeClr val="lt2"/>
                </a:solidFill>
              </a:rPr>
              <a:t>La </a:t>
            </a:r>
            <a:r>
              <a:rPr lang="en-US" sz="1900" dirty="0" err="1">
                <a:solidFill>
                  <a:schemeClr val="lt2"/>
                </a:solidFill>
              </a:rPr>
              <a:t>m.a.</a:t>
            </a:r>
            <a:r>
              <a:rPr lang="en-US" sz="1900" dirty="0">
                <a:solidFill>
                  <a:schemeClr val="lt2"/>
                </a:solidFill>
              </a:rPr>
              <a:t> es de n = 4 y </a:t>
            </a:r>
            <a:r>
              <a:rPr lang="en-US" sz="1900" dirty="0" err="1">
                <a:solidFill>
                  <a:schemeClr val="lt2"/>
                </a:solidFill>
              </a:rPr>
              <a:t>los</a:t>
            </a:r>
            <a:r>
              <a:rPr lang="en-US" sz="1900" dirty="0">
                <a:solidFill>
                  <a:schemeClr val="lt2"/>
                </a:solidFill>
              </a:rPr>
              <a:t> </a:t>
            </a:r>
            <a:r>
              <a:rPr lang="en-US" sz="1900" dirty="0" err="1">
                <a:solidFill>
                  <a:schemeClr val="lt2"/>
                </a:solidFill>
              </a:rPr>
              <a:t>datos</a:t>
            </a:r>
            <a:r>
              <a:rPr lang="en-US" sz="1900" dirty="0">
                <a:solidFill>
                  <a:schemeClr val="lt2"/>
                </a:solidFill>
              </a:rPr>
              <a:t> son:</a:t>
            </a:r>
          </a:p>
          <a:p>
            <a:pPr marL="0" indent="0" algn="ctr">
              <a:lnSpc>
                <a:spcPct val="90000"/>
              </a:lnSpc>
              <a:spcBef>
                <a:spcPts val="0"/>
              </a:spcBef>
              <a:spcAft>
                <a:spcPts val="600"/>
              </a:spcAft>
              <a:buClr>
                <a:srgbClr val="000000"/>
              </a:buClr>
              <a:buSzPts val="1760"/>
              <a:buNone/>
            </a:pPr>
            <a:r>
              <a:rPr lang="es-MX" sz="1800" dirty="0"/>
              <a:t>X1= 40, x2=120, x3= 300, x4=45</a:t>
            </a:r>
            <a:endParaRPr lang="en-US" sz="1900" dirty="0">
              <a:solidFill>
                <a:schemeClr val="lt2"/>
              </a:solidFill>
            </a:endParaRPr>
          </a:p>
          <a:p>
            <a:pPr marL="342900" indent="-342900">
              <a:lnSpc>
                <a:spcPct val="90000"/>
              </a:lnSpc>
              <a:spcBef>
                <a:spcPts val="0"/>
              </a:spcBef>
              <a:spcAft>
                <a:spcPts val="600"/>
              </a:spcAft>
              <a:buClr>
                <a:srgbClr val="000000"/>
              </a:buClr>
              <a:buSzPts val="1760"/>
              <a:buFont typeface="Wingdings" panose="05000000000000000000" pitchFamily="2" charset="2"/>
              <a:buChar char="q"/>
            </a:pPr>
            <a:r>
              <a:rPr lang="en-US" sz="1900" dirty="0">
                <a:solidFill>
                  <a:schemeClr val="lt2"/>
                </a:solidFill>
              </a:rPr>
              <a:t>La población son </a:t>
            </a:r>
            <a:r>
              <a:rPr lang="en-US" sz="1900" dirty="0" err="1">
                <a:solidFill>
                  <a:schemeClr val="lt2"/>
                </a:solidFill>
              </a:rPr>
              <a:t>los</a:t>
            </a:r>
            <a:r>
              <a:rPr lang="en-US" sz="1900" dirty="0">
                <a:solidFill>
                  <a:schemeClr val="lt2"/>
                </a:solidFill>
              </a:rPr>
              <a:t> </a:t>
            </a:r>
            <a:r>
              <a:rPr lang="en-US" sz="1900" dirty="0" err="1">
                <a:solidFill>
                  <a:schemeClr val="lt2"/>
                </a:solidFill>
              </a:rPr>
              <a:t>tiempos</a:t>
            </a:r>
            <a:r>
              <a:rPr lang="en-US" sz="1900" dirty="0">
                <a:solidFill>
                  <a:schemeClr val="lt2"/>
                </a:solidFill>
              </a:rPr>
              <a:t>, no las personas (</a:t>
            </a:r>
            <a:r>
              <a:rPr lang="en-US" sz="1900" dirty="0" err="1">
                <a:solidFill>
                  <a:schemeClr val="lt2"/>
                </a:solidFill>
              </a:rPr>
              <a:t>Desde</a:t>
            </a:r>
            <a:r>
              <a:rPr lang="en-US" sz="1900" dirty="0">
                <a:solidFill>
                  <a:schemeClr val="lt2"/>
                </a:solidFill>
              </a:rPr>
              <a:t> </a:t>
            </a:r>
            <a:r>
              <a:rPr lang="en-US" sz="1900" dirty="0" err="1">
                <a:solidFill>
                  <a:schemeClr val="lt2"/>
                </a:solidFill>
              </a:rPr>
              <a:t>el</a:t>
            </a:r>
            <a:r>
              <a:rPr lang="en-US" sz="1900" dirty="0">
                <a:solidFill>
                  <a:schemeClr val="lt2"/>
                </a:solidFill>
              </a:rPr>
              <a:t> </a:t>
            </a:r>
            <a:r>
              <a:rPr lang="en-US" sz="1900" dirty="0" err="1">
                <a:solidFill>
                  <a:schemeClr val="lt2"/>
                </a:solidFill>
              </a:rPr>
              <a:t>enfoque</a:t>
            </a:r>
            <a:r>
              <a:rPr lang="en-US" sz="1900" dirty="0">
                <a:solidFill>
                  <a:schemeClr val="lt2"/>
                </a:solidFill>
              </a:rPr>
              <a:t> del </a:t>
            </a:r>
            <a:r>
              <a:rPr lang="en-US" sz="1900" dirty="0" err="1">
                <a:solidFill>
                  <a:schemeClr val="lt2"/>
                </a:solidFill>
              </a:rPr>
              <a:t>analisis</a:t>
            </a:r>
            <a:r>
              <a:rPr lang="en-US" sz="1900" dirty="0">
                <a:solidFill>
                  <a:schemeClr val="lt2"/>
                </a:solidFill>
              </a:rPr>
              <a:t>)</a:t>
            </a:r>
          </a:p>
          <a:p>
            <a:pPr marL="0" indent="0">
              <a:lnSpc>
                <a:spcPct val="90000"/>
              </a:lnSpc>
              <a:spcBef>
                <a:spcPts val="0"/>
              </a:spcBef>
              <a:spcAft>
                <a:spcPts val="600"/>
              </a:spcAft>
              <a:buClr>
                <a:srgbClr val="000000"/>
              </a:buClr>
              <a:buSzPts val="1760"/>
              <a:buFont typeface="Noto Sans Symbols"/>
              <a:buNone/>
            </a:pPr>
            <a:endParaRPr lang="en-US" sz="1900" dirty="0">
              <a:solidFill>
                <a:schemeClr val="lt2"/>
              </a:solidFill>
            </a:endParaRPr>
          </a:p>
          <a:p>
            <a:pPr marL="0" indent="0">
              <a:lnSpc>
                <a:spcPct val="90000"/>
              </a:lnSpc>
              <a:spcBef>
                <a:spcPts val="0"/>
              </a:spcBef>
              <a:spcAft>
                <a:spcPts val="600"/>
              </a:spcAft>
              <a:buClr>
                <a:srgbClr val="000000"/>
              </a:buClr>
              <a:buSzPts val="1760"/>
              <a:buFont typeface="Noto Sans Symbols"/>
              <a:buNone/>
            </a:pPr>
            <a:r>
              <a:rPr lang="en-US" sz="1900" dirty="0">
                <a:solidFill>
                  <a:schemeClr val="lt2"/>
                </a:solidFill>
              </a:rPr>
              <a:t> </a:t>
            </a:r>
          </a:p>
        </p:txBody>
      </p:sp>
    </p:spTree>
    <p:extLst>
      <p:ext uri="{BB962C8B-B14F-4D97-AF65-F5344CB8AC3E}">
        <p14:creationId xmlns:p14="http://schemas.microsoft.com/office/powerpoint/2010/main" val="3996485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5" name="Marcador de texto 4">
            <a:extLst>
              <a:ext uri="{FF2B5EF4-FFF2-40B4-BE49-F238E27FC236}">
                <a16:creationId xmlns:a16="http://schemas.microsoft.com/office/drawing/2014/main" id="{AC98847E-76EB-5759-20C9-B031332A378E}"/>
              </a:ext>
            </a:extLst>
          </p:cNvPr>
          <p:cNvSpPr>
            <a:spLocks noGrp="1"/>
          </p:cNvSpPr>
          <p:nvPr>
            <p:ph type="body" idx="1"/>
          </p:nvPr>
        </p:nvSpPr>
        <p:spPr>
          <a:xfrm>
            <a:off x="312645" y="330741"/>
            <a:ext cx="10179708" cy="903955"/>
          </a:xfrm>
        </p:spPr>
        <p:txBody>
          <a:bodyPr>
            <a:normAutofit/>
          </a:bodyPr>
          <a:lstStyle/>
          <a:p>
            <a:pPr marL="137160" indent="0">
              <a:buNone/>
            </a:pPr>
            <a:r>
              <a:rPr lang="en-US" sz="1700" dirty="0"/>
              <a:t>Antes de </a:t>
            </a:r>
            <a:r>
              <a:rPr lang="en-US" sz="1700" dirty="0" err="1"/>
              <a:t>continuar</a:t>
            </a:r>
            <a:r>
              <a:rPr lang="en-US" sz="1700" dirty="0"/>
              <a:t> hay que </a:t>
            </a:r>
            <a:r>
              <a:rPr lang="en-US" sz="1700" dirty="0" err="1"/>
              <a:t>ver</a:t>
            </a:r>
            <a:r>
              <a:rPr lang="en-US" sz="1700" dirty="0"/>
              <a:t> </a:t>
            </a:r>
            <a:r>
              <a:rPr lang="en-US" sz="1700" dirty="0" err="1"/>
              <a:t>como</a:t>
            </a:r>
            <a:r>
              <a:rPr lang="en-US" sz="1700" dirty="0"/>
              <a:t> </a:t>
            </a:r>
            <a:r>
              <a:rPr lang="en-US" sz="1700" dirty="0" err="1"/>
              <a:t>funcional</a:t>
            </a:r>
            <a:r>
              <a:rPr lang="en-US" sz="1700" dirty="0"/>
              <a:t> </a:t>
            </a:r>
            <a:r>
              <a:rPr lang="en-US" sz="1700" dirty="0" err="1"/>
              <a:t>una</a:t>
            </a:r>
            <a:r>
              <a:rPr lang="en-US" sz="1700" dirty="0"/>
              <a:t> </a:t>
            </a:r>
            <a:r>
              <a:rPr lang="en-US" sz="1700" dirty="0" err="1"/>
              <a:t>prueba</a:t>
            </a:r>
            <a:r>
              <a:rPr lang="en-US" sz="1700" dirty="0"/>
              <a:t> de </a:t>
            </a:r>
            <a:r>
              <a:rPr lang="en-US" sz="1700" dirty="0" err="1"/>
              <a:t>hipotesis</a:t>
            </a:r>
            <a:r>
              <a:rPr lang="en-US" sz="1700" dirty="0"/>
              <a:t>. Ya que es un </a:t>
            </a:r>
            <a:r>
              <a:rPr lang="en-US" sz="1700" dirty="0" err="1"/>
              <a:t>tema</a:t>
            </a:r>
            <a:r>
              <a:rPr lang="en-US" sz="1700" dirty="0"/>
              <a:t> que </a:t>
            </a:r>
            <a:r>
              <a:rPr lang="en-US" sz="1700" dirty="0" err="1"/>
              <a:t>estara</a:t>
            </a:r>
            <a:r>
              <a:rPr lang="en-US" sz="1700" dirty="0"/>
              <a:t> </a:t>
            </a:r>
            <a:r>
              <a:rPr lang="en-US" sz="1700" dirty="0" err="1"/>
              <a:t>presente</a:t>
            </a:r>
            <a:r>
              <a:rPr lang="en-US" sz="1700" dirty="0"/>
              <a:t> </a:t>
            </a:r>
            <a:r>
              <a:rPr lang="en-US" sz="1700" dirty="0" err="1"/>
              <a:t>en</a:t>
            </a:r>
            <a:r>
              <a:rPr lang="en-US" sz="1700" dirty="0"/>
              <a:t> </a:t>
            </a:r>
            <a:r>
              <a:rPr lang="en-US" sz="1700" dirty="0" err="1"/>
              <a:t>el</a:t>
            </a:r>
            <a:r>
              <a:rPr lang="en-US" sz="1700" dirty="0"/>
              <a:t> </a:t>
            </a:r>
            <a:r>
              <a:rPr lang="en-US" sz="1700" dirty="0" err="1"/>
              <a:t>analisis</a:t>
            </a:r>
            <a:r>
              <a:rPr lang="en-US" sz="1700" dirty="0"/>
              <a:t> </a:t>
            </a:r>
            <a:r>
              <a:rPr lang="en-US" sz="1700" dirty="0" err="1"/>
              <a:t>constantemente</a:t>
            </a:r>
            <a:r>
              <a:rPr lang="en-US" sz="1700" dirty="0"/>
              <a:t>…</a:t>
            </a:r>
            <a:endParaRPr lang="es-MX" sz="1700" dirty="0"/>
          </a:p>
        </p:txBody>
      </p:sp>
      <p:sp>
        <p:nvSpPr>
          <p:cNvPr id="8" name="Google Shape;241;p32">
            <a:extLst>
              <a:ext uri="{FF2B5EF4-FFF2-40B4-BE49-F238E27FC236}">
                <a16:creationId xmlns:a16="http://schemas.microsoft.com/office/drawing/2014/main" id="{DA4572FE-8016-385B-D0E8-A9FDDCA58EB6}"/>
              </a:ext>
            </a:extLst>
          </p:cNvPr>
          <p:cNvSpPr txBox="1">
            <a:spLocks noGrp="1"/>
          </p:cNvSpPr>
          <p:nvPr>
            <p:ph type="title"/>
          </p:nvPr>
        </p:nvSpPr>
        <p:spPr>
          <a:xfrm>
            <a:off x="6299965" y="1041480"/>
            <a:ext cx="5579390" cy="776475"/>
          </a:xfrm>
        </p:spPr>
        <p:txBody>
          <a:bodyPr spcFirstLastPara="1" wrap="square" lIns="91425" tIns="45700" rIns="91425" bIns="45700" anchor="ctr" anchorCtr="0">
            <a:normAutofit/>
          </a:bodyPr>
          <a:lstStyle/>
          <a:p>
            <a:pPr marL="0" lvl="0" indent="0" rtl="0">
              <a:spcBef>
                <a:spcPts val="0"/>
              </a:spcBef>
              <a:spcAft>
                <a:spcPts val="0"/>
              </a:spcAft>
              <a:buClr>
                <a:schemeClr val="lt2"/>
              </a:buClr>
              <a:buSzPts val="4200"/>
              <a:buFont typeface="Century Gothic"/>
              <a:buNone/>
            </a:pPr>
            <a:r>
              <a:rPr lang="en-US" b="1" dirty="0"/>
              <a:t>P</a:t>
            </a:r>
            <a:r>
              <a:rPr lang="es-MX" b="1" dirty="0" err="1"/>
              <a:t>rueba</a:t>
            </a:r>
            <a:r>
              <a:rPr lang="es-MX" b="1" dirty="0"/>
              <a:t> de </a:t>
            </a:r>
            <a:r>
              <a:rPr lang="es-MX" b="1" dirty="0" err="1"/>
              <a:t>Hipotesis</a:t>
            </a:r>
            <a:endParaRPr lang="es-MX" b="1" dirty="0"/>
          </a:p>
        </p:txBody>
      </p:sp>
      <p:sp>
        <p:nvSpPr>
          <p:cNvPr id="9" name="Marcador de texto 4">
            <a:extLst>
              <a:ext uri="{FF2B5EF4-FFF2-40B4-BE49-F238E27FC236}">
                <a16:creationId xmlns:a16="http://schemas.microsoft.com/office/drawing/2014/main" id="{6E6F78BA-1C53-5C27-E303-B12F84AED8C4}"/>
              </a:ext>
            </a:extLst>
          </p:cNvPr>
          <p:cNvSpPr txBox="1">
            <a:spLocks/>
          </p:cNvSpPr>
          <p:nvPr/>
        </p:nvSpPr>
        <p:spPr>
          <a:xfrm>
            <a:off x="156322" y="1733130"/>
            <a:ext cx="11879355" cy="903955"/>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137160" indent="0">
              <a:buFont typeface="Noto Sans Symbols"/>
              <a:buNone/>
            </a:pPr>
            <a:r>
              <a:rPr lang="es-MX" sz="1800" dirty="0"/>
              <a:t>Es un procedimiento estadístico que te permite decidir si una afirmación sobre una población es razonable a partir de una </a:t>
            </a:r>
            <a:r>
              <a:rPr lang="es-MX" sz="1800" dirty="0" err="1"/>
              <a:t>m.a</a:t>
            </a:r>
            <a:r>
              <a:rPr lang="es-MX" sz="1800" dirty="0"/>
              <a:t>. (con la utilización de los I.C.). Para ello vamos a requerir lo que 2 propuesta a analizar:</a:t>
            </a:r>
            <a:endParaRPr lang="es-MX" dirty="0"/>
          </a:p>
        </p:txBody>
      </p:sp>
      <p:sp>
        <p:nvSpPr>
          <p:cNvPr id="11" name="CuadroTexto 10">
            <a:extLst>
              <a:ext uri="{FF2B5EF4-FFF2-40B4-BE49-F238E27FC236}">
                <a16:creationId xmlns:a16="http://schemas.microsoft.com/office/drawing/2014/main" id="{AFA90337-4C60-F8FC-17C8-05CBAB331191}"/>
              </a:ext>
            </a:extLst>
          </p:cNvPr>
          <p:cNvSpPr txBox="1"/>
          <p:nvPr/>
        </p:nvSpPr>
        <p:spPr>
          <a:xfrm>
            <a:off x="2404879" y="2637085"/>
            <a:ext cx="7382240" cy="707886"/>
          </a:xfrm>
          <a:prstGeom prst="rect">
            <a:avLst/>
          </a:prstGeom>
          <a:noFill/>
        </p:spPr>
        <p:txBody>
          <a:bodyPr wrap="square" numCol="2">
            <a:spAutoFit/>
          </a:bodyPr>
          <a:lstStyle/>
          <a:p>
            <a:r>
              <a:rPr lang="es-MX" sz="2000" dirty="0">
                <a:solidFill>
                  <a:schemeClr val="bg1"/>
                </a:solidFill>
                <a:latin typeface="Century Gothic" panose="020B0502020202020204" pitchFamily="34" charset="0"/>
              </a:rPr>
              <a:t> </a:t>
            </a:r>
            <a:r>
              <a:rPr lang="es-MX" sz="2000" b="1" dirty="0">
                <a:solidFill>
                  <a:schemeClr val="bg1"/>
                </a:solidFill>
                <a:latin typeface="Century Gothic" panose="020B0502020202020204" pitchFamily="34" charset="0"/>
              </a:rPr>
              <a:t>H₀</a:t>
            </a:r>
            <a:r>
              <a:rPr lang="es-MX" sz="2000" dirty="0">
                <a:solidFill>
                  <a:schemeClr val="bg1"/>
                </a:solidFill>
                <a:latin typeface="Century Gothic" panose="020B0502020202020204" pitchFamily="34" charset="0"/>
              </a:rPr>
              <a:t>: enunciado </a:t>
            </a:r>
          </a:p>
          <a:p>
            <a:pPr algn="ctr"/>
            <a:r>
              <a:rPr lang="es-MX" sz="2000" b="1" dirty="0"/>
              <a:t>Hipótesis nula</a:t>
            </a:r>
            <a:r>
              <a:rPr lang="es-MX" sz="2000" dirty="0">
                <a:solidFill>
                  <a:schemeClr val="bg1"/>
                </a:solidFill>
                <a:latin typeface="Century Gothic" panose="020B0502020202020204" pitchFamily="34" charset="0"/>
              </a:rPr>
              <a:t> </a:t>
            </a:r>
          </a:p>
          <a:p>
            <a:r>
              <a:rPr lang="es-MX" sz="2000" b="1" dirty="0">
                <a:solidFill>
                  <a:schemeClr val="bg1"/>
                </a:solidFill>
                <a:latin typeface="Century Gothic" panose="020B0502020202020204" pitchFamily="34" charset="0"/>
              </a:rPr>
              <a:t>Hₐ</a:t>
            </a:r>
            <a:r>
              <a:rPr lang="es-MX" sz="2000" dirty="0">
                <a:solidFill>
                  <a:schemeClr val="bg1"/>
                </a:solidFill>
                <a:latin typeface="Century Gothic" panose="020B0502020202020204" pitchFamily="34" charset="0"/>
              </a:rPr>
              <a:t>: (enunciado)ᶜ</a:t>
            </a:r>
            <a:r>
              <a:rPr lang="es-MX" sz="2000" b="1" dirty="0"/>
              <a:t> </a:t>
            </a:r>
          </a:p>
          <a:p>
            <a:pPr algn="ctr"/>
            <a:r>
              <a:rPr lang="es-MX" sz="2000" b="1" dirty="0"/>
              <a:t>Hipótesis alternativa </a:t>
            </a:r>
            <a:endParaRPr lang="es-MX" sz="2000" dirty="0">
              <a:solidFill>
                <a:schemeClr val="bg1"/>
              </a:solidFill>
              <a:latin typeface="Century Gothic" panose="020B0502020202020204" pitchFamily="34" charset="0"/>
            </a:endParaRPr>
          </a:p>
        </p:txBody>
      </p:sp>
      <p:sp>
        <p:nvSpPr>
          <p:cNvPr id="13" name="Marcador de texto 4">
            <a:extLst>
              <a:ext uri="{FF2B5EF4-FFF2-40B4-BE49-F238E27FC236}">
                <a16:creationId xmlns:a16="http://schemas.microsoft.com/office/drawing/2014/main" id="{B8BC707E-0412-BE3B-7CCC-8BEC43D55DE3}"/>
              </a:ext>
            </a:extLst>
          </p:cNvPr>
          <p:cNvSpPr txBox="1">
            <a:spLocks/>
          </p:cNvSpPr>
          <p:nvPr/>
        </p:nvSpPr>
        <p:spPr>
          <a:xfrm>
            <a:off x="312645" y="3316962"/>
            <a:ext cx="11879355" cy="127262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137160" indent="0">
              <a:buFont typeface="Noto Sans Symbols"/>
              <a:buNone/>
            </a:pPr>
            <a:r>
              <a:rPr lang="en-US" dirty="0"/>
              <a:t>Este </a:t>
            </a:r>
            <a:r>
              <a:rPr lang="en-US" dirty="0" err="1"/>
              <a:t>parametro</a:t>
            </a:r>
            <a:r>
              <a:rPr lang="en-US" dirty="0"/>
              <a:t> que </a:t>
            </a:r>
            <a:r>
              <a:rPr lang="en-US" dirty="0" err="1"/>
              <a:t>deseamos</a:t>
            </a:r>
            <a:r>
              <a:rPr lang="en-US" dirty="0"/>
              <a:t> </a:t>
            </a:r>
            <a:r>
              <a:rPr lang="en-US" dirty="0" err="1"/>
              <a:t>analizar</a:t>
            </a:r>
            <a:r>
              <a:rPr lang="en-US" dirty="0"/>
              <a:t> </a:t>
            </a:r>
            <a:r>
              <a:rPr lang="en-US" dirty="0" err="1"/>
              <a:t>comunmente</a:t>
            </a:r>
            <a:r>
              <a:rPr lang="en-US" dirty="0"/>
              <a:t> </a:t>
            </a:r>
            <a:r>
              <a:rPr lang="en-US" dirty="0" err="1"/>
              <a:t>tiene</a:t>
            </a:r>
            <a:r>
              <a:rPr lang="en-US" dirty="0"/>
              <a:t> un </a:t>
            </a:r>
            <a:r>
              <a:rPr lang="en-US" dirty="0" err="1"/>
              <a:t>estimador</a:t>
            </a:r>
            <a:r>
              <a:rPr lang="en-US" dirty="0"/>
              <a:t> (</a:t>
            </a:r>
            <a:r>
              <a:rPr lang="en-US" dirty="0" err="1"/>
              <a:t>estadistico</a:t>
            </a:r>
            <a:r>
              <a:rPr lang="en-US" dirty="0"/>
              <a:t> de </a:t>
            </a:r>
            <a:r>
              <a:rPr lang="en-US" dirty="0" err="1"/>
              <a:t>prueba</a:t>
            </a:r>
            <a:r>
              <a:rPr lang="en-US" dirty="0"/>
              <a:t>)y </a:t>
            </a:r>
            <a:r>
              <a:rPr lang="en-US" dirty="0" err="1"/>
              <a:t>por</a:t>
            </a:r>
            <a:r>
              <a:rPr lang="en-US" dirty="0"/>
              <a:t> </a:t>
            </a:r>
            <a:r>
              <a:rPr lang="en-US" dirty="0" err="1"/>
              <a:t>ende</a:t>
            </a:r>
            <a:r>
              <a:rPr lang="en-US" dirty="0"/>
              <a:t>, </a:t>
            </a:r>
            <a:r>
              <a:rPr lang="en-US" dirty="0" err="1"/>
              <a:t>maneja</a:t>
            </a:r>
            <a:r>
              <a:rPr lang="en-US" dirty="0"/>
              <a:t> lo que es </a:t>
            </a:r>
            <a:r>
              <a:rPr lang="en-US" dirty="0" err="1"/>
              <a:t>una</a:t>
            </a:r>
            <a:r>
              <a:rPr lang="en-US" dirty="0"/>
              <a:t> </a:t>
            </a:r>
            <a:r>
              <a:rPr lang="en-US" dirty="0" err="1"/>
              <a:t>distribucion</a:t>
            </a:r>
            <a:r>
              <a:rPr lang="en-US" dirty="0"/>
              <a:t> (</a:t>
            </a:r>
            <a:r>
              <a:rPr lang="en-US" dirty="0" err="1"/>
              <a:t>pero</a:t>
            </a:r>
            <a:r>
              <a:rPr lang="en-US" dirty="0"/>
              <a:t> </a:t>
            </a:r>
            <a:r>
              <a:rPr lang="en-US" dirty="0" err="1"/>
              <a:t>podemos</a:t>
            </a:r>
            <a:r>
              <a:rPr lang="en-US" dirty="0"/>
              <a:t> </a:t>
            </a:r>
            <a:r>
              <a:rPr lang="en-US" dirty="0" err="1"/>
              <a:t>hacer</a:t>
            </a:r>
            <a:r>
              <a:rPr lang="en-US" dirty="0"/>
              <a:t> la </a:t>
            </a:r>
            <a:r>
              <a:rPr lang="en-US" dirty="0" err="1"/>
              <a:t>transformaciones</a:t>
            </a:r>
            <a:r>
              <a:rPr lang="en-US" dirty="0"/>
              <a:t> </a:t>
            </a:r>
            <a:r>
              <a:rPr lang="en-US" dirty="0" err="1"/>
              <a:t>necesaria</a:t>
            </a:r>
            <a:r>
              <a:rPr lang="en-US" dirty="0"/>
              <a:t> para un </a:t>
            </a:r>
            <a:r>
              <a:rPr lang="en-US" dirty="0" err="1"/>
              <a:t>calculo</a:t>
            </a:r>
            <a:r>
              <a:rPr lang="en-US" dirty="0"/>
              <a:t> mas simple).</a:t>
            </a:r>
          </a:p>
        </p:txBody>
      </p:sp>
      <p:pic>
        <p:nvPicPr>
          <p:cNvPr id="17" name="Imagen 16">
            <a:extLst>
              <a:ext uri="{FF2B5EF4-FFF2-40B4-BE49-F238E27FC236}">
                <a16:creationId xmlns:a16="http://schemas.microsoft.com/office/drawing/2014/main" id="{EE6319B8-62BE-8906-7B46-67E5D0C41765}"/>
              </a:ext>
            </a:extLst>
          </p:cNvPr>
          <p:cNvPicPr>
            <a:picLocks noChangeAspect="1"/>
          </p:cNvPicPr>
          <p:nvPr/>
        </p:nvPicPr>
        <p:blipFill>
          <a:blip r:embed="rId3"/>
          <a:stretch>
            <a:fillRect/>
          </a:stretch>
        </p:blipFill>
        <p:spPr>
          <a:xfrm>
            <a:off x="4871544" y="4589586"/>
            <a:ext cx="2132388" cy="872991"/>
          </a:xfrm>
          <a:prstGeom prst="rect">
            <a:avLst/>
          </a:prstGeom>
        </p:spPr>
      </p:pic>
      <p:sp>
        <p:nvSpPr>
          <p:cNvPr id="20" name="Marcador de texto 4">
            <a:extLst>
              <a:ext uri="{FF2B5EF4-FFF2-40B4-BE49-F238E27FC236}">
                <a16:creationId xmlns:a16="http://schemas.microsoft.com/office/drawing/2014/main" id="{A5E63D12-B3C4-2177-FB3C-A00BD2278B75}"/>
              </a:ext>
            </a:extLst>
          </p:cNvPr>
          <p:cNvSpPr txBox="1">
            <a:spLocks/>
          </p:cNvSpPr>
          <p:nvPr/>
        </p:nvSpPr>
        <p:spPr>
          <a:xfrm>
            <a:off x="156322" y="5411062"/>
            <a:ext cx="11879355" cy="127262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137160" indent="0">
              <a:buFont typeface="Noto Sans Symbols"/>
              <a:buNone/>
            </a:pPr>
            <a:r>
              <a:rPr lang="en-US" dirty="0"/>
              <a:t>Lo que </a:t>
            </a:r>
            <a:r>
              <a:rPr lang="en-US" dirty="0" err="1"/>
              <a:t>suele</a:t>
            </a:r>
            <a:r>
              <a:rPr lang="en-US" dirty="0"/>
              <a:t> pasar con </a:t>
            </a:r>
            <a:r>
              <a:rPr lang="en-US" dirty="0" err="1"/>
              <a:t>esta</a:t>
            </a:r>
            <a:r>
              <a:rPr lang="en-US" dirty="0"/>
              <a:t> </a:t>
            </a:r>
            <a:r>
              <a:rPr lang="en-US" dirty="0" err="1"/>
              <a:t>pruebas</a:t>
            </a:r>
            <a:r>
              <a:rPr lang="en-US" dirty="0"/>
              <a:t> es que </a:t>
            </a:r>
            <a:r>
              <a:rPr lang="en-US" dirty="0" err="1"/>
              <a:t>el</a:t>
            </a:r>
            <a:r>
              <a:rPr lang="en-US" dirty="0"/>
              <a:t> valor </a:t>
            </a:r>
            <a:r>
              <a:rPr lang="en-US" dirty="0" err="1"/>
              <a:t>numerico</a:t>
            </a:r>
            <a:r>
              <a:rPr lang="en-US" dirty="0"/>
              <a:t> de H0 con </a:t>
            </a:r>
            <a:r>
              <a:rPr lang="en-US" dirty="0" err="1"/>
              <a:t>respecto</a:t>
            </a:r>
            <a:r>
              <a:rPr lang="en-US" dirty="0"/>
              <a:t> al valor de Ha sea </a:t>
            </a:r>
            <a:r>
              <a:rPr lang="en-US" dirty="0" err="1"/>
              <a:t>cierto</a:t>
            </a:r>
            <a:r>
              <a:rPr lang="en-US" dirty="0"/>
              <a:t> o </a:t>
            </a:r>
            <a:r>
              <a:rPr lang="en-US" dirty="0" err="1"/>
              <a:t>falso</a:t>
            </a:r>
            <a:r>
              <a:rPr lang="en-US" dirty="0"/>
              <a:t> </a:t>
            </a:r>
            <a:r>
              <a:rPr lang="en-US" dirty="0" err="1"/>
              <a:t>en</a:t>
            </a:r>
            <a:r>
              <a:rPr lang="en-US" dirty="0"/>
              <a:t> la </a:t>
            </a:r>
            <a:r>
              <a:rPr lang="en-US" dirty="0" err="1"/>
              <a:t>operacion</a:t>
            </a:r>
            <a:r>
              <a:rPr lang="en-US" dirty="0"/>
              <a:t> </a:t>
            </a:r>
            <a:r>
              <a:rPr lang="en-US" dirty="0" err="1"/>
              <a:t>logica</a:t>
            </a:r>
            <a:r>
              <a:rPr lang="en-US" dirty="0"/>
              <a:t> que </a:t>
            </a:r>
            <a:r>
              <a:rPr lang="en-US" dirty="0" err="1"/>
              <a:t>surja</a:t>
            </a: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15" name="Imagen 14">
            <a:extLst>
              <a:ext uri="{FF2B5EF4-FFF2-40B4-BE49-F238E27FC236}">
                <a16:creationId xmlns:a16="http://schemas.microsoft.com/office/drawing/2014/main" id="{D4C80DCD-9339-DB2B-52E1-BCA558008AF2}"/>
              </a:ext>
            </a:extLst>
          </p:cNvPr>
          <p:cNvPicPr>
            <a:picLocks noChangeAspect="1"/>
          </p:cNvPicPr>
          <p:nvPr/>
        </p:nvPicPr>
        <p:blipFill>
          <a:blip r:embed="rId3"/>
          <a:stretch>
            <a:fillRect/>
          </a:stretch>
        </p:blipFill>
        <p:spPr>
          <a:xfrm>
            <a:off x="5312364" y="1059813"/>
            <a:ext cx="6566991" cy="3646243"/>
          </a:xfrm>
          <a:prstGeom prst="rect">
            <a:avLst/>
          </a:prstGeom>
        </p:spPr>
      </p:pic>
      <p:sp>
        <p:nvSpPr>
          <p:cNvPr id="19" name="CuadroTexto 18">
            <a:extLst>
              <a:ext uri="{FF2B5EF4-FFF2-40B4-BE49-F238E27FC236}">
                <a16:creationId xmlns:a16="http://schemas.microsoft.com/office/drawing/2014/main" id="{67B847BD-5001-16B1-D9DC-595DEB7908EB}"/>
              </a:ext>
            </a:extLst>
          </p:cNvPr>
          <p:cNvSpPr txBox="1"/>
          <p:nvPr/>
        </p:nvSpPr>
        <p:spPr>
          <a:xfrm>
            <a:off x="533192" y="4754691"/>
            <a:ext cx="11346163" cy="707886"/>
          </a:xfrm>
          <a:prstGeom prst="rect">
            <a:avLst/>
          </a:prstGeom>
          <a:noFill/>
        </p:spPr>
        <p:txBody>
          <a:bodyPr wrap="square">
            <a:spAutoFit/>
          </a:bodyPr>
          <a:lstStyle/>
          <a:p>
            <a:pPr marL="137160" indent="0">
              <a:buFont typeface="Noto Sans Symbols"/>
              <a:buNone/>
            </a:pPr>
            <a:r>
              <a:rPr lang="en-US" sz="2000" dirty="0">
                <a:solidFill>
                  <a:schemeClr val="bg1"/>
                </a:solidFill>
                <a:latin typeface="Century Gothic" panose="020B0502020202020204" pitchFamily="34" charset="0"/>
              </a:rPr>
              <a:t>Pero es claro que </a:t>
            </a:r>
            <a:r>
              <a:rPr lang="en-US" sz="2000" dirty="0" err="1">
                <a:solidFill>
                  <a:schemeClr val="bg1"/>
                </a:solidFill>
                <a:latin typeface="Century Gothic" panose="020B0502020202020204" pitchFamily="34" charset="0"/>
              </a:rPr>
              <a:t>debemos</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establecer</a:t>
            </a:r>
            <a:r>
              <a:rPr lang="en-US" sz="2000" dirty="0">
                <a:solidFill>
                  <a:schemeClr val="bg1"/>
                </a:solidFill>
                <a:latin typeface="Century Gothic" panose="020B0502020202020204" pitchFamily="34" charset="0"/>
              </a:rPr>
              <a:t> lo que un </a:t>
            </a:r>
            <a:r>
              <a:rPr lang="en-US" sz="2000" dirty="0" err="1">
                <a:solidFill>
                  <a:schemeClr val="bg1"/>
                </a:solidFill>
                <a:latin typeface="Century Gothic" panose="020B0502020202020204" pitchFamily="34" charset="0"/>
              </a:rPr>
              <a:t>nivel</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confianza</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significancia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esta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prueba</a:t>
            </a:r>
            <a:r>
              <a:rPr lang="en-US" sz="2000" dirty="0">
                <a:solidFill>
                  <a:schemeClr val="bg1"/>
                </a:solidFill>
                <a:latin typeface="Century Gothic" panose="020B0502020202020204" pitchFamily="34" charset="0"/>
              </a:rPr>
              <a:t> se </a:t>
            </a:r>
            <a:r>
              <a:rPr lang="en-US" sz="2000" dirty="0" err="1">
                <a:solidFill>
                  <a:schemeClr val="bg1"/>
                </a:solidFill>
                <a:latin typeface="Century Gothic" panose="020B0502020202020204" pitchFamily="34" charset="0"/>
              </a:rPr>
              <a:t>puede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equivocar</a:t>
            </a:r>
            <a:r>
              <a:rPr lang="en-US" sz="2000" dirty="0">
                <a:solidFill>
                  <a:schemeClr val="bg1"/>
                </a:solidFill>
                <a:latin typeface="Century Gothic" panose="020B0502020202020204" pitchFamily="34" charset="0"/>
              </a:rPr>
              <a:t>)</a:t>
            </a:r>
            <a:endParaRPr lang="es-MX" sz="2000" dirty="0">
              <a:solidFill>
                <a:schemeClr val="bg1"/>
              </a:solidFill>
              <a:latin typeface="Century Gothic" panose="020B0502020202020204" pitchFamily="34" charset="0"/>
            </a:endParaRPr>
          </a:p>
        </p:txBody>
      </p:sp>
      <p:sp>
        <p:nvSpPr>
          <p:cNvPr id="6" name="CuadroTexto 5">
            <a:extLst>
              <a:ext uri="{FF2B5EF4-FFF2-40B4-BE49-F238E27FC236}">
                <a16:creationId xmlns:a16="http://schemas.microsoft.com/office/drawing/2014/main" id="{1361F455-D7BF-B932-6548-69AD7018A231}"/>
              </a:ext>
            </a:extLst>
          </p:cNvPr>
          <p:cNvSpPr txBox="1"/>
          <p:nvPr/>
        </p:nvSpPr>
        <p:spPr>
          <a:xfrm>
            <a:off x="123093" y="333594"/>
            <a:ext cx="6242538" cy="707886"/>
          </a:xfrm>
          <a:prstGeom prst="rect">
            <a:avLst/>
          </a:prstGeom>
          <a:noFill/>
        </p:spPr>
        <p:txBody>
          <a:bodyPr wrap="square">
            <a:spAutoFit/>
          </a:bodyPr>
          <a:lstStyle/>
          <a:p>
            <a:pPr marL="480060" indent="-342900">
              <a:buFont typeface="Wingdings" panose="05000000000000000000" pitchFamily="2" charset="2"/>
              <a:buChar char="Ø"/>
            </a:pPr>
            <a:r>
              <a:rPr lang="en-US" sz="2000" dirty="0">
                <a:solidFill>
                  <a:schemeClr val="bg1"/>
                </a:solidFill>
                <a:latin typeface="Century Gothic" panose="020B0502020202020204" pitchFamily="34" charset="0"/>
              </a:rPr>
              <a:t>Si se </a:t>
            </a:r>
            <a:r>
              <a:rPr lang="en-US" sz="2000" dirty="0" err="1">
                <a:solidFill>
                  <a:schemeClr val="bg1"/>
                </a:solidFill>
                <a:latin typeface="Century Gothic" panose="020B0502020202020204" pitchFamily="34" charset="0"/>
              </a:rPr>
              <a:t>cumple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implica</a:t>
            </a:r>
            <a:r>
              <a:rPr lang="en-US" sz="2000" dirty="0">
                <a:solidFill>
                  <a:schemeClr val="bg1"/>
                </a:solidFill>
                <a:latin typeface="Century Gothic" panose="020B0502020202020204" pitchFamily="34" charset="0"/>
              </a:rPr>
              <a:t> que se </a:t>
            </a:r>
            <a:r>
              <a:rPr lang="en-US" sz="2000" dirty="0" err="1">
                <a:solidFill>
                  <a:schemeClr val="bg1"/>
                </a:solidFill>
                <a:latin typeface="Century Gothic" panose="020B0502020202020204" pitchFamily="34" charset="0"/>
              </a:rPr>
              <a:t>acepta</a:t>
            </a:r>
            <a:r>
              <a:rPr lang="en-US" sz="2000" dirty="0">
                <a:solidFill>
                  <a:schemeClr val="bg1"/>
                </a:solidFill>
                <a:latin typeface="Century Gothic" panose="020B0502020202020204" pitchFamily="34" charset="0"/>
              </a:rPr>
              <a:t> H0</a:t>
            </a:r>
          </a:p>
          <a:p>
            <a:pPr marL="480060" indent="-342900">
              <a:buFont typeface="Wingdings" panose="05000000000000000000" pitchFamily="2" charset="2"/>
              <a:buChar char="Ø"/>
            </a:pPr>
            <a:r>
              <a:rPr lang="en-US" sz="2000" dirty="0">
                <a:solidFill>
                  <a:schemeClr val="bg1"/>
                </a:solidFill>
                <a:latin typeface="Century Gothic" panose="020B0502020202020204" pitchFamily="34" charset="0"/>
              </a:rPr>
              <a:t>Si no se </a:t>
            </a:r>
            <a:r>
              <a:rPr lang="en-US" sz="2000" dirty="0" err="1">
                <a:solidFill>
                  <a:schemeClr val="bg1"/>
                </a:solidFill>
                <a:latin typeface="Century Gothic" panose="020B0502020202020204" pitchFamily="34" charset="0"/>
              </a:rPr>
              <a:t>cumple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implica</a:t>
            </a:r>
            <a:r>
              <a:rPr lang="en-US" sz="2000" dirty="0">
                <a:solidFill>
                  <a:schemeClr val="bg1"/>
                </a:solidFill>
                <a:latin typeface="Century Gothic" panose="020B0502020202020204" pitchFamily="34" charset="0"/>
              </a:rPr>
              <a:t> que se </a:t>
            </a:r>
            <a:r>
              <a:rPr lang="en-US" sz="2000" dirty="0" err="1">
                <a:solidFill>
                  <a:schemeClr val="bg1"/>
                </a:solidFill>
                <a:latin typeface="Century Gothic" panose="020B0502020202020204" pitchFamily="34" charset="0"/>
              </a:rPr>
              <a:t>rechaza</a:t>
            </a:r>
            <a:r>
              <a:rPr lang="en-US" sz="2000" dirty="0">
                <a:solidFill>
                  <a:schemeClr val="bg1"/>
                </a:solidFill>
                <a:latin typeface="Century Gothic" panose="020B0502020202020204" pitchFamily="34" charset="0"/>
              </a:rPr>
              <a:t> H0</a:t>
            </a:r>
            <a:endParaRPr lang="es-MX" sz="2000" dirty="0">
              <a:solidFill>
                <a:schemeClr val="bg1"/>
              </a:solidFill>
              <a:latin typeface="Century Gothic" panose="020B0502020202020204" pitchFamily="34" charset="0"/>
            </a:endParaRPr>
          </a:p>
        </p:txBody>
      </p:sp>
      <p:sp>
        <p:nvSpPr>
          <p:cNvPr id="7" name="CuadroTexto 6">
            <a:extLst>
              <a:ext uri="{FF2B5EF4-FFF2-40B4-BE49-F238E27FC236}">
                <a16:creationId xmlns:a16="http://schemas.microsoft.com/office/drawing/2014/main" id="{CC101C83-B7E4-7F0E-095F-358F9D5218D3}"/>
              </a:ext>
            </a:extLst>
          </p:cNvPr>
          <p:cNvSpPr txBox="1"/>
          <p:nvPr/>
        </p:nvSpPr>
        <p:spPr>
          <a:xfrm>
            <a:off x="123093" y="2721114"/>
            <a:ext cx="5043853" cy="707886"/>
          </a:xfrm>
          <a:prstGeom prst="rect">
            <a:avLst/>
          </a:prstGeom>
          <a:noFill/>
        </p:spPr>
        <p:txBody>
          <a:bodyPr wrap="square">
            <a:spAutoFit/>
          </a:bodyPr>
          <a:lstStyle/>
          <a:p>
            <a:pPr marL="137160" algn="ctr"/>
            <a:r>
              <a:rPr lang="en-US" sz="2000" dirty="0">
                <a:solidFill>
                  <a:schemeClr val="bg1"/>
                </a:solidFill>
                <a:latin typeface="Century Gothic" panose="020B0502020202020204" pitchFamily="34" charset="0"/>
              </a:rPr>
              <a:t>Esta </a:t>
            </a:r>
            <a:r>
              <a:rPr lang="en-US" sz="2000" dirty="0" err="1">
                <a:solidFill>
                  <a:schemeClr val="bg1"/>
                </a:solidFill>
                <a:latin typeface="Century Gothic" panose="020B0502020202020204" pitchFamily="34" charset="0"/>
              </a:rPr>
              <a:t>operacion</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logica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va</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acuerdo</a:t>
            </a:r>
            <a:r>
              <a:rPr lang="en-US" sz="2000" dirty="0">
                <a:solidFill>
                  <a:schemeClr val="bg1"/>
                </a:solidFill>
                <a:latin typeface="Century Gothic" panose="020B0502020202020204" pitchFamily="34" charset="0"/>
              </a:rPr>
              <a:t> a la </a:t>
            </a:r>
            <a:r>
              <a:rPr lang="en-US" sz="2000" dirty="0" err="1">
                <a:solidFill>
                  <a:schemeClr val="bg1"/>
                </a:solidFill>
                <a:latin typeface="Century Gothic" panose="020B0502020202020204" pitchFamily="34" charset="0"/>
              </a:rPr>
              <a:t>prueba</a:t>
            </a:r>
            <a:r>
              <a:rPr lang="en-US" sz="2000" dirty="0">
                <a:solidFill>
                  <a:schemeClr val="bg1"/>
                </a:solidFill>
                <a:latin typeface="Century Gothic" panose="020B0502020202020204" pitchFamily="34" charset="0"/>
              </a:rPr>
              <a:t> que se </a:t>
            </a:r>
            <a:r>
              <a:rPr lang="en-US" sz="2000" dirty="0" err="1">
                <a:solidFill>
                  <a:schemeClr val="bg1"/>
                </a:solidFill>
                <a:latin typeface="Century Gothic" panose="020B0502020202020204" pitchFamily="34" charset="0"/>
              </a:rPr>
              <a:t>haga</a:t>
            </a:r>
            <a:endParaRPr lang="es-MX" sz="2000" dirty="0">
              <a:solidFill>
                <a:schemeClr val="bg1"/>
              </a:solidFill>
              <a:latin typeface="Century Gothic" panose="020B0502020202020204" pitchFamily="34" charset="0"/>
            </a:endParaRPr>
          </a:p>
        </p:txBody>
      </p:sp>
      <p:sp>
        <p:nvSpPr>
          <p:cNvPr id="8" name="CuadroTexto 7">
            <a:extLst>
              <a:ext uri="{FF2B5EF4-FFF2-40B4-BE49-F238E27FC236}">
                <a16:creationId xmlns:a16="http://schemas.microsoft.com/office/drawing/2014/main" id="{BF23E976-CEFF-1F1D-D3FA-431BCA99E1D1}"/>
              </a:ext>
            </a:extLst>
          </p:cNvPr>
          <p:cNvSpPr txBox="1"/>
          <p:nvPr/>
        </p:nvSpPr>
        <p:spPr>
          <a:xfrm>
            <a:off x="1675304" y="5677804"/>
            <a:ext cx="9061938" cy="707886"/>
          </a:xfrm>
          <a:prstGeom prst="rect">
            <a:avLst/>
          </a:prstGeom>
          <a:noFill/>
        </p:spPr>
        <p:txBody>
          <a:bodyPr wrap="square">
            <a:spAutoFit/>
          </a:bodyPr>
          <a:lstStyle/>
          <a:p>
            <a:pPr marL="480060" indent="-342900" algn="ctr">
              <a:buFont typeface="Wingdings" panose="05000000000000000000" pitchFamily="2" charset="2"/>
              <a:buChar char="Ø"/>
            </a:pPr>
            <a:r>
              <a:rPr lang="en-US" sz="2000" dirty="0">
                <a:solidFill>
                  <a:schemeClr val="bg1"/>
                </a:solidFill>
                <a:latin typeface="Century Gothic" panose="020B0502020202020204" pitchFamily="34" charset="0"/>
              </a:rPr>
              <a:t>Nivel </a:t>
            </a:r>
            <a:r>
              <a:rPr lang="en-US" sz="2000" dirty="0" err="1">
                <a:solidFill>
                  <a:schemeClr val="bg1"/>
                </a:solidFill>
                <a:latin typeface="Century Gothic" panose="020B0502020202020204" pitchFamily="34" charset="0"/>
              </a:rPr>
              <a:t>Confianza</a:t>
            </a:r>
            <a:r>
              <a:rPr lang="en-US" sz="2000" dirty="0">
                <a:solidFill>
                  <a:schemeClr val="bg1"/>
                </a:solidFill>
                <a:latin typeface="Century Gothic" panose="020B0502020202020204" pitchFamily="34" charset="0"/>
              </a:rPr>
              <a:t> = 1 – </a:t>
            </a:r>
            <a:r>
              <a:rPr lang="el-GR" sz="2000" dirty="0">
                <a:solidFill>
                  <a:schemeClr val="bg1"/>
                </a:solidFill>
                <a:latin typeface="Century Gothic" panose="020B0502020202020204" pitchFamily="34" charset="0"/>
              </a:rPr>
              <a:t>α</a:t>
            </a:r>
            <a:r>
              <a:rPr lang="en-US" sz="2000" dirty="0">
                <a:solidFill>
                  <a:schemeClr val="bg1"/>
                </a:solidFill>
                <a:latin typeface="Century Gothic" panose="020B0502020202020204" pitchFamily="34" charset="0"/>
              </a:rPr>
              <a:t>  (Para la region de </a:t>
            </a:r>
            <a:r>
              <a:rPr lang="en-US" sz="2000" dirty="0" err="1">
                <a:solidFill>
                  <a:schemeClr val="bg1"/>
                </a:solidFill>
                <a:latin typeface="Century Gothic" panose="020B0502020202020204" pitchFamily="34" charset="0"/>
              </a:rPr>
              <a:t>aceptacion</a:t>
            </a:r>
            <a:r>
              <a:rPr lang="en-US" sz="2000" dirty="0">
                <a:solidFill>
                  <a:schemeClr val="bg1"/>
                </a:solidFill>
                <a:latin typeface="Century Gothic" panose="020B0502020202020204" pitchFamily="34" charset="0"/>
              </a:rPr>
              <a:t>)</a:t>
            </a:r>
          </a:p>
          <a:p>
            <a:pPr marL="480060" indent="-342900" algn="ctr">
              <a:buFont typeface="Wingdings" panose="05000000000000000000" pitchFamily="2" charset="2"/>
              <a:buChar char="Ø"/>
            </a:pPr>
            <a:r>
              <a:rPr lang="en-US" sz="2000" dirty="0">
                <a:solidFill>
                  <a:schemeClr val="bg1"/>
                </a:solidFill>
                <a:latin typeface="Century Gothic" panose="020B0502020202020204" pitchFamily="34" charset="0"/>
              </a:rPr>
              <a:t>Nivel de </a:t>
            </a:r>
            <a:r>
              <a:rPr lang="en-US" sz="2000" dirty="0" err="1">
                <a:solidFill>
                  <a:schemeClr val="bg1"/>
                </a:solidFill>
                <a:latin typeface="Century Gothic" panose="020B0502020202020204" pitchFamily="34" charset="0"/>
              </a:rPr>
              <a:t>significancia</a:t>
            </a:r>
            <a:r>
              <a:rPr lang="en-US" sz="2000" dirty="0">
                <a:solidFill>
                  <a:schemeClr val="bg1"/>
                </a:solidFill>
                <a:latin typeface="Century Gothic" panose="020B0502020202020204" pitchFamily="34" charset="0"/>
              </a:rPr>
              <a:t> = </a:t>
            </a:r>
            <a:r>
              <a:rPr lang="el-GR" sz="2000" dirty="0">
                <a:solidFill>
                  <a:schemeClr val="bg1"/>
                </a:solidFill>
                <a:latin typeface="Century Gothic" panose="020B0502020202020204" pitchFamily="34" charset="0"/>
              </a:rPr>
              <a:t>α</a:t>
            </a:r>
            <a:r>
              <a:rPr lang="en-US" sz="2000" dirty="0">
                <a:solidFill>
                  <a:schemeClr val="bg1"/>
                </a:solidFill>
                <a:latin typeface="Century Gothic" panose="020B0502020202020204" pitchFamily="34" charset="0"/>
              </a:rPr>
              <a:t> (para la region de </a:t>
            </a:r>
            <a:r>
              <a:rPr lang="en-US" sz="2000" dirty="0" err="1">
                <a:solidFill>
                  <a:schemeClr val="bg1"/>
                </a:solidFill>
                <a:latin typeface="Century Gothic" panose="020B0502020202020204" pitchFamily="34" charset="0"/>
              </a:rPr>
              <a:t>rechazo</a:t>
            </a:r>
            <a:r>
              <a:rPr lang="en-US" sz="2000" dirty="0">
                <a:solidFill>
                  <a:schemeClr val="bg1"/>
                </a:solidFill>
                <a:latin typeface="Century Gothic" panose="020B0502020202020204" pitchFamily="34" charset="0"/>
              </a:rPr>
              <a:t>)</a:t>
            </a:r>
            <a:endParaRPr lang="es-MX" sz="2000" dirty="0">
              <a:solidFill>
                <a:schemeClr val="bg1"/>
              </a:solidFill>
              <a:latin typeface="Century Gothic" panose="020B0502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5893683-208B-BA5D-9BFE-8AF6BFFF8D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807" y="286769"/>
            <a:ext cx="8825657" cy="18669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9254F948-58D8-9FDD-D5A8-7B8DE7E48242}"/>
              </a:ext>
            </a:extLst>
          </p:cNvPr>
          <p:cNvSpPr txBox="1"/>
          <p:nvPr/>
        </p:nvSpPr>
        <p:spPr>
          <a:xfrm>
            <a:off x="9782908" y="1220219"/>
            <a:ext cx="2409092" cy="584775"/>
          </a:xfrm>
          <a:prstGeom prst="rect">
            <a:avLst/>
          </a:prstGeom>
          <a:noFill/>
        </p:spPr>
        <p:txBody>
          <a:bodyPr wrap="square">
            <a:spAutoFit/>
          </a:bodyPr>
          <a:lstStyle/>
          <a:p>
            <a:pPr marL="137160" algn="ctr"/>
            <a:r>
              <a:rPr lang="en-US" sz="1600" dirty="0">
                <a:solidFill>
                  <a:schemeClr val="bg1"/>
                </a:solidFill>
                <a:latin typeface="Century Gothic" panose="020B0502020202020204" pitchFamily="34" charset="0"/>
              </a:rPr>
              <a:t>Lo negro sera la zona de </a:t>
            </a:r>
            <a:r>
              <a:rPr lang="en-US" sz="1600" dirty="0" err="1">
                <a:solidFill>
                  <a:schemeClr val="bg1"/>
                </a:solidFill>
                <a:latin typeface="Century Gothic" panose="020B0502020202020204" pitchFamily="34" charset="0"/>
              </a:rPr>
              <a:t>rechazo</a:t>
            </a:r>
            <a:endParaRPr lang="es-MX" sz="1600" dirty="0">
              <a:solidFill>
                <a:schemeClr val="bg1"/>
              </a:solidFill>
              <a:latin typeface="Century Gothic" panose="020B0502020202020204" pitchFamily="34" charset="0"/>
            </a:endParaRPr>
          </a:p>
        </p:txBody>
      </p:sp>
      <p:sp>
        <p:nvSpPr>
          <p:cNvPr id="5" name="CuadroTexto 4">
            <a:extLst>
              <a:ext uri="{FF2B5EF4-FFF2-40B4-BE49-F238E27FC236}">
                <a16:creationId xmlns:a16="http://schemas.microsoft.com/office/drawing/2014/main" id="{CAC0AACA-C970-C159-BE4A-9690D7FB269B}"/>
              </a:ext>
            </a:extLst>
          </p:cNvPr>
          <p:cNvSpPr txBox="1"/>
          <p:nvPr/>
        </p:nvSpPr>
        <p:spPr>
          <a:xfrm>
            <a:off x="422918" y="2413337"/>
            <a:ext cx="11346163" cy="1015663"/>
          </a:xfrm>
          <a:prstGeom prst="rect">
            <a:avLst/>
          </a:prstGeom>
          <a:noFill/>
        </p:spPr>
        <p:txBody>
          <a:bodyPr wrap="square">
            <a:spAutoFit/>
          </a:bodyPr>
          <a:lstStyle/>
          <a:p>
            <a:pPr marL="137160" indent="0">
              <a:buFont typeface="Noto Sans Symbols"/>
              <a:buNone/>
            </a:pPr>
            <a:r>
              <a:rPr lang="en-US" sz="2000" dirty="0">
                <a:solidFill>
                  <a:schemeClr val="bg1"/>
                </a:solidFill>
                <a:latin typeface="Century Gothic" panose="020B0502020202020204" pitchFamily="34" charset="0"/>
              </a:rPr>
              <a:t>Y </a:t>
            </a:r>
            <a:r>
              <a:rPr lang="en-US" sz="2000" dirty="0" err="1">
                <a:solidFill>
                  <a:schemeClr val="bg1"/>
                </a:solidFill>
                <a:latin typeface="Century Gothic" panose="020B0502020202020204" pitchFamily="34" charset="0"/>
              </a:rPr>
              <a:t>como</a:t>
            </a:r>
            <a:r>
              <a:rPr lang="en-US" sz="2000" dirty="0">
                <a:solidFill>
                  <a:schemeClr val="bg1"/>
                </a:solidFill>
                <a:latin typeface="Century Gothic" panose="020B0502020202020204" pitchFamily="34" charset="0"/>
              </a:rPr>
              <a:t> se </a:t>
            </a:r>
            <a:r>
              <a:rPr lang="en-US" sz="2000" dirty="0" err="1">
                <a:solidFill>
                  <a:schemeClr val="bg1"/>
                </a:solidFill>
                <a:latin typeface="Century Gothic" panose="020B0502020202020204" pitchFamily="34" charset="0"/>
              </a:rPr>
              <a:t>observa</a:t>
            </a:r>
            <a:r>
              <a:rPr lang="en-US" sz="2000" dirty="0">
                <a:solidFill>
                  <a:schemeClr val="bg1"/>
                </a:solidFill>
                <a:latin typeface="Century Gothic" panose="020B0502020202020204" pitchFamily="34" charset="0"/>
              </a:rPr>
              <a:t> la </a:t>
            </a:r>
            <a:r>
              <a:rPr lang="en-US" sz="2000" dirty="0" err="1">
                <a:solidFill>
                  <a:schemeClr val="bg1"/>
                </a:solidFill>
                <a:latin typeface="Century Gothic" panose="020B0502020202020204" pitchFamily="34" charset="0"/>
              </a:rPr>
              <a:t>grafica</a:t>
            </a:r>
            <a:r>
              <a:rPr lang="en-US" sz="2000" dirty="0">
                <a:solidFill>
                  <a:schemeClr val="bg1"/>
                </a:solidFill>
                <a:latin typeface="Century Gothic" panose="020B0502020202020204" pitchFamily="34" charset="0"/>
              </a:rPr>
              <a:t> las “Zi” sera Nuestro </a:t>
            </a:r>
            <a:r>
              <a:rPr lang="en-US" sz="2000" dirty="0" err="1">
                <a:solidFill>
                  <a:schemeClr val="bg1"/>
                </a:solidFill>
                <a:latin typeface="Century Gothic" panose="020B0502020202020204" pitchFamily="34" charset="0"/>
              </a:rPr>
              <a:t>valores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numericos</a:t>
            </a:r>
            <a:r>
              <a:rPr lang="en-US" sz="2000" dirty="0">
                <a:solidFill>
                  <a:schemeClr val="bg1"/>
                </a:solidFill>
                <a:latin typeface="Century Gothic" panose="020B0502020202020204" pitchFamily="34" charset="0"/>
              </a:rPr>
              <a:t> de H0 que </a:t>
            </a:r>
            <a:r>
              <a:rPr lang="en-US" sz="2000" dirty="0" err="1">
                <a:solidFill>
                  <a:schemeClr val="bg1"/>
                </a:solidFill>
                <a:latin typeface="Century Gothic" panose="020B0502020202020204" pitchFamily="34" charset="0"/>
              </a:rPr>
              <a:t>utilizaremos</a:t>
            </a:r>
            <a:r>
              <a:rPr lang="en-US" sz="2000" dirty="0">
                <a:solidFill>
                  <a:schemeClr val="bg1"/>
                </a:solidFill>
                <a:latin typeface="Century Gothic" panose="020B0502020202020204" pitchFamily="34" charset="0"/>
              </a:rPr>
              <a:t> para la </a:t>
            </a:r>
            <a:r>
              <a:rPr lang="en-US" sz="2000" dirty="0" err="1">
                <a:solidFill>
                  <a:schemeClr val="bg1"/>
                </a:solidFill>
                <a:latin typeface="Century Gothic" panose="020B0502020202020204" pitchFamily="34" charset="0"/>
              </a:rPr>
              <a:t>prueba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logica</a:t>
            </a:r>
            <a:r>
              <a:rPr lang="en-US" sz="2000" dirty="0">
                <a:solidFill>
                  <a:schemeClr val="bg1"/>
                </a:solidFill>
                <a:latin typeface="Century Gothic" panose="020B0502020202020204" pitchFamily="34" charset="0"/>
              </a:rPr>
              <a:t> antes </a:t>
            </a:r>
            <a:r>
              <a:rPr lang="en-US" sz="2000" dirty="0" err="1">
                <a:solidFill>
                  <a:schemeClr val="bg1"/>
                </a:solidFill>
                <a:latin typeface="Century Gothic" panose="020B0502020202020204" pitchFamily="34" charset="0"/>
              </a:rPr>
              <a:t>mencionada</a:t>
            </a:r>
            <a:r>
              <a:rPr lang="en-US" sz="2000" dirty="0">
                <a:solidFill>
                  <a:schemeClr val="bg1"/>
                </a:solidFill>
                <a:latin typeface="Century Gothic" panose="020B0502020202020204" pitchFamily="34" charset="0"/>
              </a:rPr>
              <a:t>. Pero </a:t>
            </a:r>
            <a:r>
              <a:rPr lang="en-US" sz="2000" dirty="0" err="1">
                <a:solidFill>
                  <a:schemeClr val="bg1"/>
                </a:solidFill>
                <a:latin typeface="Century Gothic" panose="020B0502020202020204" pitchFamily="34" charset="0"/>
              </a:rPr>
              <a:t>regresando</a:t>
            </a:r>
            <a:r>
              <a:rPr lang="en-US" sz="2000" dirty="0">
                <a:solidFill>
                  <a:schemeClr val="bg1"/>
                </a:solidFill>
                <a:latin typeface="Century Gothic" panose="020B0502020202020204" pitchFamily="34" charset="0"/>
              </a:rPr>
              <a:t> a la </a:t>
            </a:r>
            <a:r>
              <a:rPr lang="en-US" sz="2000" dirty="0" err="1">
                <a:solidFill>
                  <a:schemeClr val="bg1"/>
                </a:solidFill>
                <a:latin typeface="Century Gothic" panose="020B0502020202020204" pitchFamily="34" charset="0"/>
              </a:rPr>
              <a:t>posibilidad</a:t>
            </a:r>
            <a:r>
              <a:rPr lang="en-US" sz="2000" dirty="0">
                <a:solidFill>
                  <a:schemeClr val="bg1"/>
                </a:solidFill>
                <a:latin typeface="Century Gothic" panose="020B0502020202020204" pitchFamily="34" charset="0"/>
              </a:rPr>
              <a:t> de que </a:t>
            </a:r>
            <a:r>
              <a:rPr lang="en-US" sz="2000" dirty="0" err="1">
                <a:solidFill>
                  <a:schemeClr val="bg1"/>
                </a:solidFill>
                <a:latin typeface="Century Gothic" panose="020B0502020202020204" pitchFamily="34" charset="0"/>
              </a:rPr>
              <a:t>falle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este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prueba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puede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surgir</a:t>
            </a:r>
            <a:r>
              <a:rPr lang="en-US" sz="2000" dirty="0">
                <a:solidFill>
                  <a:schemeClr val="bg1"/>
                </a:solidFill>
                <a:latin typeface="Century Gothic" panose="020B0502020202020204" pitchFamily="34" charset="0"/>
              </a:rPr>
              <a:t> 2 </a:t>
            </a:r>
            <a:r>
              <a:rPr lang="en-US" sz="2000" dirty="0" err="1">
                <a:solidFill>
                  <a:schemeClr val="bg1"/>
                </a:solidFill>
                <a:latin typeface="Century Gothic" panose="020B0502020202020204" pitchFamily="34" charset="0"/>
              </a:rPr>
              <a:t>tipo</a:t>
            </a:r>
            <a:r>
              <a:rPr lang="en-US" sz="2000" dirty="0">
                <a:solidFill>
                  <a:schemeClr val="bg1"/>
                </a:solidFill>
                <a:latin typeface="Century Gothic" panose="020B0502020202020204" pitchFamily="34" charset="0"/>
              </a:rPr>
              <a:t> de error que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conoceremos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en</a:t>
            </a:r>
            <a:r>
              <a:rPr lang="en-US" sz="2000" dirty="0">
                <a:solidFill>
                  <a:schemeClr val="bg1"/>
                </a:solidFill>
                <a:latin typeface="Century Gothic" panose="020B0502020202020204" pitchFamily="34" charset="0"/>
              </a:rPr>
              <a:t> la table…</a:t>
            </a:r>
            <a:endParaRPr lang="es-MX" sz="2000" dirty="0">
              <a:solidFill>
                <a:schemeClr val="bg1"/>
              </a:solidFill>
              <a:latin typeface="Century Gothic" panose="020B0502020202020204" pitchFamily="34" charset="0"/>
            </a:endParaRPr>
          </a:p>
        </p:txBody>
      </p:sp>
      <p:pic>
        <p:nvPicPr>
          <p:cNvPr id="4100" name="Picture 4" descr="Prueba de Hipótesis Estadística - ¡Una explicación paso a paso!">
            <a:extLst>
              <a:ext uri="{FF2B5EF4-FFF2-40B4-BE49-F238E27FC236}">
                <a16:creationId xmlns:a16="http://schemas.microsoft.com/office/drawing/2014/main" id="{C0D97F70-87B9-AC40-3AC3-38375118B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096" y="3612468"/>
            <a:ext cx="4564673" cy="242015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4F8411CF-8FD3-FF2C-A144-E5D4DD99628C}"/>
              </a:ext>
            </a:extLst>
          </p:cNvPr>
          <p:cNvPicPr>
            <a:picLocks noChangeAspect="1"/>
          </p:cNvPicPr>
          <p:nvPr/>
        </p:nvPicPr>
        <p:blipFill>
          <a:blip r:embed="rId4"/>
          <a:stretch>
            <a:fillRect/>
          </a:stretch>
        </p:blipFill>
        <p:spPr>
          <a:xfrm>
            <a:off x="6248094" y="4546273"/>
            <a:ext cx="4382112" cy="704948"/>
          </a:xfrm>
          <a:prstGeom prst="rect">
            <a:avLst/>
          </a:prstGeom>
        </p:spPr>
      </p:pic>
    </p:spTree>
    <p:extLst>
      <p:ext uri="{BB962C8B-B14F-4D97-AF65-F5344CB8AC3E}">
        <p14:creationId xmlns:p14="http://schemas.microsoft.com/office/powerpoint/2010/main" val="1848743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5" name="CuadroTexto 4">
            <a:extLst>
              <a:ext uri="{FF2B5EF4-FFF2-40B4-BE49-F238E27FC236}">
                <a16:creationId xmlns:a16="http://schemas.microsoft.com/office/drawing/2014/main" id="{9CBB5CF2-468C-7E7F-64A3-06225F26E9C1}"/>
              </a:ext>
            </a:extLst>
          </p:cNvPr>
          <p:cNvSpPr txBox="1"/>
          <p:nvPr/>
        </p:nvSpPr>
        <p:spPr>
          <a:xfrm>
            <a:off x="528402" y="374595"/>
            <a:ext cx="9769841" cy="1323439"/>
          </a:xfrm>
          <a:prstGeom prst="rect">
            <a:avLst/>
          </a:prstGeom>
          <a:noFill/>
        </p:spPr>
        <p:txBody>
          <a:bodyPr wrap="square">
            <a:spAutoFit/>
          </a:bodyPr>
          <a:lstStyle/>
          <a:p>
            <a:r>
              <a:rPr lang="es-MX" sz="2000" dirty="0">
                <a:solidFill>
                  <a:schemeClr val="bg1"/>
                </a:solidFill>
                <a:latin typeface="Century Gothic" panose="020B0502020202020204" pitchFamily="34" charset="0"/>
              </a:rPr>
              <a:t>Una </a:t>
            </a:r>
            <a:r>
              <a:rPr lang="es-MX" sz="2000" b="1" dirty="0">
                <a:solidFill>
                  <a:schemeClr val="bg1"/>
                </a:solidFill>
                <a:latin typeface="Century Gothic" panose="020B0502020202020204" pitchFamily="34" charset="0"/>
              </a:rPr>
              <a:t>prueba aleatorizada</a:t>
            </a:r>
            <a:r>
              <a:rPr lang="es-MX" sz="2000" dirty="0">
                <a:solidFill>
                  <a:schemeClr val="bg1"/>
                </a:solidFill>
                <a:latin typeface="Century Gothic" panose="020B0502020202020204" pitchFamily="34" charset="0"/>
              </a:rPr>
              <a:t> es una técnica en estadística donde la </a:t>
            </a:r>
            <a:r>
              <a:rPr lang="es-MX" sz="2000" b="1" dirty="0">
                <a:solidFill>
                  <a:schemeClr val="bg1"/>
                </a:solidFill>
                <a:latin typeface="Century Gothic" panose="020B0502020202020204" pitchFamily="34" charset="0"/>
              </a:rPr>
              <a:t>decisión final (rechazar o no H₀)</a:t>
            </a:r>
            <a:r>
              <a:rPr lang="es-MX" sz="2000" dirty="0">
                <a:solidFill>
                  <a:schemeClr val="bg1"/>
                </a:solidFill>
                <a:latin typeface="Century Gothic" panose="020B0502020202020204" pitchFamily="34" charset="0"/>
              </a:rPr>
              <a:t> </a:t>
            </a:r>
            <a:r>
              <a:rPr lang="es-MX" sz="2000" b="1" dirty="0">
                <a:solidFill>
                  <a:schemeClr val="bg1"/>
                </a:solidFill>
                <a:latin typeface="Century Gothic" panose="020B0502020202020204" pitchFamily="34" charset="0"/>
              </a:rPr>
              <a:t>incluye un elemento de azar</a:t>
            </a:r>
            <a:r>
              <a:rPr lang="es-MX" sz="2000" dirty="0">
                <a:solidFill>
                  <a:schemeClr val="bg1"/>
                </a:solidFill>
                <a:latin typeface="Century Gothic" panose="020B0502020202020204" pitchFamily="34" charset="0"/>
              </a:rPr>
              <a:t>. Es decir, no siempre se toma la misma decisión para el mismo valor del estadístico de prueba, sino que </a:t>
            </a:r>
            <a:r>
              <a:rPr lang="es-MX" sz="2000" b="1" dirty="0">
                <a:solidFill>
                  <a:schemeClr val="bg1"/>
                </a:solidFill>
                <a:latin typeface="Century Gothic" panose="020B0502020202020204" pitchFamily="34" charset="0"/>
              </a:rPr>
              <a:t>se lanza una "moneda" con cierta probabilidad</a:t>
            </a:r>
            <a:r>
              <a:rPr lang="es-MX" sz="2000" dirty="0">
                <a:solidFill>
                  <a:schemeClr val="bg1"/>
                </a:solidFill>
                <a:latin typeface="Century Gothic" panose="020B0502020202020204" pitchFamily="34" charset="0"/>
              </a:rPr>
              <a:t> para decidir.</a:t>
            </a:r>
          </a:p>
        </p:txBody>
      </p:sp>
      <p:sp>
        <p:nvSpPr>
          <p:cNvPr id="7" name="CuadroTexto 6">
            <a:extLst>
              <a:ext uri="{FF2B5EF4-FFF2-40B4-BE49-F238E27FC236}">
                <a16:creationId xmlns:a16="http://schemas.microsoft.com/office/drawing/2014/main" id="{263EBA44-6763-9EEE-86B5-61F6D3806F4D}"/>
              </a:ext>
            </a:extLst>
          </p:cNvPr>
          <p:cNvSpPr txBox="1"/>
          <p:nvPr/>
        </p:nvSpPr>
        <p:spPr>
          <a:xfrm>
            <a:off x="528402" y="4544413"/>
            <a:ext cx="10999032" cy="1938992"/>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Principalmente cuando:</a:t>
            </a:r>
          </a:p>
          <a:p>
            <a:pPr marL="342900" indent="-342900">
              <a:buFont typeface="Wingdings" panose="05000000000000000000" pitchFamily="2" charset="2"/>
              <a:buChar char="Ø"/>
            </a:pPr>
            <a:r>
              <a:rPr lang="es-MX" sz="2000" dirty="0">
                <a:solidFill>
                  <a:schemeClr val="bg1"/>
                </a:solidFill>
                <a:latin typeface="Century Gothic" panose="020B0502020202020204" pitchFamily="34" charset="0"/>
              </a:rPr>
              <a:t>Trabajas con muestras pequeñas.</a:t>
            </a:r>
          </a:p>
          <a:p>
            <a:pPr marL="342900" indent="-342900">
              <a:buFont typeface="Wingdings" panose="05000000000000000000" pitchFamily="2" charset="2"/>
              <a:buChar char="Ø"/>
            </a:pPr>
            <a:r>
              <a:rPr lang="es-MX" sz="2000" dirty="0">
                <a:solidFill>
                  <a:schemeClr val="bg1"/>
                </a:solidFill>
                <a:latin typeface="Century Gothic" panose="020B0502020202020204" pitchFamily="34" charset="0"/>
              </a:rPr>
              <a:t>El nivel de significancia deseado </a:t>
            </a:r>
            <a:r>
              <a:rPr lang="es-MX" sz="2000" b="1" dirty="0">
                <a:solidFill>
                  <a:schemeClr val="bg1"/>
                </a:solidFill>
                <a:latin typeface="Century Gothic" panose="020B0502020202020204" pitchFamily="34" charset="0"/>
              </a:rPr>
              <a:t>no puede alcanzarse exactamente</a:t>
            </a:r>
            <a:r>
              <a:rPr lang="es-MX" sz="2000" dirty="0">
                <a:solidFill>
                  <a:schemeClr val="bg1"/>
                </a:solidFill>
                <a:latin typeface="Century Gothic" panose="020B0502020202020204" pitchFamily="34" charset="0"/>
              </a:rPr>
              <a:t> con una prueba tradicional.</a:t>
            </a:r>
          </a:p>
          <a:p>
            <a:pPr marL="342900" indent="-342900">
              <a:buFont typeface="Wingdings" panose="05000000000000000000" pitchFamily="2" charset="2"/>
              <a:buChar char="Ø"/>
            </a:pPr>
            <a:r>
              <a:rPr lang="es-MX" sz="2000" dirty="0">
                <a:solidFill>
                  <a:schemeClr val="bg1"/>
                </a:solidFill>
                <a:latin typeface="Century Gothic" panose="020B0502020202020204" pitchFamily="34" charset="0"/>
              </a:rPr>
              <a:t>Quieres construir una prueba con </a:t>
            </a:r>
            <a:r>
              <a:rPr lang="es-MX" sz="2000" b="1" dirty="0">
                <a:solidFill>
                  <a:schemeClr val="bg1"/>
                </a:solidFill>
                <a:latin typeface="Century Gothic" panose="020B0502020202020204" pitchFamily="34" charset="0"/>
              </a:rPr>
              <a:t>el mejor poder posible</a:t>
            </a:r>
            <a:r>
              <a:rPr lang="es-MX" sz="2000" dirty="0">
                <a:solidFill>
                  <a:schemeClr val="bg1"/>
                </a:solidFill>
                <a:latin typeface="Century Gothic" panose="020B0502020202020204" pitchFamily="34" charset="0"/>
              </a:rPr>
              <a:t> (probabilidad de detectar un efecto real) para un nivel de α dado.</a:t>
            </a:r>
          </a:p>
        </p:txBody>
      </p:sp>
      <p:pic>
        <p:nvPicPr>
          <p:cNvPr id="7170" name="Picture 2" descr="mano lanzar una moneda 7417318 Foto de stock en Vecteezy">
            <a:extLst>
              <a:ext uri="{FF2B5EF4-FFF2-40B4-BE49-F238E27FC236}">
                <a16:creationId xmlns:a16="http://schemas.microsoft.com/office/drawing/2014/main" id="{BE5CEBA6-4DEF-5251-6523-68A10FD6A6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7239"/>
          <a:stretch/>
        </p:blipFill>
        <p:spPr bwMode="auto">
          <a:xfrm>
            <a:off x="5089787" y="1823133"/>
            <a:ext cx="2465256" cy="2618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1;p32">
            <a:extLst>
              <a:ext uri="{FF2B5EF4-FFF2-40B4-BE49-F238E27FC236}">
                <a16:creationId xmlns:a16="http://schemas.microsoft.com/office/drawing/2014/main" id="{AA4BE53F-AF30-CC5B-3338-13F294B018B7}"/>
              </a:ext>
            </a:extLst>
          </p:cNvPr>
          <p:cNvSpPr txBox="1">
            <a:spLocks/>
          </p:cNvSpPr>
          <p:nvPr/>
        </p:nvSpPr>
        <p:spPr>
          <a:xfrm>
            <a:off x="511201" y="212875"/>
            <a:ext cx="2351922" cy="77647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000"/>
              <a:buFont typeface="Century Gothic"/>
              <a:buNone/>
              <a:defRPr sz="40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buSzPts val="4200"/>
            </a:pPr>
            <a:r>
              <a:rPr lang="es-MX" b="1" dirty="0"/>
              <a:t>Ejemplo:</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3711227-2BA8-DFA2-1FE2-CD44637755E8}"/>
                  </a:ext>
                </a:extLst>
              </p:cNvPr>
              <p:cNvSpPr txBox="1"/>
              <p:nvPr/>
            </p:nvSpPr>
            <p:spPr>
              <a:xfrm>
                <a:off x="511201" y="989350"/>
                <a:ext cx="10774180" cy="3477875"/>
              </a:xfrm>
              <a:prstGeom prst="rect">
                <a:avLst/>
              </a:prstGeom>
              <a:noFill/>
            </p:spPr>
            <p:txBody>
              <a:bodyPr wrap="square">
                <a:spAutoFit/>
              </a:bodyPr>
              <a:lstStyle/>
              <a:p>
                <a:r>
                  <a:rPr lang="es-MX" sz="2000" b="0" i="0" u="none" strike="noStrike" baseline="0" dirty="0">
                    <a:solidFill>
                      <a:schemeClr val="bg1"/>
                    </a:solidFill>
                    <a:latin typeface="Century Gothic" panose="020B0502020202020204" pitchFamily="34" charset="0"/>
                  </a:rPr>
                  <a:t>Wisky JW, producen e envasan (maquina)</a:t>
                </a:r>
                <a:r>
                  <a:rPr lang="es-MX" sz="2000" dirty="0">
                    <a:solidFill>
                      <a:schemeClr val="bg1"/>
                    </a:solidFill>
                    <a:latin typeface="Century Gothic" panose="020B0502020202020204" pitchFamily="34" charset="0"/>
                  </a:rPr>
                  <a:t> bebidas alcoholizas y le gustaría saber si la unidad del producto que ofrece cumple con los mililitros que dan a la venta. Su producto tiene una media de mililitros de 700.</a:t>
                </a:r>
              </a:p>
              <a:p>
                <a:endParaRPr lang="es-MX" sz="2000" dirty="0">
                  <a:solidFill>
                    <a:schemeClr val="bg1"/>
                  </a:solidFill>
                  <a:latin typeface="Century Gothic" panose="020B0502020202020204" pitchFamily="34" charset="0"/>
                </a:endParaRPr>
              </a:p>
              <a:p>
                <a:r>
                  <a:rPr lang="es-MX" sz="2000" dirty="0">
                    <a:solidFill>
                      <a:schemeClr val="bg1"/>
                    </a:solidFill>
                    <a:latin typeface="Century Gothic" panose="020B0502020202020204" pitchFamily="34" charset="0"/>
                  </a:rPr>
                  <a:t>Ellos extraen una muestra n = 33 y se estima una media muestral y desviación estándar muestral de la siguiente forma:</a:t>
                </a:r>
              </a:p>
              <a:p>
                <a:endParaRPr lang="es-MX" sz="2000" b="0" i="0" u="none" strike="noStrike" baseline="0" dirty="0">
                  <a:solidFill>
                    <a:schemeClr val="bg1"/>
                  </a:solidFill>
                  <a:latin typeface="Century Gothic" panose="020B0502020202020204" pitchFamily="34" charset="0"/>
                </a:endParaRPr>
              </a:p>
              <a:p>
                <a:pPr algn="ctr"/>
                <a14:m>
                  <m:oMath xmlns:m="http://schemas.openxmlformats.org/officeDocument/2006/math">
                    <m:acc>
                      <m:accPr>
                        <m:chr m:val="̅"/>
                        <m:ctrlPr>
                          <a:rPr lang="en-US" sz="2000" b="0" i="1" u="none" strike="noStrike" baseline="0" smtClean="0">
                            <a:solidFill>
                              <a:schemeClr val="bg1"/>
                            </a:solidFill>
                            <a:latin typeface="Cambria Math" panose="02040503050406030204" pitchFamily="18" charset="0"/>
                          </a:rPr>
                        </m:ctrlPr>
                      </m:accPr>
                      <m:e>
                        <m:r>
                          <a:rPr lang="en-US" sz="2000" b="0" i="1" u="none" strike="noStrike" baseline="0" smtClean="0">
                            <a:solidFill>
                              <a:schemeClr val="bg1"/>
                            </a:solidFill>
                            <a:latin typeface="Cambria Math" panose="02040503050406030204" pitchFamily="18" charset="0"/>
                          </a:rPr>
                          <m:t>𝑋</m:t>
                        </m:r>
                      </m:e>
                    </m:acc>
                    <m:r>
                      <a:rPr lang="en-US" sz="2000" b="0" i="1" u="none" strike="noStrike" baseline="0" dirty="0" smtClean="0">
                        <a:solidFill>
                          <a:schemeClr val="bg1"/>
                        </a:solidFill>
                        <a:latin typeface="Cambria Math" panose="02040503050406030204" pitchFamily="18" charset="0"/>
                      </a:rPr>
                      <m:t>=709.2</m:t>
                    </m:r>
                    <m:r>
                      <a:rPr lang="en-US" sz="2000" b="0" i="1" u="none" strike="noStrike" baseline="0" dirty="0" smtClean="0">
                        <a:solidFill>
                          <a:schemeClr val="bg1"/>
                        </a:solidFill>
                        <a:latin typeface="Cambria Math" panose="02040503050406030204" pitchFamily="18" charset="0"/>
                      </a:rPr>
                      <m:t>𝑚𝑙</m:t>
                    </m:r>
                  </m:oMath>
                </a14:m>
                <a:r>
                  <a:rPr lang="es-MX" sz="2000" b="0" i="0" u="none" strike="noStrike" baseline="0" dirty="0">
                    <a:solidFill>
                      <a:schemeClr val="bg1"/>
                    </a:solidFill>
                    <a:latin typeface="Century Gothic" panose="020B0502020202020204" pitchFamily="34" charset="0"/>
                  </a:rPr>
                  <a:t>     y       </a:t>
                </a:r>
                <a14:m>
                  <m:oMath xmlns:m="http://schemas.openxmlformats.org/officeDocument/2006/math">
                    <m:r>
                      <a:rPr lang="en-US" sz="2000" b="0" i="1" u="none" strike="noStrike" baseline="0" smtClean="0">
                        <a:solidFill>
                          <a:schemeClr val="bg1"/>
                        </a:solidFill>
                        <a:latin typeface="Cambria Math" panose="02040503050406030204" pitchFamily="18" charset="0"/>
                      </a:rPr>
                      <m:t>𝑆</m:t>
                    </m:r>
                    <m:r>
                      <a:rPr lang="en-US" sz="2000" b="0" i="1" u="none" strike="noStrike" baseline="0" smtClean="0">
                        <a:solidFill>
                          <a:schemeClr val="bg1"/>
                        </a:solidFill>
                        <a:latin typeface="Cambria Math" panose="02040503050406030204" pitchFamily="18" charset="0"/>
                      </a:rPr>
                      <m:t>=4.5</m:t>
                    </m:r>
                    <m:r>
                      <a:rPr lang="en-US" sz="2000" b="0" i="1" u="none" strike="noStrike" baseline="0" smtClean="0">
                        <a:solidFill>
                          <a:schemeClr val="bg1"/>
                        </a:solidFill>
                        <a:latin typeface="Cambria Math" panose="02040503050406030204" pitchFamily="18" charset="0"/>
                      </a:rPr>
                      <m:t>𝑚𝑙</m:t>
                    </m:r>
                  </m:oMath>
                </a14:m>
                <a:endParaRPr lang="es-MX" sz="2000" b="0" i="0" u="none" strike="noStrike" baseline="0" dirty="0">
                  <a:solidFill>
                    <a:schemeClr val="bg1"/>
                  </a:solidFill>
                  <a:latin typeface="Century Gothic" panose="020B0502020202020204" pitchFamily="34" charset="0"/>
                </a:endParaRPr>
              </a:p>
              <a:p>
                <a:endParaRPr lang="es-MX" sz="2000" b="0" i="0" u="none" strike="noStrike" baseline="0" dirty="0">
                  <a:solidFill>
                    <a:schemeClr val="bg1"/>
                  </a:solidFill>
                  <a:latin typeface="Century Gothic" panose="020B0502020202020204" pitchFamily="34" charset="0"/>
                </a:endParaRPr>
              </a:p>
              <a:p>
                <a:r>
                  <a:rPr lang="es-MX" sz="2000" b="0" i="0" u="none" strike="noStrike" baseline="0" dirty="0">
                    <a:solidFill>
                      <a:schemeClr val="bg1"/>
                    </a:solidFill>
                    <a:latin typeface="Century Gothic" panose="020B0502020202020204" pitchFamily="34" charset="0"/>
                  </a:rPr>
                  <a:t>Realiza una prueba de hipótesis para</a:t>
                </a:r>
                <a:r>
                  <a:rPr lang="es-MX" sz="2000" dirty="0">
                    <a:solidFill>
                      <a:schemeClr val="bg1"/>
                    </a:solidFill>
                    <a:latin typeface="Century Gothic" panose="020B0502020202020204" pitchFamily="34" charset="0"/>
                  </a:rPr>
                  <a:t> corroborar si es cierta o no la afirmación que la compañía </a:t>
                </a:r>
                <a:r>
                  <a:rPr lang="es-MX" sz="2000" dirty="0" err="1">
                    <a:solidFill>
                      <a:schemeClr val="bg1"/>
                    </a:solidFill>
                    <a:latin typeface="Century Gothic" panose="020B0502020202020204" pitchFamily="34" charset="0"/>
                  </a:rPr>
                  <a:t>Wisky</a:t>
                </a:r>
                <a:r>
                  <a:rPr lang="es-MX" sz="2000" dirty="0">
                    <a:solidFill>
                      <a:schemeClr val="bg1"/>
                    </a:solidFill>
                    <a:latin typeface="Century Gothic" panose="020B0502020202020204" pitchFamily="34" charset="0"/>
                  </a:rPr>
                  <a:t> JW es correcta o incorrecta con un nivel de confianza del 95%.</a:t>
                </a:r>
              </a:p>
            </p:txBody>
          </p:sp>
        </mc:Choice>
        <mc:Fallback xmlns="">
          <p:sp>
            <p:nvSpPr>
              <p:cNvPr id="10" name="CuadroTexto 9">
                <a:extLst>
                  <a:ext uri="{FF2B5EF4-FFF2-40B4-BE49-F238E27FC236}">
                    <a16:creationId xmlns:a16="http://schemas.microsoft.com/office/drawing/2014/main" id="{23711227-2BA8-DFA2-1FE2-CD44637755E8}"/>
                  </a:ext>
                </a:extLst>
              </p:cNvPr>
              <p:cNvSpPr txBox="1">
                <a:spLocks noRot="1" noChangeAspect="1" noMove="1" noResize="1" noEditPoints="1" noAdjustHandles="1" noChangeArrowheads="1" noChangeShapeType="1" noTextEdit="1"/>
              </p:cNvSpPr>
              <p:nvPr/>
            </p:nvSpPr>
            <p:spPr>
              <a:xfrm>
                <a:off x="511201" y="989350"/>
                <a:ext cx="10774180" cy="3477875"/>
              </a:xfrm>
              <a:prstGeom prst="rect">
                <a:avLst/>
              </a:prstGeom>
              <a:blipFill>
                <a:blip r:embed="rId2"/>
                <a:stretch>
                  <a:fillRect l="-623" t="-876" r="-623" b="-21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8C19858-AFED-A56B-C05F-443BBDE718E7}"/>
                  </a:ext>
                </a:extLst>
              </p:cNvPr>
              <p:cNvSpPr txBox="1"/>
              <p:nvPr/>
            </p:nvSpPr>
            <p:spPr>
              <a:xfrm>
                <a:off x="526193" y="5243700"/>
                <a:ext cx="6093500" cy="400110"/>
              </a:xfrm>
              <a:prstGeom prst="rect">
                <a:avLst/>
              </a:prstGeom>
              <a:noFill/>
            </p:spPr>
            <p:txBody>
              <a:bodyPr wrap="square">
                <a:spAutoFit/>
              </a:bodyPr>
              <a:lstStyle/>
              <a:p>
                <a:pPr algn="ct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𝐻</m:t>
                        </m:r>
                      </m:e>
                      <m:sub>
                        <m:r>
                          <a:rPr lang="en-US" sz="2000" b="0" i="1" smtClean="0">
                            <a:solidFill>
                              <a:schemeClr val="bg1"/>
                            </a:solidFill>
                            <a:latin typeface="Cambria Math" panose="02040503050406030204" pitchFamily="18" charset="0"/>
                          </a:rPr>
                          <m:t>0</m:t>
                        </m:r>
                      </m:sub>
                    </m:sSub>
                    <m:r>
                      <a:rPr lang="en-US" sz="2000" b="0" i="1" smtClean="0">
                        <a:solidFill>
                          <a:schemeClr val="bg1"/>
                        </a:solidFill>
                        <a:latin typeface="Cambria Math" panose="02040503050406030204" pitchFamily="18" charset="0"/>
                      </a:rPr>
                      <m:t>=700</m:t>
                    </m:r>
                    <m:r>
                      <a:rPr lang="en-US" sz="2000" b="0" i="1" smtClean="0">
                        <a:solidFill>
                          <a:schemeClr val="bg1"/>
                        </a:solidFill>
                        <a:latin typeface="Cambria Math" panose="02040503050406030204" pitchFamily="18" charset="0"/>
                      </a:rPr>
                      <m:t>𝑚𝑙</m:t>
                    </m:r>
                  </m:oMath>
                </a14:m>
                <a:r>
                  <a:rPr lang="es-MX" sz="2000" dirty="0">
                    <a:solidFill>
                      <a:schemeClr val="bg1"/>
                    </a:solidFill>
                    <a:latin typeface="Century Gothic" panose="020B0502020202020204" pitchFamily="34" charset="0"/>
                  </a:rPr>
                  <a:t>              </a:t>
                </a:r>
                <a14:m>
                  <m:oMath xmlns:m="http://schemas.openxmlformats.org/officeDocument/2006/math">
                    <m:sSub>
                      <m:sSubPr>
                        <m:ctrlPr>
                          <a:rPr lang="en-US" sz="2000" b="0" i="1" dirty="0" smtClean="0">
                            <a:solidFill>
                              <a:schemeClr val="bg1"/>
                            </a:solidFill>
                            <a:latin typeface="Cambria Math" panose="02040503050406030204" pitchFamily="18" charset="0"/>
                          </a:rPr>
                        </m:ctrlPr>
                      </m:sSubPr>
                      <m:e>
                        <m:r>
                          <a:rPr lang="en-US" sz="2000" b="0" i="1" dirty="0" smtClean="0">
                            <a:solidFill>
                              <a:schemeClr val="bg1"/>
                            </a:solidFill>
                            <a:latin typeface="Cambria Math" panose="02040503050406030204" pitchFamily="18" charset="0"/>
                          </a:rPr>
                          <m:t>𝐻</m:t>
                        </m:r>
                      </m:e>
                      <m:sub>
                        <m:r>
                          <a:rPr lang="en-US" sz="2000" b="0" i="1" dirty="0" smtClean="0">
                            <a:solidFill>
                              <a:schemeClr val="bg1"/>
                            </a:solidFill>
                            <a:latin typeface="Cambria Math" panose="02040503050406030204" pitchFamily="18" charset="0"/>
                          </a:rPr>
                          <m:t>𝑎</m:t>
                        </m:r>
                      </m:sub>
                    </m:sSub>
                    <m:r>
                      <a:rPr lang="en-US" sz="2000" i="1" dirty="0">
                        <a:solidFill>
                          <a:schemeClr val="bg1"/>
                        </a:solidFill>
                        <a:latin typeface="Cambria Math" panose="02040503050406030204" pitchFamily="18" charset="0"/>
                        <a:ea typeface="Cambria Math" panose="02040503050406030204" pitchFamily="18" charset="0"/>
                      </a:rPr>
                      <m:t>≠</m:t>
                    </m:r>
                    <m:r>
                      <a:rPr lang="en-US" sz="2000" b="0" i="1" dirty="0" smtClean="0">
                        <a:solidFill>
                          <a:schemeClr val="bg1"/>
                        </a:solidFill>
                        <a:latin typeface="Cambria Math" panose="02040503050406030204" pitchFamily="18" charset="0"/>
                        <a:ea typeface="Cambria Math" panose="02040503050406030204" pitchFamily="18" charset="0"/>
                      </a:rPr>
                      <m:t>700</m:t>
                    </m:r>
                    <m:r>
                      <a:rPr lang="en-US" sz="2000" b="0" i="1" dirty="0" smtClean="0">
                        <a:solidFill>
                          <a:schemeClr val="bg1"/>
                        </a:solidFill>
                        <a:latin typeface="Cambria Math" panose="02040503050406030204" pitchFamily="18" charset="0"/>
                        <a:ea typeface="Cambria Math" panose="02040503050406030204" pitchFamily="18" charset="0"/>
                      </a:rPr>
                      <m:t>𝑚𝑙</m:t>
                    </m:r>
                  </m:oMath>
                </a14:m>
                <a:endParaRPr lang="es-MX" sz="2000" dirty="0">
                  <a:solidFill>
                    <a:schemeClr val="bg1"/>
                  </a:solidFill>
                  <a:latin typeface="Century Gothic" panose="020B0502020202020204" pitchFamily="34" charset="0"/>
                </a:endParaRPr>
              </a:p>
            </p:txBody>
          </p:sp>
        </mc:Choice>
        <mc:Fallback xmlns="">
          <p:sp>
            <p:nvSpPr>
              <p:cNvPr id="12" name="CuadroTexto 11">
                <a:extLst>
                  <a:ext uri="{FF2B5EF4-FFF2-40B4-BE49-F238E27FC236}">
                    <a16:creationId xmlns:a16="http://schemas.microsoft.com/office/drawing/2014/main" id="{C8C19858-AFED-A56B-C05F-443BBDE718E7}"/>
                  </a:ext>
                </a:extLst>
              </p:cNvPr>
              <p:cNvSpPr txBox="1">
                <a:spLocks noRot="1" noChangeAspect="1" noMove="1" noResize="1" noEditPoints="1" noAdjustHandles="1" noChangeArrowheads="1" noChangeShapeType="1" noTextEdit="1"/>
              </p:cNvSpPr>
              <p:nvPr/>
            </p:nvSpPr>
            <p:spPr>
              <a:xfrm>
                <a:off x="526193" y="5243700"/>
                <a:ext cx="6093500" cy="400110"/>
              </a:xfrm>
              <a:prstGeom prst="rect">
                <a:avLst/>
              </a:prstGeom>
              <a:blipFill>
                <a:blip r:embed="rId3"/>
                <a:stretch>
                  <a:fillRect t="-7576" b="-25758"/>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21C5B956-31DB-4BD6-9201-9551CC23790C}"/>
              </a:ext>
            </a:extLst>
          </p:cNvPr>
          <p:cNvSpPr txBox="1"/>
          <p:nvPr/>
        </p:nvSpPr>
        <p:spPr>
          <a:xfrm>
            <a:off x="526193" y="4667800"/>
            <a:ext cx="2890603" cy="400110"/>
          </a:xfrm>
          <a:prstGeom prst="rect">
            <a:avLst/>
          </a:prstGeom>
          <a:noFill/>
        </p:spPr>
        <p:txBody>
          <a:bodyPr wrap="square">
            <a:spAutoFit/>
          </a:bodyPr>
          <a:lstStyle/>
          <a:p>
            <a:pPr algn="ctr"/>
            <a:r>
              <a:rPr lang="en-US" sz="2000" dirty="0">
                <a:solidFill>
                  <a:schemeClr val="bg1"/>
                </a:solidFill>
                <a:latin typeface="Century Gothic" panose="020B0502020202020204" pitchFamily="34" charset="0"/>
              </a:rPr>
              <a:t>Sea las </a:t>
            </a:r>
            <a:r>
              <a:rPr lang="en-US" sz="2000" dirty="0" err="1">
                <a:solidFill>
                  <a:schemeClr val="bg1"/>
                </a:solidFill>
                <a:latin typeface="Century Gothic" panose="020B0502020202020204" pitchFamily="34" charset="0"/>
              </a:rPr>
              <a:t>hipotesis</a:t>
            </a:r>
            <a:r>
              <a:rPr lang="en-US" sz="2000" dirty="0">
                <a:solidFill>
                  <a:schemeClr val="bg1"/>
                </a:solidFill>
                <a:latin typeface="Century Gothic" panose="020B0502020202020204" pitchFamily="34" charset="0"/>
              </a:rPr>
              <a:t>…</a:t>
            </a:r>
            <a:endParaRPr lang="es-MX" sz="2000" dirty="0">
              <a:solidFill>
                <a:schemeClr val="bg1"/>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6B9A377-5193-165E-6301-232706D5EB4E}"/>
                  </a:ext>
                </a:extLst>
              </p:cNvPr>
              <p:cNvSpPr txBox="1"/>
              <p:nvPr/>
            </p:nvSpPr>
            <p:spPr>
              <a:xfrm>
                <a:off x="5728456" y="4935923"/>
                <a:ext cx="6093500" cy="1015663"/>
              </a:xfrm>
              <a:prstGeom prst="rect">
                <a:avLst/>
              </a:prstGeom>
              <a:noFill/>
            </p:spPr>
            <p:txBody>
              <a:bodyPr wrap="square">
                <a:spAutoFit/>
              </a:bodyPr>
              <a:lstStyle/>
              <a:p>
                <a:pPr algn="ctr"/>
                <a:r>
                  <a:rPr lang="en-US" sz="2000" dirty="0">
                    <a:solidFill>
                      <a:schemeClr val="bg1"/>
                    </a:solidFill>
                    <a:latin typeface="Century Gothic" panose="020B0502020202020204" pitchFamily="34" charset="0"/>
                  </a:rPr>
                  <a:t>Dado a que la </a:t>
                </a:r>
                <a:r>
                  <a:rPr lang="en-US" sz="2000" dirty="0" err="1">
                    <a:solidFill>
                      <a:schemeClr val="bg1"/>
                    </a:solidFill>
                    <a:latin typeface="Century Gothic" panose="020B0502020202020204" pitchFamily="34" charset="0"/>
                  </a:rPr>
                  <a:t>m.a.</a:t>
                </a:r>
                <a:r>
                  <a:rPr lang="en-US" sz="2000" dirty="0">
                    <a:solidFill>
                      <a:schemeClr val="bg1"/>
                    </a:solidFill>
                    <a:latin typeface="Century Gothic" panose="020B0502020202020204" pitchFamily="34" charset="0"/>
                  </a:rPr>
                  <a:t> es </a:t>
                </a:r>
                <a:r>
                  <a:rPr lang="en-US" sz="2000" dirty="0" err="1">
                    <a:solidFill>
                      <a:schemeClr val="bg1"/>
                    </a:solidFill>
                    <a:latin typeface="Century Gothic" panose="020B0502020202020204" pitchFamily="34" charset="0"/>
                  </a:rPr>
                  <a:t>muy</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pequeno</a:t>
                </a:r>
                <a:r>
                  <a:rPr lang="en-US" sz="2000" dirty="0">
                    <a:solidFill>
                      <a:schemeClr val="bg1"/>
                    </a:solidFill>
                    <a:latin typeface="Century Gothic" panose="020B0502020202020204" pitchFamily="34" charset="0"/>
                  </a:rPr>
                  <a:t> y solo </a:t>
                </a:r>
                <a:r>
                  <a:rPr lang="en-US" sz="2000" dirty="0" err="1">
                    <a:solidFill>
                      <a:schemeClr val="bg1"/>
                    </a:solidFill>
                    <a:latin typeface="Century Gothic" panose="020B0502020202020204" pitchFamily="34" charset="0"/>
                  </a:rPr>
                  <a:t>conocemos</a:t>
                </a:r>
                <a:r>
                  <a:rPr lang="en-US" sz="2000" dirty="0">
                    <a:solidFill>
                      <a:schemeClr val="bg1"/>
                    </a:solidFill>
                    <a:latin typeface="Century Gothic" panose="020B0502020202020204" pitchFamily="34" charset="0"/>
                  </a:rPr>
                  <a:t> lo que es la media  </a:t>
                </a:r>
                <a:r>
                  <a:rPr lang="en-US" sz="2000" dirty="0" err="1">
                    <a:solidFill>
                      <a:schemeClr val="bg1"/>
                    </a:solidFill>
                    <a:latin typeface="Century Gothic" panose="020B0502020202020204" pitchFamily="34" charset="0"/>
                  </a:rPr>
                  <a:t>constratar</a:t>
                </a:r>
                <a:r>
                  <a:rPr lang="en-US" sz="2000" dirty="0">
                    <a:solidFill>
                      <a:schemeClr val="bg1"/>
                    </a:solidFill>
                    <a:latin typeface="Century Gothic" panose="020B0502020202020204" pitchFamily="34" charset="0"/>
                  </a:rPr>
                  <a:t> a la </a:t>
                </a:r>
                <a14:m>
                  <m:oMath xmlns:m="http://schemas.openxmlformats.org/officeDocument/2006/math">
                    <m:r>
                      <a:rPr lang="en-US" sz="2000" b="0" i="1" smtClean="0">
                        <a:solidFill>
                          <a:schemeClr val="bg1"/>
                        </a:solidFill>
                        <a:latin typeface="Cambria Math" panose="02040503050406030204" pitchFamily="18" charset="0"/>
                      </a:rPr>
                      <m:t>𝜇</m:t>
                    </m:r>
                  </m:oMath>
                </a14:m>
                <a:r>
                  <a:rPr lang="es-MX" sz="2000" dirty="0">
                    <a:solidFill>
                      <a:schemeClr val="bg1"/>
                    </a:solidFill>
                    <a:latin typeface="Century Gothic" panose="020B0502020202020204" pitchFamily="34" charset="0"/>
                  </a:rPr>
                  <a:t> debemos de utilizar la distribución t-</a:t>
                </a:r>
                <a:r>
                  <a:rPr lang="es-MX" sz="2000" dirty="0" err="1">
                    <a:solidFill>
                      <a:schemeClr val="bg1"/>
                    </a:solidFill>
                    <a:latin typeface="Century Gothic" panose="020B0502020202020204" pitchFamily="34" charset="0"/>
                  </a:rPr>
                  <a:t>students</a:t>
                </a:r>
                <a:r>
                  <a:rPr lang="es-MX" sz="2000" dirty="0">
                    <a:solidFill>
                      <a:schemeClr val="bg1"/>
                    </a:solidFill>
                    <a:latin typeface="Century Gothic" panose="020B0502020202020204" pitchFamily="34" charset="0"/>
                  </a:rPr>
                  <a:t>…</a:t>
                </a:r>
              </a:p>
            </p:txBody>
          </p:sp>
        </mc:Choice>
        <mc:Fallback xmlns="">
          <p:sp>
            <p:nvSpPr>
              <p:cNvPr id="14" name="CuadroTexto 13">
                <a:extLst>
                  <a:ext uri="{FF2B5EF4-FFF2-40B4-BE49-F238E27FC236}">
                    <a16:creationId xmlns:a16="http://schemas.microsoft.com/office/drawing/2014/main" id="{F6B9A377-5193-165E-6301-232706D5EB4E}"/>
                  </a:ext>
                </a:extLst>
              </p:cNvPr>
              <p:cNvSpPr txBox="1">
                <a:spLocks noRot="1" noChangeAspect="1" noMove="1" noResize="1" noEditPoints="1" noAdjustHandles="1" noChangeArrowheads="1" noChangeShapeType="1" noTextEdit="1"/>
              </p:cNvSpPr>
              <p:nvPr/>
            </p:nvSpPr>
            <p:spPr>
              <a:xfrm>
                <a:off x="5728456" y="4935923"/>
                <a:ext cx="6093500" cy="1015663"/>
              </a:xfrm>
              <a:prstGeom prst="rect">
                <a:avLst/>
              </a:prstGeom>
              <a:blipFill>
                <a:blip r:embed="rId4"/>
                <a:stretch>
                  <a:fillRect t="-3614" r="-1101" b="-10241"/>
                </a:stretch>
              </a:blipFill>
            </p:spPr>
            <p:txBody>
              <a:bodyPr/>
              <a:lstStyle/>
              <a:p>
                <a:r>
                  <a:rPr lang="es-MX">
                    <a:noFill/>
                  </a:rPr>
                  <a:t> </a:t>
                </a:r>
              </a:p>
            </p:txBody>
          </p:sp>
        </mc:Fallback>
      </mc:AlternateContent>
    </p:spTree>
    <p:extLst>
      <p:ext uri="{BB962C8B-B14F-4D97-AF65-F5344CB8AC3E}">
        <p14:creationId xmlns:p14="http://schemas.microsoft.com/office/powerpoint/2010/main" val="848177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62E211F-BF7F-66BC-FC59-E8B17EC576BF}"/>
              </a:ext>
            </a:extLst>
          </p:cNvPr>
          <p:cNvPicPr>
            <a:picLocks noChangeAspect="1"/>
          </p:cNvPicPr>
          <p:nvPr/>
        </p:nvPicPr>
        <p:blipFill>
          <a:blip r:embed="rId2"/>
          <a:stretch>
            <a:fillRect/>
          </a:stretch>
        </p:blipFill>
        <p:spPr>
          <a:xfrm>
            <a:off x="827083" y="1295404"/>
            <a:ext cx="4639322" cy="3610479"/>
          </a:xfrm>
          <a:prstGeom prst="rect">
            <a:avLst/>
          </a:prstGeom>
        </p:spPr>
      </p:pic>
      <p:pic>
        <p:nvPicPr>
          <p:cNvPr id="7" name="Imagen 6">
            <a:extLst>
              <a:ext uri="{FF2B5EF4-FFF2-40B4-BE49-F238E27FC236}">
                <a16:creationId xmlns:a16="http://schemas.microsoft.com/office/drawing/2014/main" id="{79AA933F-9052-7BDE-7C02-008A33188919}"/>
              </a:ext>
            </a:extLst>
          </p:cNvPr>
          <p:cNvPicPr>
            <a:picLocks noChangeAspect="1"/>
          </p:cNvPicPr>
          <p:nvPr/>
        </p:nvPicPr>
        <p:blipFill>
          <a:blip r:embed="rId3"/>
          <a:stretch>
            <a:fillRect/>
          </a:stretch>
        </p:blipFill>
        <p:spPr>
          <a:xfrm>
            <a:off x="3340378" y="4412089"/>
            <a:ext cx="1981054" cy="493794"/>
          </a:xfrm>
          <a:prstGeom prst="rect">
            <a:avLst/>
          </a:prstGeom>
        </p:spPr>
      </p:pic>
      <p:sp>
        <p:nvSpPr>
          <p:cNvPr id="9" name="CuadroTexto 8">
            <a:extLst>
              <a:ext uri="{FF2B5EF4-FFF2-40B4-BE49-F238E27FC236}">
                <a16:creationId xmlns:a16="http://schemas.microsoft.com/office/drawing/2014/main" id="{25191A22-84A2-280D-5B40-C49707F2E8CF}"/>
              </a:ext>
            </a:extLst>
          </p:cNvPr>
          <p:cNvSpPr txBox="1"/>
          <p:nvPr/>
        </p:nvSpPr>
        <p:spPr>
          <a:xfrm>
            <a:off x="5820228" y="2592811"/>
            <a:ext cx="6096000" cy="1015663"/>
          </a:xfrm>
          <a:prstGeom prst="rect">
            <a:avLst/>
          </a:prstGeom>
          <a:noFill/>
        </p:spPr>
        <p:txBody>
          <a:bodyPr wrap="square">
            <a:spAutoFit/>
          </a:bodyPr>
          <a:lstStyle/>
          <a:p>
            <a:r>
              <a:rPr lang="es-MX" sz="2000" b="0" i="0" u="none" strike="noStrike" baseline="0" dirty="0">
                <a:solidFill>
                  <a:schemeClr val="bg1"/>
                </a:solidFill>
                <a:latin typeface="Century Gothic" panose="020B0502020202020204" pitchFamily="34" charset="0"/>
              </a:rPr>
              <a:t>Concluimos que las botellas de </a:t>
            </a:r>
            <a:r>
              <a:rPr lang="es-MX" sz="2000" b="0" i="0" u="none" strike="noStrike" baseline="0" dirty="0" err="1">
                <a:solidFill>
                  <a:schemeClr val="bg1"/>
                </a:solidFill>
                <a:latin typeface="Century Gothic" panose="020B0502020202020204" pitchFamily="34" charset="0"/>
              </a:rPr>
              <a:t>wisky</a:t>
            </a:r>
            <a:r>
              <a:rPr lang="es-MX" sz="2000" b="0" i="0" u="none" strike="noStrike" baseline="0" dirty="0">
                <a:solidFill>
                  <a:schemeClr val="bg1"/>
                </a:solidFill>
                <a:latin typeface="Century Gothic" panose="020B0502020202020204" pitchFamily="34" charset="0"/>
              </a:rPr>
              <a:t> JW tiene menos de 700 ml</a:t>
            </a:r>
            <a:r>
              <a:rPr lang="es-MX" sz="2000" dirty="0">
                <a:solidFill>
                  <a:schemeClr val="bg1"/>
                </a:solidFill>
                <a:latin typeface="Century Gothic" panose="020B0502020202020204" pitchFamily="34" charset="0"/>
              </a:rPr>
              <a:t>. Entonces vamos a ver hay que rechazar la hipótesis nula…</a:t>
            </a:r>
          </a:p>
        </p:txBody>
      </p:sp>
    </p:spTree>
    <p:extLst>
      <p:ext uri="{BB962C8B-B14F-4D97-AF65-F5344CB8AC3E}">
        <p14:creationId xmlns:p14="http://schemas.microsoft.com/office/powerpoint/2010/main" val="3979193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9"/>
          <p:cNvSpPr txBox="1">
            <a:spLocks noGrp="1"/>
          </p:cNvSpPr>
          <p:nvPr>
            <p:ph type="title"/>
          </p:nvPr>
        </p:nvSpPr>
        <p:spPr>
          <a:xfrm>
            <a:off x="571162" y="260821"/>
            <a:ext cx="3431212" cy="8921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Correlación</a:t>
            </a:r>
            <a:endParaRPr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42313937-7759-9876-26C5-957B6703BEE0}"/>
                  </a:ext>
                </a:extLst>
              </p:cNvPr>
              <p:cNvSpPr txBox="1"/>
              <p:nvPr/>
            </p:nvSpPr>
            <p:spPr>
              <a:xfrm>
                <a:off x="398801" y="1152983"/>
                <a:ext cx="11394397" cy="3111878"/>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Sean </a:t>
                </a:r>
                <a14:m>
                  <m:oMath xmlns:m="http://schemas.openxmlformats.org/officeDocument/2006/math">
                    <m:sSub>
                      <m:sSubPr>
                        <m:ctrlPr>
                          <a:rPr lang="es-MX" sz="200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1</m:t>
                        </m:r>
                      </m:sub>
                    </m:sSub>
                  </m:oMath>
                </a14:m>
                <a:r>
                  <a:rPr lang="es-MX" sz="2000" dirty="0">
                    <a:solidFill>
                      <a:schemeClr val="bg1"/>
                    </a:solidFill>
                    <a:latin typeface="Century Gothic" panose="020B0502020202020204" pitchFamily="34" charset="0"/>
                  </a:rPr>
                  <a:t>​ y </a:t>
                </a:r>
                <a14:m>
                  <m:oMath xmlns:m="http://schemas.openxmlformats.org/officeDocument/2006/math">
                    <m:sSub>
                      <m:sSubPr>
                        <m:ctrlPr>
                          <a:rPr lang="es-MX" sz="200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2</m:t>
                        </m:r>
                      </m:sub>
                    </m:sSub>
                  </m:oMath>
                </a14:m>
                <a:r>
                  <a:rPr lang="es-MX" sz="2000" dirty="0">
                    <a:solidFill>
                      <a:schemeClr val="bg1"/>
                    </a:solidFill>
                    <a:latin typeface="Century Gothic" panose="020B0502020202020204" pitchFamily="34" charset="0"/>
                  </a:rPr>
                  <a:t>​ variables aleatorias con covarianza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𝜎</m:t>
                        </m:r>
                      </m:e>
                      <m:sub>
                        <m:r>
                          <a:rPr lang="en-US" sz="2000" b="0" i="1" smtClean="0">
                            <a:solidFill>
                              <a:schemeClr val="bg1"/>
                            </a:solidFill>
                            <a:latin typeface="Cambria Math" panose="02040503050406030204" pitchFamily="18" charset="0"/>
                          </a:rPr>
                          <m:t>1,2</m:t>
                        </m:r>
                      </m:sub>
                    </m:sSub>
                  </m:oMath>
                </a14:m>
                <a:r>
                  <a:rPr lang="es-MX" sz="2000" dirty="0">
                    <a:solidFill>
                      <a:schemeClr val="bg1"/>
                    </a:solidFill>
                    <a:latin typeface="Century Gothic" panose="020B0502020202020204" pitchFamily="34" charset="0"/>
                  </a:rPr>
                  <a:t> y desviaciones estándar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𝜎</m:t>
                        </m:r>
                      </m:e>
                      <m:sub>
                        <m:r>
                          <a:rPr lang="en-US" sz="2000" b="0" i="1" smtClean="0">
                            <a:solidFill>
                              <a:schemeClr val="bg1"/>
                            </a:solidFill>
                            <a:latin typeface="Cambria Math" panose="02040503050406030204" pitchFamily="18" charset="0"/>
                          </a:rPr>
                          <m:t>1</m:t>
                        </m:r>
                      </m:sub>
                    </m:sSub>
                  </m:oMath>
                </a14:m>
                <a:r>
                  <a:rPr lang="en-US" sz="2000" dirty="0">
                    <a:solidFill>
                      <a:schemeClr val="bg1"/>
                    </a:solidFill>
                    <a:latin typeface="Century Gothic" panose="020B0502020202020204" pitchFamily="34" charset="0"/>
                  </a:rPr>
                  <a:t>, </a:t>
                </a:r>
                <a14:m>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𝜎</m:t>
                        </m:r>
                      </m:e>
                      <m:sub>
                        <m:r>
                          <a:rPr lang="en-US" sz="2000" b="0" i="1" smtClean="0">
                            <a:solidFill>
                              <a:schemeClr val="bg1"/>
                            </a:solidFill>
                            <a:latin typeface="Cambria Math" panose="02040503050406030204" pitchFamily="18" charset="0"/>
                          </a:rPr>
                          <m:t>2</m:t>
                        </m:r>
                      </m:sub>
                    </m:sSub>
                  </m:oMath>
                </a14:m>
                <a:r>
                  <a:rPr lang="el-GR" sz="2000" dirty="0">
                    <a:solidFill>
                      <a:schemeClr val="bg1"/>
                    </a:solidFill>
                    <a:latin typeface="Century Gothic" panose="020B0502020202020204" pitchFamily="34" charset="0"/>
                  </a:rPr>
                  <a:t>​</a:t>
                </a:r>
                <a:r>
                  <a:rPr lang="en-US" sz="2000" dirty="0">
                    <a:solidFill>
                      <a:schemeClr val="bg1"/>
                    </a:solidFill>
                    <a:latin typeface="Century Gothic" panose="020B0502020202020204" pitchFamily="34" charset="0"/>
                  </a:rPr>
                  <a:t> </a:t>
                </a:r>
                <a:r>
                  <a:rPr lang="es-MX" sz="2000" dirty="0">
                    <a:solidFill>
                      <a:schemeClr val="bg1"/>
                    </a:solidFill>
                    <a:latin typeface="Century Gothic" panose="020B0502020202020204" pitchFamily="34" charset="0"/>
                  </a:rPr>
                  <a:t>respectivamente.</a:t>
                </a:r>
              </a:p>
              <a:p>
                <a:pPr>
                  <a:buNone/>
                </a:pPr>
                <a:br>
                  <a:rPr lang="es-MX" sz="2000" dirty="0">
                    <a:solidFill>
                      <a:schemeClr val="bg1"/>
                    </a:solidFill>
                    <a:latin typeface="Century Gothic" panose="020B0502020202020204" pitchFamily="34" charset="0"/>
                  </a:rPr>
                </a:br>
                <a:r>
                  <a:rPr lang="es-MX" sz="2000" dirty="0">
                    <a:solidFill>
                      <a:schemeClr val="bg1"/>
                    </a:solidFill>
                    <a:latin typeface="Century Gothic" panose="020B0502020202020204" pitchFamily="34" charset="0"/>
                  </a:rPr>
                  <a:t>El </a:t>
                </a:r>
                <a:r>
                  <a:rPr lang="es-MX" sz="2000" b="1" dirty="0">
                    <a:solidFill>
                      <a:schemeClr val="bg1"/>
                    </a:solidFill>
                    <a:latin typeface="Century Gothic" panose="020B0502020202020204" pitchFamily="34" charset="0"/>
                  </a:rPr>
                  <a:t>coeficiente de correlación</a:t>
                </a:r>
                <a:r>
                  <a:rPr lang="es-MX" sz="2000" dirty="0">
                    <a:solidFill>
                      <a:schemeClr val="bg1"/>
                    </a:solidFill>
                    <a:latin typeface="Century Gothic" panose="020B0502020202020204" pitchFamily="34" charset="0"/>
                  </a:rPr>
                  <a:t> de </a:t>
                </a:r>
                <a14:m>
                  <m:oMath xmlns:m="http://schemas.openxmlformats.org/officeDocument/2006/math">
                    <m:sSub>
                      <m:sSubPr>
                        <m:ctrlPr>
                          <a:rPr lang="es-MX" sz="200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1</m:t>
                        </m:r>
                      </m:sub>
                    </m:sSub>
                  </m:oMath>
                </a14:m>
                <a:r>
                  <a:rPr lang="es-MX" sz="2000" dirty="0">
                    <a:solidFill>
                      <a:schemeClr val="bg1"/>
                    </a:solidFill>
                    <a:latin typeface="Century Gothic" panose="020B0502020202020204" pitchFamily="34" charset="0"/>
                  </a:rPr>
                  <a:t>​ y </a:t>
                </a:r>
                <a14:m>
                  <m:oMath xmlns:m="http://schemas.openxmlformats.org/officeDocument/2006/math">
                    <m:sSub>
                      <m:sSubPr>
                        <m:ctrlPr>
                          <a:rPr lang="es-MX" sz="200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𝑋</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 </m:t>
                    </m:r>
                  </m:oMath>
                </a14:m>
                <a:r>
                  <a:rPr lang="es-MX" sz="2000" dirty="0">
                    <a:solidFill>
                      <a:schemeClr val="bg1"/>
                    </a:solidFill>
                    <a:latin typeface="Century Gothic" panose="020B0502020202020204" pitchFamily="34" charset="0"/>
                  </a:rPr>
                  <a:t>​ es:</a:t>
                </a:r>
              </a:p>
              <a:p>
                <a:pPr algn="ctr">
                  <a:buNone/>
                </a:pPr>
                <a:endParaRPr lang="es-MX" sz="2000" dirty="0">
                  <a:solidFill>
                    <a:schemeClr val="bg1"/>
                  </a:solidFill>
                  <a:latin typeface="Century Gothic" panose="020B0502020202020204" pitchFamily="34" charset="0"/>
                </a:endParaRPr>
              </a:p>
              <a:p>
                <a:pPr algn="ctr">
                  <a:buNone/>
                </a:pPr>
                <a14:m>
                  <m:oMath xmlns:m="http://schemas.openxmlformats.org/officeDocument/2006/math">
                    <m:sSub>
                      <m:sSubPr>
                        <m:ctrlPr>
                          <a:rPr lang="es-MX" sz="2400" i="1" smtClean="0">
                            <a:solidFill>
                              <a:schemeClr val="bg1"/>
                            </a:solidFill>
                            <a:latin typeface="Cambria Math" panose="02040503050406030204" pitchFamily="18" charset="0"/>
                          </a:rPr>
                        </m:ctrlPr>
                      </m:sSubPr>
                      <m:e>
                        <m:r>
                          <a:rPr lang="es-MX" sz="2400" i="1" smtClean="0">
                            <a:solidFill>
                              <a:schemeClr val="bg1"/>
                            </a:solidFill>
                            <a:latin typeface="Cambria Math" panose="02040503050406030204" pitchFamily="18" charset="0"/>
                          </a:rPr>
                          <m:t>𝜌</m:t>
                        </m:r>
                      </m:e>
                      <m:sub>
                        <m:sSub>
                          <m:sSubPr>
                            <m:ctrlPr>
                              <a:rPr lang="es-MX" sz="2400" i="1">
                                <a:solidFill>
                                  <a:schemeClr val="bg1"/>
                                </a:solidFill>
                                <a:latin typeface="Cambria Math" panose="02040503050406030204" pitchFamily="18" charset="0"/>
                              </a:rPr>
                            </m:ctrlPr>
                          </m:sSubPr>
                          <m:e>
                            <m:r>
                              <a:rPr lang="es-MX" sz="2400" i="1">
                                <a:solidFill>
                                  <a:schemeClr val="bg1"/>
                                </a:solidFill>
                                <a:latin typeface="Cambria Math" panose="02040503050406030204" pitchFamily="18" charset="0"/>
                              </a:rPr>
                              <m:t>𝑋</m:t>
                            </m:r>
                          </m:e>
                          <m:sub>
                            <m:r>
                              <a:rPr lang="es-MX" sz="2400" i="1">
                                <a:solidFill>
                                  <a:schemeClr val="bg1"/>
                                </a:solidFill>
                                <a:latin typeface="Cambria Math" panose="02040503050406030204" pitchFamily="18" charset="0"/>
                              </a:rPr>
                              <m:t>1</m:t>
                            </m:r>
                          </m:sub>
                        </m:sSub>
                        <m:r>
                          <a:rPr lang="en-US" sz="2400" b="0" i="1" smtClean="0">
                            <a:solidFill>
                              <a:schemeClr val="bg1"/>
                            </a:solidFill>
                            <a:latin typeface="Cambria Math" panose="02040503050406030204" pitchFamily="18" charset="0"/>
                          </a:rPr>
                          <m:t>, </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𝑋</m:t>
                            </m:r>
                          </m:e>
                          <m:sub>
                            <m:r>
                              <a:rPr lang="en-US" sz="2400" b="0" i="1" smtClean="0">
                                <a:solidFill>
                                  <a:schemeClr val="bg1"/>
                                </a:solidFill>
                                <a:latin typeface="Cambria Math" panose="02040503050406030204" pitchFamily="18" charset="0"/>
                              </a:rPr>
                              <m:t>2</m:t>
                            </m:r>
                          </m:sub>
                        </m:sSub>
                      </m:sub>
                    </m:sSub>
                    <m:r>
                      <a:rPr lang="es-MX" sz="2400" i="1">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sSub>
                          <m:sSubPr>
                            <m:ctrlPr>
                              <a:rPr lang="en-US" sz="2400" i="1">
                                <a:solidFill>
                                  <a:schemeClr val="bg1"/>
                                </a:solidFill>
                                <a:latin typeface="Cambria Math" panose="02040503050406030204" pitchFamily="18" charset="0"/>
                              </a:rPr>
                            </m:ctrlPr>
                          </m:sSubPr>
                          <m:e>
                            <m:r>
                              <a:rPr lang="es-MX" sz="2400" i="1">
                                <a:solidFill>
                                  <a:schemeClr val="bg1"/>
                                </a:solidFill>
                                <a:latin typeface="Cambria Math" panose="02040503050406030204" pitchFamily="18" charset="0"/>
                              </a:rPr>
                              <m:t>𝜎</m:t>
                            </m:r>
                          </m:e>
                          <m:sub>
                            <m:r>
                              <a:rPr lang="es-MX" sz="2400" i="1">
                                <a:solidFill>
                                  <a:schemeClr val="bg1"/>
                                </a:solidFill>
                                <a:latin typeface="Cambria Math" panose="02040503050406030204" pitchFamily="18" charset="0"/>
                              </a:rPr>
                              <m:t>1</m:t>
                            </m:r>
                            <m:r>
                              <a:rPr lang="en-US" sz="2400" i="1">
                                <a:solidFill>
                                  <a:schemeClr val="bg1"/>
                                </a:solidFill>
                                <a:latin typeface="Cambria Math" panose="02040503050406030204" pitchFamily="18" charset="0"/>
                              </a:rPr>
                              <m:t>,2</m:t>
                            </m:r>
                          </m:sub>
                        </m:sSub>
                      </m:num>
                      <m:den>
                        <m:sSub>
                          <m:sSubPr>
                            <m:ctrlPr>
                              <a:rPr lang="en-US" sz="2400" i="1">
                                <a:solidFill>
                                  <a:schemeClr val="bg1"/>
                                </a:solidFill>
                                <a:latin typeface="Cambria Math" panose="02040503050406030204" pitchFamily="18" charset="0"/>
                              </a:rPr>
                            </m:ctrlPr>
                          </m:sSubPr>
                          <m:e>
                            <m:r>
                              <a:rPr lang="es-MX" sz="2400" i="1">
                                <a:solidFill>
                                  <a:schemeClr val="bg1"/>
                                </a:solidFill>
                                <a:latin typeface="Cambria Math" panose="02040503050406030204" pitchFamily="18" charset="0"/>
                              </a:rPr>
                              <m:t>𝜎</m:t>
                            </m:r>
                          </m:e>
                          <m:sub>
                            <m:r>
                              <a:rPr lang="en-US" sz="2400" i="1">
                                <a:solidFill>
                                  <a:schemeClr val="bg1"/>
                                </a:solidFill>
                                <a:latin typeface="Cambria Math" panose="02040503050406030204" pitchFamily="18" charset="0"/>
                              </a:rPr>
                              <m:t>1</m:t>
                            </m:r>
                          </m:sub>
                        </m:sSub>
                        <m:r>
                          <a:rPr lang="es-MX" sz="2400" i="1">
                            <a:solidFill>
                              <a:schemeClr val="bg1"/>
                            </a:solidFill>
                            <a:latin typeface="Cambria Math" panose="02040503050406030204" pitchFamily="18" charset="0"/>
                          </a:rPr>
                          <m:t> </m:t>
                        </m:r>
                        <m:sSub>
                          <m:sSubPr>
                            <m:ctrlPr>
                              <a:rPr lang="en-US" sz="2400" i="1">
                                <a:solidFill>
                                  <a:schemeClr val="bg1"/>
                                </a:solidFill>
                                <a:latin typeface="Cambria Math" panose="02040503050406030204" pitchFamily="18" charset="0"/>
                              </a:rPr>
                            </m:ctrlPr>
                          </m:sSubPr>
                          <m:e>
                            <m:r>
                              <a:rPr lang="es-MX" sz="2400" i="1">
                                <a:solidFill>
                                  <a:schemeClr val="bg1"/>
                                </a:solidFill>
                                <a:latin typeface="Cambria Math" panose="02040503050406030204" pitchFamily="18" charset="0"/>
                              </a:rPr>
                              <m:t>𝜎</m:t>
                            </m:r>
                          </m:e>
                          <m:sub>
                            <m:r>
                              <a:rPr lang="en-US" sz="2400" i="1">
                                <a:solidFill>
                                  <a:schemeClr val="bg1"/>
                                </a:solidFill>
                                <a:latin typeface="Cambria Math" panose="02040503050406030204" pitchFamily="18" charset="0"/>
                              </a:rPr>
                              <m:t>2</m:t>
                            </m:r>
                          </m:sub>
                        </m:sSub>
                      </m:den>
                    </m:f>
                  </m:oMath>
                </a14:m>
                <a:r>
                  <a:rPr lang="es-MX" sz="2400" dirty="0">
                    <a:solidFill>
                      <a:schemeClr val="bg1"/>
                    </a:solidFill>
                    <a:latin typeface="Century Gothic" panose="020B0502020202020204" pitchFamily="34" charset="0"/>
                  </a:rPr>
                  <a:t>  </a:t>
                </a:r>
                <a:endParaRPr lang="es-MX" sz="2000" dirty="0">
                  <a:solidFill>
                    <a:schemeClr val="bg1"/>
                  </a:solidFill>
                  <a:latin typeface="Century Gothic" panose="020B0502020202020204" pitchFamily="34" charset="0"/>
                </a:endParaRPr>
              </a:p>
              <a:p>
                <a:pPr>
                  <a:buNone/>
                </a:pPr>
                <a:r>
                  <a:rPr lang="es-MX" sz="2000" dirty="0">
                    <a:solidFill>
                      <a:schemeClr val="bg1"/>
                    </a:solidFill>
                    <a:latin typeface="Century Gothic" panose="020B0502020202020204" pitchFamily="34" charset="0"/>
                  </a:rPr>
                  <a:t>Donde:</a:t>
                </a:r>
              </a:p>
              <a:p>
                <a:pPr/>
                <a14:m>
                  <m:oMathPara xmlns:m="http://schemas.openxmlformats.org/officeDocument/2006/math">
                    <m:oMathParaPr>
                      <m:jc m:val="centerGroup"/>
                    </m:oMathParaPr>
                    <m:oMath xmlns:m="http://schemas.openxmlformats.org/officeDocument/2006/math">
                      <m:r>
                        <a:rPr lang="en-US" sz="2000" b="0" i="0" smtClean="0">
                          <a:solidFill>
                            <a:schemeClr val="bg1"/>
                          </a:solidFill>
                          <a:latin typeface="Cambria Math" panose="02040503050406030204" pitchFamily="18" charset="0"/>
                        </a:rPr>
                        <m:t>−1</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𝜌</m:t>
                      </m:r>
                      <m:r>
                        <a:rPr lang="en-US" sz="2000" b="0" i="1" smtClean="0">
                          <a:solidFill>
                            <a:schemeClr val="bg1"/>
                          </a:solidFill>
                          <a:latin typeface="Cambria Math" panose="02040503050406030204" pitchFamily="18" charset="0"/>
                        </a:rPr>
                        <m:t>≤1</m:t>
                      </m:r>
                    </m:oMath>
                  </m:oMathPara>
                </a14:m>
                <a:endParaRPr lang="es-MX" sz="2000" dirty="0">
                  <a:solidFill>
                    <a:schemeClr val="bg1"/>
                  </a:solidFill>
                  <a:latin typeface="Century Gothic" panose="020B0502020202020204" pitchFamily="34" charset="0"/>
                </a:endParaRPr>
              </a:p>
              <a:p>
                <a:endParaRPr lang="es-MX" sz="2000" dirty="0">
                  <a:solidFill>
                    <a:schemeClr val="bg1"/>
                  </a:solidFill>
                  <a:latin typeface="Century Gothic" panose="020B0502020202020204" pitchFamily="34" charset="0"/>
                </a:endParaRPr>
              </a:p>
            </p:txBody>
          </p:sp>
        </mc:Choice>
        <mc:Fallback xmlns="">
          <p:sp>
            <p:nvSpPr>
              <p:cNvPr id="3" name="CuadroTexto 2">
                <a:extLst>
                  <a:ext uri="{FF2B5EF4-FFF2-40B4-BE49-F238E27FC236}">
                    <a16:creationId xmlns:a16="http://schemas.microsoft.com/office/drawing/2014/main" id="{42313937-7759-9876-26C5-957B6703BEE0}"/>
                  </a:ext>
                </a:extLst>
              </p:cNvPr>
              <p:cNvSpPr txBox="1">
                <a:spLocks noRot="1" noChangeAspect="1" noMove="1" noResize="1" noEditPoints="1" noAdjustHandles="1" noChangeArrowheads="1" noChangeShapeType="1" noTextEdit="1"/>
              </p:cNvSpPr>
              <p:nvPr/>
            </p:nvSpPr>
            <p:spPr>
              <a:xfrm>
                <a:off x="398801" y="1152983"/>
                <a:ext cx="11394397" cy="3111878"/>
              </a:xfrm>
              <a:prstGeom prst="rect">
                <a:avLst/>
              </a:prstGeom>
              <a:blipFill>
                <a:blip r:embed="rId3"/>
                <a:stretch>
                  <a:fillRect l="-535" t="-1174"/>
                </a:stretch>
              </a:blipFill>
            </p:spPr>
            <p:txBody>
              <a:bodyPr/>
              <a:lstStyle/>
              <a:p>
                <a:r>
                  <a:rPr lang="es-MX">
                    <a:noFill/>
                  </a:rPr>
                  <a:t> </a:t>
                </a:r>
              </a:p>
            </p:txBody>
          </p:sp>
        </mc:Fallback>
      </mc:AlternateContent>
      <p:sp>
        <p:nvSpPr>
          <p:cNvPr id="19" name="CuadroTexto 18">
            <a:extLst>
              <a:ext uri="{FF2B5EF4-FFF2-40B4-BE49-F238E27FC236}">
                <a16:creationId xmlns:a16="http://schemas.microsoft.com/office/drawing/2014/main" id="{AE1A65C6-F8D4-D1E7-D406-3DCEC14DD799}"/>
              </a:ext>
            </a:extLst>
          </p:cNvPr>
          <p:cNvSpPr txBox="1"/>
          <p:nvPr/>
        </p:nvSpPr>
        <p:spPr>
          <a:xfrm>
            <a:off x="1091785" y="3536948"/>
            <a:ext cx="4508291" cy="523220"/>
          </a:xfrm>
          <a:prstGeom prst="rect">
            <a:avLst/>
          </a:prstGeom>
          <a:noFill/>
        </p:spPr>
        <p:txBody>
          <a:bodyPr wrap="square">
            <a:spAutoFit/>
          </a:bodyPr>
          <a:lstStyle/>
          <a:p>
            <a:pPr algn="ctr">
              <a:buNone/>
            </a:pPr>
            <a:r>
              <a:rPr lang="es-MX" sz="1400" dirty="0">
                <a:solidFill>
                  <a:srgbClr val="FFFF00"/>
                </a:solidFill>
                <a:latin typeface="Century Gothic" panose="020B0502020202020204" pitchFamily="34" charset="0"/>
              </a:rPr>
              <a:t>(ambas variables se mueve en direcciones opuesta proporcionalmente)</a:t>
            </a:r>
          </a:p>
        </p:txBody>
      </p:sp>
      <p:sp>
        <p:nvSpPr>
          <p:cNvPr id="20" name="CuadroTexto 19">
            <a:extLst>
              <a:ext uri="{FF2B5EF4-FFF2-40B4-BE49-F238E27FC236}">
                <a16:creationId xmlns:a16="http://schemas.microsoft.com/office/drawing/2014/main" id="{856AFC18-9888-B7A1-4278-1A1B27AB9702}"/>
              </a:ext>
            </a:extLst>
          </p:cNvPr>
          <p:cNvSpPr txBox="1"/>
          <p:nvPr/>
        </p:nvSpPr>
        <p:spPr>
          <a:xfrm>
            <a:off x="6650920" y="3536948"/>
            <a:ext cx="4938010" cy="523220"/>
          </a:xfrm>
          <a:prstGeom prst="rect">
            <a:avLst/>
          </a:prstGeom>
          <a:noFill/>
        </p:spPr>
        <p:txBody>
          <a:bodyPr wrap="square">
            <a:spAutoFit/>
          </a:bodyPr>
          <a:lstStyle/>
          <a:p>
            <a:pPr algn="ctr">
              <a:buNone/>
            </a:pPr>
            <a:r>
              <a:rPr lang="es-MX" sz="1400" dirty="0">
                <a:solidFill>
                  <a:srgbClr val="FFFF00"/>
                </a:solidFill>
                <a:latin typeface="Century Gothic" panose="020B0502020202020204" pitchFamily="34" charset="0"/>
              </a:rPr>
              <a:t>(ambas variables se mueve en la misma dirección proporcionalmente)</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D6D25ABF-BD60-29DC-805D-4F5BAABFCEA6}"/>
                  </a:ext>
                </a:extLst>
              </p:cNvPr>
              <p:cNvSpPr txBox="1"/>
              <p:nvPr/>
            </p:nvSpPr>
            <p:spPr>
              <a:xfrm>
                <a:off x="398801" y="4244686"/>
                <a:ext cx="7176541" cy="400110"/>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Cuando </a:t>
                </a:r>
                <a14:m>
                  <m:oMath xmlns:m="http://schemas.openxmlformats.org/officeDocument/2006/math">
                    <m:r>
                      <a:rPr lang="en-US" sz="2000" b="0" i="1" smtClean="0">
                        <a:solidFill>
                          <a:schemeClr val="bg1"/>
                        </a:solidFill>
                        <a:latin typeface="Cambria Math" panose="02040503050406030204" pitchFamily="18" charset="0"/>
                      </a:rPr>
                      <m:t>𝜌</m:t>
                    </m:r>
                    <m:r>
                      <a:rPr lang="en-US" sz="2000" b="0" i="1" smtClean="0">
                        <a:solidFill>
                          <a:schemeClr val="bg1"/>
                        </a:solidFill>
                        <a:latin typeface="Cambria Math" panose="02040503050406030204" pitchFamily="18" charset="0"/>
                      </a:rPr>
                      <m:t>=0 </m:t>
                    </m:r>
                  </m:oMath>
                </a14:m>
                <a:r>
                  <a:rPr lang="es-MX" sz="2000" dirty="0">
                    <a:solidFill>
                      <a:schemeClr val="bg1"/>
                    </a:solidFill>
                    <a:latin typeface="Century Gothic" panose="020B0502020202020204" pitchFamily="34" charset="0"/>
                  </a:rPr>
                  <a:t> quiere decir que no existe un correlación</a:t>
                </a:r>
              </a:p>
            </p:txBody>
          </p:sp>
        </mc:Choice>
        <mc:Fallback xmlns="">
          <p:sp>
            <p:nvSpPr>
              <p:cNvPr id="22" name="CuadroTexto 21">
                <a:extLst>
                  <a:ext uri="{FF2B5EF4-FFF2-40B4-BE49-F238E27FC236}">
                    <a16:creationId xmlns:a16="http://schemas.microsoft.com/office/drawing/2014/main" id="{D6D25ABF-BD60-29DC-805D-4F5BAABFCEA6}"/>
                  </a:ext>
                </a:extLst>
              </p:cNvPr>
              <p:cNvSpPr txBox="1">
                <a:spLocks noRot="1" noChangeAspect="1" noMove="1" noResize="1" noEditPoints="1" noAdjustHandles="1" noChangeArrowheads="1" noChangeShapeType="1" noTextEdit="1"/>
              </p:cNvSpPr>
              <p:nvPr/>
            </p:nvSpPr>
            <p:spPr>
              <a:xfrm>
                <a:off x="398801" y="4244686"/>
                <a:ext cx="7176541" cy="400110"/>
              </a:xfrm>
              <a:prstGeom prst="rect">
                <a:avLst/>
              </a:prstGeom>
              <a:blipFill>
                <a:blip r:embed="rId4"/>
                <a:stretch>
                  <a:fillRect l="-849" t="-7576" b="-2575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CAD2755-D34C-621A-E0A8-92285A6C569C}"/>
                  </a:ext>
                </a:extLst>
              </p:cNvPr>
              <p:cNvSpPr txBox="1"/>
              <p:nvPr/>
            </p:nvSpPr>
            <p:spPr>
              <a:xfrm>
                <a:off x="398801" y="4820390"/>
                <a:ext cx="10942819" cy="1631216"/>
              </a:xfrm>
              <a:prstGeom prst="rect">
                <a:avLst/>
              </a:prstGeom>
              <a:noFill/>
            </p:spPr>
            <p:txBody>
              <a:bodyPr wrap="square">
                <a:spAutoFit/>
              </a:bodyPr>
              <a:lstStyle/>
              <a:p>
                <a:pPr>
                  <a:buNone/>
                </a:pPr>
                <a:r>
                  <a:rPr lang="es-MX" sz="2000" b="1" dirty="0">
                    <a:solidFill>
                      <a:schemeClr val="bg1"/>
                    </a:solidFill>
                    <a:latin typeface="Century Gothic" panose="020B0502020202020204" pitchFamily="34" charset="0"/>
                  </a:rPr>
                  <a:t>Nota:</a:t>
                </a:r>
                <a:endParaRPr lang="es-MX" sz="2000" dirty="0">
                  <a:solidFill>
                    <a:schemeClr val="bg1"/>
                  </a:solidFill>
                  <a:latin typeface="Century Gothic" panose="020B0502020202020204" pitchFamily="34" charset="0"/>
                </a:endParaRPr>
              </a:p>
              <a:p>
                <a:pPr>
                  <a:buNone/>
                </a:pPr>
                <a:r>
                  <a:rPr lang="es-MX" sz="2000" dirty="0">
                    <a:solidFill>
                      <a:schemeClr val="bg1"/>
                    </a:solidFill>
                    <a:latin typeface="Century Gothic" panose="020B0502020202020204" pitchFamily="34" charset="0"/>
                  </a:rPr>
                  <a:t>Naturalmente es a covarianza es un termino que nos ayuda a ver la dispersión de los valores conjuntos de </a:t>
                </a:r>
                <a14:m>
                  <m:oMath xmlns:m="http://schemas.openxmlformats.org/officeDocument/2006/math">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𝑥</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𝑦</m:t>
                        </m:r>
                      </m:e>
                    </m:d>
                  </m:oMath>
                </a14:m>
                <a:r>
                  <a:rPr lang="es-MX" sz="2000" dirty="0">
                    <a:solidFill>
                      <a:schemeClr val="bg1"/>
                    </a:solidFill>
                    <a:latin typeface="Century Gothic" panose="020B0502020202020204" pitchFamily="34" charset="0"/>
                  </a:rPr>
                  <a:t> pero también se puede ver como una medida de la </a:t>
                </a:r>
                <a:r>
                  <a:rPr lang="es-MX" sz="2000" b="1" dirty="0">
                    <a:solidFill>
                      <a:schemeClr val="bg1"/>
                    </a:solidFill>
                    <a:latin typeface="Century Gothic" panose="020B0502020202020204" pitchFamily="34" charset="0"/>
                  </a:rPr>
                  <a:t>naturaleza de la asociación</a:t>
                </a:r>
                <a:r>
                  <a:rPr lang="es-MX" sz="2000" dirty="0">
                    <a:solidFill>
                      <a:schemeClr val="bg1"/>
                    </a:solidFill>
                    <a:latin typeface="Century Gothic" panose="020B0502020202020204" pitchFamily="34" charset="0"/>
                  </a:rPr>
                  <a:t> entre dos variables, pero generalmente es </a:t>
                </a:r>
                <a:r>
                  <a:rPr lang="es-MX" sz="2000" b="1" dirty="0">
                    <a:solidFill>
                      <a:schemeClr val="bg1"/>
                    </a:solidFill>
                    <a:latin typeface="Century Gothic" panose="020B0502020202020204" pitchFamily="34" charset="0"/>
                  </a:rPr>
                  <a:t>difícil de interpretar</a:t>
                </a:r>
                <a:r>
                  <a:rPr lang="es-MX" sz="2000" dirty="0">
                    <a:solidFill>
                      <a:schemeClr val="bg1"/>
                    </a:solidFill>
                    <a:latin typeface="Century Gothic" panose="020B0502020202020204" pitchFamily="34" charset="0"/>
                  </a:rPr>
                  <a:t>, pues depende de la escala de las variables 1 y 2.</a:t>
                </a:r>
              </a:p>
            </p:txBody>
          </p:sp>
        </mc:Choice>
        <mc:Fallback xmlns="">
          <p:sp>
            <p:nvSpPr>
              <p:cNvPr id="24" name="CuadroTexto 23">
                <a:extLst>
                  <a:ext uri="{FF2B5EF4-FFF2-40B4-BE49-F238E27FC236}">
                    <a16:creationId xmlns:a16="http://schemas.microsoft.com/office/drawing/2014/main" id="{8CAD2755-D34C-621A-E0A8-92285A6C569C}"/>
                  </a:ext>
                </a:extLst>
              </p:cNvPr>
              <p:cNvSpPr txBox="1">
                <a:spLocks noRot="1" noChangeAspect="1" noMove="1" noResize="1" noEditPoints="1" noAdjustHandles="1" noChangeArrowheads="1" noChangeShapeType="1" noTextEdit="1"/>
              </p:cNvSpPr>
              <p:nvPr/>
            </p:nvSpPr>
            <p:spPr>
              <a:xfrm>
                <a:off x="398801" y="4820390"/>
                <a:ext cx="10942819" cy="1631216"/>
              </a:xfrm>
              <a:prstGeom prst="rect">
                <a:avLst/>
              </a:prstGeom>
              <a:blipFill>
                <a:blip r:embed="rId5"/>
                <a:stretch>
                  <a:fillRect l="-557" t="-2247" b="-5993"/>
                </a:stretch>
              </a:blipFill>
            </p:spPr>
            <p:txBody>
              <a:bodyPr/>
              <a:lstStyle/>
              <a:p>
                <a:r>
                  <a:rPr lang="es-MX">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66802C8-5834-6F48-DB44-420C92DACFE0}"/>
              </a:ext>
            </a:extLst>
          </p:cNvPr>
          <p:cNvSpPr txBox="1"/>
          <p:nvPr/>
        </p:nvSpPr>
        <p:spPr>
          <a:xfrm>
            <a:off x="362450" y="215878"/>
            <a:ext cx="10610350" cy="707886"/>
          </a:xfrm>
          <a:prstGeom prst="rect">
            <a:avLst/>
          </a:prstGeom>
          <a:noFill/>
        </p:spPr>
        <p:txBody>
          <a:bodyPr wrap="square">
            <a:spAutoFit/>
          </a:bodyPr>
          <a:lstStyle/>
          <a:p>
            <a:r>
              <a:rPr lang="es-MX" sz="2000" b="1" dirty="0">
                <a:solidFill>
                  <a:schemeClr val="bg1"/>
                </a:solidFill>
                <a:latin typeface="Century Gothic" panose="020B0502020202020204" pitchFamily="34" charset="0"/>
              </a:rPr>
              <a:t>El coeficiente de correlación</a:t>
            </a:r>
            <a:r>
              <a:rPr lang="es-MX" sz="2000" dirty="0">
                <a:solidFill>
                  <a:schemeClr val="bg1"/>
                </a:solidFill>
                <a:latin typeface="Century Gothic" panose="020B0502020202020204" pitchFamily="34" charset="0"/>
              </a:rPr>
              <a:t>, </a:t>
            </a:r>
            <a:r>
              <a:rPr lang="es-MX" sz="2000" b="1" dirty="0">
                <a:solidFill>
                  <a:schemeClr val="bg1"/>
                </a:solidFill>
                <a:latin typeface="Century Gothic" panose="020B0502020202020204" pitchFamily="34" charset="0"/>
              </a:rPr>
              <a:t>normaliza la covarianza</a:t>
            </a:r>
            <a:r>
              <a:rPr lang="es-MX" sz="2000" dirty="0">
                <a:solidFill>
                  <a:schemeClr val="bg1"/>
                </a:solidFill>
                <a:latin typeface="Century Gothic" panose="020B0502020202020204" pitchFamily="34" charset="0"/>
              </a:rPr>
              <a:t> proporciona una medida </a:t>
            </a:r>
            <a:r>
              <a:rPr lang="es-MX" sz="2000" b="1" dirty="0">
                <a:solidFill>
                  <a:schemeClr val="bg1"/>
                </a:solidFill>
                <a:latin typeface="Century Gothic" panose="020B0502020202020204" pitchFamily="34" charset="0"/>
              </a:rPr>
              <a:t>más fácil de interpretar</a:t>
            </a:r>
            <a:r>
              <a:rPr lang="es-MX" sz="2000" dirty="0">
                <a:solidFill>
                  <a:schemeClr val="bg1"/>
                </a:solidFill>
                <a:latin typeface="Century Gothic" panose="020B0502020202020204" pitchFamily="34" charset="0"/>
              </a:rPr>
              <a:t>.</a:t>
            </a:r>
          </a:p>
        </p:txBody>
      </p:sp>
      <p:sp>
        <p:nvSpPr>
          <p:cNvPr id="297" name="Google Shape;297;p41"/>
          <p:cNvSpPr txBox="1">
            <a:spLocks noGrp="1"/>
          </p:cNvSpPr>
          <p:nvPr>
            <p:ph type="title"/>
          </p:nvPr>
        </p:nvSpPr>
        <p:spPr>
          <a:xfrm>
            <a:off x="751043" y="1144050"/>
            <a:ext cx="10090715" cy="70788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Coeficiente de correlación (muestral)</a:t>
            </a:r>
            <a:endParaRPr dirty="0"/>
          </a:p>
        </p:txBody>
      </p:sp>
      <p:sp>
        <p:nvSpPr>
          <p:cNvPr id="6" name="Google Shape;298;p41">
            <a:extLst>
              <a:ext uri="{FF2B5EF4-FFF2-40B4-BE49-F238E27FC236}">
                <a16:creationId xmlns:a16="http://schemas.microsoft.com/office/drawing/2014/main" id="{984B4B6F-1896-710C-63F2-5EC1ACC422D0}"/>
              </a:ext>
            </a:extLst>
          </p:cNvPr>
          <p:cNvSpPr txBox="1">
            <a:spLocks noGrp="1"/>
          </p:cNvSpPr>
          <p:nvPr>
            <p:ph type="body" idx="1"/>
          </p:nvPr>
        </p:nvSpPr>
        <p:spPr>
          <a:xfrm>
            <a:off x="925617" y="1851936"/>
            <a:ext cx="9916141" cy="4638805"/>
          </a:xfrm>
          <a:prstGeom prst="rect">
            <a:avLst/>
          </a:prstGeom>
          <a:blipFill rotWithShape="1">
            <a:blip r:embed="rId2">
              <a:alphaModFix/>
            </a:blip>
            <a:stretch>
              <a:fillRect l="-428" t="-883" r="-798" b="-4677"/>
            </a:stretch>
          </a:blip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dirty="0"/>
              <a:t> </a:t>
            </a:r>
            <a:endParaRPr dirty="0"/>
          </a:p>
        </p:txBody>
      </p:sp>
    </p:spTree>
    <p:extLst>
      <p:ext uri="{BB962C8B-B14F-4D97-AF65-F5344CB8AC3E}">
        <p14:creationId xmlns:p14="http://schemas.microsoft.com/office/powerpoint/2010/main" val="3909079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59B615E-949B-1378-EB64-B628F46D7B9F}"/>
              </a:ext>
            </a:extLst>
          </p:cNvPr>
          <p:cNvSpPr txBox="1"/>
          <p:nvPr/>
        </p:nvSpPr>
        <p:spPr>
          <a:xfrm>
            <a:off x="413791" y="223593"/>
            <a:ext cx="10004373" cy="1631216"/>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La correlaciones una forma simple de establecer una relación entre 2 variables (aunque anticuada, funcional). Pero podemos usarla como una estadística parámetro (que se sabe de antemano que los datos se comporta como una Normal, simétrica, continua) o no paramétrica (que no se sabe nada de los datos)….</a:t>
            </a:r>
          </a:p>
        </p:txBody>
      </p:sp>
      <p:pic>
        <p:nvPicPr>
          <p:cNvPr id="303" name="Google Shape;303;p42"/>
          <p:cNvPicPr preferRelativeResize="0"/>
          <p:nvPr/>
        </p:nvPicPr>
        <p:blipFill rotWithShape="1">
          <a:blip r:embed="rId2">
            <a:alphaModFix/>
          </a:blip>
          <a:srcRect/>
          <a:stretch/>
        </p:blipFill>
        <p:spPr>
          <a:xfrm>
            <a:off x="816562" y="2050283"/>
            <a:ext cx="3652593" cy="3238137"/>
          </a:xfrm>
          <a:prstGeom prst="rect">
            <a:avLst/>
          </a:prstGeom>
          <a:noFill/>
          <a:ln>
            <a:noFill/>
          </a:ln>
          <a:effectLst>
            <a:outerShdw blurRad="50800" dist="38100" dir="5400000" algn="t" rotWithShape="0">
              <a:srgbClr val="000000">
                <a:alpha val="42745"/>
              </a:srgbClr>
            </a:outerShdw>
          </a:effectLst>
        </p:spPr>
      </p:pic>
      <p:pic>
        <p:nvPicPr>
          <p:cNvPr id="304" name="Google Shape;304;p42"/>
          <p:cNvPicPr preferRelativeResize="0"/>
          <p:nvPr/>
        </p:nvPicPr>
        <p:blipFill rotWithShape="1">
          <a:blip r:embed="rId3">
            <a:alphaModFix/>
          </a:blip>
          <a:srcRect/>
          <a:stretch/>
        </p:blipFill>
        <p:spPr>
          <a:xfrm>
            <a:off x="4956737" y="2050282"/>
            <a:ext cx="3652593" cy="3238137"/>
          </a:xfrm>
          <a:prstGeom prst="rect">
            <a:avLst/>
          </a:prstGeom>
          <a:noFill/>
          <a:ln>
            <a:noFill/>
          </a:ln>
          <a:effectLst>
            <a:outerShdw blurRad="50800" dist="38100" dir="5400000" algn="t" rotWithShape="0">
              <a:srgbClr val="000000">
                <a:alpha val="42745"/>
              </a:srgbClr>
            </a:outerShdw>
          </a:effectLst>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E001924-5696-DFC1-18B4-70DDA9DEE254}"/>
                  </a:ext>
                </a:extLst>
              </p:cNvPr>
              <p:cNvSpPr txBox="1"/>
              <p:nvPr/>
            </p:nvSpPr>
            <p:spPr>
              <a:xfrm>
                <a:off x="413791" y="5486942"/>
                <a:ext cx="10759191" cy="707886"/>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De forma grafica podemos verlo como una hiperplano en </a:t>
                </a:r>
                <a14:m>
                  <m:oMath xmlns:m="http://schemas.openxmlformats.org/officeDocument/2006/math">
                    <m:sSup>
                      <m:sSupPr>
                        <m:ctrlPr>
                          <a:rPr lang="en-US" sz="2000" b="0" i="1" smtClean="0">
                            <a:solidFill>
                              <a:schemeClr val="bg1"/>
                            </a:solidFill>
                            <a:latin typeface="Cambria Math" panose="02040503050406030204" pitchFamily="18" charset="0"/>
                            <a:ea typeface="Cambria Math" panose="02040503050406030204" pitchFamily="18" charset="0"/>
                          </a:rPr>
                        </m:ctrlPr>
                      </m:sSupPr>
                      <m:e>
                        <m:r>
                          <a:rPr lang="en-US" sz="2000" b="0" i="1" smtClean="0">
                            <a:solidFill>
                              <a:schemeClr val="bg1"/>
                            </a:solidFill>
                            <a:latin typeface="Cambria Math" panose="02040503050406030204" pitchFamily="18" charset="0"/>
                            <a:ea typeface="Cambria Math" panose="02040503050406030204" pitchFamily="18" charset="0"/>
                          </a:rPr>
                          <m:t>ℝ</m:t>
                        </m:r>
                      </m:e>
                      <m:sup>
                        <m:r>
                          <a:rPr lang="en-US" sz="2000" b="0" i="1" smtClean="0">
                            <a:solidFill>
                              <a:schemeClr val="bg1"/>
                            </a:solidFill>
                            <a:latin typeface="Cambria Math" panose="02040503050406030204" pitchFamily="18" charset="0"/>
                            <a:ea typeface="Cambria Math" panose="02040503050406030204" pitchFamily="18" charset="0"/>
                          </a:rPr>
                          <m:t>𝑛</m:t>
                        </m:r>
                      </m:sup>
                    </m:sSup>
                  </m:oMath>
                </a14:m>
                <a:r>
                  <a:rPr lang="es-MX" sz="2000" dirty="0">
                    <a:solidFill>
                      <a:schemeClr val="bg1"/>
                    </a:solidFill>
                    <a:latin typeface="Century Gothic" panose="020B0502020202020204" pitchFamily="34" charset="0"/>
                  </a:rPr>
                  <a:t> que la detectáramos como lo línea de tendencia de los valores de las V.A.</a:t>
                </a:r>
              </a:p>
            </p:txBody>
          </p:sp>
        </mc:Choice>
        <mc:Fallback xmlns="">
          <p:sp>
            <p:nvSpPr>
              <p:cNvPr id="7" name="CuadroTexto 6">
                <a:extLst>
                  <a:ext uri="{FF2B5EF4-FFF2-40B4-BE49-F238E27FC236}">
                    <a16:creationId xmlns:a16="http://schemas.microsoft.com/office/drawing/2014/main" id="{EE001924-5696-DFC1-18B4-70DDA9DEE254}"/>
                  </a:ext>
                </a:extLst>
              </p:cNvPr>
              <p:cNvSpPr txBox="1">
                <a:spLocks noRot="1" noChangeAspect="1" noMove="1" noResize="1" noEditPoints="1" noAdjustHandles="1" noChangeArrowheads="1" noChangeShapeType="1" noTextEdit="1"/>
              </p:cNvSpPr>
              <p:nvPr/>
            </p:nvSpPr>
            <p:spPr>
              <a:xfrm>
                <a:off x="413791" y="5486942"/>
                <a:ext cx="10759191" cy="707886"/>
              </a:xfrm>
              <a:prstGeom prst="rect">
                <a:avLst/>
              </a:prstGeom>
              <a:blipFill>
                <a:blip r:embed="rId4"/>
                <a:stretch>
                  <a:fillRect l="-623" t="-4310" b="-14655"/>
                </a:stretch>
              </a:blipFill>
            </p:spPr>
            <p:txBody>
              <a:bodyPr/>
              <a:lstStyle/>
              <a:p>
                <a:r>
                  <a:rPr lang="es-MX">
                    <a:noFill/>
                  </a:rPr>
                  <a:t> </a:t>
                </a:r>
              </a:p>
            </p:txBody>
          </p:sp>
        </mc:Fallback>
      </mc:AlternateContent>
      <p:cxnSp>
        <p:nvCxnSpPr>
          <p:cNvPr id="9" name="Conector recto 8">
            <a:extLst>
              <a:ext uri="{FF2B5EF4-FFF2-40B4-BE49-F238E27FC236}">
                <a16:creationId xmlns:a16="http://schemas.microsoft.com/office/drawing/2014/main" id="{8AF6AD54-B68F-76F6-8C01-37C0EAE05F52}"/>
              </a:ext>
            </a:extLst>
          </p:cNvPr>
          <p:cNvCxnSpPr/>
          <p:nvPr/>
        </p:nvCxnSpPr>
        <p:spPr>
          <a:xfrm flipV="1">
            <a:off x="1304144" y="2444698"/>
            <a:ext cx="2818150" cy="2263515"/>
          </a:xfrm>
          <a:prstGeom prst="line">
            <a:avLst/>
          </a:prstGeom>
        </p:spPr>
        <p:style>
          <a:lnRef idx="1">
            <a:schemeClr val="accent1"/>
          </a:lnRef>
          <a:fillRef idx="0">
            <a:schemeClr val="accent1"/>
          </a:fillRef>
          <a:effectRef idx="0">
            <a:schemeClr val="accent1"/>
          </a:effectRef>
          <a:fontRef idx="minor">
            <a:schemeClr val="tx1"/>
          </a:fontRef>
        </p:style>
      </p:cxnSp>
      <p:sp>
        <p:nvSpPr>
          <p:cNvPr id="11" name="Paralelogramo 10">
            <a:extLst>
              <a:ext uri="{FF2B5EF4-FFF2-40B4-BE49-F238E27FC236}">
                <a16:creationId xmlns:a16="http://schemas.microsoft.com/office/drawing/2014/main" id="{2827A9DA-0311-30F4-205F-802DF2B4EB7D}"/>
              </a:ext>
            </a:extLst>
          </p:cNvPr>
          <p:cNvSpPr/>
          <p:nvPr/>
        </p:nvSpPr>
        <p:spPr>
          <a:xfrm>
            <a:off x="5446405" y="2480792"/>
            <a:ext cx="2323475" cy="2030012"/>
          </a:xfrm>
          <a:prstGeom prst="parallelogram">
            <a:avLst>
              <a:gd name="adj" fmla="val 5675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5" name="Google Shape;305;p42"/>
          <p:cNvSpPr txBox="1">
            <a:spLocks noGrp="1"/>
          </p:cNvSpPr>
          <p:nvPr>
            <p:ph type="body" idx="1"/>
          </p:nvPr>
        </p:nvSpPr>
        <p:spPr>
          <a:xfrm>
            <a:off x="8449347" y="3316932"/>
            <a:ext cx="3742653" cy="70788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440"/>
            </a:pPr>
            <a:r>
              <a:rPr lang="es-MX" sz="1800" dirty="0">
                <a:solidFill>
                  <a:srgbClr val="FFFF00"/>
                </a:solidFill>
              </a:rPr>
              <a:t>Recordad solo para datos bivariados o </a:t>
            </a:r>
            <a:r>
              <a:rPr lang="es-MX" sz="1800" dirty="0" err="1">
                <a:solidFill>
                  <a:srgbClr val="FFFF00"/>
                </a:solidFill>
              </a:rPr>
              <a:t>trivariados</a:t>
            </a:r>
            <a:endParaRPr sz="1800" dirty="0">
              <a:solidFill>
                <a:srgbClr val="FFFF00"/>
              </a:solidFill>
            </a:endParaRPr>
          </a:p>
        </p:txBody>
      </p:sp>
    </p:spTree>
    <p:extLst>
      <p:ext uri="{BB962C8B-B14F-4D97-AF65-F5344CB8AC3E}">
        <p14:creationId xmlns:p14="http://schemas.microsoft.com/office/powerpoint/2010/main" val="794739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6"/>
          <p:cNvSpPr txBox="1">
            <a:spLocks noGrp="1"/>
          </p:cNvSpPr>
          <p:nvPr>
            <p:ph type="title"/>
          </p:nvPr>
        </p:nvSpPr>
        <p:spPr>
          <a:xfrm>
            <a:off x="646111" y="794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Algunos de los modelos de correlación más comunes incluyen:</a:t>
            </a:r>
            <a:br>
              <a:rPr lang="es-MX" dirty="0"/>
            </a:br>
            <a:endParaRPr dirty="0"/>
          </a:p>
        </p:txBody>
      </p:sp>
      <p:sp>
        <p:nvSpPr>
          <p:cNvPr id="335" name="Google Shape;335;p46"/>
          <p:cNvSpPr txBox="1">
            <a:spLocks noGrp="1"/>
          </p:cNvSpPr>
          <p:nvPr>
            <p:ph type="body" idx="1"/>
          </p:nvPr>
        </p:nvSpPr>
        <p:spPr>
          <a:xfrm>
            <a:off x="525624" y="1915865"/>
            <a:ext cx="11140751" cy="4275072"/>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ct val="79999"/>
              <a:buChar char="►"/>
            </a:pPr>
            <a:r>
              <a:rPr lang="es-MX" sz="1800" dirty="0"/>
              <a:t>1. </a:t>
            </a:r>
            <a:r>
              <a:rPr lang="es-MX" sz="1800" b="1" dirty="0">
                <a:solidFill>
                  <a:srgbClr val="FFFF00"/>
                </a:solidFill>
              </a:rPr>
              <a:t>Coeficiente de correlación de Pearson</a:t>
            </a:r>
            <a:r>
              <a:rPr lang="es-MX" sz="1800" dirty="0">
                <a:solidFill>
                  <a:srgbClr val="FFFF00"/>
                </a:solidFill>
              </a:rPr>
              <a:t>: </a:t>
            </a:r>
          </a:p>
          <a:p>
            <a:pPr marL="0" lvl="0" indent="0" algn="just" rtl="0">
              <a:spcBef>
                <a:spcPts val="0"/>
              </a:spcBef>
              <a:spcAft>
                <a:spcPts val="0"/>
              </a:spcAft>
              <a:buSzPct val="79999"/>
              <a:buNone/>
            </a:pPr>
            <a:r>
              <a:rPr lang="es-MX" sz="1800" dirty="0"/>
              <a:t>Es una medida de la fuerza y la dirección de la relación lineal entre dos variables continuas. Varía entre -1 y 1, donde 1 indica una correlación positiva perfecta, -1 indica una correlación negativa perfecta y 0 indica ausencia de correlación lineal.</a:t>
            </a:r>
            <a:endParaRPr sz="1800" dirty="0"/>
          </a:p>
          <a:p>
            <a:pPr marL="342900" lvl="0" indent="-342900" algn="just" rtl="0">
              <a:spcBef>
                <a:spcPts val="1000"/>
              </a:spcBef>
              <a:spcAft>
                <a:spcPts val="0"/>
              </a:spcAft>
              <a:buSzPct val="79999"/>
              <a:buChar char="►"/>
            </a:pPr>
            <a:r>
              <a:rPr lang="es-MX" sz="1800" dirty="0"/>
              <a:t>2. </a:t>
            </a:r>
            <a:r>
              <a:rPr lang="es-MX" sz="1800" b="1" dirty="0">
                <a:solidFill>
                  <a:srgbClr val="FFFF00"/>
                </a:solidFill>
              </a:rPr>
              <a:t>Coeficiente de correlación de Spearman:</a:t>
            </a:r>
            <a:r>
              <a:rPr lang="es-MX" sz="1800" b="1" dirty="0">
                <a:solidFill>
                  <a:schemeClr val="accent3"/>
                </a:solidFill>
              </a:rPr>
              <a:t> </a:t>
            </a:r>
          </a:p>
          <a:p>
            <a:pPr marL="0" lvl="0" indent="0" algn="just" rtl="0">
              <a:spcBef>
                <a:spcPts val="1000"/>
              </a:spcBef>
              <a:spcAft>
                <a:spcPts val="0"/>
              </a:spcAft>
              <a:buSzPct val="79999"/>
              <a:buNone/>
            </a:pPr>
            <a:r>
              <a:rPr lang="es-MX" sz="1800" dirty="0"/>
              <a:t>Similar al coeficiente de correlación de Pearson, pero se utiliza cuando las variables no tienen una relación lineal o cuando los datos están en una escala ordinal.</a:t>
            </a:r>
            <a:endParaRPr sz="1800" dirty="0"/>
          </a:p>
          <a:p>
            <a:pPr marL="342900" lvl="0" indent="-342900" algn="just" rtl="0">
              <a:spcBef>
                <a:spcPts val="1000"/>
              </a:spcBef>
              <a:spcAft>
                <a:spcPts val="0"/>
              </a:spcAft>
              <a:buSzPct val="79999"/>
              <a:buChar char="►"/>
            </a:pPr>
            <a:r>
              <a:rPr lang="es-MX" sz="1800" dirty="0"/>
              <a:t>3. </a:t>
            </a:r>
            <a:r>
              <a:rPr lang="es-MX" sz="1800" b="1" dirty="0">
                <a:solidFill>
                  <a:srgbClr val="FFFF00"/>
                </a:solidFill>
              </a:rPr>
              <a:t>Coeficiente de correlación de Kendall</a:t>
            </a:r>
            <a:r>
              <a:rPr lang="es-MX" sz="1800" dirty="0">
                <a:solidFill>
                  <a:srgbClr val="FFFF00"/>
                </a:solidFill>
              </a:rPr>
              <a:t>:</a:t>
            </a:r>
            <a:r>
              <a:rPr lang="es-MX" sz="1800" dirty="0"/>
              <a:t> </a:t>
            </a:r>
          </a:p>
          <a:p>
            <a:pPr marL="0" lvl="0" indent="0" algn="just" rtl="0">
              <a:spcBef>
                <a:spcPts val="1000"/>
              </a:spcBef>
              <a:spcAft>
                <a:spcPts val="0"/>
              </a:spcAft>
              <a:buSzPct val="79999"/>
              <a:buNone/>
            </a:pPr>
            <a:r>
              <a:rPr lang="es-MX" sz="1800" dirty="0"/>
              <a:t>También utilizado para medir la correlación entre dos variables ordinales.</a:t>
            </a:r>
            <a:endParaRPr sz="1800" dirty="0"/>
          </a:p>
          <a:p>
            <a:pPr marL="342900" lvl="0" indent="-342900" algn="just" rtl="0">
              <a:spcBef>
                <a:spcPts val="1000"/>
              </a:spcBef>
              <a:spcAft>
                <a:spcPts val="0"/>
              </a:spcAft>
              <a:buSzPct val="79999"/>
              <a:buChar char="►"/>
            </a:pPr>
            <a:r>
              <a:rPr lang="es-MX" sz="1800" dirty="0"/>
              <a:t>4. </a:t>
            </a:r>
            <a:r>
              <a:rPr lang="es-MX" sz="1800" b="1" dirty="0">
                <a:solidFill>
                  <a:srgbClr val="FFFF00"/>
                </a:solidFill>
              </a:rPr>
              <a:t>Correlación parcial</a:t>
            </a:r>
            <a:r>
              <a:rPr lang="es-MX" sz="1800" dirty="0">
                <a:solidFill>
                  <a:srgbClr val="FFFF00"/>
                </a:solidFill>
              </a:rPr>
              <a:t>:</a:t>
            </a:r>
            <a:r>
              <a:rPr lang="es-MX" sz="1800" dirty="0"/>
              <a:t> </a:t>
            </a:r>
          </a:p>
          <a:p>
            <a:pPr marL="0" lvl="0" indent="0" algn="just" rtl="0">
              <a:spcBef>
                <a:spcPts val="1000"/>
              </a:spcBef>
              <a:spcAft>
                <a:spcPts val="0"/>
              </a:spcAft>
              <a:buSzPct val="79999"/>
              <a:buNone/>
            </a:pPr>
            <a:r>
              <a:rPr lang="es-MX" sz="1800" dirty="0"/>
              <a:t>Permite controlar el efecto de una o más variables de confusión al estudiar la relación entre dos variables.</a:t>
            </a:r>
            <a:endParaRPr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a:t>Correlación (resumen)</a:t>
            </a:r>
            <a:endParaRPr/>
          </a:p>
        </p:txBody>
      </p:sp>
      <p:sp>
        <p:nvSpPr>
          <p:cNvPr id="329" name="Google Shape;329;p45"/>
          <p:cNvSpPr txBox="1">
            <a:spLocks noGrp="1"/>
          </p:cNvSpPr>
          <p:nvPr>
            <p:ph type="body" idx="1"/>
          </p:nvPr>
        </p:nvSpPr>
        <p:spPr>
          <a:xfrm>
            <a:off x="646111" y="1468425"/>
            <a:ext cx="10442577" cy="14005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760"/>
              <a:buNone/>
            </a:pPr>
            <a:r>
              <a:rPr lang="es-MX" sz="1800" dirty="0"/>
              <a:t>Para estudiar la relación entre dos o más variables. La correlación describe si hay o no relación entre variables y, si la hay, la dirección de la relación entre las mismas. </a:t>
            </a:r>
            <a:endParaRPr sz="1800" dirty="0"/>
          </a:p>
          <a:p>
            <a:pPr marL="0" lvl="0" indent="0" algn="l" rtl="0">
              <a:spcBef>
                <a:spcPts val="1000"/>
              </a:spcBef>
              <a:spcAft>
                <a:spcPts val="0"/>
              </a:spcAft>
              <a:buSzPts val="1760"/>
              <a:buNone/>
            </a:pPr>
            <a:r>
              <a:rPr lang="es-MX" sz="1800" dirty="0"/>
              <a:t>Hay varios tipos de modelos de correlación, dependiendo de la naturaleza de las variables y la forma en que se relacionan. </a:t>
            </a:r>
            <a:endParaRPr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3;p39">
            <a:extLst>
              <a:ext uri="{FF2B5EF4-FFF2-40B4-BE49-F238E27FC236}">
                <a16:creationId xmlns:a16="http://schemas.microsoft.com/office/drawing/2014/main" id="{227CB0CC-7076-82B8-1ED9-DD110C52EEB2}"/>
              </a:ext>
            </a:extLst>
          </p:cNvPr>
          <p:cNvSpPr txBox="1">
            <a:spLocks noGrp="1"/>
          </p:cNvSpPr>
          <p:nvPr>
            <p:ph type="title"/>
          </p:nvPr>
        </p:nvSpPr>
        <p:spPr>
          <a:xfrm>
            <a:off x="571161" y="260821"/>
            <a:ext cx="3895907" cy="8921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t>D</a:t>
            </a:r>
            <a:r>
              <a:rPr lang="es-MX" dirty="0" err="1"/>
              <a:t>atos</a:t>
            </a:r>
            <a:r>
              <a:rPr lang="es-MX" dirty="0"/>
              <a:t> </a:t>
            </a:r>
            <a:r>
              <a:rPr lang="es-MX" dirty="0" err="1"/>
              <a:t>Atipicos</a:t>
            </a:r>
            <a:endParaRPr dirty="0"/>
          </a:p>
        </p:txBody>
      </p:sp>
      <p:sp>
        <p:nvSpPr>
          <p:cNvPr id="5" name="CuadroTexto 4">
            <a:extLst>
              <a:ext uri="{FF2B5EF4-FFF2-40B4-BE49-F238E27FC236}">
                <a16:creationId xmlns:a16="http://schemas.microsoft.com/office/drawing/2014/main" id="{BDA0C743-31A3-EBEB-31AA-7C1EC23A7A61}"/>
              </a:ext>
            </a:extLst>
          </p:cNvPr>
          <p:cNvSpPr txBox="1"/>
          <p:nvPr/>
        </p:nvSpPr>
        <p:spPr>
          <a:xfrm>
            <a:off x="624590" y="1152983"/>
            <a:ext cx="10942819" cy="1015663"/>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También llamados </a:t>
            </a:r>
            <a:r>
              <a:rPr lang="es-MX" sz="2000" b="1" dirty="0">
                <a:solidFill>
                  <a:schemeClr val="bg1"/>
                </a:solidFill>
                <a:latin typeface="Century Gothic" panose="020B0502020202020204" pitchFamily="34" charset="0"/>
              </a:rPr>
              <a:t>observaciones atípicas u </a:t>
            </a:r>
            <a:r>
              <a:rPr lang="es-MX" sz="2000" b="1" dirty="0" err="1">
                <a:solidFill>
                  <a:schemeClr val="bg1"/>
                </a:solidFill>
                <a:latin typeface="Century Gothic" panose="020B0502020202020204" pitchFamily="34" charset="0"/>
              </a:rPr>
              <a:t>outliers</a:t>
            </a:r>
            <a:r>
              <a:rPr lang="es-MX" sz="2000" dirty="0">
                <a:solidFill>
                  <a:schemeClr val="bg1"/>
                </a:solidFill>
                <a:latin typeface="Century Gothic" panose="020B0502020202020204" pitchFamily="34" charset="0"/>
              </a:rPr>
              <a:t>, son valores que distan mucho del resto de conjunto de datos. Es decir, un valor atípico es un valor anormal y que es extremadamente diferente al resto de valores de la </a:t>
            </a:r>
            <a:r>
              <a:rPr lang="es-MX" sz="2000" dirty="0" err="1">
                <a:solidFill>
                  <a:schemeClr val="bg1"/>
                </a:solidFill>
                <a:latin typeface="Century Gothic" panose="020B0502020202020204" pitchFamily="34" charset="0"/>
              </a:rPr>
              <a:t>m.a</a:t>
            </a:r>
            <a:r>
              <a:rPr lang="es-MX" sz="2000" dirty="0">
                <a:solidFill>
                  <a:schemeClr val="bg1"/>
                </a:solidFill>
                <a:latin typeface="Century Gothic" panose="020B0502020202020204" pitchFamily="34" charset="0"/>
              </a:rPr>
              <a:t>.</a:t>
            </a:r>
          </a:p>
        </p:txBody>
      </p:sp>
      <p:sp>
        <p:nvSpPr>
          <p:cNvPr id="7" name="CuadroTexto 6">
            <a:extLst>
              <a:ext uri="{FF2B5EF4-FFF2-40B4-BE49-F238E27FC236}">
                <a16:creationId xmlns:a16="http://schemas.microsoft.com/office/drawing/2014/main" id="{B65B7F7C-A221-CA2E-323D-6C86C94E391C}"/>
              </a:ext>
            </a:extLst>
          </p:cNvPr>
          <p:cNvSpPr txBox="1"/>
          <p:nvPr/>
        </p:nvSpPr>
        <p:spPr>
          <a:xfrm>
            <a:off x="624590" y="2352922"/>
            <a:ext cx="11352551" cy="707886"/>
          </a:xfrm>
          <a:prstGeom prst="rect">
            <a:avLst/>
          </a:prstGeom>
          <a:noFill/>
        </p:spPr>
        <p:txBody>
          <a:bodyPr wrap="square">
            <a:spAutoFit/>
          </a:bodyPr>
          <a:lstStyle/>
          <a:p>
            <a:pPr>
              <a:buNone/>
            </a:pPr>
            <a:r>
              <a:rPr lang="en-US" sz="2000" dirty="0">
                <a:solidFill>
                  <a:schemeClr val="bg1"/>
                </a:solidFill>
                <a:latin typeface="Century Gothic" panose="020B0502020202020204" pitchFamily="34" charset="0"/>
              </a:rPr>
              <a:t>La forma mas </a:t>
            </a:r>
            <a:r>
              <a:rPr lang="en-US" sz="2000" dirty="0" err="1">
                <a:solidFill>
                  <a:schemeClr val="bg1"/>
                </a:solidFill>
                <a:latin typeface="Century Gothic" panose="020B0502020202020204" pitchFamily="34" charset="0"/>
              </a:rPr>
              <a:t>sencilla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en</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como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podemos</a:t>
            </a:r>
            <a:r>
              <a:rPr lang="en-US" sz="2000" dirty="0">
                <a:solidFill>
                  <a:schemeClr val="bg1"/>
                </a:solidFill>
                <a:latin typeface="Century Gothic" panose="020B0502020202020204" pitchFamily="34" charset="0"/>
              </a:rPr>
              <a:t> detector </a:t>
            </a:r>
            <a:r>
              <a:rPr lang="en-US" sz="2000" dirty="0" err="1">
                <a:solidFill>
                  <a:schemeClr val="bg1"/>
                </a:solidFill>
                <a:latin typeface="Century Gothic" panose="020B0502020202020204" pitchFamily="34" charset="0"/>
              </a:rPr>
              <a:t>estos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datos</a:t>
            </a:r>
            <a:r>
              <a:rPr lang="en-US" sz="2000" dirty="0">
                <a:solidFill>
                  <a:schemeClr val="bg1"/>
                </a:solidFill>
                <a:latin typeface="Century Gothic" panose="020B0502020202020204" pitchFamily="34" charset="0"/>
              </a:rPr>
              <a:t> es </a:t>
            </a:r>
            <a:r>
              <a:rPr lang="en-US" sz="2000" dirty="0" err="1">
                <a:solidFill>
                  <a:schemeClr val="bg1"/>
                </a:solidFill>
                <a:latin typeface="Century Gothic" panose="020B0502020202020204" pitchFamily="34" charset="0"/>
              </a:rPr>
              <a:t>por</a:t>
            </a:r>
            <a:r>
              <a:rPr lang="en-US" sz="2000" dirty="0">
                <a:solidFill>
                  <a:schemeClr val="bg1"/>
                </a:solidFill>
                <a:latin typeface="Century Gothic" panose="020B0502020202020204" pitchFamily="34" charset="0"/>
              </a:rPr>
              <a:t> medio e la </a:t>
            </a:r>
            <a:r>
              <a:rPr lang="en-US" sz="2000" dirty="0" err="1">
                <a:solidFill>
                  <a:schemeClr val="bg1"/>
                </a:solidFill>
                <a:latin typeface="Century Gothic" panose="020B0502020202020204" pitchFamily="34" charset="0"/>
              </a:rPr>
              <a:t>graficas</a:t>
            </a:r>
            <a:r>
              <a:rPr lang="en-US" sz="2000" dirty="0">
                <a:solidFill>
                  <a:schemeClr val="bg1"/>
                </a:solidFill>
                <a:latin typeface="Century Gothic" panose="020B0502020202020204" pitchFamily="34" charset="0"/>
              </a:rPr>
              <a:t> y </a:t>
            </a:r>
            <a:r>
              <a:rPr lang="en-US" sz="2000" dirty="0" err="1">
                <a:solidFill>
                  <a:schemeClr val="bg1"/>
                </a:solidFill>
                <a:latin typeface="Century Gothic" panose="020B0502020202020204" pitchFamily="34" charset="0"/>
              </a:rPr>
              <a:t>veremos</a:t>
            </a:r>
            <a:r>
              <a:rPr lang="en-US" sz="2000" dirty="0">
                <a:solidFill>
                  <a:schemeClr val="bg1"/>
                </a:solidFill>
                <a:latin typeface="Century Gothic" panose="020B0502020202020204" pitchFamily="34" charset="0"/>
              </a:rPr>
              <a:t> 2 </a:t>
            </a:r>
            <a:r>
              <a:rPr lang="en-US" sz="2000" dirty="0" err="1">
                <a:solidFill>
                  <a:schemeClr val="bg1"/>
                </a:solidFill>
                <a:latin typeface="Century Gothic" panose="020B0502020202020204" pitchFamily="34" charset="0"/>
              </a:rPr>
              <a:t>tipos</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ellas</a:t>
            </a:r>
            <a:r>
              <a:rPr lang="en-US" sz="2000" dirty="0">
                <a:solidFill>
                  <a:schemeClr val="bg1"/>
                </a:solidFill>
                <a:latin typeface="Century Gothic" panose="020B0502020202020204" pitchFamily="34" charset="0"/>
              </a:rPr>
              <a:t>….</a:t>
            </a:r>
            <a:endParaRPr lang="es-MX" sz="2000" dirty="0">
              <a:solidFill>
                <a:schemeClr val="bg1"/>
              </a:solidFill>
              <a:latin typeface="Century Gothic" panose="020B0502020202020204" pitchFamily="34" charset="0"/>
            </a:endParaRPr>
          </a:p>
        </p:txBody>
      </p:sp>
      <p:sp>
        <p:nvSpPr>
          <p:cNvPr id="8" name="Google Shape;241;p32">
            <a:extLst>
              <a:ext uri="{FF2B5EF4-FFF2-40B4-BE49-F238E27FC236}">
                <a16:creationId xmlns:a16="http://schemas.microsoft.com/office/drawing/2014/main" id="{8C3C672A-8881-72B2-2D2E-6EA6C5574DC9}"/>
              </a:ext>
            </a:extLst>
          </p:cNvPr>
          <p:cNvSpPr txBox="1">
            <a:spLocks/>
          </p:cNvSpPr>
          <p:nvPr/>
        </p:nvSpPr>
        <p:spPr>
          <a:xfrm>
            <a:off x="6300865" y="3040762"/>
            <a:ext cx="3506162" cy="776475"/>
          </a:xfrm>
          <a:prstGeom prst="rect">
            <a:avLst/>
          </a:prstGeom>
          <a:noFill/>
          <a:ln>
            <a:noFill/>
          </a:ln>
        </p:spPr>
        <p:txBody>
          <a:bodyPr spcFirstLastPara="1" wrap="square" lIns="91425" tIns="45700" rIns="91425" bIns="45700" anchor="ctr"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000"/>
              <a:buFont typeface="Century Gothic"/>
              <a:buNone/>
              <a:defRPr sz="40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buSzPts val="4200"/>
            </a:pPr>
            <a:r>
              <a:rPr lang="en-US" b="1" dirty="0" err="1"/>
              <a:t>Grafica</a:t>
            </a:r>
            <a:r>
              <a:rPr lang="en-US" b="1" dirty="0"/>
              <a:t> de Box</a:t>
            </a:r>
            <a:endParaRPr lang="es-MX" b="1" dirty="0"/>
          </a:p>
        </p:txBody>
      </p:sp>
      <p:sp>
        <p:nvSpPr>
          <p:cNvPr id="12" name="CuadroTexto 11">
            <a:extLst>
              <a:ext uri="{FF2B5EF4-FFF2-40B4-BE49-F238E27FC236}">
                <a16:creationId xmlns:a16="http://schemas.microsoft.com/office/drawing/2014/main" id="{E875A1E3-1841-D133-14CA-70F1A08F7289}"/>
              </a:ext>
            </a:extLst>
          </p:cNvPr>
          <p:cNvSpPr txBox="1"/>
          <p:nvPr/>
        </p:nvSpPr>
        <p:spPr>
          <a:xfrm>
            <a:off x="3747541" y="3797193"/>
            <a:ext cx="8229600" cy="369332"/>
          </a:xfrm>
          <a:prstGeom prst="rect">
            <a:avLst/>
          </a:prstGeom>
          <a:noFill/>
        </p:spPr>
        <p:txBody>
          <a:bodyPr wrap="square">
            <a:spAutoFit/>
          </a:bodyPr>
          <a:lstStyle/>
          <a:p>
            <a:pPr>
              <a:buNone/>
            </a:pPr>
            <a:r>
              <a:rPr lang="en-US" sz="1800" dirty="0">
                <a:solidFill>
                  <a:schemeClr val="bg1"/>
                </a:solidFill>
                <a:latin typeface="Century Gothic" panose="020B0502020202020204" pitchFamily="34" charset="0"/>
              </a:rPr>
              <a:t>Esta </a:t>
            </a:r>
            <a:r>
              <a:rPr lang="en-US" sz="1800" dirty="0" err="1">
                <a:solidFill>
                  <a:schemeClr val="bg1"/>
                </a:solidFill>
                <a:latin typeface="Century Gothic" panose="020B0502020202020204" pitchFamily="34" charset="0"/>
              </a:rPr>
              <a:t>grafica</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realiza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en</a:t>
            </a:r>
            <a:r>
              <a:rPr lang="en-US" sz="1800" dirty="0">
                <a:solidFill>
                  <a:schemeClr val="bg1"/>
                </a:solidFill>
                <a:latin typeface="Century Gothic" panose="020B0502020202020204" pitchFamily="34" charset="0"/>
              </a:rPr>
              <a:t> base a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m.a.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Perteneciente</a:t>
            </a:r>
            <a:r>
              <a:rPr lang="en-US" sz="1800" dirty="0">
                <a:solidFill>
                  <a:schemeClr val="bg1"/>
                </a:solidFill>
                <a:latin typeface="Century Gothic" panose="020B0502020202020204" pitchFamily="34" charset="0"/>
              </a:rPr>
              <a:t> a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V.A. X)</a:t>
            </a:r>
            <a:endParaRPr lang="es-MX" sz="1800" dirty="0">
              <a:solidFill>
                <a:schemeClr val="bg1"/>
              </a:solidFill>
              <a:latin typeface="Century Gothic" panose="020B0502020202020204" pitchFamily="34" charset="0"/>
            </a:endParaRPr>
          </a:p>
        </p:txBody>
      </p:sp>
      <p:pic>
        <p:nvPicPr>
          <p:cNvPr id="14" name="Imagen 13">
            <a:extLst>
              <a:ext uri="{FF2B5EF4-FFF2-40B4-BE49-F238E27FC236}">
                <a16:creationId xmlns:a16="http://schemas.microsoft.com/office/drawing/2014/main" id="{7F415EC5-8505-1EAC-2245-6F9C9101BC34}"/>
              </a:ext>
            </a:extLst>
          </p:cNvPr>
          <p:cNvPicPr>
            <a:picLocks noChangeAspect="1"/>
          </p:cNvPicPr>
          <p:nvPr/>
        </p:nvPicPr>
        <p:blipFill>
          <a:blip r:embed="rId2"/>
          <a:srcRect l="23154" t="5969" r="26972" b="12721"/>
          <a:stretch/>
        </p:blipFill>
        <p:spPr>
          <a:xfrm>
            <a:off x="1618937" y="3280474"/>
            <a:ext cx="1858780" cy="3204794"/>
          </a:xfrm>
          <a:prstGeom prst="rect">
            <a:avLst/>
          </a:prstGeom>
        </p:spPr>
      </p:pic>
      <p:sp>
        <p:nvSpPr>
          <p:cNvPr id="16" name="CuadroTexto 15">
            <a:extLst>
              <a:ext uri="{FF2B5EF4-FFF2-40B4-BE49-F238E27FC236}">
                <a16:creationId xmlns:a16="http://schemas.microsoft.com/office/drawing/2014/main" id="{528DDFA2-B30B-6977-134B-31A2D4D81C0E}"/>
              </a:ext>
            </a:extLst>
          </p:cNvPr>
          <p:cNvSpPr txBox="1"/>
          <p:nvPr/>
        </p:nvSpPr>
        <p:spPr>
          <a:xfrm>
            <a:off x="3848724" y="4698205"/>
            <a:ext cx="8027233" cy="369332"/>
          </a:xfrm>
          <a:prstGeom prst="rect">
            <a:avLst/>
          </a:prstGeom>
          <a:noFill/>
        </p:spPr>
        <p:txBody>
          <a:bodyPr wrap="square">
            <a:spAutoFit/>
          </a:bodyPr>
          <a:lstStyle/>
          <a:p>
            <a:r>
              <a:rPr lang="en-US" sz="1800" dirty="0" err="1">
                <a:solidFill>
                  <a:schemeClr val="bg1"/>
                </a:solidFill>
                <a:latin typeface="Century Gothic" panose="020B0502020202020204" pitchFamily="34" charset="0"/>
              </a:rPr>
              <a:t>Realiza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su</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estandarizacion</a:t>
            </a:r>
            <a:r>
              <a:rPr lang="en-US" sz="1800" dirty="0">
                <a:solidFill>
                  <a:schemeClr val="bg1"/>
                </a:solidFill>
                <a:latin typeface="Century Gothic" panose="020B0502020202020204" pitchFamily="34" charset="0"/>
              </a:rPr>
              <a:t> (para </a:t>
            </a:r>
            <a:r>
              <a:rPr lang="en-US" sz="1800" dirty="0" err="1">
                <a:solidFill>
                  <a:schemeClr val="bg1"/>
                </a:solidFill>
                <a:latin typeface="Century Gothic" panose="020B0502020202020204" pitchFamily="34" charset="0"/>
              </a:rPr>
              <a:t>volverlo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distribucion</a:t>
            </a:r>
            <a:r>
              <a:rPr lang="en-US" sz="1800" dirty="0">
                <a:solidFill>
                  <a:schemeClr val="bg1"/>
                </a:solidFill>
                <a:latin typeface="Century Gothic" panose="020B0502020202020204" pitchFamily="34" charset="0"/>
              </a:rPr>
              <a:t> Normal)</a:t>
            </a:r>
            <a:endParaRPr lang="es-MX" sz="1800" dirty="0"/>
          </a:p>
        </p:txBody>
      </p:sp>
      <p:sp>
        <p:nvSpPr>
          <p:cNvPr id="18" name="CuadroTexto 17">
            <a:extLst>
              <a:ext uri="{FF2B5EF4-FFF2-40B4-BE49-F238E27FC236}">
                <a16:creationId xmlns:a16="http://schemas.microsoft.com/office/drawing/2014/main" id="{802F1987-E456-39BB-6CE3-0C4819ED6362}"/>
              </a:ext>
            </a:extLst>
          </p:cNvPr>
          <p:cNvSpPr txBox="1"/>
          <p:nvPr/>
        </p:nvSpPr>
        <p:spPr>
          <a:xfrm>
            <a:off x="3747541" y="5576397"/>
            <a:ext cx="8395741" cy="646331"/>
          </a:xfrm>
          <a:prstGeom prst="rect">
            <a:avLst/>
          </a:prstGeom>
          <a:noFill/>
        </p:spPr>
        <p:txBody>
          <a:bodyPr wrap="square">
            <a:spAutoFit/>
          </a:bodyPr>
          <a:lstStyle/>
          <a:p>
            <a:pPr algn="ct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Graficando</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obteniendo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vista </a:t>
            </a:r>
            <a:r>
              <a:rPr lang="en-US" sz="1800" dirty="0" err="1">
                <a:solidFill>
                  <a:schemeClr val="bg1"/>
                </a:solidFill>
                <a:latin typeface="Century Gothic" panose="020B0502020202020204" pitchFamily="34" charset="0"/>
              </a:rPr>
              <a:t>desde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arriba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obteniendo</a:t>
            </a:r>
            <a:r>
              <a:rPr lang="en-US" sz="1800" dirty="0">
                <a:solidFill>
                  <a:schemeClr val="bg1"/>
                </a:solidFill>
                <a:latin typeface="Century Gothic" panose="020B0502020202020204" pitchFamily="34" charset="0"/>
              </a:rPr>
              <a:t> un </a:t>
            </a:r>
            <a:r>
              <a:rPr lang="en-US" sz="1800" dirty="0" err="1">
                <a:solidFill>
                  <a:schemeClr val="bg1"/>
                </a:solidFill>
                <a:latin typeface="Century Gothic" panose="020B0502020202020204" pitchFamily="34" charset="0"/>
              </a:rPr>
              <a:t>ilustracion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como</a:t>
            </a:r>
            <a:r>
              <a:rPr lang="en-US" sz="1800" dirty="0">
                <a:solidFill>
                  <a:schemeClr val="bg1"/>
                </a:solidFill>
                <a:latin typeface="Century Gothic" panose="020B0502020202020204" pitchFamily="34" charset="0"/>
              </a:rPr>
              <a:t> lo </a:t>
            </a:r>
            <a:r>
              <a:rPr lang="en-US" sz="1800" dirty="0" err="1">
                <a:solidFill>
                  <a:schemeClr val="bg1"/>
                </a:solidFill>
                <a:latin typeface="Century Gothic" panose="020B0502020202020204" pitchFamily="34" charset="0"/>
              </a:rPr>
              <a:t>siguiente</a:t>
            </a:r>
            <a:r>
              <a:rPr lang="en-US" sz="1800" dirty="0">
                <a:solidFill>
                  <a:schemeClr val="bg1"/>
                </a:solidFill>
                <a:latin typeface="Century Gothic" panose="020B0502020202020204" pitchFamily="34" charset="0"/>
              </a:rPr>
              <a:t>:</a:t>
            </a:r>
            <a:endParaRPr lang="es-MX" sz="1800" dirty="0"/>
          </a:p>
        </p:txBody>
      </p:sp>
      <p:sp>
        <p:nvSpPr>
          <p:cNvPr id="19" name="Flecha: hacia abajo 18">
            <a:extLst>
              <a:ext uri="{FF2B5EF4-FFF2-40B4-BE49-F238E27FC236}">
                <a16:creationId xmlns:a16="http://schemas.microsoft.com/office/drawing/2014/main" id="{9AB8AECA-54F6-047F-47D8-C3BB617B4ED8}"/>
              </a:ext>
            </a:extLst>
          </p:cNvPr>
          <p:cNvSpPr/>
          <p:nvPr/>
        </p:nvSpPr>
        <p:spPr>
          <a:xfrm>
            <a:off x="7420131" y="4204840"/>
            <a:ext cx="419725" cy="5316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Flecha: hacia abajo 21">
            <a:extLst>
              <a:ext uri="{FF2B5EF4-FFF2-40B4-BE49-F238E27FC236}">
                <a16:creationId xmlns:a16="http://schemas.microsoft.com/office/drawing/2014/main" id="{2BA8C309-8BE1-ACEE-5A4A-2A806A997CF0}"/>
              </a:ext>
            </a:extLst>
          </p:cNvPr>
          <p:cNvSpPr/>
          <p:nvPr/>
        </p:nvSpPr>
        <p:spPr>
          <a:xfrm>
            <a:off x="10153338" y="5161988"/>
            <a:ext cx="419725" cy="5316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533958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1026" name="Picture 2" descr="La autoeficacia en el post-infarto">
            <a:extLst>
              <a:ext uri="{FF2B5EF4-FFF2-40B4-BE49-F238E27FC236}">
                <a16:creationId xmlns:a16="http://schemas.microsoft.com/office/drawing/2014/main" id="{6FA8ADFE-B173-FE50-1A9B-B5A2DEF996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71"/>
          <a:stretch/>
        </p:blipFill>
        <p:spPr bwMode="auto">
          <a:xfrm>
            <a:off x="449705" y="281297"/>
            <a:ext cx="6880486" cy="6295406"/>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E9843018-582C-36C1-6AE8-7128243AC673}"/>
              </a:ext>
            </a:extLst>
          </p:cNvPr>
          <p:cNvSpPr txBox="1"/>
          <p:nvPr/>
        </p:nvSpPr>
        <p:spPr>
          <a:xfrm>
            <a:off x="7480093" y="751344"/>
            <a:ext cx="4497050" cy="5355312"/>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Los </a:t>
            </a:r>
            <a:r>
              <a:rPr lang="en-US" sz="1800" dirty="0" err="1">
                <a:solidFill>
                  <a:schemeClr val="bg1"/>
                </a:solidFill>
                <a:latin typeface="Century Gothic" panose="020B0502020202020204" pitchFamily="34" charset="0"/>
              </a:rPr>
              <a:t>limites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seran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conocidos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como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bigotes</a:t>
            </a:r>
            <a:r>
              <a:rPr lang="en-US" sz="1800" dirty="0">
                <a:solidFill>
                  <a:schemeClr val="bg1"/>
                </a:solidFill>
                <a:latin typeface="Century Gothic" panose="020B0502020202020204" pitchFamily="34" charset="0"/>
              </a:rPr>
              <a:t> de la </a:t>
            </a:r>
            <a:r>
              <a:rPr lang="en-US" sz="1800" dirty="0" err="1">
                <a:solidFill>
                  <a:schemeClr val="bg1"/>
                </a:solidFill>
                <a:latin typeface="Century Gothic" panose="020B0502020202020204" pitchFamily="34" charset="0"/>
              </a:rPr>
              <a:t>caja</a:t>
            </a:r>
            <a:r>
              <a:rPr lang="en-US" sz="1800" dirty="0">
                <a:solidFill>
                  <a:schemeClr val="bg1"/>
                </a:solidFill>
                <a:latin typeface="Century Gothic" panose="020B0502020202020204" pitchFamily="34" charset="0"/>
              </a:rPr>
              <a:t>”.</a:t>
            </a:r>
          </a:p>
          <a:p>
            <a:pPr marL="285750" indent="-285750">
              <a:buFont typeface="Wingdings" panose="05000000000000000000" pitchFamily="2" charset="2"/>
              <a:buChar char="§"/>
            </a:pPr>
            <a:endParaRPr lang="en-US" sz="1800" dirty="0">
              <a:solidFill>
                <a:schemeClr val="bg1"/>
              </a:solidFill>
              <a:latin typeface="Century Gothic" panose="020B0502020202020204" pitchFamily="34" charset="0"/>
            </a:endParaRPr>
          </a:p>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La </a:t>
            </a:r>
            <a:r>
              <a:rPr lang="en-US" sz="1800" dirty="0" err="1">
                <a:solidFill>
                  <a:schemeClr val="bg1"/>
                </a:solidFill>
                <a:latin typeface="Century Gothic" panose="020B0502020202020204" pitchFamily="34" charset="0"/>
              </a:rPr>
              <a:t>caja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esta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representado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tiene</a:t>
            </a:r>
            <a:r>
              <a:rPr lang="en-US" sz="1800" dirty="0">
                <a:solidFill>
                  <a:schemeClr val="bg1"/>
                </a:solidFill>
                <a:latin typeface="Century Gothic" panose="020B0502020202020204" pitchFamily="34" charset="0"/>
              </a:rPr>
              <a:t> mayor </a:t>
            </a:r>
            <a:r>
              <a:rPr lang="en-US" sz="1800" dirty="0" err="1">
                <a:solidFill>
                  <a:schemeClr val="bg1"/>
                </a:solidFill>
                <a:latin typeface="Century Gothic" panose="020B0502020202020204" pitchFamily="34" charset="0"/>
              </a:rPr>
              <a:t>probabilidad</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demas</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estaria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representado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50%.</a:t>
            </a:r>
          </a:p>
          <a:p>
            <a:pPr marL="285750" indent="-285750">
              <a:buFont typeface="Wingdings" panose="05000000000000000000" pitchFamily="2" charset="2"/>
              <a:buChar char="§"/>
            </a:pPr>
            <a:endParaRPr lang="en-US" sz="1800" dirty="0">
              <a:solidFill>
                <a:schemeClr val="bg1"/>
              </a:solidFill>
              <a:latin typeface="Century Gothic" panose="020B0502020202020204" pitchFamily="34" charset="0"/>
            </a:endParaRPr>
          </a:p>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Los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atipicos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estar</a:t>
            </a:r>
            <a:r>
              <a:rPr lang="en-US" sz="1800" dirty="0">
                <a:solidFill>
                  <a:schemeClr val="bg1"/>
                </a:solidFill>
                <a:latin typeface="Century Gothic" panose="020B0502020202020204" pitchFamily="34" charset="0"/>
              </a:rPr>
              <a:t> fuera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limites</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jamas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estara</a:t>
            </a:r>
            <a:r>
              <a:rPr lang="en-US" sz="1800" dirty="0">
                <a:solidFill>
                  <a:schemeClr val="bg1"/>
                </a:solidFill>
                <a:latin typeface="Century Gothic" panose="020B0502020202020204" pitchFamily="34" charset="0"/>
              </a:rPr>
              <a:t> entre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cuartiles</a:t>
            </a:r>
            <a:r>
              <a:rPr lang="en-US" sz="1800" dirty="0">
                <a:solidFill>
                  <a:schemeClr val="bg1"/>
                </a:solidFill>
                <a:latin typeface="Century Gothic" panose="020B0502020202020204" pitchFamily="34" charset="0"/>
              </a:rPr>
              <a:t> o </a:t>
            </a:r>
            <a:r>
              <a:rPr lang="en-US" sz="1800" dirty="0" err="1">
                <a:solidFill>
                  <a:schemeClr val="bg1"/>
                </a:solidFill>
                <a:latin typeface="Century Gothic" panose="020B0502020202020204" pitchFamily="34" charset="0"/>
              </a:rPr>
              <a:t>cerca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dentro</a:t>
            </a:r>
            <a:r>
              <a:rPr lang="en-US" sz="1800" dirty="0">
                <a:solidFill>
                  <a:schemeClr val="bg1"/>
                </a:solidFill>
                <a:latin typeface="Century Gothic" panose="020B0502020202020204" pitchFamily="34" charset="0"/>
              </a:rPr>
              <a:t> de la </a:t>
            </a:r>
            <a:r>
              <a:rPr lang="en-US" sz="1800" dirty="0" err="1">
                <a:solidFill>
                  <a:schemeClr val="bg1"/>
                </a:solidFill>
                <a:latin typeface="Century Gothic" panose="020B0502020202020204" pitchFamily="34" charset="0"/>
              </a:rPr>
              <a:t>caja</a:t>
            </a:r>
            <a:r>
              <a:rPr lang="en-US" sz="1800" dirty="0">
                <a:solidFill>
                  <a:schemeClr val="bg1"/>
                </a:solidFill>
                <a:latin typeface="Century Gothic" panose="020B0502020202020204" pitchFamily="34" charset="0"/>
              </a:rPr>
              <a:t>)</a:t>
            </a:r>
          </a:p>
          <a:p>
            <a:pPr marL="285750" indent="-285750">
              <a:buFont typeface="Wingdings" panose="05000000000000000000" pitchFamily="2" charset="2"/>
              <a:buChar char="§"/>
            </a:pPr>
            <a:endParaRPr lang="en-US" sz="1800" dirty="0">
              <a:solidFill>
                <a:schemeClr val="bg1"/>
              </a:solidFill>
              <a:latin typeface="Century Gothic" panose="020B0502020202020204" pitchFamily="34" charset="0"/>
            </a:endParaRPr>
          </a:p>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Un </a:t>
            </a:r>
            <a:r>
              <a:rPr lang="en-US" sz="1800" dirty="0" err="1">
                <a:solidFill>
                  <a:schemeClr val="bg1"/>
                </a:solidFill>
                <a:latin typeface="Century Gothic" panose="020B0502020202020204" pitchFamily="34" charset="0"/>
              </a:rPr>
              <a:t>cuartil</a:t>
            </a:r>
            <a:r>
              <a:rPr lang="en-US" sz="1800" dirty="0">
                <a:solidFill>
                  <a:schemeClr val="bg1"/>
                </a:solidFill>
                <a:latin typeface="Century Gothic" panose="020B0502020202020204" pitchFamily="34" charset="0"/>
              </a:rPr>
              <a:t> sera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nos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indique</a:t>
            </a:r>
            <a:r>
              <a:rPr lang="en-US" sz="1800" dirty="0">
                <a:solidFill>
                  <a:schemeClr val="bg1"/>
                </a:solidFill>
                <a:latin typeface="Century Gothic" panose="020B0502020202020204" pitchFamily="34" charset="0"/>
              </a:rPr>
              <a:t> un 25% de </a:t>
            </a:r>
            <a:r>
              <a:rPr lang="en-US" sz="1800" dirty="0" err="1">
                <a:solidFill>
                  <a:schemeClr val="bg1"/>
                </a:solidFill>
                <a:latin typeface="Century Gothic" panose="020B0502020202020204" pitchFamily="34" charset="0"/>
              </a:rPr>
              <a:t>probabilidad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acumulada</a:t>
            </a:r>
            <a:r>
              <a:rPr lang="en-US" sz="1800" dirty="0">
                <a:solidFill>
                  <a:schemeClr val="bg1"/>
                </a:solidFill>
                <a:latin typeface="Century Gothic" panose="020B0502020202020204" pitchFamily="34" charset="0"/>
              </a:rPr>
              <a:t> de la </a:t>
            </a:r>
            <a:r>
              <a:rPr lang="en-US" sz="1800" dirty="0" err="1">
                <a:solidFill>
                  <a:schemeClr val="bg1"/>
                </a:solidFill>
                <a:latin typeface="Century Gothic" panose="020B0502020202020204" pitchFamily="34" charset="0"/>
              </a:rPr>
              <a:t>distribucion</a:t>
            </a:r>
            <a:r>
              <a:rPr lang="en-US" sz="1800" dirty="0">
                <a:solidFill>
                  <a:schemeClr val="bg1"/>
                </a:solidFill>
                <a:latin typeface="Century Gothic" panose="020B0502020202020204" pitchFamily="34" charset="0"/>
              </a:rPr>
              <a:t> con respect al </a:t>
            </a:r>
            <a:r>
              <a:rPr lang="en-US" sz="1800" dirty="0" err="1">
                <a:solidFill>
                  <a:schemeClr val="bg1"/>
                </a:solidFill>
                <a:latin typeface="Century Gothic" panose="020B0502020202020204" pitchFamily="34" charset="0"/>
              </a:rPr>
              <a:t>bigote</a:t>
            </a:r>
            <a:r>
              <a:rPr lang="en-US" sz="1800" dirty="0">
                <a:solidFill>
                  <a:schemeClr val="bg1"/>
                </a:solidFill>
                <a:latin typeface="Century Gothic" panose="020B0502020202020204" pitchFamily="34" charset="0"/>
              </a:rPr>
              <a:t> inferior o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cuartil</a:t>
            </a:r>
            <a:r>
              <a:rPr lang="en-US" sz="1800" dirty="0">
                <a:solidFill>
                  <a:schemeClr val="bg1"/>
                </a:solidFill>
                <a:latin typeface="Century Gothic" panose="020B0502020202020204" pitchFamily="34" charset="0"/>
              </a:rPr>
              <a:t> anterior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4 </a:t>
            </a:r>
            <a:r>
              <a:rPr lang="en-US" sz="1800" dirty="0" err="1">
                <a:solidFill>
                  <a:schemeClr val="bg1"/>
                </a:solidFill>
                <a:latin typeface="Century Gothic" panose="020B0502020202020204" pitchFamily="34" charset="0"/>
              </a:rPr>
              <a:t>cuartil</a:t>
            </a:r>
            <a:r>
              <a:rPr lang="en-US" sz="1800" dirty="0">
                <a:solidFill>
                  <a:schemeClr val="bg1"/>
                </a:solidFill>
                <a:latin typeface="Century Gothic" panose="020B0502020202020204" pitchFamily="34" charset="0"/>
              </a:rPr>
              <a:t> sera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a:t>
            </a:r>
            <a:r>
              <a:rPr lang="en-US" sz="1800" dirty="0">
                <a:solidFill>
                  <a:schemeClr val="bg1"/>
                </a:solidFill>
                <a:latin typeface="Century Gothic" panose="020B0502020202020204" pitchFamily="34" charset="0"/>
              </a:rPr>
              <a:t> superior)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2"/>
        <p:cNvGrpSpPr/>
        <p:nvPr/>
      </p:nvGrpSpPr>
      <p:grpSpPr>
        <a:xfrm>
          <a:off x="0" y="0"/>
          <a:ext cx="0" cy="0"/>
          <a:chOff x="0" y="0"/>
          <a:chExt cx="0" cy="0"/>
        </a:xfrm>
      </p:grpSpPr>
      <p:sp>
        <p:nvSpPr>
          <p:cNvPr id="4" name="CuadroTexto 3">
            <a:extLst>
              <a:ext uri="{FF2B5EF4-FFF2-40B4-BE49-F238E27FC236}">
                <a16:creationId xmlns:a16="http://schemas.microsoft.com/office/drawing/2014/main" id="{CB0FF3E0-68CC-7871-A369-F2E040550240}"/>
              </a:ext>
            </a:extLst>
          </p:cNvPr>
          <p:cNvSpPr txBox="1"/>
          <p:nvPr/>
        </p:nvSpPr>
        <p:spPr>
          <a:xfrm>
            <a:off x="344774" y="151737"/>
            <a:ext cx="9683645" cy="646331"/>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La </a:t>
            </a:r>
            <a:r>
              <a:rPr lang="en-US" sz="1800" dirty="0" err="1">
                <a:solidFill>
                  <a:schemeClr val="bg1"/>
                </a:solidFill>
                <a:latin typeface="Century Gothic" panose="020B0502020202020204" pitchFamily="34" charset="0"/>
              </a:rPr>
              <a:t>mediana</a:t>
            </a:r>
            <a:r>
              <a:rPr lang="en-US" sz="1800" dirty="0">
                <a:solidFill>
                  <a:schemeClr val="bg1"/>
                </a:solidFill>
                <a:latin typeface="Century Gothic" panose="020B0502020202020204" pitchFamily="34" charset="0"/>
              </a:rPr>
              <a:t> sera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2 </a:t>
            </a:r>
            <a:r>
              <a:rPr lang="en-US" sz="1800" dirty="0" err="1">
                <a:solidFill>
                  <a:schemeClr val="bg1"/>
                </a:solidFill>
                <a:latin typeface="Century Gothic" panose="020B0502020202020204" pitchFamily="34" charset="0"/>
              </a:rPr>
              <a:t>cuartil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valor medio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ordenados</a:t>
            </a:r>
            <a:r>
              <a:rPr lang="en-US" sz="1800" dirty="0">
                <a:solidFill>
                  <a:schemeClr val="bg1"/>
                </a:solidFill>
                <a:latin typeface="Century Gothic" panose="020B0502020202020204" pitchFamily="34" charset="0"/>
              </a:rPr>
              <a:t>) y la media es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promedio</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a:t>
            </a:r>
          </a:p>
        </p:txBody>
      </p:sp>
      <p:sp>
        <p:nvSpPr>
          <p:cNvPr id="7" name="CuadroTexto 6">
            <a:extLst>
              <a:ext uri="{FF2B5EF4-FFF2-40B4-BE49-F238E27FC236}">
                <a16:creationId xmlns:a16="http://schemas.microsoft.com/office/drawing/2014/main" id="{FF1BEA0D-BC49-4714-76E3-7A2392E38A88}"/>
              </a:ext>
            </a:extLst>
          </p:cNvPr>
          <p:cNvSpPr txBox="1"/>
          <p:nvPr/>
        </p:nvSpPr>
        <p:spPr>
          <a:xfrm>
            <a:off x="504669" y="2627525"/>
            <a:ext cx="11182662" cy="646331"/>
          </a:xfrm>
          <a:prstGeom prst="rect">
            <a:avLst/>
          </a:prstGeom>
          <a:noFill/>
        </p:spPr>
        <p:txBody>
          <a:bodyPr wrap="square">
            <a:spAutoFit/>
          </a:bodyPr>
          <a:lstStyle/>
          <a:p>
            <a:pPr algn="just"/>
            <a:r>
              <a:rPr lang="en-US" sz="1800" dirty="0" err="1">
                <a:solidFill>
                  <a:schemeClr val="bg1"/>
                </a:solidFill>
                <a:latin typeface="Century Gothic" panose="020B0502020202020204" pitchFamily="34" charset="0"/>
              </a:rPr>
              <a:t>Conmunmente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atipicos</a:t>
            </a:r>
            <a:r>
              <a:rPr lang="en-US" sz="1800" dirty="0">
                <a:solidFill>
                  <a:schemeClr val="bg1"/>
                </a:solidFill>
                <a:latin typeface="Century Gothic" panose="020B0502020202020204" pitchFamily="34" charset="0"/>
              </a:rPr>
              <a:t> son </a:t>
            </a:r>
            <a:r>
              <a:rPr lang="en-US" sz="1800" dirty="0" err="1">
                <a:solidFill>
                  <a:schemeClr val="bg1"/>
                </a:solidFill>
                <a:latin typeface="Century Gothic" panose="020B0502020202020204" pitchFamily="34" charset="0"/>
              </a:rPr>
              <a:t>descartados</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analisis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ya</a:t>
            </a:r>
            <a:r>
              <a:rPr lang="en-US" sz="1800" dirty="0">
                <a:solidFill>
                  <a:schemeClr val="bg1"/>
                </a:solidFill>
                <a:latin typeface="Century Gothic" panose="020B0502020202020204" pitchFamily="34" charset="0"/>
              </a:rPr>
              <a:t> que no </a:t>
            </a:r>
            <a:r>
              <a:rPr lang="en-US" sz="1800" dirty="0" err="1">
                <a:solidFill>
                  <a:schemeClr val="bg1"/>
                </a:solidFill>
                <a:latin typeface="Century Gothic" panose="020B0502020202020204" pitchFamily="34" charset="0"/>
              </a:rPr>
              <a:t>concuerda</a:t>
            </a:r>
            <a:r>
              <a:rPr lang="en-US" sz="1800" dirty="0">
                <a:solidFill>
                  <a:schemeClr val="bg1"/>
                </a:solidFill>
                <a:latin typeface="Century Gothic" panose="020B0502020202020204" pitchFamily="34" charset="0"/>
              </a:rPr>
              <a:t> con la </a:t>
            </a:r>
            <a:r>
              <a:rPr lang="en-US" sz="1800" dirty="0" err="1">
                <a:solidFill>
                  <a:schemeClr val="bg1"/>
                </a:solidFill>
                <a:latin typeface="Century Gothic" panose="020B0502020202020204" pitchFamily="34" charset="0"/>
              </a:rPr>
              <a:t>investigacion</a:t>
            </a:r>
            <a:r>
              <a:rPr lang="en-US" sz="1800" dirty="0">
                <a:solidFill>
                  <a:schemeClr val="bg1"/>
                </a:solidFill>
                <a:latin typeface="Century Gothic" panose="020B0502020202020204" pitchFamily="34" charset="0"/>
              </a:rPr>
              <a:t>. Pero hay que </a:t>
            </a:r>
            <a:r>
              <a:rPr lang="en-US" sz="1800" dirty="0" err="1">
                <a:solidFill>
                  <a:schemeClr val="bg1"/>
                </a:solidFill>
                <a:latin typeface="Century Gothic" panose="020B0502020202020204" pitchFamily="34" charset="0"/>
              </a:rPr>
              <a:t>establecer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hecho</a:t>
            </a:r>
            <a:r>
              <a:rPr lang="en-US" sz="1800" dirty="0">
                <a:solidFill>
                  <a:schemeClr val="bg1"/>
                </a:solidFill>
                <a:latin typeface="Century Gothic" panose="020B0502020202020204" pitchFamily="34" charset="0"/>
              </a:rPr>
              <a:t>….</a:t>
            </a:r>
          </a:p>
        </p:txBody>
      </p:sp>
      <p:pic>
        <p:nvPicPr>
          <p:cNvPr id="3078" name="Picture 6" descr="Écriture Dune Histoire Ou Une Colonne De Journal Ou Un Magazine Concept ...">
            <a:extLst>
              <a:ext uri="{FF2B5EF4-FFF2-40B4-BE49-F238E27FC236}">
                <a16:creationId xmlns:a16="http://schemas.microsoft.com/office/drawing/2014/main" id="{5EFAE5A3-36AB-483A-696F-67F71622A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029" y="3429000"/>
            <a:ext cx="5114925" cy="3067050"/>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0536B1DB-241B-DD5E-C0A4-D1F980224623}"/>
              </a:ext>
            </a:extLst>
          </p:cNvPr>
          <p:cNvSpPr txBox="1"/>
          <p:nvPr/>
        </p:nvSpPr>
        <p:spPr>
          <a:xfrm>
            <a:off x="6113488" y="3254365"/>
            <a:ext cx="5573843" cy="3416320"/>
          </a:xfrm>
          <a:prstGeom prst="rect">
            <a:avLst/>
          </a:prstGeom>
          <a:noFill/>
        </p:spPr>
        <p:txBody>
          <a:bodyPr wrap="square">
            <a:spAutoFit/>
          </a:bodyPr>
          <a:lstStyle/>
          <a:p>
            <a:pPr marL="285750" indent="-285750" algn="just">
              <a:buFont typeface="Courier New" panose="02070309020205020404" pitchFamily="49" charset="0"/>
              <a:buChar char="o"/>
            </a:pPr>
            <a:r>
              <a:rPr lang="en-US" sz="1800" dirty="0">
                <a:solidFill>
                  <a:schemeClr val="bg1"/>
                </a:solidFill>
                <a:latin typeface="Century Gothic" panose="020B0502020202020204" pitchFamily="34" charset="0"/>
              </a:rPr>
              <a:t>Si hay </a:t>
            </a:r>
            <a:r>
              <a:rPr lang="en-US" sz="1800" dirty="0" err="1">
                <a:solidFill>
                  <a:schemeClr val="bg1"/>
                </a:solidFill>
                <a:latin typeface="Century Gothic" panose="020B0502020202020204" pitchFamily="34" charset="0"/>
              </a:rPr>
              <a:t>evidencia</a:t>
            </a:r>
            <a:r>
              <a:rPr lang="en-US" sz="1800" dirty="0">
                <a:solidFill>
                  <a:schemeClr val="bg1"/>
                </a:solidFill>
                <a:latin typeface="Century Gothic" panose="020B0502020202020204" pitchFamily="34" charset="0"/>
              </a:rPr>
              <a:t> de que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son </a:t>
            </a:r>
            <a:r>
              <a:rPr lang="en-US" sz="1800" dirty="0" err="1">
                <a:solidFill>
                  <a:schemeClr val="bg1"/>
                </a:solidFill>
                <a:latin typeface="Century Gothic" panose="020B0502020202020204" pitchFamily="34" charset="0"/>
              </a:rPr>
              <a:t>correctos</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dejan</a:t>
            </a:r>
            <a:r>
              <a:rPr lang="en-US" sz="1800" dirty="0">
                <a:solidFill>
                  <a:schemeClr val="bg1"/>
                </a:solidFill>
                <a:latin typeface="Century Gothic" panose="020B0502020202020204" pitchFamily="34" charset="0"/>
              </a:rPr>
              <a:t>.</a:t>
            </a:r>
          </a:p>
          <a:p>
            <a:pPr marL="285750" indent="-285750" algn="just">
              <a:buFont typeface="Courier New" panose="02070309020205020404" pitchFamily="49" charset="0"/>
              <a:buChar char="o"/>
            </a:pPr>
            <a:endParaRPr lang="en-US" sz="1800" dirty="0">
              <a:solidFill>
                <a:schemeClr val="bg1"/>
              </a:solidFill>
              <a:latin typeface="Century Gothic" panose="020B0502020202020204" pitchFamily="34" charset="0"/>
            </a:endParaRPr>
          </a:p>
          <a:p>
            <a:pPr marL="285750" indent="-285750" algn="just">
              <a:buFont typeface="Courier New" panose="02070309020205020404" pitchFamily="49" charset="0"/>
              <a:buChar char="o"/>
            </a:pPr>
            <a:r>
              <a:rPr lang="en-US" sz="1800" dirty="0">
                <a:solidFill>
                  <a:schemeClr val="bg1"/>
                </a:solidFill>
                <a:latin typeface="Century Gothic" panose="020B0502020202020204" pitchFamily="34" charset="0"/>
              </a:rPr>
              <a:t>Si la </a:t>
            </a:r>
            <a:r>
              <a:rPr lang="en-US" sz="1800" dirty="0" err="1">
                <a:solidFill>
                  <a:schemeClr val="bg1"/>
                </a:solidFill>
                <a:latin typeface="Century Gothic" panose="020B0502020202020204" pitchFamily="34" charset="0"/>
              </a:rPr>
              <a:t>cantidad</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atipicos</a:t>
            </a:r>
            <a:r>
              <a:rPr lang="en-US" sz="1800" dirty="0">
                <a:solidFill>
                  <a:schemeClr val="bg1"/>
                </a:solidFill>
                <a:latin typeface="Century Gothic" panose="020B0502020202020204" pitchFamily="34" charset="0"/>
              </a:rPr>
              <a:t> son </a:t>
            </a:r>
            <a:r>
              <a:rPr lang="en-US" sz="1800" dirty="0" err="1">
                <a:solidFill>
                  <a:schemeClr val="bg1"/>
                </a:solidFill>
                <a:latin typeface="Century Gothic" panose="020B0502020202020204" pitchFamily="34" charset="0"/>
              </a:rPr>
              <a:t>demasiados</a:t>
            </a:r>
            <a:r>
              <a:rPr lang="en-US" sz="1800" dirty="0">
                <a:solidFill>
                  <a:schemeClr val="bg1"/>
                </a:solidFill>
                <a:latin typeface="Century Gothic" panose="020B0502020202020204" pitchFamily="34" charset="0"/>
              </a:rPr>
              <a:t>, es possible de </a:t>
            </a:r>
            <a:r>
              <a:rPr lang="en-US" sz="1800" dirty="0" err="1">
                <a:solidFill>
                  <a:schemeClr val="bg1"/>
                </a:solidFill>
                <a:latin typeface="Century Gothic" panose="020B0502020202020204" pitchFamily="34" charset="0"/>
              </a:rPr>
              <a:t>descartar</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realizar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otro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analisis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por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aparte</a:t>
            </a:r>
            <a:r>
              <a:rPr lang="en-US" sz="1800" dirty="0">
                <a:solidFill>
                  <a:schemeClr val="bg1"/>
                </a:solidFill>
                <a:latin typeface="Century Gothic" panose="020B0502020202020204" pitchFamily="34" charset="0"/>
              </a:rPr>
              <a:t>.</a:t>
            </a:r>
          </a:p>
          <a:p>
            <a:pPr marL="285750" indent="-285750" algn="just">
              <a:buFont typeface="Courier New" panose="02070309020205020404" pitchFamily="49" charset="0"/>
              <a:buChar char="o"/>
            </a:pPr>
            <a:endParaRPr lang="en-US" sz="1800" dirty="0">
              <a:solidFill>
                <a:schemeClr val="bg1"/>
              </a:solidFill>
              <a:latin typeface="Century Gothic" panose="020B0502020202020204" pitchFamily="34" charset="0"/>
            </a:endParaRPr>
          </a:p>
          <a:p>
            <a:pPr marL="285750" indent="-285750" algn="just">
              <a:buFont typeface="Courier New" panose="02070309020205020404" pitchFamily="49" charset="0"/>
              <a:buChar char="o"/>
            </a:pPr>
            <a:r>
              <a:rPr lang="en-US" sz="1800" dirty="0">
                <a:solidFill>
                  <a:schemeClr val="bg1"/>
                </a:solidFill>
                <a:latin typeface="Century Gothic" panose="020B0502020202020204" pitchFamily="34" charset="0"/>
              </a:rPr>
              <a:t>Si </a:t>
            </a:r>
            <a:r>
              <a:rPr lang="en-US" sz="1800" dirty="0" err="1">
                <a:solidFill>
                  <a:schemeClr val="bg1"/>
                </a:solidFill>
                <a:latin typeface="Century Gothic" panose="020B0502020202020204" pitchFamily="34" charset="0"/>
              </a:rPr>
              <a:t>fueron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erroneo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por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eventualidad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externas</a:t>
            </a:r>
            <a:r>
              <a:rPr lang="en-US" sz="1800" dirty="0">
                <a:solidFill>
                  <a:schemeClr val="bg1"/>
                </a:solidFill>
                <a:latin typeface="Century Gothic" panose="020B0502020202020204" pitchFamily="34" charset="0"/>
              </a:rPr>
              <a:t> o error </a:t>
            </a:r>
            <a:r>
              <a:rPr lang="en-US" sz="1800" dirty="0" err="1">
                <a:solidFill>
                  <a:schemeClr val="bg1"/>
                </a:solidFill>
                <a:latin typeface="Century Gothic" panose="020B0502020202020204" pitchFamily="34" charset="0"/>
              </a:rPr>
              <a:t>humano</a:t>
            </a:r>
            <a:r>
              <a:rPr lang="en-US" sz="1800" dirty="0">
                <a:solidFill>
                  <a:schemeClr val="bg1"/>
                </a:solidFill>
                <a:latin typeface="Century Gothic" panose="020B0502020202020204" pitchFamily="34" charset="0"/>
              </a:rPr>
              <a:t> a la hora de </a:t>
            </a:r>
            <a:r>
              <a:rPr lang="en-US" sz="1800" dirty="0" err="1">
                <a:solidFill>
                  <a:schemeClr val="bg1"/>
                </a:solidFill>
                <a:latin typeface="Century Gothic" panose="020B0502020202020204" pitchFamily="34" charset="0"/>
              </a:rPr>
              <a:t>hacer</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mineria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dejan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siempre</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cuando</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comporte</a:t>
            </a:r>
            <a:r>
              <a:rPr lang="en-US" sz="1800" dirty="0">
                <a:solidFill>
                  <a:schemeClr val="bg1"/>
                </a:solidFill>
                <a:latin typeface="Century Gothic" panose="020B0502020202020204" pitchFamily="34" charset="0"/>
              </a:rPr>
              <a:t> de forma </a:t>
            </a:r>
            <a:r>
              <a:rPr lang="en-US" sz="1800" dirty="0" err="1">
                <a:solidFill>
                  <a:schemeClr val="bg1"/>
                </a:solidFill>
                <a:latin typeface="Century Gothic" panose="020B0502020202020204" pitchFamily="34" charset="0"/>
              </a:rPr>
              <a:t>aleatoria</a:t>
            </a:r>
            <a:r>
              <a:rPr lang="en-US" sz="1800" dirty="0">
                <a:solidFill>
                  <a:schemeClr val="bg1"/>
                </a:solidFill>
                <a:latin typeface="Century Gothic" panose="020B0502020202020204" pitchFamily="34" charset="0"/>
              </a:rPr>
              <a:t> e sin patron)</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4B8560E-4BDD-AB23-DA4A-60FC6C05ED5B}"/>
                  </a:ext>
                </a:extLst>
              </p:cNvPr>
              <p:cNvSpPr txBox="1"/>
              <p:nvPr/>
            </p:nvSpPr>
            <p:spPr>
              <a:xfrm>
                <a:off x="344774" y="937608"/>
                <a:ext cx="9683645" cy="1477328"/>
              </a:xfrm>
              <a:prstGeom prst="rect">
                <a:avLst/>
              </a:prstGeom>
              <a:noFill/>
            </p:spPr>
            <p:txBody>
              <a:bodyPr wrap="square">
                <a:spAutoFit/>
              </a:bodyPr>
              <a:lstStyle/>
              <a:p>
                <a:pPr marL="285750" indent="-285750">
                  <a:buFont typeface="Wingdings" panose="05000000000000000000" pitchFamily="2" charset="2"/>
                  <a:buChar char="§"/>
                </a:pPr>
                <a:r>
                  <a:rPr lang="en-US" sz="1800" dirty="0">
                    <a:solidFill>
                      <a:schemeClr val="bg1"/>
                    </a:solidFill>
                    <a:latin typeface="Century Gothic" panose="020B0502020202020204" pitchFamily="34" charset="0"/>
                  </a:rPr>
                  <a:t>El </a:t>
                </a:r>
                <a:r>
                  <a:rPr lang="en-US" sz="1800" dirty="0" err="1">
                    <a:solidFill>
                      <a:schemeClr val="bg1"/>
                    </a:solidFill>
                    <a:latin typeface="Century Gothic" panose="020B0502020202020204" pitchFamily="34" charset="0"/>
                  </a:rPr>
                  <a:t>calculo</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bigotes</a:t>
                </a:r>
                <a:r>
                  <a:rPr lang="en-US" sz="1800" dirty="0">
                    <a:solidFill>
                      <a:schemeClr val="bg1"/>
                    </a:solidFill>
                    <a:latin typeface="Century Gothic" panose="020B0502020202020204" pitchFamily="34" charset="0"/>
                  </a:rPr>
                  <a:t> inferior e superior se </a:t>
                </a:r>
                <a:r>
                  <a:rPr lang="en-US" sz="1800" dirty="0" err="1">
                    <a:solidFill>
                      <a:schemeClr val="bg1"/>
                    </a:solidFill>
                    <a:latin typeface="Century Gothic" panose="020B0502020202020204" pitchFamily="34" charset="0"/>
                  </a:rPr>
                  <a:t>realiza</a:t>
                </a:r>
                <a:r>
                  <a:rPr lang="en-US" sz="1800" dirty="0">
                    <a:solidFill>
                      <a:schemeClr val="bg1"/>
                    </a:solidFill>
                    <a:latin typeface="Century Gothic" panose="020B0502020202020204" pitchFamily="34" charset="0"/>
                  </a:rPr>
                  <a:t> de la </a:t>
                </a:r>
                <a:r>
                  <a:rPr lang="en-US" sz="1800" dirty="0" err="1">
                    <a:solidFill>
                      <a:schemeClr val="bg1"/>
                    </a:solidFill>
                    <a:latin typeface="Century Gothic" panose="020B0502020202020204" pitchFamily="34" charset="0"/>
                  </a:rPr>
                  <a:t>siguiente</a:t>
                </a:r>
                <a:r>
                  <a:rPr lang="en-US" sz="1800" dirty="0">
                    <a:solidFill>
                      <a:schemeClr val="bg1"/>
                    </a:solidFill>
                    <a:latin typeface="Century Gothic" panose="020B0502020202020204" pitchFamily="34" charset="0"/>
                  </a:rPr>
                  <a:t> forma:</a:t>
                </a:r>
              </a:p>
              <a:p>
                <a:endParaRPr lang="en-US" sz="1800" dirty="0">
                  <a:solidFill>
                    <a:schemeClr val="bg1"/>
                  </a:solidFill>
                  <a:latin typeface="Century Gothic" panose="020B0502020202020204" pitchFamily="34" charset="0"/>
                </a:endParaRPr>
              </a:p>
              <a:p>
                <a:pPr algn="ctr"/>
                <a:r>
                  <a:rPr lang="en-US" sz="1800" dirty="0">
                    <a:solidFill>
                      <a:schemeClr val="bg1"/>
                    </a:solidFill>
                    <a:latin typeface="Century Gothic" panose="020B0502020202020204" pitchFamily="34" charset="0"/>
                  </a:rPr>
                  <a:t>El </a:t>
                </a:r>
                <a:r>
                  <a:rPr lang="en-US" sz="1800" dirty="0" err="1">
                    <a:solidFill>
                      <a:schemeClr val="bg1"/>
                    </a:solidFill>
                    <a:latin typeface="Century Gothic" panose="020B0502020202020204" pitchFamily="34" charset="0"/>
                  </a:rPr>
                  <a:t>rango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Intercuartil</a:t>
                </a:r>
                <a:r>
                  <a:rPr lang="en-US" sz="1800" dirty="0">
                    <a:solidFill>
                      <a:schemeClr val="bg1"/>
                    </a:solidFill>
                    <a:latin typeface="Century Gothic" panose="020B0502020202020204" pitchFamily="34" charset="0"/>
                  </a:rPr>
                  <a:t> (RIC) =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𝑄</m:t>
                        </m:r>
                      </m:e>
                      <m:sub>
                        <m:r>
                          <a:rPr lang="en-US" sz="1800" b="0" i="1" smtClean="0">
                            <a:solidFill>
                              <a:schemeClr val="bg1"/>
                            </a:solidFill>
                            <a:latin typeface="Cambria Math" panose="02040503050406030204" pitchFamily="18" charset="0"/>
                          </a:rPr>
                          <m:t>3</m:t>
                        </m:r>
                      </m:sub>
                    </m:sSub>
                    <m:r>
                      <a:rPr lang="en-US" sz="1800" b="0" i="1" smtClean="0">
                        <a:solidFill>
                          <a:schemeClr val="bg1"/>
                        </a:solidFill>
                        <a:latin typeface="Cambria Math" panose="02040503050406030204" pitchFamily="18" charset="0"/>
                      </a:rPr>
                      <m:t> −</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𝑄</m:t>
                        </m:r>
                      </m:e>
                      <m:sub>
                        <m:r>
                          <a:rPr lang="en-US" sz="1800" b="0" i="1" smtClean="0">
                            <a:solidFill>
                              <a:schemeClr val="bg1"/>
                            </a:solidFill>
                            <a:latin typeface="Cambria Math" panose="02040503050406030204" pitchFamily="18" charset="0"/>
                          </a:rPr>
                          <m:t>1</m:t>
                        </m:r>
                      </m:sub>
                    </m:sSub>
                  </m:oMath>
                </a14:m>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distancia</a:t>
                </a:r>
                <a:r>
                  <a:rPr lang="en-US" sz="1800" dirty="0">
                    <a:solidFill>
                      <a:schemeClr val="bg1"/>
                    </a:solidFill>
                    <a:latin typeface="Century Gothic" panose="020B0502020202020204" pitchFamily="34" charset="0"/>
                  </a:rPr>
                  <a:t> (D) = </a:t>
                </a:r>
                <a14:m>
                  <m:oMath xmlns:m="http://schemas.openxmlformats.org/officeDocument/2006/math">
                    <m:r>
                      <a:rPr lang="en-US" sz="1800" b="0" i="1" smtClean="0">
                        <a:solidFill>
                          <a:schemeClr val="bg1"/>
                        </a:solidFill>
                        <a:latin typeface="Cambria Math" panose="02040503050406030204" pitchFamily="18" charset="0"/>
                      </a:rPr>
                      <m:t>1.5 ∗</m:t>
                    </m:r>
                    <m:r>
                      <a:rPr lang="en-US" sz="1800" b="0" i="1" smtClean="0">
                        <a:solidFill>
                          <a:schemeClr val="bg1"/>
                        </a:solidFill>
                        <a:latin typeface="Cambria Math" panose="02040503050406030204" pitchFamily="18" charset="0"/>
                      </a:rPr>
                      <m:t>𝑅𝐼𝐶</m:t>
                    </m:r>
                  </m:oMath>
                </a14:m>
                <a:endParaRPr lang="en-US" sz="1800" dirty="0">
                  <a:solidFill>
                    <a:schemeClr val="bg1"/>
                  </a:solidFill>
                  <a:latin typeface="Century Gothic" panose="020B0502020202020204" pitchFamily="34" charset="0"/>
                </a:endParaRPr>
              </a:p>
              <a:p>
                <a:endParaRPr lang="en-US" sz="1800" dirty="0">
                  <a:solidFill>
                    <a:schemeClr val="bg1"/>
                  </a:solidFill>
                  <a:latin typeface="Century Gothic" panose="020B0502020202020204" pitchFamily="34" charset="0"/>
                </a:endParaRPr>
              </a:p>
              <a:p>
                <a:r>
                  <a:rPr lang="en-US" sz="1800" dirty="0">
                    <a:solidFill>
                      <a:schemeClr val="bg1"/>
                    </a:solidFill>
                    <a:latin typeface="Century Gothic" panose="020B0502020202020204" pitchFamily="34" charset="0"/>
                  </a:rPr>
                  <a:t>Y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bigotes</a:t>
                </a:r>
                <a:r>
                  <a:rPr lang="en-US" sz="1800" dirty="0">
                    <a:solidFill>
                      <a:schemeClr val="bg1"/>
                    </a:solidFill>
                    <a:latin typeface="Century Gothic" panose="020B0502020202020204" pitchFamily="34" charset="0"/>
                  </a:rPr>
                  <a:t> sera: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𝑄</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𝐷</m:t>
                    </m:r>
                  </m:oMath>
                </a14:m>
                <a:r>
                  <a:rPr lang="en-US" sz="1800" dirty="0">
                    <a:solidFill>
                      <a:schemeClr val="bg1"/>
                    </a:solidFill>
                    <a:latin typeface="Century Gothic" panose="020B0502020202020204" pitchFamily="34" charset="0"/>
                  </a:rPr>
                  <a:t> (inferior)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𝑄</m:t>
                        </m:r>
                      </m:e>
                      <m:sub>
                        <m:r>
                          <a:rPr lang="en-US" sz="1800" b="0" i="1" smtClean="0">
                            <a:solidFill>
                              <a:schemeClr val="bg1"/>
                            </a:solidFill>
                            <a:latin typeface="Cambria Math" panose="02040503050406030204" pitchFamily="18" charset="0"/>
                          </a:rPr>
                          <m:t>3</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𝐷</m:t>
                    </m:r>
                  </m:oMath>
                </a14:m>
                <a:r>
                  <a:rPr lang="en-US" sz="1800" dirty="0">
                    <a:solidFill>
                      <a:schemeClr val="bg1"/>
                    </a:solidFill>
                    <a:latin typeface="Century Gothic" panose="020B0502020202020204" pitchFamily="34" charset="0"/>
                  </a:rPr>
                  <a:t> (superior)</a:t>
                </a:r>
              </a:p>
            </p:txBody>
          </p:sp>
        </mc:Choice>
        <mc:Fallback xmlns="">
          <p:sp>
            <p:nvSpPr>
              <p:cNvPr id="11" name="CuadroTexto 10">
                <a:extLst>
                  <a:ext uri="{FF2B5EF4-FFF2-40B4-BE49-F238E27FC236}">
                    <a16:creationId xmlns:a16="http://schemas.microsoft.com/office/drawing/2014/main" id="{14B8560E-4BDD-AB23-DA4A-60FC6C05ED5B}"/>
                  </a:ext>
                </a:extLst>
              </p:cNvPr>
              <p:cNvSpPr txBox="1">
                <a:spLocks noRot="1" noChangeAspect="1" noMove="1" noResize="1" noEditPoints="1" noAdjustHandles="1" noChangeArrowheads="1" noChangeShapeType="1" noTextEdit="1"/>
              </p:cNvSpPr>
              <p:nvPr/>
            </p:nvSpPr>
            <p:spPr>
              <a:xfrm>
                <a:off x="344774" y="937608"/>
                <a:ext cx="9683645" cy="1477328"/>
              </a:xfrm>
              <a:prstGeom prst="rect">
                <a:avLst/>
              </a:prstGeom>
              <a:blipFill>
                <a:blip r:embed="rId5"/>
                <a:stretch>
                  <a:fillRect l="-567" t="-2479" b="-5785"/>
                </a:stretch>
              </a:blipFill>
            </p:spPr>
            <p:txBody>
              <a:bodyPr/>
              <a:lstStyle/>
              <a:p>
                <a:r>
                  <a:rPr lang="es-MX">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41;p32">
            <a:extLst>
              <a:ext uri="{FF2B5EF4-FFF2-40B4-BE49-F238E27FC236}">
                <a16:creationId xmlns:a16="http://schemas.microsoft.com/office/drawing/2014/main" id="{904D48B6-E29B-EBE0-DE8A-A8F128D99356}"/>
              </a:ext>
            </a:extLst>
          </p:cNvPr>
          <p:cNvSpPr txBox="1">
            <a:spLocks/>
          </p:cNvSpPr>
          <p:nvPr/>
        </p:nvSpPr>
        <p:spPr>
          <a:xfrm>
            <a:off x="524655" y="1172247"/>
            <a:ext cx="3506162" cy="776475"/>
          </a:xfrm>
          <a:prstGeom prst="rect">
            <a:avLst/>
          </a:prstGeom>
          <a:noFill/>
          <a:ln>
            <a:noFill/>
          </a:ln>
        </p:spPr>
        <p:txBody>
          <a:bodyPr spcFirstLastPara="1" wrap="square" lIns="91425" tIns="45700" rIns="91425" bIns="45700" anchor="ctr"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000"/>
              <a:buFont typeface="Century Gothic"/>
              <a:buNone/>
              <a:defRPr sz="40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buSzPts val="4200"/>
            </a:pPr>
            <a:r>
              <a:rPr lang="en-US" b="1" dirty="0" err="1"/>
              <a:t>Grafica</a:t>
            </a:r>
            <a:r>
              <a:rPr lang="en-US" b="1" dirty="0"/>
              <a:t> dispersion</a:t>
            </a:r>
            <a:endParaRPr lang="es-MX" b="1" dirty="0"/>
          </a:p>
        </p:txBody>
      </p:sp>
      <p:sp>
        <p:nvSpPr>
          <p:cNvPr id="7" name="CuadroTexto 6">
            <a:extLst>
              <a:ext uri="{FF2B5EF4-FFF2-40B4-BE49-F238E27FC236}">
                <a16:creationId xmlns:a16="http://schemas.microsoft.com/office/drawing/2014/main" id="{B08BA3B9-CF09-F8F5-23BA-046EBE863D7E}"/>
              </a:ext>
            </a:extLst>
          </p:cNvPr>
          <p:cNvSpPr txBox="1"/>
          <p:nvPr/>
        </p:nvSpPr>
        <p:spPr>
          <a:xfrm>
            <a:off x="239844" y="231129"/>
            <a:ext cx="9848538" cy="646331"/>
          </a:xfrm>
          <a:prstGeom prst="rect">
            <a:avLst/>
          </a:prstGeom>
          <a:noFill/>
        </p:spPr>
        <p:txBody>
          <a:bodyPr wrap="square">
            <a:spAutoFit/>
          </a:bodyPr>
          <a:lstStyle/>
          <a:p>
            <a:pPr marL="285750" indent="-285750" algn="just">
              <a:buFont typeface="Courier New" panose="02070309020205020404" pitchFamily="49" charset="0"/>
              <a:buChar char="o"/>
            </a:pPr>
            <a:r>
              <a:rPr lang="en-US" sz="1800" dirty="0">
                <a:solidFill>
                  <a:schemeClr val="bg1"/>
                </a:solidFill>
                <a:latin typeface="Century Gothic" panose="020B0502020202020204" pitchFamily="34" charset="0"/>
              </a:rPr>
              <a:t>Si no hay </a:t>
            </a:r>
            <a:r>
              <a:rPr lang="en-US" sz="1800" dirty="0" err="1">
                <a:solidFill>
                  <a:schemeClr val="bg1"/>
                </a:solidFill>
                <a:latin typeface="Century Gothic" panose="020B0502020202020204" pitchFamily="34" charset="0"/>
              </a:rPr>
              <a:t>informacion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sobre</a:t>
            </a:r>
            <a:r>
              <a:rPr lang="en-US" sz="1800" dirty="0">
                <a:solidFill>
                  <a:schemeClr val="bg1"/>
                </a:solidFill>
                <a:latin typeface="Century Gothic" panose="020B0502020202020204" pitchFamily="34" charset="0"/>
              </a:rPr>
              <a:t> lo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se le </a:t>
            </a:r>
            <a:r>
              <a:rPr lang="en-US" sz="1800" dirty="0" err="1">
                <a:solidFill>
                  <a:schemeClr val="bg1"/>
                </a:solidFill>
                <a:latin typeface="Century Gothic" panose="020B0502020202020204" pitchFamily="34" charset="0"/>
              </a:rPr>
              <a:t>deja</a:t>
            </a:r>
            <a:r>
              <a:rPr lang="en-US" sz="1800" dirty="0">
                <a:solidFill>
                  <a:schemeClr val="bg1"/>
                </a:solidFill>
                <a:latin typeface="Century Gothic" panose="020B0502020202020204" pitchFamily="34" charset="0"/>
              </a:rPr>
              <a:t> al </a:t>
            </a:r>
            <a:r>
              <a:rPr lang="en-US" sz="1800" dirty="0" err="1">
                <a:solidFill>
                  <a:schemeClr val="bg1"/>
                </a:solidFill>
                <a:latin typeface="Century Gothic" panose="020B0502020202020204" pitchFamily="34" charset="0"/>
              </a:rPr>
              <a:t>criterio</a:t>
            </a:r>
            <a:r>
              <a:rPr lang="en-US" sz="1800" dirty="0">
                <a:solidFill>
                  <a:schemeClr val="bg1"/>
                </a:solidFill>
                <a:latin typeface="Century Gothic" panose="020B0502020202020204" pitchFamily="34" charset="0"/>
              </a:rPr>
              <a:t> del </a:t>
            </a:r>
            <a:r>
              <a:rPr lang="en-US" sz="1800" dirty="0" err="1">
                <a:solidFill>
                  <a:schemeClr val="bg1"/>
                </a:solidFill>
                <a:latin typeface="Century Gothic" panose="020B0502020202020204" pitchFamily="34" charset="0"/>
              </a:rPr>
              <a:t>investigador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sobre</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situacion</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atipicos</a:t>
            </a:r>
            <a:r>
              <a:rPr lang="en-US" sz="1800" dirty="0">
                <a:solidFill>
                  <a:schemeClr val="bg1"/>
                </a:solidFill>
                <a:latin typeface="Century Gothic" panose="020B0502020202020204" pitchFamily="34" charset="0"/>
              </a:rPr>
              <a:t>.</a:t>
            </a:r>
          </a:p>
        </p:txBody>
      </p:sp>
      <p:sp>
        <p:nvSpPr>
          <p:cNvPr id="8" name="CuadroTexto 7">
            <a:extLst>
              <a:ext uri="{FF2B5EF4-FFF2-40B4-BE49-F238E27FC236}">
                <a16:creationId xmlns:a16="http://schemas.microsoft.com/office/drawing/2014/main" id="{5A7D212F-D92B-0920-A617-2E157BA6382E}"/>
              </a:ext>
            </a:extLst>
          </p:cNvPr>
          <p:cNvSpPr txBox="1"/>
          <p:nvPr/>
        </p:nvSpPr>
        <p:spPr>
          <a:xfrm>
            <a:off x="579619" y="1948722"/>
            <a:ext cx="11032761" cy="923330"/>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Como se </a:t>
            </a:r>
            <a:r>
              <a:rPr lang="en-US" sz="1800" dirty="0" err="1">
                <a:solidFill>
                  <a:schemeClr val="bg1"/>
                </a:solidFill>
                <a:latin typeface="Century Gothic" panose="020B0502020202020204" pitchFamily="34" charset="0"/>
              </a:rPr>
              <a:t>escucha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su</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nombre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este</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trata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marca</a:t>
            </a:r>
            <a:r>
              <a:rPr lang="en-US" sz="1800" dirty="0">
                <a:solidFill>
                  <a:schemeClr val="bg1"/>
                </a:solidFill>
                <a:latin typeface="Century Gothic" panose="020B0502020202020204" pitchFamily="34" charset="0"/>
              </a:rPr>
              <a:t> con un punto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de la forma (x1,x2,...,</a:t>
            </a:r>
            <a:r>
              <a:rPr lang="en-US" sz="1800" dirty="0" err="1">
                <a:solidFill>
                  <a:schemeClr val="bg1"/>
                </a:solidFill>
                <a:latin typeface="Century Gothic" panose="020B0502020202020204" pitchFamily="34" charset="0"/>
              </a:rPr>
              <a:t>xn</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acuerdo</a:t>
            </a:r>
            <a:r>
              <a:rPr lang="en-US" sz="1800" dirty="0">
                <a:solidFill>
                  <a:schemeClr val="bg1"/>
                </a:solidFill>
                <a:latin typeface="Century Gothic" panose="020B0502020202020204" pitchFamily="34" charset="0"/>
              </a:rPr>
              <a:t> a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y con </a:t>
            </a:r>
            <a:r>
              <a:rPr lang="en-US" sz="1800" dirty="0" err="1">
                <a:solidFill>
                  <a:schemeClr val="bg1"/>
                </a:solidFill>
                <a:latin typeface="Century Gothic" panose="020B0502020202020204" pitchFamily="34" charset="0"/>
              </a:rPr>
              <a:t>ello</a:t>
            </a:r>
            <a:r>
              <a:rPr lang="en-US" sz="1800" dirty="0">
                <a:solidFill>
                  <a:schemeClr val="bg1"/>
                </a:solidFill>
                <a:latin typeface="Century Gothic" panose="020B0502020202020204" pitchFamily="34" charset="0"/>
              </a:rPr>
              <a:t> Podemos </a:t>
            </a:r>
            <a:r>
              <a:rPr lang="en-US" sz="1800" dirty="0" err="1">
                <a:solidFill>
                  <a:schemeClr val="bg1"/>
                </a:solidFill>
                <a:latin typeface="Century Gothic" panose="020B0502020202020204" pitchFamily="34" charset="0"/>
              </a:rPr>
              <a:t>visualizar</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deterctar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alguna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caracteristica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nuestro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a:t>
            </a:r>
          </a:p>
        </p:txBody>
      </p:sp>
      <p:pic>
        <p:nvPicPr>
          <p:cNvPr id="2050" name="Picture 2" descr="Fisica de 3 Año: Representación gráfica de puntos">
            <a:extLst>
              <a:ext uri="{FF2B5EF4-FFF2-40B4-BE49-F238E27FC236}">
                <a16:creationId xmlns:a16="http://schemas.microsoft.com/office/drawing/2014/main" id="{8378AFB5-B0BE-E337-C8EE-3454023052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156" t="2912" r="2406" b="20656"/>
          <a:stretch/>
        </p:blipFill>
        <p:spPr bwMode="auto">
          <a:xfrm>
            <a:off x="944379" y="3256825"/>
            <a:ext cx="4826834" cy="268049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E73659E-D0A3-E19E-7967-E8821AB10FE9}"/>
                  </a:ext>
                </a:extLst>
              </p:cNvPr>
              <p:cNvSpPr txBox="1"/>
              <p:nvPr/>
            </p:nvSpPr>
            <p:spPr>
              <a:xfrm>
                <a:off x="6420789" y="3343018"/>
                <a:ext cx="5191591" cy="2585323"/>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Supongamos que </a:t>
                </a:r>
                <a:r>
                  <a:rPr lang="en-US" sz="1800" dirty="0" err="1">
                    <a:solidFill>
                      <a:schemeClr val="bg1"/>
                    </a:solidFill>
                    <a:latin typeface="Century Gothic" panose="020B0502020202020204" pitchFamily="34" charset="0"/>
                  </a:rPr>
                  <a:t>tenemos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de 2 V.A. que </a:t>
                </a:r>
                <a:r>
                  <a:rPr lang="en-US" sz="1800" dirty="0" err="1">
                    <a:solidFill>
                      <a:schemeClr val="bg1"/>
                    </a:solidFill>
                    <a:latin typeface="Century Gothic" panose="020B0502020202020204" pitchFamily="34" charset="0"/>
                  </a:rPr>
                  <a:t>reportan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ingreso</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sueldo</a:t>
                </a:r>
                <a:r>
                  <a:rPr lang="en-US" sz="1800" dirty="0">
                    <a:solidFill>
                      <a:schemeClr val="bg1"/>
                    </a:solidFill>
                    <a:latin typeface="Century Gothic" panose="020B0502020202020204" pitchFamily="34" charset="0"/>
                  </a:rPr>
                  <a:t> con respect a la </a:t>
                </a:r>
                <a:r>
                  <a:rPr lang="en-US" sz="1800" dirty="0" err="1">
                    <a:solidFill>
                      <a:schemeClr val="bg1"/>
                    </a:solidFill>
                    <a:latin typeface="Century Gothic" panose="020B0502020202020204" pitchFamily="34" charset="0"/>
                  </a:rPr>
                  <a:t>edad</a:t>
                </a:r>
                <a:r>
                  <a:rPr lang="en-US" sz="1800" dirty="0">
                    <a:solidFill>
                      <a:schemeClr val="bg1"/>
                    </a:solidFill>
                    <a:latin typeface="Century Gothic" panose="020B0502020202020204" pitchFamily="34" charset="0"/>
                  </a:rPr>
                  <a:t> de la personas que lo </a:t>
                </a:r>
                <a:r>
                  <a:rPr lang="en-US" sz="1800" dirty="0" err="1">
                    <a:solidFill>
                      <a:schemeClr val="bg1"/>
                    </a:solidFill>
                    <a:latin typeface="Century Gothic" panose="020B0502020202020204" pitchFamily="34" charset="0"/>
                  </a:rPr>
                  <a:t>reciben</a:t>
                </a:r>
                <a:r>
                  <a:rPr lang="en-US" sz="1800" dirty="0">
                    <a:solidFill>
                      <a:schemeClr val="bg1"/>
                    </a:solidFill>
                    <a:latin typeface="Century Gothic" panose="020B0502020202020204" pitchFamily="34" charset="0"/>
                  </a:rPr>
                  <a:t>,,,,</a:t>
                </a:r>
              </a:p>
              <a:p>
                <a:pPr algn="just"/>
                <a:endParaRPr lang="en-US" sz="1800" dirty="0">
                  <a:solidFill>
                    <a:schemeClr val="bg1"/>
                  </a:solidFill>
                  <a:latin typeface="Century Gothic" panose="020B0502020202020204" pitchFamily="34" charset="0"/>
                </a:endParaRPr>
              </a:p>
              <a:p>
                <a:pPr algn="just"/>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𝑋</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𝐸𝑑𝑎𝑑</m:t>
                      </m:r>
                    </m:oMath>
                  </m:oMathPara>
                </a14:m>
                <a:endParaRPr lang="en-US" sz="1800" dirty="0">
                  <a:solidFill>
                    <a:schemeClr val="bg1"/>
                  </a:solidFill>
                  <a:latin typeface="Century Gothic" panose="020B0502020202020204" pitchFamily="34" charset="0"/>
                </a:endParaRPr>
              </a:p>
              <a:p>
                <a:pPr algn="just"/>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𝑆𝑢𝑒𝑙𝑑𝑜</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𝑒𝑛</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𝑚𝑖𝑙𝑒𝑠</m:t>
                      </m:r>
                      <m:r>
                        <a:rPr lang="en-US" sz="1800" b="0" i="1" smtClean="0">
                          <a:solidFill>
                            <a:schemeClr val="bg1"/>
                          </a:solidFill>
                          <a:latin typeface="Cambria Math" panose="02040503050406030204" pitchFamily="18" charset="0"/>
                        </a:rPr>
                        <m:t>)</m:t>
                      </m:r>
                    </m:oMath>
                  </m:oMathPara>
                </a14:m>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Y </a:t>
                </a:r>
                <a:r>
                  <a:rPr lang="en-US" sz="1800" dirty="0" err="1">
                    <a:solidFill>
                      <a:schemeClr val="bg1"/>
                    </a:solidFill>
                    <a:latin typeface="Century Gothic" panose="020B0502020202020204" pitchFamily="34" charset="0"/>
                  </a:rPr>
                  <a:t>tendra</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siguiente</a:t>
                </a:r>
                <a:r>
                  <a:rPr lang="en-US" sz="1800" dirty="0">
                    <a:solidFill>
                      <a:schemeClr val="bg1"/>
                    </a:solidFill>
                    <a:latin typeface="Century Gothic" panose="020B0502020202020204" pitchFamily="34" charset="0"/>
                  </a:rPr>
                  <a:t> forma:</a:t>
                </a:r>
              </a:p>
            </p:txBody>
          </p:sp>
        </mc:Choice>
        <mc:Fallback xmlns="">
          <p:sp>
            <p:nvSpPr>
              <p:cNvPr id="9" name="CuadroTexto 8">
                <a:extLst>
                  <a:ext uri="{FF2B5EF4-FFF2-40B4-BE49-F238E27FC236}">
                    <a16:creationId xmlns:a16="http://schemas.microsoft.com/office/drawing/2014/main" id="{5E73659E-D0A3-E19E-7967-E8821AB10FE9}"/>
                  </a:ext>
                </a:extLst>
              </p:cNvPr>
              <p:cNvSpPr txBox="1">
                <a:spLocks noRot="1" noChangeAspect="1" noMove="1" noResize="1" noEditPoints="1" noAdjustHandles="1" noChangeArrowheads="1" noChangeShapeType="1" noTextEdit="1"/>
              </p:cNvSpPr>
              <p:nvPr/>
            </p:nvSpPr>
            <p:spPr>
              <a:xfrm>
                <a:off x="6420789" y="3343018"/>
                <a:ext cx="5191591" cy="2585323"/>
              </a:xfrm>
              <a:prstGeom prst="rect">
                <a:avLst/>
              </a:prstGeom>
              <a:blipFill>
                <a:blip r:embed="rId3"/>
                <a:stretch>
                  <a:fillRect l="-939" t="-1179" r="-1056" b="-2830"/>
                </a:stretch>
              </a:blipFill>
            </p:spPr>
            <p:txBody>
              <a:bodyPr/>
              <a:lstStyle/>
              <a:p>
                <a:r>
                  <a:rPr lang="es-MX">
                    <a:noFill/>
                  </a:rPr>
                  <a:t> </a:t>
                </a:r>
              </a:p>
            </p:txBody>
          </p:sp>
        </mc:Fallback>
      </mc:AlternateContent>
    </p:spTree>
    <p:extLst>
      <p:ext uri="{BB962C8B-B14F-4D97-AF65-F5344CB8AC3E}">
        <p14:creationId xmlns:p14="http://schemas.microsoft.com/office/powerpoint/2010/main" val="1004945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0"/>
        <p:cNvGrpSpPr/>
        <p:nvPr/>
      </p:nvGrpSpPr>
      <p:grpSpPr>
        <a:xfrm>
          <a:off x="0" y="0"/>
          <a:ext cx="0" cy="0"/>
          <a:chOff x="0" y="0"/>
          <a:chExt cx="0" cy="0"/>
        </a:xfrm>
      </p:grpSpPr>
      <p:sp>
        <p:nvSpPr>
          <p:cNvPr id="311" name="Google Shape;311;p43"/>
          <p:cNvSpPr/>
          <p:nvPr/>
        </p:nvSpPr>
        <p:spPr>
          <a:xfrm>
            <a:off x="-69504"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sp>
        <p:nvSpPr>
          <p:cNvPr id="312" name="Google Shape;312;p43"/>
          <p:cNvSpPr txBox="1">
            <a:spLocks noGrp="1"/>
          </p:cNvSpPr>
          <p:nvPr>
            <p:ph type="title"/>
          </p:nvPr>
        </p:nvSpPr>
        <p:spPr>
          <a:xfrm>
            <a:off x="69504" y="239521"/>
            <a:ext cx="5287174" cy="118478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EBEBEB"/>
              </a:buClr>
              <a:buSzPts val="3600"/>
              <a:buFont typeface="Century Gothic"/>
              <a:buNone/>
            </a:pPr>
            <a:r>
              <a:rPr lang="es-MX" sz="3600" dirty="0">
                <a:solidFill>
                  <a:srgbClr val="EBEBEB"/>
                </a:solidFill>
              </a:rPr>
              <a:t>Visualización de datos bivariados</a:t>
            </a:r>
            <a:endParaRPr dirty="0"/>
          </a:p>
        </p:txBody>
      </p:sp>
      <p:sp>
        <p:nvSpPr>
          <p:cNvPr id="313" name="Google Shape;313;p43"/>
          <p:cNvSpPr/>
          <p:nvPr/>
        </p:nvSpPr>
        <p:spPr>
          <a:xfrm>
            <a:off x="5111355" y="239520"/>
            <a:ext cx="559472" cy="3709642"/>
          </a:xfrm>
          <a:custGeom>
            <a:avLst/>
            <a:gdLst/>
            <a:ahLst/>
            <a:cxnLst/>
            <a:rect l="l" t="t" r="r" b="b"/>
            <a:pathLst>
              <a:path w="559472" h="3709642" extrusionOk="0">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entury Gothic"/>
              <a:ea typeface="Century Gothic"/>
              <a:cs typeface="Century Gothic"/>
              <a:sym typeface="Century Gothic"/>
            </a:endParaRPr>
          </a:p>
        </p:txBody>
      </p:sp>
      <p:sp>
        <p:nvSpPr>
          <p:cNvPr id="314" name="Google Shape;314;p43"/>
          <p:cNvSpPr/>
          <p:nvPr/>
        </p:nvSpPr>
        <p:spPr>
          <a:xfrm rot="-5400000">
            <a:off x="5270399" y="-81744"/>
            <a:ext cx="6858001" cy="6985200"/>
          </a:xfrm>
          <a:custGeom>
            <a:avLst/>
            <a:gdLst/>
            <a:ahLst/>
            <a:cxnLst/>
            <a:rect l="l" t="t" r="r" b="b"/>
            <a:pathLst>
              <a:path w="6858001" h="6985200" extrusionOk="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entury Gothic"/>
                <a:ea typeface="Century Gothic"/>
                <a:cs typeface="Century Gothic"/>
                <a:sym typeface="Century Gothic"/>
              </a:rPr>
              <a:t>z</a:t>
            </a:r>
            <a:endParaRPr sz="1800" dirty="0">
              <a:solidFill>
                <a:schemeClr val="dk1"/>
              </a:solidFill>
              <a:latin typeface="Century Gothic"/>
              <a:ea typeface="Century Gothic"/>
              <a:cs typeface="Century Gothic"/>
              <a:sym typeface="Century Gothic"/>
            </a:endParaRPr>
          </a:p>
        </p:txBody>
      </p:sp>
      <p:sp>
        <p:nvSpPr>
          <p:cNvPr id="316" name="Google Shape;316;p43"/>
          <p:cNvSpPr/>
          <p:nvPr/>
        </p:nvSpPr>
        <p:spPr>
          <a:xfrm>
            <a:off x="10611225" y="17217"/>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2" name="Google Shape;315;p43"/>
          <p:cNvPicPr preferRelativeResize="0"/>
          <p:nvPr/>
        </p:nvPicPr>
        <p:blipFill rotWithShape="1">
          <a:blip r:embed="rId4">
            <a:alphaModFix/>
          </a:blip>
          <a:srcRect t="8928" r="4047" b="2780"/>
          <a:stretch/>
        </p:blipFill>
        <p:spPr>
          <a:xfrm>
            <a:off x="5745585" y="479042"/>
            <a:ext cx="6083266" cy="5567011"/>
          </a:xfrm>
          <a:prstGeom prst="rect">
            <a:avLst/>
          </a:prstGeom>
          <a:noFill/>
          <a:ln>
            <a:noFill/>
          </a:ln>
        </p:spPr>
      </p:pic>
      <p:sp>
        <p:nvSpPr>
          <p:cNvPr id="5" name="Elipse 4">
            <a:extLst>
              <a:ext uri="{FF2B5EF4-FFF2-40B4-BE49-F238E27FC236}">
                <a16:creationId xmlns:a16="http://schemas.microsoft.com/office/drawing/2014/main" id="{0F93EA8F-32CC-2CF3-92E9-0A5E5B09A0C6}"/>
              </a:ext>
            </a:extLst>
          </p:cNvPr>
          <p:cNvSpPr/>
          <p:nvPr/>
        </p:nvSpPr>
        <p:spPr>
          <a:xfrm>
            <a:off x="6998137" y="811021"/>
            <a:ext cx="4292733" cy="1302270"/>
          </a:xfrm>
          <a:prstGeom prst="ellipse">
            <a:avLst/>
          </a:prstGeom>
          <a:no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Elipse 5">
            <a:extLst>
              <a:ext uri="{FF2B5EF4-FFF2-40B4-BE49-F238E27FC236}">
                <a16:creationId xmlns:a16="http://schemas.microsoft.com/office/drawing/2014/main" id="{F9B1EA56-FA46-8D30-8DAC-FB4D40C27B0F}"/>
              </a:ext>
            </a:extLst>
          </p:cNvPr>
          <p:cNvSpPr/>
          <p:nvPr/>
        </p:nvSpPr>
        <p:spPr>
          <a:xfrm>
            <a:off x="6383245" y="2352812"/>
            <a:ext cx="4564305" cy="298559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a16="http://schemas.microsoft.com/office/drawing/2014/main" id="{B2947CEF-22B8-B1AE-C200-00DDA1F57EAF}"/>
              </a:ext>
            </a:extLst>
          </p:cNvPr>
          <p:cNvSpPr/>
          <p:nvPr/>
        </p:nvSpPr>
        <p:spPr>
          <a:xfrm>
            <a:off x="9711955" y="3668521"/>
            <a:ext cx="2191654" cy="1302270"/>
          </a:xfrm>
          <a:prstGeom prst="ellipse">
            <a:avLst/>
          </a:prstGeom>
          <a:no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488D2EE8-8AFA-D279-8ACF-11DCC5EEE3A5}"/>
              </a:ext>
            </a:extLst>
          </p:cNvPr>
          <p:cNvSpPr txBox="1"/>
          <p:nvPr/>
        </p:nvSpPr>
        <p:spPr>
          <a:xfrm>
            <a:off x="22246" y="1399367"/>
            <a:ext cx="5287174" cy="6463308"/>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Podemos </a:t>
            </a:r>
            <a:r>
              <a:rPr lang="en-US" sz="1800" dirty="0" err="1">
                <a:solidFill>
                  <a:schemeClr val="bg1"/>
                </a:solidFill>
                <a:latin typeface="Century Gothic" panose="020B0502020202020204" pitchFamily="34" charset="0"/>
              </a:rPr>
              <a:t>notar</a:t>
            </a:r>
            <a:r>
              <a:rPr lang="en-US" sz="1800" dirty="0">
                <a:solidFill>
                  <a:schemeClr val="bg1"/>
                </a:solidFill>
                <a:latin typeface="Century Gothic" panose="020B0502020202020204" pitchFamily="34" charset="0"/>
              </a:rPr>
              <a:t> que hay 3 </a:t>
            </a:r>
            <a:r>
              <a:rPr lang="en-US" sz="1800" dirty="0" err="1">
                <a:solidFill>
                  <a:schemeClr val="bg1"/>
                </a:solidFill>
                <a:latin typeface="Century Gothic" panose="020B0502020202020204" pitchFamily="34" charset="0"/>
              </a:rPr>
              <a:t>grupos</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datos</a:t>
            </a:r>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Los </a:t>
            </a:r>
            <a:r>
              <a:rPr lang="en-US" sz="1800" dirty="0" err="1">
                <a:solidFill>
                  <a:schemeClr val="bg1"/>
                </a:solidFill>
                <a:latin typeface="Century Gothic" panose="020B0502020202020204" pitchFamily="34" charset="0"/>
              </a:rPr>
              <a:t>marrones</a:t>
            </a:r>
            <a:r>
              <a:rPr lang="en-US" sz="1800" dirty="0">
                <a:solidFill>
                  <a:schemeClr val="bg1"/>
                </a:solidFill>
                <a:latin typeface="Century Gothic" panose="020B0502020202020204" pitchFamily="34" charset="0"/>
              </a:rPr>
              <a:t> son las personas </a:t>
            </a:r>
            <a:r>
              <a:rPr lang="en-US" sz="1800" dirty="0" err="1">
                <a:solidFill>
                  <a:schemeClr val="bg1"/>
                </a:solidFill>
                <a:latin typeface="Century Gothic" panose="020B0502020202020204" pitchFamily="34" charset="0"/>
              </a:rPr>
              <a:t>en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aceptable</a:t>
            </a:r>
            <a:r>
              <a:rPr lang="en-US" sz="1800" dirty="0">
                <a:solidFill>
                  <a:schemeClr val="bg1"/>
                </a:solidFill>
                <a:latin typeface="Century Gothic" panose="020B0502020202020204" pitchFamily="34" charset="0"/>
              </a:rPr>
              <a:t> para un </a:t>
            </a:r>
            <a:r>
              <a:rPr lang="en-US" sz="1800" dirty="0" err="1">
                <a:solidFill>
                  <a:schemeClr val="bg1"/>
                </a:solidFill>
                <a:latin typeface="Century Gothic" panose="020B0502020202020204" pitchFamily="34" charset="0"/>
              </a:rPr>
              <a:t>sueldo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remunerabla</a:t>
            </a:r>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Los </a:t>
            </a:r>
            <a:r>
              <a:rPr lang="en-US" sz="1800" dirty="0" err="1">
                <a:solidFill>
                  <a:schemeClr val="bg1"/>
                </a:solidFill>
                <a:latin typeface="Century Gothic" panose="020B0502020202020204" pitchFamily="34" charset="0"/>
              </a:rPr>
              <a:t>azules</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seran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nuestro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atipicos</a:t>
            </a:r>
            <a:r>
              <a:rPr lang="en-US" sz="1800" dirty="0">
                <a:solidFill>
                  <a:schemeClr val="bg1"/>
                </a:solidFill>
                <a:latin typeface="Century Gothic" panose="020B0502020202020204" pitchFamily="34" charset="0"/>
              </a:rPr>
              <a:t>) son la </a:t>
            </a:r>
            <a:r>
              <a:rPr lang="en-US" sz="1800" dirty="0" err="1">
                <a:solidFill>
                  <a:schemeClr val="bg1"/>
                </a:solidFill>
                <a:latin typeface="Century Gothic" panose="020B0502020202020204" pitchFamily="34" charset="0"/>
              </a:rPr>
              <a:t>edades</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tiene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mejores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sueldos</a:t>
            </a:r>
            <a:r>
              <a:rPr lang="en-US" sz="1800" dirty="0">
                <a:solidFill>
                  <a:schemeClr val="bg1"/>
                </a:solidFill>
                <a:latin typeface="Century Gothic" panose="020B0502020202020204" pitchFamily="34" charset="0"/>
              </a:rPr>
              <a:t> que la población, </a:t>
            </a:r>
            <a:r>
              <a:rPr lang="en-US" sz="1800" dirty="0" err="1">
                <a:solidFill>
                  <a:schemeClr val="bg1"/>
                </a:solidFill>
                <a:latin typeface="Century Gothic" panose="020B0502020202020204" pitchFamily="34" charset="0"/>
              </a:rPr>
              <a:t>aunque</a:t>
            </a:r>
            <a:r>
              <a:rPr lang="en-US" sz="1800" dirty="0">
                <a:solidFill>
                  <a:schemeClr val="bg1"/>
                </a:solidFill>
                <a:latin typeface="Century Gothic" panose="020B0502020202020204" pitchFamily="34" charset="0"/>
              </a:rPr>
              <a:t> Tambien </a:t>
            </a:r>
            <a:r>
              <a:rPr lang="en-US" sz="1800" dirty="0" err="1">
                <a:solidFill>
                  <a:schemeClr val="bg1"/>
                </a:solidFill>
                <a:latin typeface="Century Gothic" panose="020B0502020202020204" pitchFamily="34" charset="0"/>
              </a:rPr>
              <a:t>por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otra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parte</a:t>
            </a:r>
            <a:r>
              <a:rPr lang="en-US" sz="1800" dirty="0">
                <a:solidFill>
                  <a:schemeClr val="bg1"/>
                </a:solidFill>
                <a:latin typeface="Century Gothic" panose="020B0502020202020204" pitchFamily="34" charset="0"/>
              </a:rPr>
              <a:t> temenos que hay personas con </a:t>
            </a:r>
            <a:r>
              <a:rPr lang="en-US" sz="1800" dirty="0" err="1">
                <a:solidFill>
                  <a:schemeClr val="bg1"/>
                </a:solidFill>
                <a:latin typeface="Century Gothic" panose="020B0502020202020204" pitchFamily="34" charset="0"/>
              </a:rPr>
              <a:t>edad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avanzada</a:t>
            </a:r>
            <a:r>
              <a:rPr lang="en-US" sz="1800" dirty="0">
                <a:solidFill>
                  <a:schemeClr val="bg1"/>
                </a:solidFill>
                <a:latin typeface="Century Gothic" panose="020B0502020202020204" pitchFamily="34" charset="0"/>
              </a:rPr>
              <a:t> de la </a:t>
            </a:r>
            <a:r>
              <a:rPr lang="en-US" sz="1800" dirty="0" err="1">
                <a:solidFill>
                  <a:schemeClr val="bg1"/>
                </a:solidFill>
                <a:latin typeface="Century Gothic" panose="020B0502020202020204" pitchFamily="34" charset="0"/>
              </a:rPr>
              <a:t>cuales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sigue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trabajando</a:t>
            </a:r>
            <a:r>
              <a:rPr lang="en-US" sz="1800" dirty="0">
                <a:solidFill>
                  <a:schemeClr val="bg1"/>
                </a:solidFill>
                <a:latin typeface="Century Gothic" panose="020B0502020202020204" pitchFamily="34" charset="0"/>
              </a:rPr>
              <a:t>.</a:t>
            </a: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Hay un </a:t>
            </a:r>
            <a:r>
              <a:rPr lang="en-US" sz="1800" dirty="0" err="1">
                <a:solidFill>
                  <a:schemeClr val="bg1"/>
                </a:solidFill>
                <a:latin typeface="Century Gothic" panose="020B0502020202020204" pitchFamily="34" charset="0"/>
              </a:rPr>
              <a:t>limite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imaginario</a:t>
            </a:r>
            <a:r>
              <a:rPr lang="en-US" sz="1800" dirty="0">
                <a:solidFill>
                  <a:schemeClr val="bg1"/>
                </a:solidFill>
                <a:latin typeface="Century Gothic" panose="020B0502020202020204" pitchFamily="34" charset="0"/>
              </a:rPr>
              <a:t> (225) que </a:t>
            </a:r>
            <a:r>
              <a:rPr lang="en-US" sz="1800" dirty="0" err="1">
                <a:solidFill>
                  <a:schemeClr val="bg1"/>
                </a:solidFill>
                <a:latin typeface="Century Gothic" panose="020B0502020202020204" pitchFamily="34" charset="0"/>
              </a:rPr>
              <a:t>diferencia</a:t>
            </a:r>
            <a:r>
              <a:rPr lang="en-US" sz="1800" dirty="0">
                <a:solidFill>
                  <a:schemeClr val="bg1"/>
                </a:solidFill>
                <a:latin typeface="Century Gothic" panose="020B0502020202020204" pitchFamily="34" charset="0"/>
              </a:rPr>
              <a:t> a las </a:t>
            </a:r>
            <a:r>
              <a:rPr lang="en-US" sz="1800" dirty="0" err="1">
                <a:solidFill>
                  <a:schemeClr val="bg1"/>
                </a:solidFill>
                <a:latin typeface="Century Gothic" panose="020B0502020202020204" pitchFamily="34" charset="0"/>
              </a:rPr>
              <a:t>edades</a:t>
            </a:r>
            <a:r>
              <a:rPr lang="en-US" sz="1800" dirty="0">
                <a:solidFill>
                  <a:schemeClr val="bg1"/>
                </a:solidFill>
                <a:latin typeface="Century Gothic" panose="020B0502020202020204" pitchFamily="34" charset="0"/>
              </a:rPr>
              <a:t> que </a:t>
            </a:r>
            <a:r>
              <a:rPr lang="en-US" sz="1800" dirty="0" err="1">
                <a:solidFill>
                  <a:schemeClr val="bg1"/>
                </a:solidFill>
                <a:latin typeface="Century Gothic" panose="020B0502020202020204" pitchFamily="34" charset="0"/>
              </a:rPr>
              <a:t>tiene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sueldo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mejores</a:t>
            </a:r>
            <a:r>
              <a:rPr lang="en-US" sz="1800" dirty="0">
                <a:solidFill>
                  <a:schemeClr val="bg1"/>
                </a:solidFill>
                <a:latin typeface="Century Gothic" panose="020B0502020202020204" pitchFamily="34" charset="0"/>
              </a:rPr>
              <a:t> que la </a:t>
            </a:r>
            <a:r>
              <a:rPr lang="en-US" sz="1800" dirty="0" err="1">
                <a:solidFill>
                  <a:schemeClr val="bg1"/>
                </a:solidFill>
                <a:latin typeface="Century Gothic" panose="020B0502020202020204" pitchFamily="34" charset="0"/>
              </a:rPr>
              <a:t>poblacion</a:t>
            </a:r>
            <a:r>
              <a:rPr lang="en-US" sz="1800" dirty="0">
                <a:solidFill>
                  <a:schemeClr val="bg1"/>
                </a:solidFill>
                <a:latin typeface="Century Gothic" panose="020B0502020202020204" pitchFamily="34" charset="0"/>
              </a:rPr>
              <a:t>.</a:t>
            </a: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Hay </a:t>
            </a:r>
            <a:r>
              <a:rPr lang="en-US" sz="1800" dirty="0" err="1">
                <a:solidFill>
                  <a:schemeClr val="bg1"/>
                </a:solidFill>
                <a:latin typeface="Century Gothic" panose="020B0502020202020204" pitchFamily="34" charset="0"/>
              </a:rPr>
              <a:t>bastante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informacion</a:t>
            </a:r>
            <a:r>
              <a:rPr lang="en-US" sz="1800" dirty="0">
                <a:solidFill>
                  <a:schemeClr val="bg1"/>
                </a:solidFill>
                <a:latin typeface="Century Gothic" panose="020B0502020202020204" pitchFamily="34" charset="0"/>
              </a:rPr>
              <a:t> entre la “</a:t>
            </a:r>
            <a:r>
              <a:rPr lang="en-US" sz="1800" dirty="0" err="1">
                <a:solidFill>
                  <a:schemeClr val="bg1"/>
                </a:solidFill>
                <a:latin typeface="Century Gothic" panose="020B0502020202020204" pitchFamily="34" charset="0"/>
              </a:rPr>
              <a:t>frontera</a:t>
            </a:r>
            <a:r>
              <a:rPr lang="en-US" sz="1800" dirty="0">
                <a:solidFill>
                  <a:schemeClr val="bg1"/>
                </a:solidFill>
                <a:latin typeface="Century Gothic" panose="020B0502020202020204" pitchFamily="34" charset="0"/>
              </a:rPr>
              <a:t>” que Podemos </a:t>
            </a:r>
            <a:r>
              <a:rPr lang="en-US" sz="1800" dirty="0" err="1">
                <a:solidFill>
                  <a:schemeClr val="bg1"/>
                </a:solidFill>
                <a:latin typeface="Century Gothic" panose="020B0502020202020204" pitchFamily="34" charset="0"/>
              </a:rPr>
              <a:t>establecer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regression </a:t>
            </a:r>
            <a:r>
              <a:rPr lang="en-US" sz="1800" dirty="0" err="1">
                <a:solidFill>
                  <a:schemeClr val="bg1"/>
                </a:solidFill>
                <a:latin typeface="Century Gothic" panose="020B0502020202020204" pitchFamily="34" charset="0"/>
              </a:rPr>
              <a:t>sobre</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tendencia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los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por</a:t>
            </a:r>
            <a:r>
              <a:rPr lang="en-US" sz="1800" dirty="0">
                <a:solidFill>
                  <a:schemeClr val="bg1"/>
                </a:solidFill>
                <a:latin typeface="Century Gothic" panose="020B0502020202020204" pitchFamily="34" charset="0"/>
              </a:rPr>
              <a:t> lo </a:t>
            </a:r>
            <a:r>
              <a:rPr lang="en-US" sz="1800" dirty="0" err="1">
                <a:solidFill>
                  <a:schemeClr val="bg1"/>
                </a:solidFill>
                <a:latin typeface="Century Gothic" panose="020B0502020202020204" pitchFamily="34" charset="0"/>
              </a:rPr>
              <a:t>datos</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arriba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hace</a:t>
            </a:r>
            <a:r>
              <a:rPr lang="en-US" sz="1800" dirty="0">
                <a:solidFill>
                  <a:schemeClr val="bg1"/>
                </a:solidFill>
                <a:latin typeface="Century Gothic" panose="020B0502020202020204" pitchFamily="34" charset="0"/>
              </a:rPr>
              <a:t> que la </a:t>
            </a:r>
            <a:r>
              <a:rPr lang="en-US" sz="1800" dirty="0" err="1">
                <a:solidFill>
                  <a:schemeClr val="bg1"/>
                </a:solidFill>
                <a:latin typeface="Century Gothic" panose="020B0502020202020204" pitchFamily="34" charset="0"/>
              </a:rPr>
              <a:t>linea</a:t>
            </a:r>
            <a:r>
              <a:rPr lang="en-US" sz="1800" dirty="0">
                <a:solidFill>
                  <a:schemeClr val="bg1"/>
                </a:solidFill>
                <a:latin typeface="Century Gothic" panose="020B0502020202020204" pitchFamily="34" charset="0"/>
              </a:rPr>
              <a:t> de regression sea mas </a:t>
            </a:r>
            <a:r>
              <a:rPr lang="en-US" sz="1800" dirty="0" err="1">
                <a:solidFill>
                  <a:schemeClr val="bg1"/>
                </a:solidFill>
                <a:latin typeface="Century Gothic" panose="020B0502020202020204" pitchFamily="34" charset="0"/>
              </a:rPr>
              <a:t>arriba</a:t>
            </a:r>
            <a:r>
              <a:rPr lang="en-US" sz="1800" dirty="0">
                <a:solidFill>
                  <a:schemeClr val="bg1"/>
                </a:solidFill>
                <a:latin typeface="Century Gothic" panose="020B0502020202020204" pitchFamily="34" charset="0"/>
              </a:rPr>
              <a:t>)</a:t>
            </a:r>
          </a:p>
          <a:p>
            <a:pPr algn="just"/>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p:txBody>
      </p:sp>
      <p:cxnSp>
        <p:nvCxnSpPr>
          <p:cNvPr id="10" name="Conector recto 9">
            <a:extLst>
              <a:ext uri="{FF2B5EF4-FFF2-40B4-BE49-F238E27FC236}">
                <a16:creationId xmlns:a16="http://schemas.microsoft.com/office/drawing/2014/main" id="{F27940FE-D114-288B-6841-B480B864767B}"/>
              </a:ext>
            </a:extLst>
          </p:cNvPr>
          <p:cNvCxnSpPr/>
          <p:nvPr/>
        </p:nvCxnSpPr>
        <p:spPr>
          <a:xfrm>
            <a:off x="5895044" y="2094341"/>
            <a:ext cx="6145678" cy="18950"/>
          </a:xfrm>
          <a:prstGeom prst="line">
            <a:avLst/>
          </a:prstGeom>
          <a:ln w="381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Conector recto de flecha 11">
            <a:extLst>
              <a:ext uri="{FF2B5EF4-FFF2-40B4-BE49-F238E27FC236}">
                <a16:creationId xmlns:a16="http://schemas.microsoft.com/office/drawing/2014/main" id="{C867435F-A81C-218F-616A-2919D7ED9E4D}"/>
              </a:ext>
            </a:extLst>
          </p:cNvPr>
          <p:cNvCxnSpPr>
            <a:cxnSpLocks/>
          </p:cNvCxnSpPr>
          <p:nvPr/>
        </p:nvCxnSpPr>
        <p:spPr>
          <a:xfrm flipV="1">
            <a:off x="6460156" y="718249"/>
            <a:ext cx="5368695" cy="38084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4" name="CuadroTexto 3">
            <a:extLst>
              <a:ext uri="{FF2B5EF4-FFF2-40B4-BE49-F238E27FC236}">
                <a16:creationId xmlns:a16="http://schemas.microsoft.com/office/drawing/2014/main" id="{A599A9F7-9885-5ABC-D739-5637E6AE5396}"/>
              </a:ext>
            </a:extLst>
          </p:cNvPr>
          <p:cNvSpPr txBox="1"/>
          <p:nvPr/>
        </p:nvSpPr>
        <p:spPr>
          <a:xfrm>
            <a:off x="131887" y="2931296"/>
            <a:ext cx="11928225" cy="3416320"/>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Al </a:t>
            </a:r>
            <a:r>
              <a:rPr lang="en-US" sz="1800" dirty="0" err="1">
                <a:solidFill>
                  <a:schemeClr val="bg1"/>
                </a:solidFill>
                <a:latin typeface="Century Gothic" panose="020B0502020202020204" pitchFamily="34" charset="0"/>
              </a:rPr>
              <a:t>establecer</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relacion</a:t>
            </a:r>
            <a:r>
              <a:rPr lang="en-US" sz="1800" dirty="0">
                <a:solidFill>
                  <a:schemeClr val="bg1"/>
                </a:solidFill>
                <a:latin typeface="Century Gothic" panose="020B0502020202020204" pitchFamily="34" charset="0"/>
              </a:rPr>
              <a:t> de la V.A. X,Y con la </a:t>
            </a:r>
            <a:r>
              <a:rPr lang="en-US" sz="1800" dirty="0" err="1">
                <a:solidFill>
                  <a:schemeClr val="bg1"/>
                </a:solidFill>
                <a:latin typeface="Century Gothic" panose="020B0502020202020204" pitchFamily="34" charset="0"/>
              </a:rPr>
              <a:t>correlacion</a:t>
            </a:r>
            <a:r>
              <a:rPr lang="en-US" sz="1800" dirty="0">
                <a:solidFill>
                  <a:schemeClr val="bg1"/>
                </a:solidFill>
                <a:latin typeface="Century Gothic" panose="020B0502020202020204" pitchFamily="34" charset="0"/>
              </a:rPr>
              <a:t> no es </a:t>
            </a:r>
            <a:r>
              <a:rPr lang="en-US" sz="1800" dirty="0" err="1">
                <a:solidFill>
                  <a:schemeClr val="bg1"/>
                </a:solidFill>
                <a:latin typeface="Century Gothic" panose="020B0502020202020204" pitchFamily="34" charset="0"/>
              </a:rPr>
              <a:t>suficiente</a:t>
            </a:r>
            <a:r>
              <a:rPr lang="en-US" sz="1800" dirty="0">
                <a:solidFill>
                  <a:schemeClr val="bg1"/>
                </a:solidFill>
                <a:latin typeface="Century Gothic" panose="020B0502020202020204" pitchFamily="34" charset="0"/>
              </a:rPr>
              <a:t> para </a:t>
            </a:r>
            <a:r>
              <a:rPr lang="en-US" sz="1800" dirty="0" err="1">
                <a:solidFill>
                  <a:schemeClr val="bg1"/>
                </a:solidFill>
                <a:latin typeface="Century Gothic" panose="020B0502020202020204" pitchFamily="34" charset="0"/>
              </a:rPr>
              <a:t>dar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conclusion. Por lo que para que </a:t>
            </a:r>
            <a:r>
              <a:rPr lang="en-US" sz="1800" dirty="0" err="1">
                <a:solidFill>
                  <a:schemeClr val="bg1"/>
                </a:solidFill>
                <a:latin typeface="Century Gothic" panose="020B0502020202020204" pitchFamily="34" charset="0"/>
              </a:rPr>
              <a:t>ver</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situacion</a:t>
            </a:r>
            <a:r>
              <a:rPr lang="en-US" sz="1800" dirty="0">
                <a:solidFill>
                  <a:schemeClr val="bg1"/>
                </a:solidFill>
                <a:latin typeface="Century Gothic" panose="020B0502020202020204" pitchFamily="34" charset="0"/>
              </a:rPr>
              <a:t> y </a:t>
            </a:r>
            <a:r>
              <a:rPr lang="en-US" sz="1800" dirty="0" err="1">
                <a:solidFill>
                  <a:schemeClr val="bg1"/>
                </a:solidFill>
                <a:latin typeface="Century Gothic" panose="020B0502020202020204" pitchFamily="34" charset="0"/>
              </a:rPr>
              <a:t>preguntarnos</a:t>
            </a:r>
            <a:r>
              <a:rPr lang="en-US" sz="1800" dirty="0">
                <a:solidFill>
                  <a:schemeClr val="bg1"/>
                </a:solidFill>
                <a:latin typeface="Century Gothic" panose="020B0502020202020204" pitchFamily="34" charset="0"/>
              </a:rPr>
              <a:t>: </a:t>
            </a:r>
          </a:p>
          <a:p>
            <a:pPr algn="just"/>
            <a:endParaRPr lang="en-US" sz="1800" b="1" dirty="0">
              <a:solidFill>
                <a:schemeClr val="bg1"/>
              </a:solidFill>
              <a:latin typeface="Century Gothic" panose="020B0502020202020204" pitchFamily="34" charset="0"/>
            </a:endParaRPr>
          </a:p>
          <a:p>
            <a:pPr algn="ctr"/>
            <a:r>
              <a:rPr lang="en-US" sz="1800" b="1" dirty="0">
                <a:solidFill>
                  <a:schemeClr val="bg1"/>
                </a:solidFill>
                <a:latin typeface="Century Gothic" panose="020B0502020202020204" pitchFamily="34" charset="0"/>
              </a:rPr>
              <a:t>Que </a:t>
            </a:r>
            <a:r>
              <a:rPr lang="en-US" sz="1800" b="1" dirty="0" err="1">
                <a:solidFill>
                  <a:schemeClr val="bg1"/>
                </a:solidFill>
                <a:latin typeface="Century Gothic" panose="020B0502020202020204" pitchFamily="34" charset="0"/>
              </a:rPr>
              <a:t>deseamos</a:t>
            </a:r>
            <a:r>
              <a:rPr lang="en-US" sz="1800" b="1" dirty="0">
                <a:solidFill>
                  <a:schemeClr val="bg1"/>
                </a:solidFill>
                <a:latin typeface="Century Gothic" panose="020B0502020202020204" pitchFamily="34" charset="0"/>
              </a:rPr>
              <a:t> saber?</a:t>
            </a: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Para </a:t>
            </a:r>
            <a:r>
              <a:rPr lang="en-US" sz="1800" dirty="0" err="1">
                <a:solidFill>
                  <a:schemeClr val="bg1"/>
                </a:solidFill>
                <a:latin typeface="Century Gothic" panose="020B0502020202020204" pitchFamily="34" charset="0"/>
              </a:rPr>
              <a:t>esto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caso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bivariado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aunque</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puede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generalizar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debemos</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establecer</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quien</a:t>
            </a:r>
            <a:r>
              <a:rPr lang="en-US" sz="1800" dirty="0">
                <a:solidFill>
                  <a:schemeClr val="bg1"/>
                </a:solidFill>
                <a:latin typeface="Century Gothic" panose="020B0502020202020204" pitchFamily="34" charset="0"/>
              </a:rPr>
              <a:t> de las V.A. sera:</a:t>
            </a:r>
          </a:p>
          <a:p>
            <a:pPr algn="just"/>
            <a:endParaRPr lang="en-US" sz="1800" dirty="0">
              <a:solidFill>
                <a:schemeClr val="bg1"/>
              </a:solidFill>
              <a:latin typeface="Century Gothic" panose="020B0502020202020204" pitchFamily="34" charset="0"/>
            </a:endParaRPr>
          </a:p>
          <a:p>
            <a:pPr marL="285750" indent="-285750" algn="just">
              <a:buFontTx/>
              <a:buChar char="-"/>
            </a:pPr>
            <a:r>
              <a:rPr lang="en-US" sz="1800" b="1" dirty="0">
                <a:solidFill>
                  <a:srgbClr val="00B050"/>
                </a:solidFill>
                <a:latin typeface="Century Gothic" panose="020B0502020202020204" pitchFamily="34" charset="0"/>
              </a:rPr>
              <a:t>V.A. Respuesta o </a:t>
            </a:r>
            <a:r>
              <a:rPr lang="en-US" sz="1800" b="1" dirty="0" err="1">
                <a:solidFill>
                  <a:srgbClr val="00B050"/>
                </a:solidFill>
                <a:latin typeface="Century Gothic" panose="020B0502020202020204" pitchFamily="34" charset="0"/>
              </a:rPr>
              <a:t>Dependiente</a:t>
            </a:r>
            <a:r>
              <a:rPr lang="en-US" sz="1800" b="1" dirty="0">
                <a:solidFill>
                  <a:srgbClr val="00B050"/>
                </a:solidFill>
                <a:latin typeface="Century Gothic" panose="020B0502020202020204" pitchFamily="34" charset="0"/>
              </a:rPr>
              <a:t>: </a:t>
            </a:r>
            <a:r>
              <a:rPr lang="en-US" sz="1800" b="1" dirty="0">
                <a:solidFill>
                  <a:schemeClr val="bg1"/>
                </a:solidFill>
                <a:latin typeface="Century Gothic" panose="020B0502020202020204" pitchFamily="34" charset="0"/>
              </a:rPr>
              <a:t>Sera la variable </a:t>
            </a:r>
            <a:r>
              <a:rPr lang="en-US" sz="1800" b="1" dirty="0" err="1">
                <a:solidFill>
                  <a:schemeClr val="bg1"/>
                </a:solidFill>
                <a:latin typeface="Century Gothic" panose="020B0502020202020204" pitchFamily="34" charset="0"/>
              </a:rPr>
              <a:t>aleatoria</a:t>
            </a:r>
            <a:r>
              <a:rPr lang="en-US" sz="1800" b="1" dirty="0">
                <a:solidFill>
                  <a:schemeClr val="bg1"/>
                </a:solidFill>
                <a:latin typeface="Century Gothic" panose="020B0502020202020204" pitchFamily="34" charset="0"/>
              </a:rPr>
              <a:t> que </a:t>
            </a:r>
            <a:r>
              <a:rPr lang="en-US" sz="1800" b="1" dirty="0" err="1">
                <a:solidFill>
                  <a:schemeClr val="bg1"/>
                </a:solidFill>
                <a:latin typeface="Century Gothic" panose="020B0502020202020204" pitchFamily="34" charset="0"/>
              </a:rPr>
              <a:t>deseamos</a:t>
            </a:r>
            <a:r>
              <a:rPr lang="en-US" sz="1800" b="1" dirty="0">
                <a:solidFill>
                  <a:schemeClr val="bg1"/>
                </a:solidFill>
                <a:latin typeface="Century Gothic" panose="020B0502020202020204" pitchFamily="34" charset="0"/>
              </a:rPr>
              <a:t> </a:t>
            </a:r>
            <a:r>
              <a:rPr lang="en-US" sz="1800" b="1" dirty="0" err="1">
                <a:solidFill>
                  <a:schemeClr val="bg1"/>
                </a:solidFill>
                <a:latin typeface="Century Gothic" panose="020B0502020202020204" pitchFamily="34" charset="0"/>
              </a:rPr>
              <a:t>estimar</a:t>
            </a:r>
            <a:r>
              <a:rPr lang="en-US" sz="1800" b="1" dirty="0">
                <a:solidFill>
                  <a:schemeClr val="bg1"/>
                </a:solidFill>
                <a:latin typeface="Century Gothic" panose="020B0502020202020204" pitchFamily="34" charset="0"/>
              </a:rPr>
              <a:t> y/o </a:t>
            </a:r>
            <a:r>
              <a:rPr lang="en-US" sz="1800" b="1" dirty="0" err="1">
                <a:solidFill>
                  <a:schemeClr val="bg1"/>
                </a:solidFill>
                <a:latin typeface="Century Gothic" panose="020B0502020202020204" pitchFamily="34" charset="0"/>
              </a:rPr>
              <a:t>predecir</a:t>
            </a:r>
            <a:r>
              <a:rPr lang="en-US" sz="1800" b="1" dirty="0">
                <a:solidFill>
                  <a:schemeClr val="bg1"/>
                </a:solidFill>
                <a:latin typeface="Century Gothic" panose="020B0502020202020204" pitchFamily="34" charset="0"/>
              </a:rPr>
              <a:t> sus </a:t>
            </a:r>
            <a:r>
              <a:rPr lang="en-US" sz="1800" b="1" dirty="0" err="1">
                <a:solidFill>
                  <a:schemeClr val="bg1"/>
                </a:solidFill>
                <a:latin typeface="Century Gothic" panose="020B0502020202020204" pitchFamily="34" charset="0"/>
              </a:rPr>
              <a:t>datos</a:t>
            </a:r>
            <a:r>
              <a:rPr lang="en-US" sz="1800" b="1" dirty="0">
                <a:solidFill>
                  <a:schemeClr val="bg1"/>
                </a:solidFill>
                <a:latin typeface="Century Gothic" panose="020B0502020202020204" pitchFamily="34" charset="0"/>
              </a:rPr>
              <a:t>.</a:t>
            </a:r>
            <a:endParaRPr lang="en-US" sz="1800" b="1" dirty="0">
              <a:solidFill>
                <a:srgbClr val="00B050"/>
              </a:solidFill>
              <a:latin typeface="Century Gothic" panose="020B0502020202020204" pitchFamily="34" charset="0"/>
            </a:endParaRPr>
          </a:p>
          <a:p>
            <a:pPr marL="285750" indent="-285750" algn="just">
              <a:buFontTx/>
              <a:buChar char="-"/>
            </a:pPr>
            <a:r>
              <a:rPr lang="en-US" sz="1800" b="1" dirty="0">
                <a:solidFill>
                  <a:srgbClr val="00B050"/>
                </a:solidFill>
                <a:latin typeface="Century Gothic" panose="020B0502020202020204" pitchFamily="34" charset="0"/>
              </a:rPr>
              <a:t>V.A. </a:t>
            </a:r>
            <a:r>
              <a:rPr lang="en-US" sz="1800" b="1" dirty="0" err="1">
                <a:solidFill>
                  <a:srgbClr val="00B050"/>
                </a:solidFill>
                <a:latin typeface="Century Gothic" panose="020B0502020202020204" pitchFamily="34" charset="0"/>
              </a:rPr>
              <a:t>Explicativa</a:t>
            </a:r>
            <a:r>
              <a:rPr lang="en-US" sz="1800" b="1" dirty="0">
                <a:solidFill>
                  <a:srgbClr val="00B050"/>
                </a:solidFill>
                <a:latin typeface="Century Gothic" panose="020B0502020202020204" pitchFamily="34" charset="0"/>
              </a:rPr>
              <a:t> o Independiente: </a:t>
            </a:r>
            <a:r>
              <a:rPr lang="en-US" sz="1800" b="1" dirty="0">
                <a:solidFill>
                  <a:schemeClr val="bg1"/>
                </a:solidFill>
                <a:latin typeface="Century Gothic" panose="020B0502020202020204" pitchFamily="34" charset="0"/>
              </a:rPr>
              <a:t>Sera las variables </a:t>
            </a:r>
            <a:r>
              <a:rPr lang="en-US" sz="1800" b="1" dirty="0" err="1">
                <a:solidFill>
                  <a:schemeClr val="bg1"/>
                </a:solidFill>
                <a:latin typeface="Century Gothic" panose="020B0502020202020204" pitchFamily="34" charset="0"/>
              </a:rPr>
              <a:t>aleatorias</a:t>
            </a:r>
            <a:r>
              <a:rPr lang="en-US" sz="1800" b="1" dirty="0">
                <a:solidFill>
                  <a:schemeClr val="bg1"/>
                </a:solidFill>
                <a:latin typeface="Century Gothic" panose="020B0502020202020204" pitchFamily="34" charset="0"/>
              </a:rPr>
              <a:t> que </a:t>
            </a:r>
            <a:r>
              <a:rPr lang="en-US" sz="1800" b="1" dirty="0" err="1">
                <a:solidFill>
                  <a:schemeClr val="bg1"/>
                </a:solidFill>
                <a:latin typeface="Century Gothic" panose="020B0502020202020204" pitchFamily="34" charset="0"/>
              </a:rPr>
              <a:t>utilizaremos</a:t>
            </a:r>
            <a:r>
              <a:rPr lang="en-US" sz="1800" b="1" dirty="0">
                <a:solidFill>
                  <a:schemeClr val="bg1"/>
                </a:solidFill>
                <a:latin typeface="Century Gothic" panose="020B0502020202020204" pitchFamily="34" charset="0"/>
              </a:rPr>
              <a:t> </a:t>
            </a:r>
            <a:r>
              <a:rPr lang="en-US" sz="1800" b="1" dirty="0" err="1">
                <a:solidFill>
                  <a:schemeClr val="bg1"/>
                </a:solidFill>
                <a:latin typeface="Century Gothic" panose="020B0502020202020204" pitchFamily="34" charset="0"/>
              </a:rPr>
              <a:t>como</a:t>
            </a:r>
            <a:r>
              <a:rPr lang="en-US" sz="1800" b="1" dirty="0">
                <a:solidFill>
                  <a:schemeClr val="bg1"/>
                </a:solidFill>
                <a:latin typeface="Century Gothic" panose="020B0502020202020204" pitchFamily="34" charset="0"/>
              </a:rPr>
              <a:t> </a:t>
            </a:r>
            <a:r>
              <a:rPr lang="en-US" sz="1800" b="1" dirty="0" err="1">
                <a:solidFill>
                  <a:schemeClr val="bg1"/>
                </a:solidFill>
                <a:latin typeface="Century Gothic" panose="020B0502020202020204" pitchFamily="34" charset="0"/>
              </a:rPr>
              <a:t>veredicnos</a:t>
            </a:r>
            <a:r>
              <a:rPr lang="en-US" sz="1800" b="1" dirty="0">
                <a:solidFill>
                  <a:schemeClr val="bg1"/>
                </a:solidFill>
                <a:latin typeface="Century Gothic" panose="020B0502020202020204" pitchFamily="34" charset="0"/>
              </a:rPr>
              <a:t> para base </a:t>
            </a:r>
            <a:r>
              <a:rPr lang="en-US" sz="1800" b="1" dirty="0" err="1">
                <a:solidFill>
                  <a:schemeClr val="bg1"/>
                </a:solidFill>
                <a:latin typeface="Century Gothic" panose="020B0502020202020204" pitchFamily="34" charset="0"/>
              </a:rPr>
              <a:t>en</a:t>
            </a:r>
            <a:r>
              <a:rPr lang="en-US" sz="1800" b="1" dirty="0">
                <a:solidFill>
                  <a:schemeClr val="bg1"/>
                </a:solidFill>
                <a:latin typeface="Century Gothic" panose="020B0502020202020204" pitchFamily="34" charset="0"/>
              </a:rPr>
              <a:t> la </a:t>
            </a:r>
            <a:r>
              <a:rPr lang="en-US" sz="1800" b="1" dirty="0" err="1">
                <a:solidFill>
                  <a:schemeClr val="bg1"/>
                </a:solidFill>
                <a:latin typeface="Century Gothic" panose="020B0502020202020204" pitchFamily="34" charset="0"/>
              </a:rPr>
              <a:t>construccion</a:t>
            </a:r>
            <a:r>
              <a:rPr lang="en-US" sz="1800" b="1" dirty="0">
                <a:solidFill>
                  <a:schemeClr val="bg1"/>
                </a:solidFill>
                <a:latin typeface="Century Gothic" panose="020B0502020202020204" pitchFamily="34" charset="0"/>
              </a:rPr>
              <a:t> del </a:t>
            </a:r>
            <a:r>
              <a:rPr lang="en-US" sz="1800" b="1" dirty="0" err="1">
                <a:solidFill>
                  <a:schemeClr val="bg1"/>
                </a:solidFill>
                <a:latin typeface="Century Gothic" panose="020B0502020202020204" pitchFamily="34" charset="0"/>
              </a:rPr>
              <a:t>modelo</a:t>
            </a:r>
            <a:r>
              <a:rPr lang="en-US" sz="1800" b="1" dirty="0">
                <a:solidFill>
                  <a:schemeClr val="bg1"/>
                </a:solidFill>
                <a:latin typeface="Century Gothic" panose="020B0502020202020204" pitchFamily="34" charset="0"/>
              </a:rPr>
              <a:t> que </a:t>
            </a:r>
            <a:r>
              <a:rPr lang="en-US" sz="1800" b="1" dirty="0" err="1">
                <a:solidFill>
                  <a:schemeClr val="bg1"/>
                </a:solidFill>
                <a:latin typeface="Century Gothic" panose="020B0502020202020204" pitchFamily="34" charset="0"/>
              </a:rPr>
              <a:t>predigan</a:t>
            </a:r>
            <a:r>
              <a:rPr lang="en-US" sz="1800" b="1" dirty="0">
                <a:solidFill>
                  <a:schemeClr val="bg1"/>
                </a:solidFill>
                <a:latin typeface="Century Gothic" panose="020B0502020202020204" pitchFamily="34" charset="0"/>
              </a:rPr>
              <a:t> </a:t>
            </a:r>
            <a:r>
              <a:rPr lang="en-US" sz="1800" b="1" dirty="0" err="1">
                <a:solidFill>
                  <a:schemeClr val="bg1"/>
                </a:solidFill>
                <a:latin typeface="Century Gothic" panose="020B0502020202020204" pitchFamily="34" charset="0"/>
              </a:rPr>
              <a:t>los</a:t>
            </a:r>
            <a:r>
              <a:rPr lang="en-US" sz="1800" b="1" dirty="0">
                <a:solidFill>
                  <a:schemeClr val="bg1"/>
                </a:solidFill>
                <a:latin typeface="Century Gothic" panose="020B0502020202020204" pitchFamily="34" charset="0"/>
              </a:rPr>
              <a:t> </a:t>
            </a:r>
            <a:r>
              <a:rPr lang="en-US" sz="1800" b="1" dirty="0" err="1">
                <a:solidFill>
                  <a:schemeClr val="bg1"/>
                </a:solidFill>
                <a:latin typeface="Century Gothic" panose="020B0502020202020204" pitchFamily="34" charset="0"/>
              </a:rPr>
              <a:t>valores</a:t>
            </a:r>
            <a:r>
              <a:rPr lang="en-US" sz="1800" b="1" dirty="0">
                <a:solidFill>
                  <a:schemeClr val="bg1"/>
                </a:solidFill>
                <a:latin typeface="Century Gothic" panose="020B0502020202020204" pitchFamily="34" charset="0"/>
              </a:rPr>
              <a:t> de la V.A. </a:t>
            </a:r>
            <a:r>
              <a:rPr lang="en-US" sz="1800" b="1" dirty="0" err="1">
                <a:solidFill>
                  <a:schemeClr val="bg1"/>
                </a:solidFill>
                <a:latin typeface="Century Gothic" panose="020B0502020202020204" pitchFamily="34" charset="0"/>
              </a:rPr>
              <a:t>respuesta</a:t>
            </a:r>
            <a:r>
              <a:rPr lang="en-US" sz="1800" b="1" dirty="0">
                <a:solidFill>
                  <a:schemeClr val="bg1"/>
                </a:solidFill>
                <a:latin typeface="Century Gothic" panose="020B0502020202020204" pitchFamily="34" charset="0"/>
              </a:rPr>
              <a:t>.</a:t>
            </a:r>
            <a:endParaRPr lang="en-US" sz="1800" dirty="0">
              <a:solidFill>
                <a:schemeClr val="bg1"/>
              </a:solidFill>
              <a:latin typeface="Century Gothic" panose="020B0502020202020204" pitchFamily="34" charset="0"/>
            </a:endParaRPr>
          </a:p>
        </p:txBody>
      </p:sp>
      <p:pic>
        <p:nvPicPr>
          <p:cNvPr id="7170" name="Picture 2" descr="Elegir ideas y el mejor concepto de selección de opciones Imagen Vector ...">
            <a:extLst>
              <a:ext uri="{FF2B5EF4-FFF2-40B4-BE49-F238E27FC236}">
                <a16:creationId xmlns:a16="http://schemas.microsoft.com/office/drawing/2014/main" id="{08E6D717-0533-3776-374B-042DFA0CC0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743" b="20263"/>
          <a:stretch/>
        </p:blipFill>
        <p:spPr bwMode="auto">
          <a:xfrm>
            <a:off x="443657" y="374756"/>
            <a:ext cx="9824606" cy="22335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07502-EB92-59EA-E0BE-C80ED47D0E15}"/>
            </a:ext>
          </a:extLst>
        </p:cNvPr>
        <p:cNvGrpSpPr/>
        <p:nvPr/>
      </p:nvGrpSpPr>
      <p:grpSpPr>
        <a:xfrm>
          <a:off x="0" y="0"/>
          <a:ext cx="0" cy="0"/>
          <a:chOff x="0" y="0"/>
          <a:chExt cx="0" cy="0"/>
        </a:xfrm>
      </p:grpSpPr>
      <p:sp>
        <p:nvSpPr>
          <p:cNvPr id="4" name="Google Shape;283;p39">
            <a:extLst>
              <a:ext uri="{FF2B5EF4-FFF2-40B4-BE49-F238E27FC236}">
                <a16:creationId xmlns:a16="http://schemas.microsoft.com/office/drawing/2014/main" id="{DAB50934-5C9A-6584-E313-1386782D290F}"/>
              </a:ext>
            </a:extLst>
          </p:cNvPr>
          <p:cNvSpPr txBox="1">
            <a:spLocks noGrp="1"/>
          </p:cNvSpPr>
          <p:nvPr>
            <p:ph type="title"/>
          </p:nvPr>
        </p:nvSpPr>
        <p:spPr>
          <a:xfrm>
            <a:off x="571161" y="260821"/>
            <a:ext cx="4750347" cy="89216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t>D</a:t>
            </a:r>
            <a:r>
              <a:rPr lang="es-MX" dirty="0" err="1"/>
              <a:t>atos</a:t>
            </a:r>
            <a:r>
              <a:rPr lang="es-MX" dirty="0"/>
              <a:t> Influyentes</a:t>
            </a:r>
            <a:endParaRPr dirty="0"/>
          </a:p>
        </p:txBody>
      </p:sp>
      <p:pic>
        <p:nvPicPr>
          <p:cNvPr id="1026" name="Picture 2">
            <a:extLst>
              <a:ext uri="{FF2B5EF4-FFF2-40B4-BE49-F238E27FC236}">
                <a16:creationId xmlns:a16="http://schemas.microsoft.com/office/drawing/2014/main" id="{C16B8D0A-584E-3419-5917-D1F4825303A5}"/>
              </a:ext>
            </a:extLst>
          </p:cNvPr>
          <p:cNvPicPr>
            <a:picLocks noChangeAspect="1" noChangeArrowheads="1"/>
          </p:cNvPicPr>
          <p:nvPr/>
        </p:nvPicPr>
        <p:blipFill>
          <a:blip r:embed="rId2">
            <a:alphaModFix amt="50000"/>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221544" y="450028"/>
            <a:ext cx="9259231" cy="595794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9817E0A6-5B1D-7461-33EB-5D6FFB79256A}"/>
              </a:ext>
            </a:extLst>
          </p:cNvPr>
          <p:cNvSpPr txBox="1"/>
          <p:nvPr/>
        </p:nvSpPr>
        <p:spPr>
          <a:xfrm>
            <a:off x="446439" y="969066"/>
            <a:ext cx="11299121" cy="1015663"/>
          </a:xfrm>
          <a:prstGeom prst="rect">
            <a:avLst/>
          </a:prstGeom>
          <a:noFill/>
        </p:spPr>
        <p:txBody>
          <a:bodyPr wrap="square">
            <a:spAutoFit/>
          </a:bodyPr>
          <a:lstStyle/>
          <a:p>
            <a:pPr>
              <a:buNone/>
            </a:pPr>
            <a:r>
              <a:rPr lang="es-MX" sz="2000" dirty="0">
                <a:solidFill>
                  <a:schemeClr val="bg1"/>
                </a:solidFill>
                <a:latin typeface="Century Gothic" panose="020B0502020202020204" pitchFamily="34" charset="0"/>
              </a:rPr>
              <a:t>También llamados</a:t>
            </a:r>
            <a:r>
              <a:rPr lang="es-MX" sz="2000" b="1" dirty="0">
                <a:solidFill>
                  <a:schemeClr val="bg1"/>
                </a:solidFill>
                <a:latin typeface="Century Gothic" panose="020B0502020202020204" pitchFamily="34" charset="0"/>
              </a:rPr>
              <a:t> </a:t>
            </a:r>
            <a:r>
              <a:rPr lang="es-MX" sz="2000" b="1" dirty="0" err="1">
                <a:solidFill>
                  <a:schemeClr val="bg1"/>
                </a:solidFill>
                <a:latin typeface="Century Gothic" panose="020B0502020202020204" pitchFamily="34" charset="0"/>
              </a:rPr>
              <a:t>Outliers</a:t>
            </a:r>
            <a:r>
              <a:rPr lang="es-MX" sz="2000" b="1" dirty="0">
                <a:solidFill>
                  <a:schemeClr val="bg1"/>
                </a:solidFill>
                <a:latin typeface="Century Gothic" panose="020B0502020202020204" pitchFamily="34" charset="0"/>
              </a:rPr>
              <a:t> influyentes</a:t>
            </a:r>
            <a:r>
              <a:rPr lang="es-MX" sz="2000" dirty="0">
                <a:solidFill>
                  <a:schemeClr val="bg1"/>
                </a:solidFill>
                <a:latin typeface="Century Gothic" panose="020B0502020202020204" pitchFamily="34" charset="0"/>
              </a:rPr>
              <a:t> tiene una comportamiento con los datos </a:t>
            </a:r>
            <a:r>
              <a:rPr lang="es-MX" sz="2000" dirty="0" err="1">
                <a:solidFill>
                  <a:schemeClr val="bg1"/>
                </a:solidFill>
                <a:latin typeface="Century Gothic" panose="020B0502020202020204" pitchFamily="34" charset="0"/>
              </a:rPr>
              <a:t>atipicos</a:t>
            </a:r>
            <a:r>
              <a:rPr lang="es-MX" sz="2000" dirty="0">
                <a:solidFill>
                  <a:schemeClr val="bg1"/>
                </a:solidFill>
                <a:latin typeface="Century Gothic" panose="020B0502020202020204" pitchFamily="34" charset="0"/>
              </a:rPr>
              <a:t> que hemos visto; solo que con la diferencia de que alteran los datos posteriores a su aparición y a la regresión misma.</a:t>
            </a:r>
          </a:p>
        </p:txBody>
      </p:sp>
      <p:sp>
        <p:nvSpPr>
          <p:cNvPr id="7" name="CuadroTexto 6">
            <a:extLst>
              <a:ext uri="{FF2B5EF4-FFF2-40B4-BE49-F238E27FC236}">
                <a16:creationId xmlns:a16="http://schemas.microsoft.com/office/drawing/2014/main" id="{F3289868-1203-603F-4EEF-1CF459EF5517}"/>
              </a:ext>
            </a:extLst>
          </p:cNvPr>
          <p:cNvSpPr txBox="1"/>
          <p:nvPr/>
        </p:nvSpPr>
        <p:spPr>
          <a:xfrm>
            <a:off x="393009" y="2105561"/>
            <a:ext cx="11352551" cy="1323439"/>
          </a:xfrm>
          <a:prstGeom prst="rect">
            <a:avLst/>
          </a:prstGeom>
          <a:noFill/>
        </p:spPr>
        <p:txBody>
          <a:bodyPr wrap="square">
            <a:spAutoFit/>
          </a:bodyPr>
          <a:lstStyle/>
          <a:p>
            <a:pPr>
              <a:buNone/>
            </a:pPr>
            <a:r>
              <a:rPr lang="en-US" sz="2000" dirty="0">
                <a:solidFill>
                  <a:schemeClr val="bg1"/>
                </a:solidFill>
                <a:latin typeface="Century Gothic" panose="020B0502020202020204" pitchFamily="34" charset="0"/>
              </a:rPr>
              <a:t>Para </a:t>
            </a:r>
            <a:r>
              <a:rPr lang="en-US" sz="2000" dirty="0" err="1">
                <a:solidFill>
                  <a:schemeClr val="bg1"/>
                </a:solidFill>
                <a:latin typeface="Century Gothic" panose="020B0502020202020204" pitchFamily="34" charset="0"/>
              </a:rPr>
              <a:t>su</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deteccion</a:t>
            </a:r>
            <a:r>
              <a:rPr lang="en-US" sz="2000" dirty="0">
                <a:solidFill>
                  <a:schemeClr val="bg1"/>
                </a:solidFill>
                <a:latin typeface="Century Gothic" panose="020B0502020202020204" pitchFamily="34" charset="0"/>
              </a:rPr>
              <a:t> solo es </a:t>
            </a:r>
            <a:r>
              <a:rPr lang="en-US" sz="2000" dirty="0" err="1">
                <a:solidFill>
                  <a:schemeClr val="bg1"/>
                </a:solidFill>
                <a:latin typeface="Century Gothic" panose="020B0502020202020204" pitchFamily="34" charset="0"/>
              </a:rPr>
              <a:t>por</a:t>
            </a:r>
            <a:r>
              <a:rPr lang="en-US" sz="2000" dirty="0">
                <a:solidFill>
                  <a:schemeClr val="bg1"/>
                </a:solidFill>
                <a:latin typeface="Century Gothic" panose="020B0502020202020204" pitchFamily="34" charset="0"/>
              </a:rPr>
              <a:t> medio de las </a:t>
            </a:r>
            <a:r>
              <a:rPr lang="en-US" sz="2000" dirty="0" err="1">
                <a:solidFill>
                  <a:schemeClr val="bg1"/>
                </a:solidFill>
                <a:latin typeface="Century Gothic" panose="020B0502020202020204" pitchFamily="34" charset="0"/>
              </a:rPr>
              <a:t>grafica</a:t>
            </a:r>
            <a:r>
              <a:rPr lang="en-US" sz="2000" dirty="0">
                <a:solidFill>
                  <a:schemeClr val="bg1"/>
                </a:solidFill>
                <a:latin typeface="Century Gothic" panose="020B0502020202020204" pitchFamily="34" charset="0"/>
              </a:rPr>
              <a:t> de dispersion y algo de </a:t>
            </a:r>
            <a:r>
              <a:rPr lang="en-US" sz="2000" dirty="0" err="1">
                <a:solidFill>
                  <a:schemeClr val="bg1"/>
                </a:solidFill>
                <a:latin typeface="Century Gothic" panose="020B0502020202020204" pitchFamily="34" charset="0"/>
              </a:rPr>
              <a:t>contexto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sobre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el</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origen</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datos</a:t>
            </a:r>
            <a:r>
              <a:rPr lang="en-US" sz="2000" dirty="0">
                <a:solidFill>
                  <a:schemeClr val="bg1"/>
                </a:solidFill>
                <a:latin typeface="Century Gothic" panose="020B0502020202020204" pitchFamily="34" charset="0"/>
              </a:rPr>
              <a:t>; las causa de </a:t>
            </a:r>
            <a:r>
              <a:rPr lang="en-US" sz="2000" dirty="0" err="1">
                <a:solidFill>
                  <a:schemeClr val="bg1"/>
                </a:solidFill>
                <a:latin typeface="Century Gothic" panose="020B0502020202020204" pitchFamily="34" charset="0"/>
              </a:rPr>
              <a:t>porque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salen</a:t>
            </a:r>
            <a:r>
              <a:rPr lang="en-US" sz="2000" dirty="0">
                <a:solidFill>
                  <a:schemeClr val="bg1"/>
                </a:solidFill>
                <a:latin typeface="Century Gothic" panose="020B0502020202020204" pitchFamily="34" charset="0"/>
              </a:rPr>
              <a:t> es </a:t>
            </a:r>
            <a:r>
              <a:rPr lang="en-US" sz="2000" dirty="0" err="1">
                <a:solidFill>
                  <a:schemeClr val="bg1"/>
                </a:solidFill>
                <a:latin typeface="Century Gothic" panose="020B0502020202020204" pitchFamily="34" charset="0"/>
              </a:rPr>
              <a:t>por</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el</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hecho</a:t>
            </a:r>
            <a:r>
              <a:rPr lang="en-US" sz="2000" dirty="0">
                <a:solidFill>
                  <a:schemeClr val="bg1"/>
                </a:solidFill>
                <a:latin typeface="Century Gothic" panose="020B0502020202020204" pitchFamily="34" charset="0"/>
              </a:rPr>
              <a:t> de que </a:t>
            </a:r>
            <a:r>
              <a:rPr lang="en-US" sz="2000" dirty="0" err="1">
                <a:solidFill>
                  <a:schemeClr val="bg1"/>
                </a:solidFill>
                <a:latin typeface="Century Gothic" panose="020B0502020202020204" pitchFamily="34" charset="0"/>
              </a:rPr>
              <a:t>alguna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acontecimiento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ajeno</a:t>
            </a:r>
            <a:r>
              <a:rPr lang="en-US" sz="2000" dirty="0">
                <a:solidFill>
                  <a:schemeClr val="bg1"/>
                </a:solidFill>
                <a:latin typeface="Century Gothic" panose="020B0502020202020204" pitchFamily="34" charset="0"/>
              </a:rPr>
              <a:t> al experiment o de sus </a:t>
            </a:r>
            <a:r>
              <a:rPr lang="en-US" sz="2000" dirty="0" err="1">
                <a:solidFill>
                  <a:schemeClr val="bg1"/>
                </a:solidFill>
                <a:latin typeface="Century Gothic" panose="020B0502020202020204" pitchFamily="34" charset="0"/>
              </a:rPr>
              <a:t>condiciones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predefinidas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diera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origen</a:t>
            </a:r>
            <a:r>
              <a:rPr lang="en-US" sz="2000" dirty="0">
                <a:solidFill>
                  <a:schemeClr val="bg1"/>
                </a:solidFill>
                <a:latin typeface="Century Gothic" panose="020B0502020202020204" pitchFamily="34" charset="0"/>
              </a:rPr>
              <a:t> a </a:t>
            </a:r>
            <a:r>
              <a:rPr lang="en-US" sz="2000" dirty="0" err="1">
                <a:solidFill>
                  <a:schemeClr val="bg1"/>
                </a:solidFill>
                <a:latin typeface="Century Gothic" panose="020B0502020202020204" pitchFamily="34" charset="0"/>
              </a:rPr>
              <a:t>estos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resultados</a:t>
            </a:r>
            <a:r>
              <a:rPr lang="en-US" sz="2000" dirty="0">
                <a:solidFill>
                  <a:schemeClr val="bg1"/>
                </a:solidFill>
                <a:latin typeface="Century Gothic" panose="020B0502020202020204" pitchFamily="34" charset="0"/>
              </a:rPr>
              <a:t>.</a:t>
            </a:r>
            <a:endParaRPr lang="es-MX" sz="2000" dirty="0">
              <a:solidFill>
                <a:schemeClr val="bg1"/>
              </a:solidFill>
              <a:latin typeface="Century Gothic" panose="020B0502020202020204" pitchFamily="34" charset="0"/>
            </a:endParaRPr>
          </a:p>
        </p:txBody>
      </p:sp>
      <p:sp>
        <p:nvSpPr>
          <p:cNvPr id="2" name="CuadroTexto 1">
            <a:extLst>
              <a:ext uri="{FF2B5EF4-FFF2-40B4-BE49-F238E27FC236}">
                <a16:creationId xmlns:a16="http://schemas.microsoft.com/office/drawing/2014/main" id="{FBF5AE98-C0F7-AD78-040B-F2CF662AE56C}"/>
              </a:ext>
            </a:extLst>
          </p:cNvPr>
          <p:cNvSpPr txBox="1"/>
          <p:nvPr/>
        </p:nvSpPr>
        <p:spPr>
          <a:xfrm>
            <a:off x="6355831" y="3228945"/>
            <a:ext cx="5081666" cy="400110"/>
          </a:xfrm>
          <a:prstGeom prst="rect">
            <a:avLst/>
          </a:prstGeom>
          <a:noFill/>
        </p:spPr>
        <p:txBody>
          <a:bodyPr wrap="square">
            <a:spAutoFit/>
          </a:bodyPr>
          <a:lstStyle/>
          <a:p>
            <a:pPr>
              <a:buNone/>
            </a:pPr>
            <a:r>
              <a:rPr lang="en-US" sz="2000" b="1" i="1" dirty="0" err="1">
                <a:solidFill>
                  <a:schemeClr val="bg1"/>
                </a:solidFill>
                <a:latin typeface="Century Gothic" panose="020B0502020202020204" pitchFamily="34" charset="0"/>
              </a:rPr>
              <a:t>Veamos</a:t>
            </a:r>
            <a:r>
              <a:rPr lang="en-US" sz="2000" b="1" i="1" dirty="0">
                <a:solidFill>
                  <a:schemeClr val="bg1"/>
                </a:solidFill>
                <a:latin typeface="Century Gothic" panose="020B0502020202020204" pitchFamily="34" charset="0"/>
              </a:rPr>
              <a:t> un </a:t>
            </a:r>
            <a:r>
              <a:rPr lang="en-US" sz="2000" b="1" i="1" dirty="0" err="1">
                <a:solidFill>
                  <a:schemeClr val="bg1"/>
                </a:solidFill>
                <a:latin typeface="Century Gothic" panose="020B0502020202020204" pitchFamily="34" charset="0"/>
              </a:rPr>
              <a:t>ejemplo</a:t>
            </a:r>
            <a:r>
              <a:rPr lang="en-US" sz="2000" b="1" i="1" dirty="0">
                <a:solidFill>
                  <a:schemeClr val="bg1"/>
                </a:solidFill>
                <a:latin typeface="Century Gothic" panose="020B0502020202020204" pitchFamily="34" charset="0"/>
              </a:rPr>
              <a:t> con </a:t>
            </a:r>
            <a:r>
              <a:rPr lang="en-US" sz="2000" b="1" i="1" dirty="0" err="1">
                <a:solidFill>
                  <a:schemeClr val="bg1"/>
                </a:solidFill>
                <a:latin typeface="Century Gothic" panose="020B0502020202020204" pitchFamily="34" charset="0"/>
              </a:rPr>
              <a:t>el</a:t>
            </a:r>
            <a:r>
              <a:rPr lang="en-US" sz="2000" b="1" i="1" dirty="0">
                <a:solidFill>
                  <a:schemeClr val="bg1"/>
                </a:solidFill>
                <a:latin typeface="Century Gothic" panose="020B0502020202020204" pitchFamily="34" charset="0"/>
              </a:rPr>
              <a:t> PIB Mexico</a:t>
            </a:r>
            <a:endParaRPr lang="es-MX" sz="2000" b="1" i="1" dirty="0">
              <a:solidFill>
                <a:schemeClr val="bg1"/>
              </a:solidFill>
              <a:latin typeface="Century Gothic" panose="020B0502020202020204" pitchFamily="34" charset="0"/>
            </a:endParaRPr>
          </a:p>
        </p:txBody>
      </p:sp>
      <p:pic>
        <p:nvPicPr>
          <p:cNvPr id="1028" name="Picture 4" descr="Por qué la economía del país creció más de lo esperado en 2018 – Prensa ...">
            <a:extLst>
              <a:ext uri="{FF2B5EF4-FFF2-40B4-BE49-F238E27FC236}">
                <a16:creationId xmlns:a16="http://schemas.microsoft.com/office/drawing/2014/main" id="{FF9E88B0-BFF7-C177-5F31-972862038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593" y="3963430"/>
            <a:ext cx="8671082" cy="2444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133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A003AC0-047E-0C55-F948-1B4967C12AFE}"/>
              </a:ext>
            </a:extLst>
          </p:cNvPr>
          <p:cNvPicPr>
            <a:picLocks noChangeAspect="1"/>
          </p:cNvPicPr>
          <p:nvPr/>
        </p:nvPicPr>
        <p:blipFill>
          <a:blip r:embed="rId2"/>
          <a:stretch>
            <a:fillRect/>
          </a:stretch>
        </p:blipFill>
        <p:spPr>
          <a:xfrm>
            <a:off x="170015" y="666929"/>
            <a:ext cx="6438569" cy="5524142"/>
          </a:xfrm>
          <a:prstGeom prst="rect">
            <a:avLst/>
          </a:prstGeom>
        </p:spPr>
      </p:pic>
      <p:sp>
        <p:nvSpPr>
          <p:cNvPr id="4" name="CuadroTexto 3">
            <a:extLst>
              <a:ext uri="{FF2B5EF4-FFF2-40B4-BE49-F238E27FC236}">
                <a16:creationId xmlns:a16="http://schemas.microsoft.com/office/drawing/2014/main" id="{C2F7D6B4-BA03-AD88-67D8-B5C8416CD133}"/>
              </a:ext>
            </a:extLst>
          </p:cNvPr>
          <p:cNvSpPr txBox="1"/>
          <p:nvPr/>
        </p:nvSpPr>
        <p:spPr>
          <a:xfrm>
            <a:off x="6955437" y="1228397"/>
            <a:ext cx="4960138" cy="4401205"/>
          </a:xfrm>
          <a:prstGeom prst="rect">
            <a:avLst/>
          </a:prstGeom>
          <a:noFill/>
        </p:spPr>
        <p:txBody>
          <a:bodyPr wrap="square">
            <a:spAutoFit/>
          </a:bodyPr>
          <a:lstStyle/>
          <a:p>
            <a:pPr>
              <a:buNone/>
            </a:pPr>
            <a:r>
              <a:rPr lang="en-US" sz="2000" dirty="0" err="1">
                <a:solidFill>
                  <a:schemeClr val="bg1"/>
                </a:solidFill>
                <a:latin typeface="Century Gothic" panose="020B0502020202020204" pitchFamily="34" charset="0"/>
              </a:rPr>
              <a:t>Notemos</a:t>
            </a:r>
            <a:r>
              <a:rPr lang="en-US" sz="2000" dirty="0">
                <a:solidFill>
                  <a:schemeClr val="bg1"/>
                </a:solidFill>
                <a:latin typeface="Century Gothic" panose="020B0502020202020204" pitchFamily="34" charset="0"/>
              </a:rPr>
              <a:t> que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punto </a:t>
            </a:r>
            <a:r>
              <a:rPr lang="en-US" sz="2000" dirty="0" err="1">
                <a:solidFill>
                  <a:schemeClr val="bg1"/>
                </a:solidFill>
                <a:latin typeface="Century Gothic" panose="020B0502020202020204" pitchFamily="34" charset="0"/>
              </a:rPr>
              <a:t>en</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verde</a:t>
            </a:r>
            <a:r>
              <a:rPr lang="en-US" sz="2000" dirty="0">
                <a:solidFill>
                  <a:schemeClr val="bg1"/>
                </a:solidFill>
                <a:latin typeface="Century Gothic" panose="020B0502020202020204" pitchFamily="34" charset="0"/>
              </a:rPr>
              <a:t> son </a:t>
            </a:r>
            <a:r>
              <a:rPr lang="en-US" sz="2000" dirty="0" err="1">
                <a:solidFill>
                  <a:schemeClr val="bg1"/>
                </a:solidFill>
                <a:latin typeface="Century Gothic" panose="020B0502020202020204" pitchFamily="34" charset="0"/>
              </a:rPr>
              <a:t>nuestro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valores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atipicos</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cuales</a:t>
            </a:r>
            <a:r>
              <a:rPr lang="en-US" sz="2000" dirty="0">
                <a:solidFill>
                  <a:schemeClr val="bg1"/>
                </a:solidFill>
                <a:latin typeface="Century Gothic" panose="020B0502020202020204" pitchFamily="34" charset="0"/>
              </a:rPr>
              <a:t> no </a:t>
            </a:r>
            <a:r>
              <a:rPr lang="en-US" sz="2000" dirty="0" err="1">
                <a:solidFill>
                  <a:schemeClr val="bg1"/>
                </a:solidFill>
                <a:latin typeface="Century Gothic" panose="020B0502020202020204" pitchFamily="34" charset="0"/>
              </a:rPr>
              <a:t>interesa</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el</a:t>
            </a:r>
            <a:r>
              <a:rPr lang="en-US" sz="2000" dirty="0">
                <a:solidFill>
                  <a:schemeClr val="bg1"/>
                </a:solidFill>
                <a:latin typeface="Century Gothic" panose="020B0502020202020204" pitchFamily="34" charset="0"/>
              </a:rPr>
              <a:t> del </a:t>
            </a:r>
            <a:r>
              <a:rPr lang="en-US" sz="2000" dirty="0" err="1">
                <a:solidFill>
                  <a:schemeClr val="bg1"/>
                </a:solidFill>
                <a:latin typeface="Century Gothic" panose="020B0502020202020204" pitchFamily="34" charset="0"/>
              </a:rPr>
              <a:t>abajo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ya</a:t>
            </a:r>
            <a:r>
              <a:rPr lang="en-US" sz="2000" dirty="0">
                <a:solidFill>
                  <a:schemeClr val="bg1"/>
                </a:solidFill>
                <a:latin typeface="Century Gothic" panose="020B0502020202020204" pitchFamily="34" charset="0"/>
              </a:rPr>
              <a:t> es </a:t>
            </a:r>
            <a:r>
              <a:rPr lang="en-US" sz="2000" dirty="0" err="1">
                <a:solidFill>
                  <a:schemeClr val="bg1"/>
                </a:solidFill>
                <a:latin typeface="Century Gothic" panose="020B0502020202020204" pitchFamily="34" charset="0"/>
              </a:rPr>
              <a:t>el</a:t>
            </a:r>
            <a:r>
              <a:rPr lang="en-US" sz="2000" dirty="0">
                <a:solidFill>
                  <a:schemeClr val="bg1"/>
                </a:solidFill>
                <a:latin typeface="Century Gothic" panose="020B0502020202020204" pitchFamily="34" charset="0"/>
              </a:rPr>
              <a:t> PIB del 2008. </a:t>
            </a:r>
            <a:r>
              <a:rPr lang="en-US" sz="2000" dirty="0" err="1">
                <a:solidFill>
                  <a:schemeClr val="bg1"/>
                </a:solidFill>
                <a:latin typeface="Century Gothic" panose="020B0502020202020204" pitchFamily="34" charset="0"/>
              </a:rPr>
              <a:t>este</a:t>
            </a:r>
            <a:r>
              <a:rPr lang="en-US" sz="2000" dirty="0">
                <a:solidFill>
                  <a:schemeClr val="bg1"/>
                </a:solidFill>
                <a:latin typeface="Century Gothic" panose="020B0502020202020204" pitchFamily="34" charset="0"/>
              </a:rPr>
              <a:t> ultimo no es mas que </a:t>
            </a:r>
            <a:r>
              <a:rPr lang="en-US" sz="2000" dirty="0" err="1">
                <a:solidFill>
                  <a:schemeClr val="bg1"/>
                </a:solidFill>
                <a:latin typeface="Century Gothic" panose="020B0502020202020204" pitchFamily="34" charset="0"/>
              </a:rPr>
              <a:t>el</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datos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arrojado</a:t>
            </a:r>
            <a:r>
              <a:rPr lang="en-US" sz="2000" dirty="0">
                <a:solidFill>
                  <a:schemeClr val="bg1"/>
                </a:solidFill>
                <a:latin typeface="Century Gothic" panose="020B0502020202020204" pitchFamily="34" charset="0"/>
              </a:rPr>
              <a:t> dado a la </a:t>
            </a:r>
            <a:r>
              <a:rPr lang="en-US" sz="2000" dirty="0" err="1">
                <a:solidFill>
                  <a:schemeClr val="bg1"/>
                </a:solidFill>
                <a:latin typeface="Century Gothic" panose="020B0502020202020204" pitchFamily="34" charset="0"/>
              </a:rPr>
              <a:t>recesion</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economica</a:t>
            </a:r>
            <a:r>
              <a:rPr lang="en-US" sz="2000" dirty="0">
                <a:solidFill>
                  <a:schemeClr val="bg1"/>
                </a:solidFill>
                <a:latin typeface="Century Gothic" panose="020B0502020202020204" pitchFamily="34" charset="0"/>
              </a:rPr>
              <a:t> de 2008 (</a:t>
            </a:r>
            <a:r>
              <a:rPr lang="en-US" sz="2000" dirty="0" err="1">
                <a:solidFill>
                  <a:schemeClr val="bg1"/>
                </a:solidFill>
                <a:latin typeface="Century Gothic" panose="020B0502020202020204" pitchFamily="34" charset="0"/>
              </a:rPr>
              <a:t>evento</a:t>
            </a:r>
            <a:r>
              <a:rPr lang="en-US" sz="2000" dirty="0">
                <a:solidFill>
                  <a:schemeClr val="bg1"/>
                </a:solidFill>
                <a:latin typeface="Century Gothic" panose="020B0502020202020204" pitchFamily="34" charset="0"/>
              </a:rPr>
              <a:t> que </a:t>
            </a:r>
            <a:r>
              <a:rPr lang="en-US" sz="2000" dirty="0" err="1">
                <a:solidFill>
                  <a:schemeClr val="bg1"/>
                </a:solidFill>
                <a:latin typeface="Century Gothic" panose="020B0502020202020204" pitchFamily="34" charset="0"/>
              </a:rPr>
              <a:t>afecto</a:t>
            </a:r>
            <a:r>
              <a:rPr lang="en-US" sz="2000" dirty="0">
                <a:solidFill>
                  <a:schemeClr val="bg1"/>
                </a:solidFill>
                <a:latin typeface="Century Gothic" panose="020B0502020202020204" pitchFamily="34" charset="0"/>
              </a:rPr>
              <a:t> a las </a:t>
            </a:r>
            <a:r>
              <a:rPr lang="en-US" sz="2000" dirty="0" err="1">
                <a:solidFill>
                  <a:schemeClr val="bg1"/>
                </a:solidFill>
                <a:latin typeface="Century Gothic" panose="020B0502020202020204" pitchFamily="34" charset="0"/>
              </a:rPr>
              <a:t>mayoria</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paises</a:t>
            </a:r>
            <a:r>
              <a:rPr lang="en-US" sz="2000" dirty="0">
                <a:solidFill>
                  <a:schemeClr val="bg1"/>
                </a:solidFill>
                <a:latin typeface="Century Gothic" panose="020B0502020202020204" pitchFamily="34" charset="0"/>
              </a:rPr>
              <a:t>) y con tan solo </a:t>
            </a:r>
            <a:r>
              <a:rPr lang="en-US" sz="2000" dirty="0" err="1">
                <a:solidFill>
                  <a:schemeClr val="bg1"/>
                </a:solidFill>
                <a:latin typeface="Century Gothic" panose="020B0502020202020204" pitchFamily="34" charset="0"/>
              </a:rPr>
              <a:t>este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dato</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esta</a:t>
            </a:r>
            <a:r>
              <a:rPr lang="en-US" sz="2000" dirty="0">
                <a:solidFill>
                  <a:schemeClr val="bg1"/>
                </a:solidFill>
                <a:latin typeface="Century Gothic" panose="020B0502020202020204" pitchFamily="34" charset="0"/>
              </a:rPr>
              <a:t> hacienda que las regression </a:t>
            </a:r>
            <a:r>
              <a:rPr lang="en-US" sz="2000" dirty="0" err="1">
                <a:solidFill>
                  <a:schemeClr val="bg1"/>
                </a:solidFill>
                <a:latin typeface="Century Gothic" panose="020B0502020202020204" pitchFamily="34" charset="0"/>
              </a:rPr>
              <a:t>este</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inclinada</a:t>
            </a:r>
            <a:r>
              <a:rPr lang="en-US" sz="2000" dirty="0">
                <a:solidFill>
                  <a:schemeClr val="bg1"/>
                </a:solidFill>
                <a:latin typeface="Century Gothic" panose="020B0502020202020204" pitchFamily="34" charset="0"/>
              </a:rPr>
              <a:t> de mas.</a:t>
            </a:r>
          </a:p>
          <a:p>
            <a:pPr>
              <a:buNone/>
            </a:pPr>
            <a:endParaRPr lang="en-US" sz="2000" dirty="0">
              <a:solidFill>
                <a:schemeClr val="bg1"/>
              </a:solidFill>
              <a:latin typeface="Century Gothic" panose="020B0502020202020204" pitchFamily="34" charset="0"/>
            </a:endParaRPr>
          </a:p>
          <a:p>
            <a:pPr>
              <a:buNone/>
            </a:pPr>
            <a:r>
              <a:rPr lang="en-US" sz="2000" dirty="0">
                <a:solidFill>
                  <a:schemeClr val="bg1"/>
                </a:solidFill>
                <a:latin typeface="Century Gothic" panose="020B0502020202020204" pitchFamily="34" charset="0"/>
              </a:rPr>
              <a:t>En </a:t>
            </a:r>
            <a:r>
              <a:rPr lang="en-US" sz="2000" dirty="0" err="1">
                <a:solidFill>
                  <a:schemeClr val="bg1"/>
                </a:solidFill>
                <a:latin typeface="Century Gothic" panose="020B0502020202020204" pitchFamily="34" charset="0"/>
              </a:rPr>
              <a:t>estos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casos</a:t>
            </a:r>
            <a:r>
              <a:rPr lang="en-US" sz="2000" dirty="0">
                <a:solidFill>
                  <a:schemeClr val="bg1"/>
                </a:solidFill>
                <a:latin typeface="Century Gothic" panose="020B0502020202020204" pitchFamily="34" charset="0"/>
              </a:rPr>
              <a:t> es major </a:t>
            </a:r>
            <a:r>
              <a:rPr lang="en-US" sz="2000" dirty="0" err="1">
                <a:solidFill>
                  <a:schemeClr val="bg1"/>
                </a:solidFill>
                <a:latin typeface="Century Gothic" panose="020B0502020202020204" pitchFamily="34" charset="0"/>
              </a:rPr>
              <a:t>descartarlos</a:t>
            </a:r>
            <a:r>
              <a:rPr lang="en-US" sz="2000" dirty="0">
                <a:solidFill>
                  <a:schemeClr val="bg1"/>
                </a:solidFill>
                <a:latin typeface="Century Gothic" panose="020B0502020202020204" pitchFamily="34" charset="0"/>
              </a:rPr>
              <a:t> de </a:t>
            </a:r>
            <a:r>
              <a:rPr lang="en-US" sz="2000" dirty="0" err="1">
                <a:solidFill>
                  <a:schemeClr val="bg1"/>
                </a:solidFill>
                <a:latin typeface="Century Gothic" panose="020B0502020202020204" pitchFamily="34" charset="0"/>
              </a:rPr>
              <a:t>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analisis</a:t>
            </a:r>
            <a:r>
              <a:rPr lang="en-US" sz="2000" dirty="0">
                <a:solidFill>
                  <a:schemeClr val="bg1"/>
                </a:solidFill>
                <a:latin typeface="Century Gothic" panose="020B0502020202020204" pitchFamily="34" charset="0"/>
              </a:rPr>
              <a:t> para </a:t>
            </a:r>
            <a:r>
              <a:rPr lang="en-US" sz="2000" dirty="0" err="1">
                <a:solidFill>
                  <a:schemeClr val="bg1"/>
                </a:solidFill>
                <a:latin typeface="Century Gothic" panose="020B0502020202020204" pitchFamily="34" charset="0"/>
              </a:rPr>
              <a:t>evitar</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malos</a:t>
            </a:r>
            <a:r>
              <a:rPr lang="en-US" sz="2000" dirty="0">
                <a:solidFill>
                  <a:schemeClr val="bg1"/>
                </a:solidFill>
                <a:latin typeface="Century Gothic" panose="020B0502020202020204" pitchFamily="34" charset="0"/>
              </a:rPr>
              <a:t> </a:t>
            </a:r>
            <a:r>
              <a:rPr lang="en-US" sz="2000" dirty="0" err="1">
                <a:solidFill>
                  <a:schemeClr val="bg1"/>
                </a:solidFill>
                <a:latin typeface="Century Gothic" panose="020B0502020202020204" pitchFamily="34" charset="0"/>
              </a:rPr>
              <a:t>tratamientos</a:t>
            </a:r>
            <a:endParaRPr lang="es-MX" sz="200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38636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Google Shape;322;p44"/>
          <p:cNvSpPr txBox="1">
            <a:spLocks noGrp="1"/>
          </p:cNvSpPr>
          <p:nvPr>
            <p:ph type="title"/>
          </p:nvPr>
        </p:nvSpPr>
        <p:spPr>
          <a:xfrm>
            <a:off x="646112" y="287826"/>
            <a:ext cx="5619778" cy="87169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Regresión </a:t>
            </a:r>
            <a:r>
              <a:rPr lang="es-MX" dirty="0" err="1"/>
              <a:t>bivariada</a:t>
            </a:r>
            <a:endParaRPr dirty="0"/>
          </a:p>
        </p:txBody>
      </p:sp>
      <p:sp>
        <p:nvSpPr>
          <p:cNvPr id="11" name="CuadroTexto 10">
            <a:extLst>
              <a:ext uri="{FF2B5EF4-FFF2-40B4-BE49-F238E27FC236}">
                <a16:creationId xmlns:a16="http://schemas.microsoft.com/office/drawing/2014/main" id="{3EAFE22C-93A6-520A-A37A-195BE4602F72}"/>
              </a:ext>
            </a:extLst>
          </p:cNvPr>
          <p:cNvSpPr txBox="1"/>
          <p:nvPr/>
        </p:nvSpPr>
        <p:spPr>
          <a:xfrm>
            <a:off x="555623" y="1159524"/>
            <a:ext cx="11080754" cy="1477328"/>
          </a:xfrm>
          <a:prstGeom prst="rect">
            <a:avLst/>
          </a:prstGeom>
          <a:noFill/>
        </p:spPr>
        <p:txBody>
          <a:bodyPr wrap="square">
            <a:spAutoFit/>
          </a:bodyPr>
          <a:lstStyle/>
          <a:p>
            <a:pPr algn="just"/>
            <a:r>
              <a:rPr lang="es-MX" sz="1800" dirty="0">
                <a:solidFill>
                  <a:schemeClr val="bg1"/>
                </a:solidFill>
                <a:latin typeface="Century Gothic" panose="020B0502020202020204" pitchFamily="34" charset="0"/>
              </a:rPr>
              <a:t>La </a:t>
            </a:r>
            <a:r>
              <a:rPr lang="es-MX" sz="1800" b="1" dirty="0">
                <a:solidFill>
                  <a:schemeClr val="bg1"/>
                </a:solidFill>
                <a:latin typeface="Century Gothic" panose="020B0502020202020204" pitchFamily="34" charset="0"/>
              </a:rPr>
              <a:t>regresión</a:t>
            </a:r>
            <a:r>
              <a:rPr lang="es-MX" sz="1800" dirty="0">
                <a:solidFill>
                  <a:schemeClr val="bg1"/>
                </a:solidFill>
                <a:latin typeface="Century Gothic" panose="020B0502020202020204" pitchFamily="34" charset="0"/>
              </a:rPr>
              <a:t> es una técnica estadística que relaciona dos (o más) variables, tratando de predecir o explicar una a partir de la otra.</a:t>
            </a:r>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r>
              <a:rPr lang="en-US" sz="1800" dirty="0" err="1">
                <a:solidFill>
                  <a:schemeClr val="bg1"/>
                </a:solidFill>
                <a:latin typeface="Century Gothic" panose="020B0502020202020204" pitchFamily="34" charset="0"/>
              </a:rPr>
              <a:t>Existe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variedad</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formas</a:t>
            </a:r>
            <a:r>
              <a:rPr lang="en-US" sz="1800" dirty="0">
                <a:solidFill>
                  <a:schemeClr val="bg1"/>
                </a:solidFill>
                <a:latin typeface="Century Gothic" panose="020B0502020202020204" pitchFamily="34" charset="0"/>
              </a:rPr>
              <a:t> para la </a:t>
            </a:r>
            <a:r>
              <a:rPr lang="en-US" sz="1800" dirty="0" err="1">
                <a:solidFill>
                  <a:schemeClr val="bg1"/>
                </a:solidFill>
                <a:latin typeface="Century Gothic" panose="020B0502020202020204" pitchFamily="34" charset="0"/>
              </a:rPr>
              <a:t>regresion</a:t>
            </a:r>
            <a:r>
              <a:rPr lang="en-US" sz="1800" dirty="0">
                <a:solidFill>
                  <a:schemeClr val="bg1"/>
                </a:solidFill>
                <a:latin typeface="Century Gothic" panose="020B0502020202020204" pitchFamily="34" charset="0"/>
              </a:rPr>
              <a:t>, para </a:t>
            </a:r>
            <a:r>
              <a:rPr lang="en-US" sz="1800" dirty="0" err="1">
                <a:solidFill>
                  <a:schemeClr val="bg1"/>
                </a:solidFill>
                <a:latin typeface="Century Gothic" panose="020B0502020202020204" pitchFamily="34" charset="0"/>
              </a:rPr>
              <a:t>este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caso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veremos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hecho</a:t>
            </a:r>
            <a:r>
              <a:rPr lang="en-US" sz="1800" dirty="0">
                <a:solidFill>
                  <a:schemeClr val="bg1"/>
                </a:solidFill>
                <a:latin typeface="Century Gothic" panose="020B0502020202020204" pitchFamily="34" charset="0"/>
              </a:rPr>
              <a:t> de que la </a:t>
            </a:r>
            <a:r>
              <a:rPr lang="en-US" sz="1800" dirty="0" err="1">
                <a:solidFill>
                  <a:schemeClr val="bg1"/>
                </a:solidFill>
                <a:latin typeface="Century Gothic" panose="020B0502020202020204" pitchFamily="34" charset="0"/>
              </a:rPr>
              <a:t>informacion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poblacional</a:t>
            </a:r>
            <a:r>
              <a:rPr lang="en-US" sz="1800" dirty="0">
                <a:solidFill>
                  <a:schemeClr val="bg1"/>
                </a:solidFill>
                <a:latin typeface="Century Gothic" panose="020B0502020202020204" pitchFamily="34" charset="0"/>
              </a:rPr>
              <a:t> se </a:t>
            </a:r>
            <a:r>
              <a:rPr lang="en-US" sz="1800" dirty="0" err="1">
                <a:solidFill>
                  <a:schemeClr val="bg1"/>
                </a:solidFill>
                <a:latin typeface="Century Gothic" panose="020B0502020202020204" pitchFamily="34" charset="0"/>
              </a:rPr>
              <a:t>ve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resumida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en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una</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funcion</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probabilidad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conjunta</a:t>
            </a:r>
            <a:r>
              <a:rPr lang="en-US" sz="1800" dirty="0">
                <a:solidFill>
                  <a:schemeClr val="bg1"/>
                </a:solidFill>
                <a:latin typeface="Century Gothic" panose="020B0502020202020204" pitchFamily="34" charset="0"/>
              </a:rPr>
              <a:t>.</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F919591-EF03-9AB8-60E3-A6749EB8150D}"/>
                  </a:ext>
                </a:extLst>
              </p:cNvPr>
              <p:cNvSpPr txBox="1"/>
              <p:nvPr/>
            </p:nvSpPr>
            <p:spPr>
              <a:xfrm>
                <a:off x="555623" y="2934325"/>
                <a:ext cx="11080754" cy="1797993"/>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Si </a:t>
                </a:r>
                <a14:m>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e>
                    </m:d>
                  </m:oMath>
                </a14:m>
                <a:r>
                  <a:rPr lang="en-US" sz="1800" dirty="0">
                    <a:solidFill>
                      <a:schemeClr val="bg1"/>
                    </a:solidFill>
                    <a:latin typeface="Century Gothic" panose="020B0502020202020204" pitchFamily="34" charset="0"/>
                  </a:rPr>
                  <a:t> es </a:t>
                </a:r>
                <a:r>
                  <a:rPr lang="en-US" sz="1800" dirty="0" err="1">
                    <a:solidFill>
                      <a:schemeClr val="bg1"/>
                    </a:solidFill>
                    <a:latin typeface="Century Gothic" panose="020B0502020202020204" pitchFamily="34" charset="0"/>
                  </a:rPr>
                  <a:t>el</a:t>
                </a:r>
                <a:r>
                  <a:rPr lang="en-US" sz="1800" dirty="0">
                    <a:solidFill>
                      <a:schemeClr val="bg1"/>
                    </a:solidFill>
                    <a:latin typeface="Century Gothic" panose="020B0502020202020204" pitchFamily="34" charset="0"/>
                  </a:rPr>
                  <a:t> valor de la </a:t>
                </a:r>
                <a:r>
                  <a:rPr lang="en-US" sz="1800" dirty="0" err="1">
                    <a:solidFill>
                      <a:schemeClr val="bg1"/>
                    </a:solidFill>
                    <a:latin typeface="Century Gothic" panose="020B0502020202020204" pitchFamily="34" charset="0"/>
                  </a:rPr>
                  <a:t>densidad</a:t>
                </a:r>
                <a:r>
                  <a:rPr lang="en-US" sz="1800" dirty="0">
                    <a:solidFill>
                      <a:schemeClr val="bg1"/>
                    </a:solidFill>
                    <a:latin typeface="Century Gothic" panose="020B0502020202020204" pitchFamily="34" charset="0"/>
                  </a:rPr>
                  <a:t> de 2 V.A.S X e Y de </a:t>
                </a:r>
                <a14:m>
                  <m:oMath xmlns:m="http://schemas.openxmlformats.org/officeDocument/2006/math">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𝑋</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𝑌</m:t>
                        </m:r>
                      </m:e>
                    </m:d>
                  </m:oMath>
                </a14:m>
                <a:r>
                  <a:rPr lang="en-US" sz="1800" dirty="0">
                    <a:solidFill>
                      <a:schemeClr val="bg1"/>
                    </a:solidFill>
                    <a:latin typeface="Century Gothic" panose="020B0502020202020204" pitchFamily="34" charset="0"/>
                  </a:rPr>
                  <a:t>. El </a:t>
                </a:r>
                <a:r>
                  <a:rPr lang="en-US" sz="1800" dirty="0" err="1">
                    <a:solidFill>
                      <a:schemeClr val="bg1"/>
                    </a:solidFill>
                    <a:latin typeface="Century Gothic" panose="020B0502020202020204" pitchFamily="34" charset="0"/>
                  </a:rPr>
                  <a:t>problema</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regresión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bivariada</a:t>
                </a:r>
                <a:r>
                  <a:rPr lang="en-US" sz="1800" dirty="0">
                    <a:solidFill>
                      <a:schemeClr val="bg1"/>
                    </a:solidFill>
                    <a:latin typeface="Century Gothic" panose="020B0502020202020204" pitchFamily="34" charset="0"/>
                  </a:rPr>
                  <a:t> es </a:t>
                </a:r>
                <a:r>
                  <a:rPr lang="en-US" sz="1800" dirty="0" err="1">
                    <a:solidFill>
                      <a:schemeClr val="bg1"/>
                    </a:solidFill>
                    <a:latin typeface="Century Gothic" panose="020B0502020202020204" pitchFamily="34" charset="0"/>
                  </a:rPr>
                  <a:t>simplemente</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determinar</a:t>
                </a:r>
                <a:r>
                  <a:rPr lang="en-US" sz="1800" dirty="0">
                    <a:solidFill>
                      <a:schemeClr val="bg1"/>
                    </a:solidFill>
                    <a:latin typeface="Century Gothic" panose="020B0502020202020204" pitchFamily="34" charset="0"/>
                  </a:rPr>
                  <a:t> la </a:t>
                </a:r>
                <a:r>
                  <a:rPr lang="en-US" sz="1800" dirty="0" err="1">
                    <a:solidFill>
                      <a:schemeClr val="bg1"/>
                    </a:solidFill>
                    <a:latin typeface="Century Gothic" panose="020B0502020202020204" pitchFamily="34" charset="0"/>
                  </a:rPr>
                  <a:t>densidad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condicional</a:t>
                </a:r>
                <a:r>
                  <a:rPr lang="en-US" sz="1800" dirty="0">
                    <a:solidFill>
                      <a:schemeClr val="bg1"/>
                    </a:solidFill>
                    <a:latin typeface="Century Gothic" panose="020B0502020202020204" pitchFamily="34" charset="0"/>
                  </a:rPr>
                  <a:t> de Y dado </a:t>
                </a:r>
                <a14:m>
                  <m:oMath xmlns:m="http://schemas.openxmlformats.org/officeDocument/2006/math">
                    <m:r>
                      <a:rPr lang="en-US" sz="1800" b="0" i="1" smtClean="0">
                        <a:solidFill>
                          <a:schemeClr val="bg1"/>
                        </a:solidFill>
                        <a:latin typeface="Cambria Math" panose="02040503050406030204" pitchFamily="18" charset="0"/>
                      </a:rPr>
                      <m:t>𝑋</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oMath>
                </a14:m>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Despues</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conseguir</a:t>
                </a:r>
                <a:r>
                  <a:rPr lang="en-US" sz="1800" dirty="0">
                    <a:solidFill>
                      <a:schemeClr val="bg1"/>
                    </a:solidFill>
                    <a:latin typeface="Century Gothic" panose="020B0502020202020204" pitchFamily="34" charset="0"/>
                  </a:rPr>
                  <a:t> la Esperanza que </a:t>
                </a:r>
                <a:r>
                  <a:rPr lang="en-US" sz="1800" dirty="0" err="1">
                    <a:solidFill>
                      <a:schemeClr val="bg1"/>
                    </a:solidFill>
                    <a:latin typeface="Century Gothic" panose="020B0502020202020204" pitchFamily="34" charset="0"/>
                  </a:rPr>
                  <a:t>maneja</a:t>
                </a:r>
                <a:r>
                  <a:rPr lang="en-US" sz="1800" dirty="0">
                    <a:solidFill>
                      <a:schemeClr val="bg1"/>
                    </a:solidFill>
                    <a:latin typeface="Century Gothic" panose="020B0502020202020204" pitchFamily="34" charset="0"/>
                  </a:rPr>
                  <a:t>; es </a:t>
                </a:r>
                <a:r>
                  <a:rPr lang="en-US" sz="1800" dirty="0" err="1">
                    <a:solidFill>
                      <a:schemeClr val="bg1"/>
                    </a:solidFill>
                    <a:latin typeface="Century Gothic" panose="020B0502020202020204" pitchFamily="34" charset="0"/>
                  </a:rPr>
                  <a:t>decir</a:t>
                </a:r>
                <a:r>
                  <a:rPr lang="en-US" sz="1800" dirty="0">
                    <a:solidFill>
                      <a:schemeClr val="bg1"/>
                    </a:solidFill>
                    <a:latin typeface="Century Gothic" panose="020B0502020202020204" pitchFamily="34" charset="0"/>
                  </a:rPr>
                  <a:t>:</a:t>
                </a:r>
              </a:p>
              <a:p>
                <a:pPr algn="just"/>
                <a:endParaRPr lang="en-US" sz="1800" dirty="0">
                  <a:solidFill>
                    <a:schemeClr val="bg1"/>
                  </a:solidFill>
                  <a:latin typeface="Century Gothic" panose="020B0502020202020204" pitchFamily="34" charset="0"/>
                </a:endParaRPr>
              </a:p>
              <a:p>
                <a:pPr algn="just"/>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𝜇</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𝑌</m:t>
                          </m:r>
                        </m:e>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𝐸</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 ∞</m:t>
                          </m:r>
                        </m:sub>
                        <m:sup>
                          <m:r>
                            <a:rPr lang="en-US" sz="1800" b="0" i="1" smtClean="0">
                              <a:solidFill>
                                <a:schemeClr val="bg1"/>
                              </a:solidFill>
                              <a:latin typeface="Cambria Math" panose="02040503050406030204" pitchFamily="18" charset="0"/>
                            </a:rPr>
                            <m:t>∞</m:t>
                          </m:r>
                        </m:sup>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e>
                          </m:d>
                        </m:e>
                      </m:nary>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𝑑𝑦</m:t>
                      </m:r>
                    </m:oMath>
                  </m:oMathPara>
                </a14:m>
                <a:endParaRPr lang="en-US" sz="1800" b="0" dirty="0">
                  <a:solidFill>
                    <a:schemeClr val="bg1"/>
                  </a:solidFill>
                  <a:latin typeface="Century Gothic" panose="020B0502020202020204" pitchFamily="34" charset="0"/>
                </a:endParaRPr>
              </a:p>
            </p:txBody>
          </p:sp>
        </mc:Choice>
        <mc:Fallback xmlns="">
          <p:sp>
            <p:nvSpPr>
              <p:cNvPr id="12" name="CuadroTexto 11">
                <a:extLst>
                  <a:ext uri="{FF2B5EF4-FFF2-40B4-BE49-F238E27FC236}">
                    <a16:creationId xmlns:a16="http://schemas.microsoft.com/office/drawing/2014/main" id="{0F919591-EF03-9AB8-60E3-A6749EB8150D}"/>
                  </a:ext>
                </a:extLst>
              </p:cNvPr>
              <p:cNvSpPr txBox="1">
                <a:spLocks noRot="1" noChangeAspect="1" noMove="1" noResize="1" noEditPoints="1" noAdjustHandles="1" noChangeArrowheads="1" noChangeShapeType="1" noTextEdit="1"/>
              </p:cNvSpPr>
              <p:nvPr/>
            </p:nvSpPr>
            <p:spPr>
              <a:xfrm>
                <a:off x="555623" y="2934325"/>
                <a:ext cx="11080754" cy="1797993"/>
              </a:xfrm>
              <a:prstGeom prst="rect">
                <a:avLst/>
              </a:prstGeom>
              <a:blipFill>
                <a:blip r:embed="rId2"/>
                <a:stretch>
                  <a:fillRect l="-440" t="-1695" r="-495"/>
                </a:stretch>
              </a:blipFill>
            </p:spPr>
            <p:txBody>
              <a:bodyPr/>
              <a:lstStyle/>
              <a:p>
                <a:r>
                  <a:rPr lang="es-MX">
                    <a:noFill/>
                  </a:rPr>
                  <a:t> </a:t>
                </a:r>
              </a:p>
            </p:txBody>
          </p:sp>
        </mc:Fallback>
      </mc:AlternateContent>
      <p:sp>
        <p:nvSpPr>
          <p:cNvPr id="13" name="Google Shape;241;p32">
            <a:extLst>
              <a:ext uri="{FF2B5EF4-FFF2-40B4-BE49-F238E27FC236}">
                <a16:creationId xmlns:a16="http://schemas.microsoft.com/office/drawing/2014/main" id="{4250ECA5-4C75-7DAE-67D6-CA69E43CACC5}"/>
              </a:ext>
            </a:extLst>
          </p:cNvPr>
          <p:cNvSpPr txBox="1">
            <a:spLocks/>
          </p:cNvSpPr>
          <p:nvPr/>
        </p:nvSpPr>
        <p:spPr>
          <a:xfrm>
            <a:off x="555623" y="4344080"/>
            <a:ext cx="2351922" cy="77647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000"/>
              <a:buFont typeface="Century Gothic"/>
              <a:buNone/>
              <a:defRPr sz="40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buSzPts val="4200"/>
            </a:pPr>
            <a:r>
              <a:rPr lang="es-MX" b="1" dirty="0"/>
              <a:t>Ejemplo:</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387B7372-B33F-2D21-6B24-EC8C48EFA20E}"/>
                  </a:ext>
                </a:extLst>
              </p:cNvPr>
              <p:cNvSpPr txBox="1"/>
              <p:nvPr/>
            </p:nvSpPr>
            <p:spPr>
              <a:xfrm>
                <a:off x="2907545" y="5029790"/>
                <a:ext cx="9173486" cy="1593770"/>
              </a:xfrm>
              <a:prstGeom prst="rect">
                <a:avLst/>
              </a:prstGeom>
              <a:noFill/>
            </p:spPr>
            <p:txBody>
              <a:bodyPr wrap="square">
                <a:spAutoFit/>
              </a:bodyPr>
              <a:lstStyle/>
              <a:p>
                <a:pPr algn="just"/>
                <a:r>
                  <a:rPr lang="es-MX" sz="1800" dirty="0">
                    <a:solidFill>
                      <a:schemeClr val="bg1"/>
                    </a:solidFill>
                    <a:latin typeface="Century Gothic" panose="020B0502020202020204" pitchFamily="34" charset="0"/>
                  </a:rPr>
                  <a:t>Dado 2 V.A. X e Y, tiene la función de probabilidad conjunta siguiente:</a:t>
                </a:r>
              </a:p>
              <a:p>
                <a:pPr algn="just"/>
                <a:endParaRPr lang="es-MX" sz="1800" dirty="0">
                  <a:solidFill>
                    <a:schemeClr val="bg1"/>
                  </a:solidFill>
                  <a:latin typeface="Century Gothic" panose="020B0502020202020204" pitchFamily="34" charset="0"/>
                </a:endParaRPr>
              </a:p>
              <a:p>
                <a:pPr algn="ctr"/>
                <a14:m>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e>
                    </m:d>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2</m:t>
                        </m:r>
                      </m:num>
                      <m:den>
                        <m:r>
                          <a:rPr lang="en-US" sz="1800" b="0" i="1" smtClean="0">
                            <a:solidFill>
                              <a:schemeClr val="bg1"/>
                            </a:solidFill>
                            <a:latin typeface="Cambria Math" panose="02040503050406030204" pitchFamily="18" charset="0"/>
                          </a:rPr>
                          <m:t>5</m:t>
                        </m:r>
                      </m:den>
                    </m:f>
                    <m:r>
                      <a:rPr lang="en-US" sz="1800" b="0" i="1" smtClean="0">
                        <a:solidFill>
                          <a:schemeClr val="bg1"/>
                        </a:solidFill>
                        <a:latin typeface="Cambria Math" panose="02040503050406030204" pitchFamily="18" charset="0"/>
                      </a:rPr>
                      <m:t> ∗</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2</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+3</m:t>
                        </m:r>
                        <m:r>
                          <a:rPr lang="en-US" sz="1800" b="0" i="1" smtClean="0">
                            <a:solidFill>
                              <a:schemeClr val="bg1"/>
                            </a:solidFill>
                            <a:latin typeface="Cambria Math" panose="02040503050406030204" pitchFamily="18" charset="0"/>
                          </a:rPr>
                          <m:t>𝑦</m:t>
                        </m:r>
                      </m:e>
                    </m:d>
                  </m:oMath>
                </a14:m>
                <a:r>
                  <a:rPr lang="en-US" sz="1800" dirty="0">
                    <a:solidFill>
                      <a:schemeClr val="bg1"/>
                    </a:solidFill>
                    <a:latin typeface="Century Gothic" panose="020B0502020202020204" pitchFamily="34" charset="0"/>
                  </a:rPr>
                  <a:t>       Para </a:t>
                </a:r>
                <a14:m>
                  <m:oMath xmlns:m="http://schemas.openxmlformats.org/officeDocument/2006/math">
                    <m:r>
                      <a:rPr lang="en-US" sz="1800" b="0" i="1" smtClean="0">
                        <a:solidFill>
                          <a:schemeClr val="bg1"/>
                        </a:solidFill>
                        <a:latin typeface="Cambria Math" panose="02040503050406030204" pitchFamily="18" charset="0"/>
                      </a:rPr>
                      <m:t>0&lt;</m:t>
                    </m:r>
                    <m:r>
                      <a:rPr lang="en-US" sz="1800" b="0" i="1" smtClean="0">
                        <a:solidFill>
                          <a:schemeClr val="bg1"/>
                        </a:solidFill>
                        <a:latin typeface="Cambria Math" panose="02040503050406030204" pitchFamily="18" charset="0"/>
                      </a:rPr>
                      <m:t>𝑋</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&lt;1</m:t>
                    </m:r>
                  </m:oMath>
                </a14:m>
                <a:endParaRPr lang="en-US" sz="1800" dirty="0">
                  <a:solidFill>
                    <a:schemeClr val="bg1"/>
                  </a:solidFill>
                  <a:latin typeface="Century Gothic" panose="020B0502020202020204" pitchFamily="34" charset="0"/>
                </a:endParaRPr>
              </a:p>
              <a:p>
                <a:pPr algn="ctr"/>
                <a:endParaRPr lang="en-US" sz="1800" dirty="0">
                  <a:solidFill>
                    <a:schemeClr val="bg1"/>
                  </a:solidFill>
                  <a:latin typeface="Century Gothic" panose="020B0502020202020204" pitchFamily="34" charset="0"/>
                </a:endParaRPr>
              </a:p>
              <a:p>
                <a:pPr algn="ctr"/>
                <a:r>
                  <a:rPr lang="en-US" sz="1800" dirty="0">
                    <a:solidFill>
                      <a:schemeClr val="bg1"/>
                    </a:solidFill>
                    <a:latin typeface="Century Gothic" panose="020B0502020202020204" pitchFamily="34" charset="0"/>
                  </a:rPr>
                  <a:t>Vamos a </a:t>
                </a:r>
                <a:r>
                  <a:rPr lang="en-US" sz="1800" dirty="0" err="1">
                    <a:solidFill>
                      <a:schemeClr val="bg1"/>
                    </a:solidFill>
                    <a:latin typeface="Century Gothic" panose="020B0502020202020204" pitchFamily="34" charset="0"/>
                  </a:rPr>
                  <a:t>encontrar</a:t>
                </a:r>
                <a:r>
                  <a:rPr lang="en-US" sz="1800" dirty="0">
                    <a:solidFill>
                      <a:schemeClr val="bg1"/>
                    </a:solidFill>
                    <a:latin typeface="Century Gothic" panose="020B0502020202020204" pitchFamily="34" charset="0"/>
                  </a:rPr>
                  <a:t> la regression de Y </a:t>
                </a:r>
                <a:r>
                  <a:rPr lang="en-US" sz="1800" dirty="0" err="1">
                    <a:solidFill>
                      <a:schemeClr val="bg1"/>
                    </a:solidFill>
                    <a:latin typeface="Century Gothic" panose="020B0502020202020204" pitchFamily="34" charset="0"/>
                  </a:rPr>
                  <a:t>sobre</a:t>
                </a:r>
                <a:r>
                  <a:rPr lang="en-US" sz="1800" dirty="0">
                    <a:solidFill>
                      <a:schemeClr val="bg1"/>
                    </a:solidFill>
                    <a:latin typeface="Century Gothic" panose="020B0502020202020204" pitchFamily="34" charset="0"/>
                  </a:rPr>
                  <a:t> X</a:t>
                </a:r>
              </a:p>
            </p:txBody>
          </p:sp>
        </mc:Choice>
        <mc:Fallback xmlns="">
          <p:sp>
            <p:nvSpPr>
              <p:cNvPr id="14" name="CuadroTexto 13">
                <a:extLst>
                  <a:ext uri="{FF2B5EF4-FFF2-40B4-BE49-F238E27FC236}">
                    <a16:creationId xmlns:a16="http://schemas.microsoft.com/office/drawing/2014/main" id="{387B7372-B33F-2D21-6B24-EC8C48EFA20E}"/>
                  </a:ext>
                </a:extLst>
              </p:cNvPr>
              <p:cNvSpPr txBox="1">
                <a:spLocks noRot="1" noChangeAspect="1" noMove="1" noResize="1" noEditPoints="1" noAdjustHandles="1" noChangeArrowheads="1" noChangeShapeType="1" noTextEdit="1"/>
              </p:cNvSpPr>
              <p:nvPr/>
            </p:nvSpPr>
            <p:spPr>
              <a:xfrm>
                <a:off x="2907545" y="5029790"/>
                <a:ext cx="9173486" cy="1593770"/>
              </a:xfrm>
              <a:prstGeom prst="rect">
                <a:avLst/>
              </a:prstGeom>
              <a:blipFill>
                <a:blip r:embed="rId3"/>
                <a:stretch>
                  <a:fillRect l="-598" t="-1908" b="-4962"/>
                </a:stretch>
              </a:blipFill>
            </p:spPr>
            <p:txBody>
              <a:bodyPr/>
              <a:lstStyle/>
              <a:p>
                <a:r>
                  <a:rPr lang="es-MX">
                    <a:noFill/>
                  </a:rPr>
                  <a:t> </a:t>
                </a:r>
              </a:p>
            </p:txBody>
          </p:sp>
        </mc:Fallback>
      </mc:AlternateContent>
    </p:spTree>
    <p:extLst>
      <p:ext uri="{BB962C8B-B14F-4D97-AF65-F5344CB8AC3E}">
        <p14:creationId xmlns:p14="http://schemas.microsoft.com/office/powerpoint/2010/main" val="3109549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518A1C0F-0B45-0E49-0300-DCDF77427D43}"/>
                  </a:ext>
                </a:extLst>
              </p:cNvPr>
              <p:cNvSpPr txBox="1"/>
              <p:nvPr/>
            </p:nvSpPr>
            <p:spPr>
              <a:xfrm>
                <a:off x="339777" y="172977"/>
                <a:ext cx="11512445" cy="536237"/>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Por </a:t>
                </a:r>
                <a:r>
                  <a:rPr lang="en-US" sz="1800" dirty="0" err="1">
                    <a:solidFill>
                      <a:schemeClr val="bg1"/>
                    </a:solidFill>
                    <a:latin typeface="Century Gothic" panose="020B0502020202020204" pitchFamily="34" charset="0"/>
                  </a:rPr>
                  <a:t>definicion</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tenemos</a:t>
                </a:r>
                <a:r>
                  <a:rPr lang="en-US" sz="1800" dirty="0">
                    <a:solidFill>
                      <a:schemeClr val="bg1"/>
                    </a:solidFill>
                    <a:latin typeface="Century Gothic" panose="020B0502020202020204" pitchFamily="34" charset="0"/>
                  </a:rPr>
                  <a:t> que la </a:t>
                </a:r>
                <a:r>
                  <a:rPr lang="en-US" sz="1800" dirty="0" err="1">
                    <a:solidFill>
                      <a:schemeClr val="bg1"/>
                    </a:solidFill>
                    <a:latin typeface="Century Gothic" panose="020B0502020202020204" pitchFamily="34" charset="0"/>
                  </a:rPr>
                  <a:t>funcion</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probabilidad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condicional</a:t>
                </a:r>
                <a:r>
                  <a:rPr lang="en-US" sz="1800" dirty="0">
                    <a:solidFill>
                      <a:schemeClr val="bg1"/>
                    </a:solidFill>
                    <a:latin typeface="Century Gothic" panose="020B0502020202020204" pitchFamily="34" charset="0"/>
                  </a:rPr>
                  <a:t> de Y dado X es: </a:t>
                </a:r>
                <a14:m>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e>
                        </m:d>
                      </m:num>
                      <m:den>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den>
                    </m:f>
                  </m:oMath>
                </a14:m>
                <a:endParaRPr lang="en-US" sz="1800" dirty="0">
                  <a:solidFill>
                    <a:schemeClr val="bg1"/>
                  </a:solidFill>
                  <a:latin typeface="Century Gothic" panose="020B0502020202020204" pitchFamily="34" charset="0"/>
                </a:endParaRPr>
              </a:p>
            </p:txBody>
          </p:sp>
        </mc:Choice>
        <mc:Fallback xmlns="">
          <p:sp>
            <p:nvSpPr>
              <p:cNvPr id="4" name="CuadroTexto 3">
                <a:extLst>
                  <a:ext uri="{FF2B5EF4-FFF2-40B4-BE49-F238E27FC236}">
                    <a16:creationId xmlns:a16="http://schemas.microsoft.com/office/drawing/2014/main" id="{518A1C0F-0B45-0E49-0300-DCDF77427D43}"/>
                  </a:ext>
                </a:extLst>
              </p:cNvPr>
              <p:cNvSpPr txBox="1">
                <a:spLocks noRot="1" noChangeAspect="1" noMove="1" noResize="1" noEditPoints="1" noAdjustHandles="1" noChangeArrowheads="1" noChangeShapeType="1" noTextEdit="1"/>
              </p:cNvSpPr>
              <p:nvPr/>
            </p:nvSpPr>
            <p:spPr>
              <a:xfrm>
                <a:off x="339777" y="172977"/>
                <a:ext cx="11512445" cy="536237"/>
              </a:xfrm>
              <a:prstGeom prst="rect">
                <a:avLst/>
              </a:prstGeom>
              <a:blipFill>
                <a:blip r:embed="rId2"/>
                <a:stretch>
                  <a:fillRect l="-477" b="-681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767B0C3-AAC3-9FC3-7CBE-AE52E3C6CA5B}"/>
                  </a:ext>
                </a:extLst>
              </p:cNvPr>
              <p:cNvSpPr txBox="1"/>
              <p:nvPr/>
            </p:nvSpPr>
            <p:spPr>
              <a:xfrm>
                <a:off x="169885" y="850641"/>
                <a:ext cx="11852221" cy="1273747"/>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Para </a:t>
                </a:r>
                <a:r>
                  <a:rPr lang="en-US" sz="1800" dirty="0" err="1">
                    <a:solidFill>
                      <a:schemeClr val="bg1"/>
                    </a:solidFill>
                    <a:latin typeface="Century Gothic" panose="020B0502020202020204" pitchFamily="34" charset="0"/>
                  </a:rPr>
                  <a:t>ello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vamos</a:t>
                </a:r>
                <a:r>
                  <a:rPr lang="en-US" sz="1800" dirty="0">
                    <a:solidFill>
                      <a:schemeClr val="bg1"/>
                    </a:solidFill>
                    <a:latin typeface="Century Gothic" panose="020B0502020202020204" pitchFamily="34" charset="0"/>
                  </a:rPr>
                  <a:t> a </a:t>
                </a:r>
                <a:r>
                  <a:rPr lang="en-US" sz="1800" dirty="0" err="1">
                    <a:solidFill>
                      <a:schemeClr val="bg1"/>
                    </a:solidFill>
                    <a:latin typeface="Century Gothic" panose="020B0502020202020204" pitchFamily="34" charset="0"/>
                  </a:rPr>
                  <a:t>calcular</a:t>
                </a:r>
                <a:r>
                  <a:rPr lang="en-US" sz="1800" dirty="0">
                    <a:solidFill>
                      <a:schemeClr val="bg1"/>
                    </a:solidFill>
                    <a:latin typeface="Century Gothic" panose="020B0502020202020204" pitchFamily="34" charset="0"/>
                  </a:rPr>
                  <a:t> la function marginal de X:</a:t>
                </a:r>
              </a:p>
              <a:p>
                <a:pPr algn="just"/>
                <a:endParaRPr lang="en-US" sz="1800" dirty="0">
                  <a:solidFill>
                    <a:schemeClr val="bg1"/>
                  </a:solidFill>
                  <a:latin typeface="Century Gothic" panose="020B0502020202020204" pitchFamily="34" charset="0"/>
                </a:endParaRPr>
              </a:p>
              <a:p>
                <a:pPr algn="just"/>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 </m:t>
                          </m:r>
                          <m:r>
                            <m:rPr>
                              <m:lit/>
                              <m:brk m:alnAt="23"/>
                            </m:rP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m:t>
                          </m:r>
                        </m:sub>
                        <m:sup>
                          <m:r>
                            <a:rPr lang="en-US" sz="1800" b="0" i="1" smtClean="0">
                              <a:solidFill>
                                <a:schemeClr val="bg1"/>
                              </a:solidFill>
                              <a:latin typeface="Cambria Math" panose="02040503050406030204" pitchFamily="18" charset="0"/>
                            </a:rPr>
                            <m:t>∞</m:t>
                          </m:r>
                        </m:sup>
                        <m:e>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𝑑𝑦</m:t>
                          </m:r>
                        </m:e>
                      </m:nary>
                      <m:r>
                        <a:rPr lang="en-US" sz="1800" b="0" i="1" smtClean="0">
                          <a:solidFill>
                            <a:schemeClr val="bg1"/>
                          </a:solidFill>
                          <a:latin typeface="Cambria Math" panose="02040503050406030204" pitchFamily="18" charset="0"/>
                        </a:rPr>
                        <m:t>=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e>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2</m:t>
                              </m:r>
                            </m:num>
                            <m:den>
                              <m:r>
                                <a:rPr lang="en-US" sz="1800" i="1">
                                  <a:solidFill>
                                    <a:schemeClr val="bg1"/>
                                  </a:solidFill>
                                  <a:latin typeface="Cambria Math" panose="02040503050406030204" pitchFamily="18" charset="0"/>
                                </a:rPr>
                                <m:t>5</m:t>
                              </m:r>
                            </m:den>
                          </m:f>
                          <m:r>
                            <a:rPr lang="en-US" sz="1800" i="1">
                              <a:solidFill>
                                <a:schemeClr val="bg1"/>
                              </a:solidFill>
                              <a:latin typeface="Cambria Math" panose="02040503050406030204" pitchFamily="18" charset="0"/>
                            </a:rPr>
                            <m:t> ∗</m:t>
                          </m:r>
                          <m:d>
                            <m:dPr>
                              <m:ctrlPr>
                                <a:rPr lang="en-US" sz="1800" i="1">
                                  <a:solidFill>
                                    <a:schemeClr val="bg1"/>
                                  </a:solidFill>
                                  <a:latin typeface="Cambria Math" panose="02040503050406030204" pitchFamily="18" charset="0"/>
                                </a:rPr>
                              </m:ctrlPr>
                            </m:dPr>
                            <m:e>
                              <m:r>
                                <a:rPr lang="en-US" sz="1800" i="1">
                                  <a:solidFill>
                                    <a:schemeClr val="bg1"/>
                                  </a:solidFill>
                                  <a:latin typeface="Cambria Math" panose="02040503050406030204" pitchFamily="18" charset="0"/>
                                </a:rPr>
                                <m:t>2</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+3</m:t>
                              </m:r>
                              <m:r>
                                <a:rPr lang="en-US" sz="1800" i="1">
                                  <a:solidFill>
                                    <a:schemeClr val="bg1"/>
                                  </a:solidFill>
                                  <a:latin typeface="Cambria Math" panose="02040503050406030204" pitchFamily="18" charset="0"/>
                                </a:rPr>
                                <m:t>𝑦</m:t>
                              </m:r>
                            </m:e>
                          </m:d>
                        </m:e>
                      </m:nary>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𝑑𝑦</m:t>
                      </m:r>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2</m:t>
                          </m:r>
                        </m:num>
                        <m:den>
                          <m:r>
                            <a:rPr lang="en-US" sz="1800" b="0" i="1" smtClean="0">
                              <a:solidFill>
                                <a:schemeClr val="bg1"/>
                              </a:solidFill>
                              <a:latin typeface="Cambria Math" panose="02040503050406030204" pitchFamily="18" charset="0"/>
                            </a:rPr>
                            <m:t>5</m:t>
                          </m:r>
                        </m:den>
                      </m:f>
                      <m:r>
                        <a:rPr lang="en-US" sz="1800" b="0" i="1" smtClean="0">
                          <a:solidFill>
                            <a:schemeClr val="bg1"/>
                          </a:solidFill>
                          <a:latin typeface="Cambria Math" panose="02040503050406030204" pitchFamily="18" charset="0"/>
                        </a:rPr>
                        <m:t> </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2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e>
                              <m:r>
                                <a:rPr lang="en-US" sz="1800" b="0" i="1" smtClean="0">
                                  <a:solidFill>
                                    <a:schemeClr val="bg1"/>
                                  </a:solidFill>
                                  <a:latin typeface="Cambria Math" panose="02040503050406030204" pitchFamily="18" charset="0"/>
                                </a:rPr>
                                <m:t>𝑥</m:t>
                              </m:r>
                            </m:e>
                          </m:nary>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𝑑𝑦</m:t>
                          </m:r>
                          <m:r>
                            <a:rPr lang="en-US" sz="1800" b="0" i="1" smtClean="0">
                              <a:solidFill>
                                <a:schemeClr val="bg1"/>
                              </a:solidFill>
                              <a:latin typeface="Cambria Math" panose="02040503050406030204" pitchFamily="18" charset="0"/>
                            </a:rPr>
                            <m:t>+3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e>
                              <m:r>
                                <a:rPr lang="en-US" sz="1800" b="0" i="1" smtClean="0">
                                  <a:solidFill>
                                    <a:schemeClr val="bg1"/>
                                  </a:solidFill>
                                  <a:latin typeface="Cambria Math" panose="02040503050406030204" pitchFamily="18" charset="0"/>
                                </a:rPr>
                                <m:t>𝑦</m:t>
                              </m:r>
                            </m:e>
                          </m:nary>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𝑑𝑦</m:t>
                          </m:r>
                        </m:e>
                      </m:d>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2</m:t>
                          </m:r>
                        </m:num>
                        <m:den>
                          <m:r>
                            <a:rPr lang="en-US" sz="1800" b="0" i="1" smtClean="0">
                              <a:solidFill>
                                <a:schemeClr val="bg1"/>
                              </a:solidFill>
                              <a:latin typeface="Cambria Math" panose="02040503050406030204" pitchFamily="18" charset="0"/>
                            </a:rPr>
                            <m:t>5</m:t>
                          </m:r>
                        </m:den>
                      </m:f>
                      <m:r>
                        <a:rPr lang="en-US" sz="1800" b="0" i="1" smtClean="0">
                          <a:solidFill>
                            <a:schemeClr val="bg1"/>
                          </a:solidFill>
                          <a:latin typeface="Cambria Math" panose="02040503050406030204" pitchFamily="18" charset="0"/>
                        </a:rPr>
                        <m:t> </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2</m:t>
                          </m:r>
                          <m:r>
                            <a:rPr lang="en-US" sz="1800" b="0" i="1" smtClean="0">
                              <a:solidFill>
                                <a:schemeClr val="bg1"/>
                              </a:solidFill>
                              <a:latin typeface="Cambria Math" panose="02040503050406030204" pitchFamily="18" charset="0"/>
                            </a:rPr>
                            <m:t>𝑥𝑦</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sSubSup>
                          <m:r>
                            <a:rPr lang="en-US" sz="1800" b="0" i="1" smtClean="0">
                              <a:solidFill>
                                <a:schemeClr val="bg1"/>
                              </a:solidFill>
                              <a:latin typeface="Cambria Math" panose="02040503050406030204" pitchFamily="18" charset="0"/>
                            </a:rPr>
                            <m:t>+3</m:t>
                          </m:r>
                          <m:r>
                            <a:rPr lang="en-US" sz="1800" b="0" i="1" smtClean="0">
                              <a:solidFill>
                                <a:schemeClr val="bg1"/>
                              </a:solidFill>
                              <a:latin typeface="Cambria Math" panose="02040503050406030204" pitchFamily="18" charset="0"/>
                            </a:rPr>
                            <m:t>𝑥</m:t>
                          </m:r>
                          <m:f>
                            <m:fPr>
                              <m:ctrlPr>
                                <a:rPr lang="en-US" sz="1800" b="0" i="1" smtClean="0">
                                  <a:solidFill>
                                    <a:schemeClr val="bg1"/>
                                  </a:solidFill>
                                  <a:latin typeface="Cambria Math" panose="02040503050406030204" pitchFamily="18" charset="0"/>
                                </a:rPr>
                              </m:ctrlPr>
                            </m:fPr>
                            <m:num>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𝑦</m:t>
                                  </m:r>
                                </m:e>
                                <m:sup>
                                  <m:r>
                                    <a:rPr lang="en-US" sz="1800" b="0" i="1" smtClean="0">
                                      <a:solidFill>
                                        <a:schemeClr val="bg1"/>
                                      </a:solidFill>
                                      <a:latin typeface="Cambria Math" panose="02040503050406030204" pitchFamily="18" charset="0"/>
                                    </a:rPr>
                                    <m:t>2</m:t>
                                  </m:r>
                                </m:sup>
                              </m:sSup>
                            </m:num>
                            <m:den>
                              <m:r>
                                <a:rPr lang="en-US" sz="1800" b="0" i="1" smtClean="0">
                                  <a:solidFill>
                                    <a:schemeClr val="bg1"/>
                                  </a:solidFill>
                                  <a:latin typeface="Cambria Math" panose="02040503050406030204" pitchFamily="18" charset="0"/>
                                </a:rPr>
                                <m:t>2</m:t>
                              </m:r>
                            </m:den>
                          </m:f>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sSubSup>
                        </m:e>
                      </m:d>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2</m:t>
                          </m:r>
                        </m:num>
                        <m:den>
                          <m:r>
                            <a:rPr lang="en-US" sz="1800" b="0" i="1" smtClean="0">
                              <a:solidFill>
                                <a:schemeClr val="bg1"/>
                              </a:solidFill>
                              <a:latin typeface="Cambria Math" panose="02040503050406030204" pitchFamily="18" charset="0"/>
                            </a:rPr>
                            <m:t>5</m:t>
                          </m:r>
                        </m:den>
                      </m:f>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2</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3</m:t>
                              </m:r>
                              <m:r>
                                <a:rPr lang="en-US" sz="1800" b="0" i="1" smtClean="0">
                                  <a:solidFill>
                                    <a:schemeClr val="bg1"/>
                                  </a:solidFill>
                                  <a:latin typeface="Cambria Math" panose="02040503050406030204" pitchFamily="18" charset="0"/>
                                </a:rPr>
                                <m:t>𝑥</m:t>
                              </m:r>
                            </m:num>
                            <m:den>
                              <m:r>
                                <a:rPr lang="en-US" sz="1800" b="0" i="1" smtClean="0">
                                  <a:solidFill>
                                    <a:schemeClr val="bg1"/>
                                  </a:solidFill>
                                  <a:latin typeface="Cambria Math" panose="02040503050406030204" pitchFamily="18" charset="0"/>
                                </a:rPr>
                                <m:t>2</m:t>
                              </m:r>
                            </m:den>
                          </m:f>
                        </m:e>
                      </m:d>
                    </m:oMath>
                  </m:oMathPara>
                </a14:m>
                <a:endParaRPr lang="en-US" sz="1800" dirty="0">
                  <a:solidFill>
                    <a:schemeClr val="bg1"/>
                  </a:solidFill>
                  <a:latin typeface="Century Gothic" panose="020B0502020202020204" pitchFamily="34" charset="0"/>
                </a:endParaRPr>
              </a:p>
            </p:txBody>
          </p:sp>
        </mc:Choice>
        <mc:Fallback xmlns="">
          <p:sp>
            <p:nvSpPr>
              <p:cNvPr id="5" name="CuadroTexto 4">
                <a:extLst>
                  <a:ext uri="{FF2B5EF4-FFF2-40B4-BE49-F238E27FC236}">
                    <a16:creationId xmlns:a16="http://schemas.microsoft.com/office/drawing/2014/main" id="{5767B0C3-AAC3-9FC3-7CBE-AE52E3C6CA5B}"/>
                  </a:ext>
                </a:extLst>
              </p:cNvPr>
              <p:cNvSpPr txBox="1">
                <a:spLocks noRot="1" noChangeAspect="1" noMove="1" noResize="1" noEditPoints="1" noAdjustHandles="1" noChangeArrowheads="1" noChangeShapeType="1" noTextEdit="1"/>
              </p:cNvSpPr>
              <p:nvPr/>
            </p:nvSpPr>
            <p:spPr>
              <a:xfrm>
                <a:off x="169885" y="850641"/>
                <a:ext cx="11852221" cy="1273747"/>
              </a:xfrm>
              <a:prstGeom prst="rect">
                <a:avLst/>
              </a:prstGeom>
              <a:blipFill>
                <a:blip r:embed="rId3"/>
                <a:stretch>
                  <a:fillRect l="-463" t="-288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AE6369F-5729-D5D7-239F-6D4F48DCD120}"/>
                  </a:ext>
                </a:extLst>
              </p:cNvPr>
              <p:cNvSpPr txBox="1"/>
              <p:nvPr/>
            </p:nvSpPr>
            <p:spPr>
              <a:xfrm>
                <a:off x="339775" y="2271011"/>
                <a:ext cx="11512445" cy="1615250"/>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Para </a:t>
                </a:r>
                <a:r>
                  <a:rPr lang="en-US" sz="1800" dirty="0" err="1">
                    <a:solidFill>
                      <a:schemeClr val="bg1"/>
                    </a:solidFill>
                    <a:latin typeface="Century Gothic" panose="020B0502020202020204" pitchFamily="34" charset="0"/>
                  </a:rPr>
                  <a:t>ello</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vamos</a:t>
                </a:r>
                <a:r>
                  <a:rPr lang="en-US" sz="1800" dirty="0">
                    <a:solidFill>
                      <a:schemeClr val="bg1"/>
                    </a:solidFill>
                    <a:latin typeface="Century Gothic" panose="020B0502020202020204" pitchFamily="34" charset="0"/>
                  </a:rPr>
                  <a:t> a </a:t>
                </a:r>
                <a:r>
                  <a:rPr lang="en-US" sz="1800" dirty="0" err="1">
                    <a:solidFill>
                      <a:schemeClr val="bg1"/>
                    </a:solidFill>
                    <a:latin typeface="Century Gothic" panose="020B0502020202020204" pitchFamily="34" charset="0"/>
                  </a:rPr>
                  <a:t>calcular</a:t>
                </a:r>
                <a:r>
                  <a:rPr lang="en-US" sz="1800" dirty="0">
                    <a:solidFill>
                      <a:schemeClr val="bg1"/>
                    </a:solidFill>
                    <a:latin typeface="Century Gothic" panose="020B0502020202020204" pitchFamily="34" charset="0"/>
                  </a:rPr>
                  <a:t> la function marginal de X Nuestra </a:t>
                </a:r>
                <a:r>
                  <a:rPr lang="en-US" sz="1800" dirty="0" err="1">
                    <a:solidFill>
                      <a:schemeClr val="bg1"/>
                    </a:solidFill>
                    <a:latin typeface="Century Gothic" panose="020B0502020202020204" pitchFamily="34" charset="0"/>
                  </a:rPr>
                  <a:t>funcion</a:t>
                </a:r>
                <a:r>
                  <a:rPr lang="en-US" sz="1800" dirty="0">
                    <a:solidFill>
                      <a:schemeClr val="bg1"/>
                    </a:solidFill>
                    <a:latin typeface="Century Gothic" panose="020B0502020202020204" pitchFamily="34" charset="0"/>
                  </a:rPr>
                  <a:t> de </a:t>
                </a:r>
                <a:r>
                  <a:rPr lang="en-US" sz="1800" dirty="0" err="1">
                    <a:solidFill>
                      <a:schemeClr val="bg1"/>
                    </a:solidFill>
                    <a:latin typeface="Century Gothic" panose="020B0502020202020204" pitchFamily="34" charset="0"/>
                  </a:rPr>
                  <a:t>probabilidad</a:t>
                </a:r>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condicional</a:t>
                </a:r>
                <a:r>
                  <a:rPr lang="en-US" sz="1800" dirty="0">
                    <a:solidFill>
                      <a:schemeClr val="bg1"/>
                    </a:solidFill>
                    <a:latin typeface="Century Gothic" panose="020B0502020202020204" pitchFamily="34" charset="0"/>
                  </a:rPr>
                  <a:t> de Y dado X es :</a:t>
                </a:r>
              </a:p>
              <a:p>
                <a:pPr algn="just"/>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e>
                          </m:d>
                        </m:num>
                        <m:den>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den>
                      </m:f>
                      <m:r>
                        <a:rPr lang="en-US" sz="1800" b="0" i="1" smtClean="0">
                          <a:solidFill>
                            <a:schemeClr val="bg1"/>
                          </a:solidFill>
                          <a:latin typeface="Cambria Math" panose="02040503050406030204" pitchFamily="18" charset="0"/>
                        </a:rPr>
                        <m:t>= </m:t>
                      </m:r>
                      <m:f>
                        <m:fPr>
                          <m:ctrlPr>
                            <a:rPr lang="en-US" sz="1800" b="0" i="1" smtClean="0">
                              <a:solidFill>
                                <a:schemeClr val="bg1"/>
                              </a:solidFill>
                              <a:latin typeface="Cambria Math" panose="02040503050406030204" pitchFamily="18" charset="0"/>
                            </a:rPr>
                          </m:ctrlPr>
                        </m:fPr>
                        <m:num>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2</m:t>
                              </m:r>
                            </m:num>
                            <m:den>
                              <m:r>
                                <a:rPr lang="en-US" sz="1800" i="1">
                                  <a:solidFill>
                                    <a:schemeClr val="bg1"/>
                                  </a:solidFill>
                                  <a:latin typeface="Cambria Math" panose="02040503050406030204" pitchFamily="18" charset="0"/>
                                </a:rPr>
                                <m:t>5</m:t>
                              </m:r>
                            </m:den>
                          </m:f>
                          <m:r>
                            <a:rPr lang="en-US" sz="1800" i="1">
                              <a:solidFill>
                                <a:schemeClr val="bg1"/>
                              </a:solidFill>
                              <a:latin typeface="Cambria Math" panose="02040503050406030204" pitchFamily="18" charset="0"/>
                            </a:rPr>
                            <m:t> ∗</m:t>
                          </m:r>
                          <m:d>
                            <m:dPr>
                              <m:ctrlPr>
                                <a:rPr lang="en-US" sz="1800" i="1">
                                  <a:solidFill>
                                    <a:schemeClr val="bg1"/>
                                  </a:solidFill>
                                  <a:latin typeface="Cambria Math" panose="02040503050406030204" pitchFamily="18" charset="0"/>
                                </a:rPr>
                              </m:ctrlPr>
                            </m:dPr>
                            <m:e>
                              <m:r>
                                <a:rPr lang="en-US" sz="1800" i="1">
                                  <a:solidFill>
                                    <a:schemeClr val="bg1"/>
                                  </a:solidFill>
                                  <a:latin typeface="Cambria Math" panose="02040503050406030204" pitchFamily="18" charset="0"/>
                                </a:rPr>
                                <m:t>2</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+3</m:t>
                              </m:r>
                              <m:r>
                                <a:rPr lang="en-US" sz="1800" i="1">
                                  <a:solidFill>
                                    <a:schemeClr val="bg1"/>
                                  </a:solidFill>
                                  <a:latin typeface="Cambria Math" panose="02040503050406030204" pitchFamily="18" charset="0"/>
                                </a:rPr>
                                <m:t>𝑦</m:t>
                              </m:r>
                            </m:e>
                          </m:d>
                        </m:num>
                        <m:den>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2</m:t>
                              </m:r>
                            </m:num>
                            <m:den>
                              <m:r>
                                <a:rPr lang="en-US" sz="1800" i="1">
                                  <a:solidFill>
                                    <a:schemeClr val="bg1"/>
                                  </a:solidFill>
                                  <a:latin typeface="Cambria Math" panose="02040503050406030204" pitchFamily="18" charset="0"/>
                                </a:rPr>
                                <m:t>5</m:t>
                              </m:r>
                            </m:den>
                          </m:f>
                          <m:d>
                            <m:dPr>
                              <m:begChr m:val="["/>
                              <m:endChr m:val="]"/>
                              <m:ctrlPr>
                                <a:rPr lang="en-US" sz="1800" i="1">
                                  <a:solidFill>
                                    <a:schemeClr val="bg1"/>
                                  </a:solidFill>
                                  <a:latin typeface="Cambria Math" panose="02040503050406030204" pitchFamily="18" charset="0"/>
                                </a:rPr>
                              </m:ctrlPr>
                            </m:dPr>
                            <m:e>
                              <m:r>
                                <a:rPr lang="en-US" sz="1800" i="1">
                                  <a:solidFill>
                                    <a:schemeClr val="bg1"/>
                                  </a:solidFill>
                                  <a:latin typeface="Cambria Math" panose="02040503050406030204" pitchFamily="18" charset="0"/>
                                </a:rPr>
                                <m:t>2</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m:t>
                              </m:r>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3</m:t>
                                  </m:r>
                                  <m:r>
                                    <a:rPr lang="en-US" sz="1800" i="1">
                                      <a:solidFill>
                                        <a:schemeClr val="bg1"/>
                                      </a:solidFill>
                                      <a:latin typeface="Cambria Math" panose="02040503050406030204" pitchFamily="18" charset="0"/>
                                    </a:rPr>
                                    <m:t>𝑥</m:t>
                                  </m:r>
                                </m:num>
                                <m:den>
                                  <m:r>
                                    <a:rPr lang="en-US" sz="1800" i="1">
                                      <a:solidFill>
                                        <a:schemeClr val="bg1"/>
                                      </a:solidFill>
                                      <a:latin typeface="Cambria Math" panose="02040503050406030204" pitchFamily="18" charset="0"/>
                                    </a:rPr>
                                    <m:t>2</m:t>
                                  </m:r>
                                </m:den>
                              </m:f>
                            </m:e>
                          </m:d>
                        </m:den>
                      </m:f>
                      <m:r>
                        <a:rPr lang="en-US" sz="1800" b="0" i="1" smtClean="0">
                          <a:solidFill>
                            <a:schemeClr val="bg1"/>
                          </a:solidFill>
                          <a:latin typeface="Cambria Math" panose="02040503050406030204" pitchFamily="18" charset="0"/>
                        </a:rPr>
                        <m:t>= </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2</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+3</m:t>
                          </m:r>
                          <m:r>
                            <a:rPr lang="en-US" sz="1800" b="0" i="1" smtClean="0">
                              <a:solidFill>
                                <a:schemeClr val="bg1"/>
                              </a:solidFill>
                              <a:latin typeface="Cambria Math" panose="02040503050406030204" pitchFamily="18" charset="0"/>
                            </a:rPr>
                            <m:t>𝑦</m:t>
                          </m:r>
                        </m:num>
                        <m:den>
                          <m:r>
                            <a:rPr lang="en-US" sz="1800" b="0" i="1" smtClean="0">
                              <a:solidFill>
                                <a:schemeClr val="bg1"/>
                              </a:solidFill>
                              <a:latin typeface="Cambria Math" panose="02040503050406030204" pitchFamily="18" charset="0"/>
                            </a:rPr>
                            <m:t>2</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3</m:t>
                              </m:r>
                              <m:r>
                                <a:rPr lang="en-US" sz="1800" i="1">
                                  <a:solidFill>
                                    <a:schemeClr val="bg1"/>
                                  </a:solidFill>
                                  <a:latin typeface="Cambria Math" panose="02040503050406030204" pitchFamily="18" charset="0"/>
                                </a:rPr>
                                <m:t>𝑥</m:t>
                              </m:r>
                            </m:num>
                            <m:den>
                              <m:r>
                                <a:rPr lang="en-US" sz="1800" i="1">
                                  <a:solidFill>
                                    <a:schemeClr val="bg1"/>
                                  </a:solidFill>
                                  <a:latin typeface="Cambria Math" panose="02040503050406030204" pitchFamily="18" charset="0"/>
                                </a:rPr>
                                <m:t>2</m:t>
                              </m:r>
                            </m:den>
                          </m:f>
                        </m:den>
                      </m:f>
                      <m:r>
                        <a:rPr lang="en-US" sz="1800" b="0" i="1" smtClean="0">
                          <a:solidFill>
                            <a:schemeClr val="bg1"/>
                          </a:solidFill>
                          <a:latin typeface="Cambria Math" panose="02040503050406030204" pitchFamily="18" charset="0"/>
                        </a:rPr>
                        <m:t> =</m:t>
                      </m:r>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2</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+3</m:t>
                          </m:r>
                          <m:r>
                            <a:rPr lang="en-US" sz="1800" i="1">
                              <a:solidFill>
                                <a:schemeClr val="bg1"/>
                              </a:solidFill>
                              <a:latin typeface="Cambria Math" panose="02040503050406030204" pitchFamily="18" charset="0"/>
                            </a:rPr>
                            <m:t>𝑦</m:t>
                          </m:r>
                        </m:num>
                        <m:den>
                          <m:f>
                            <m:fPr>
                              <m:ctrlPr>
                                <a:rPr lang="en-US" sz="1800" i="1">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7</m:t>
                              </m:r>
                              <m:r>
                                <a:rPr lang="en-US" sz="1800" i="1">
                                  <a:solidFill>
                                    <a:schemeClr val="bg1"/>
                                  </a:solidFill>
                                  <a:latin typeface="Cambria Math" panose="02040503050406030204" pitchFamily="18" charset="0"/>
                                </a:rPr>
                                <m:t>𝑥</m:t>
                              </m:r>
                            </m:num>
                            <m:den>
                              <m:r>
                                <a:rPr lang="en-US" sz="1800" i="1">
                                  <a:solidFill>
                                    <a:schemeClr val="bg1"/>
                                  </a:solidFill>
                                  <a:latin typeface="Cambria Math" panose="02040503050406030204" pitchFamily="18" charset="0"/>
                                </a:rPr>
                                <m:t>2</m:t>
                              </m:r>
                            </m:den>
                          </m:f>
                        </m:den>
                      </m:f>
                      <m:r>
                        <a:rPr lang="en-US" sz="1800" b="0" i="1" smtClean="0">
                          <a:solidFill>
                            <a:schemeClr val="bg1"/>
                          </a:solidFill>
                          <a:latin typeface="Cambria Math" panose="02040503050406030204" pitchFamily="18" charset="0"/>
                        </a:rPr>
                        <m:t>=</m:t>
                      </m:r>
                      <m:f>
                        <m:fPr>
                          <m:ctrlPr>
                            <a:rPr lang="en-US" sz="1800" i="1">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4</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+6</m:t>
                          </m:r>
                          <m:r>
                            <a:rPr lang="en-US" sz="1800" i="1">
                              <a:solidFill>
                                <a:schemeClr val="bg1"/>
                              </a:solidFill>
                              <a:latin typeface="Cambria Math" panose="02040503050406030204" pitchFamily="18" charset="0"/>
                            </a:rPr>
                            <m:t>𝑦</m:t>
                          </m:r>
                        </m:num>
                        <m:den>
                          <m:r>
                            <a:rPr lang="en-US" sz="1800" b="0" i="1" smtClean="0">
                              <a:solidFill>
                                <a:schemeClr val="bg1"/>
                              </a:solidFill>
                              <a:latin typeface="Cambria Math" panose="02040503050406030204" pitchFamily="18" charset="0"/>
                            </a:rPr>
                            <m:t>7</m:t>
                          </m:r>
                          <m:r>
                            <a:rPr lang="en-US" sz="1800" b="0" i="1" smtClean="0">
                              <a:solidFill>
                                <a:schemeClr val="bg1"/>
                              </a:solidFill>
                              <a:latin typeface="Cambria Math" panose="02040503050406030204" pitchFamily="18" charset="0"/>
                            </a:rPr>
                            <m:t>𝑥</m:t>
                          </m:r>
                        </m:den>
                      </m:f>
                    </m:oMath>
                  </m:oMathPara>
                </a14:m>
                <a:endParaRPr lang="en-US" sz="1800" dirty="0">
                  <a:solidFill>
                    <a:schemeClr val="bg1"/>
                  </a:solidFill>
                  <a:latin typeface="Century Gothic" panose="020B0502020202020204" pitchFamily="34" charset="0"/>
                </a:endParaRPr>
              </a:p>
            </p:txBody>
          </p:sp>
        </mc:Choice>
        <mc:Fallback xmlns="">
          <p:sp>
            <p:nvSpPr>
              <p:cNvPr id="6" name="CuadroTexto 5">
                <a:extLst>
                  <a:ext uri="{FF2B5EF4-FFF2-40B4-BE49-F238E27FC236}">
                    <a16:creationId xmlns:a16="http://schemas.microsoft.com/office/drawing/2014/main" id="{6AE6369F-5729-D5D7-239F-6D4F48DCD120}"/>
                  </a:ext>
                </a:extLst>
              </p:cNvPr>
              <p:cNvSpPr txBox="1">
                <a:spLocks noRot="1" noChangeAspect="1" noMove="1" noResize="1" noEditPoints="1" noAdjustHandles="1" noChangeArrowheads="1" noChangeShapeType="1" noTextEdit="1"/>
              </p:cNvSpPr>
              <p:nvPr/>
            </p:nvSpPr>
            <p:spPr>
              <a:xfrm>
                <a:off x="339775" y="2271011"/>
                <a:ext cx="11512445" cy="1615250"/>
              </a:xfrm>
              <a:prstGeom prst="rect">
                <a:avLst/>
              </a:prstGeom>
              <a:blipFill>
                <a:blip r:embed="rId4"/>
                <a:stretch>
                  <a:fillRect l="-477" t="-2264" r="-42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213EE10-82F8-112E-B416-28EEC75735C0}"/>
                  </a:ext>
                </a:extLst>
              </p:cNvPr>
              <p:cNvSpPr txBox="1"/>
              <p:nvPr/>
            </p:nvSpPr>
            <p:spPr>
              <a:xfrm>
                <a:off x="199869" y="4099337"/>
                <a:ext cx="11992131" cy="2457532"/>
              </a:xfrm>
              <a:prstGeom prst="rect">
                <a:avLst/>
              </a:prstGeom>
              <a:noFill/>
            </p:spPr>
            <p:txBody>
              <a:bodyPr wrap="square">
                <a:spAutoFit/>
              </a:bodyPr>
              <a:lstStyle/>
              <a:p>
                <a:pPr algn="just"/>
                <a:r>
                  <a:rPr lang="en-US" sz="1800" dirty="0">
                    <a:solidFill>
                      <a:schemeClr val="bg1"/>
                    </a:solidFill>
                    <a:latin typeface="Century Gothic" panose="020B0502020202020204" pitchFamily="34" charset="0"/>
                  </a:rPr>
                  <a:t>Calculamos al Esperanza de </a:t>
                </a:r>
                <a14:m>
                  <m:oMath xmlns:m="http://schemas.openxmlformats.org/officeDocument/2006/math">
                    <m:r>
                      <a:rPr lang="en-US" sz="1800" b="0" i="1" smtClean="0">
                        <a:solidFill>
                          <a:schemeClr val="bg1"/>
                        </a:solidFill>
                        <a:latin typeface="Cambria Math" panose="02040503050406030204" pitchFamily="18" charset="0"/>
                      </a:rPr>
                      <m:t>𝑓</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e>
                    </m:d>
                  </m:oMath>
                </a14:m>
                <a:r>
                  <a:rPr lang="en-US" sz="1800" dirty="0">
                    <a:solidFill>
                      <a:schemeClr val="bg1"/>
                    </a:solidFill>
                    <a:latin typeface="Century Gothic" panose="020B0502020202020204" pitchFamily="34" charset="0"/>
                  </a:rPr>
                  <a:t>, </a:t>
                </a:r>
                <a:r>
                  <a:rPr lang="en-US" sz="1800" dirty="0" err="1">
                    <a:solidFill>
                      <a:schemeClr val="bg1"/>
                    </a:solidFill>
                    <a:latin typeface="Century Gothic" panose="020B0502020202020204" pitchFamily="34" charset="0"/>
                  </a:rPr>
                  <a:t>obteniendo</a:t>
                </a:r>
                <a:r>
                  <a:rPr lang="en-US" sz="1800" dirty="0">
                    <a:solidFill>
                      <a:schemeClr val="bg1"/>
                    </a:solidFill>
                    <a:latin typeface="Century Gothic" panose="020B0502020202020204" pitchFamily="34" charset="0"/>
                  </a:rPr>
                  <a:t> lo que es: </a:t>
                </a:r>
              </a:p>
              <a:p>
                <a:pPr algn="just"/>
                <a:endParaRPr lang="en-US" sz="1800" dirty="0">
                  <a:solidFill>
                    <a:schemeClr val="bg1"/>
                  </a:solidFill>
                  <a:latin typeface="Century Gothic" panose="020B0502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𝜇</m:t>
                          </m:r>
                        </m:e>
                        <m:sub>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𝐸</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𝑋</m:t>
                          </m:r>
                        </m:e>
                      </m:d>
                      <m:r>
                        <a:rPr lang="en-US" sz="1800" b="0" i="1" smtClean="0">
                          <a:solidFill>
                            <a:schemeClr val="bg1"/>
                          </a:solidFill>
                          <a:latin typeface="Cambria Math" panose="02040503050406030204" pitchFamily="18" charset="0"/>
                        </a:rPr>
                        <m:t>=</m:t>
                      </m:r>
                      <m:nary>
                        <m:naryPr>
                          <m:ctrlPr>
                            <a:rPr lang="en-US" sz="1800" i="1">
                              <a:solidFill>
                                <a:schemeClr val="bg1"/>
                              </a:solidFill>
                              <a:latin typeface="Cambria Math" panose="02040503050406030204" pitchFamily="18" charset="0"/>
                            </a:rPr>
                          </m:ctrlPr>
                        </m:naryPr>
                        <m:sub>
                          <m:r>
                            <m:rPr>
                              <m:brk m:alnAt="23"/>
                            </m:rPr>
                            <a:rPr lang="en-US" sz="1800" i="1">
                              <a:solidFill>
                                <a:schemeClr val="bg1"/>
                              </a:solidFill>
                              <a:latin typeface="Cambria Math" panose="02040503050406030204" pitchFamily="18" charset="0"/>
                            </a:rPr>
                            <m:t>−</m:t>
                          </m:r>
                          <m:r>
                            <a:rPr lang="en-US" sz="1800" i="1">
                              <a:solidFill>
                                <a:schemeClr val="bg1"/>
                              </a:solidFill>
                              <a:latin typeface="Cambria Math" panose="02040503050406030204" pitchFamily="18" charset="0"/>
                            </a:rPr>
                            <m:t> ∞</m:t>
                          </m:r>
                        </m:sub>
                        <m:sup>
                          <m:r>
                            <a:rPr lang="en-US" sz="1800" i="1">
                              <a:solidFill>
                                <a:schemeClr val="bg1"/>
                              </a:solidFill>
                              <a:latin typeface="Cambria Math" panose="02040503050406030204" pitchFamily="18" charset="0"/>
                            </a:rPr>
                            <m:t>∞</m:t>
                          </m:r>
                        </m:sup>
                        <m:e>
                          <m:r>
                            <a:rPr lang="en-US" sz="1800" i="1">
                              <a:solidFill>
                                <a:schemeClr val="bg1"/>
                              </a:solidFill>
                              <a:latin typeface="Cambria Math" panose="02040503050406030204" pitchFamily="18" charset="0"/>
                            </a:rPr>
                            <m:t>𝑦</m:t>
                          </m:r>
                          <m:r>
                            <a:rPr lang="en-US" sz="1800" i="1">
                              <a:solidFill>
                                <a:schemeClr val="bg1"/>
                              </a:solidFill>
                              <a:latin typeface="Cambria Math" panose="02040503050406030204" pitchFamily="18" charset="0"/>
                            </a:rPr>
                            <m:t> ∗</m:t>
                          </m:r>
                          <m:r>
                            <a:rPr lang="en-US" sz="1800" i="1">
                              <a:solidFill>
                                <a:schemeClr val="bg1"/>
                              </a:solidFill>
                              <a:latin typeface="Cambria Math" panose="02040503050406030204" pitchFamily="18" charset="0"/>
                            </a:rPr>
                            <m:t>𝑓</m:t>
                          </m:r>
                          <m:d>
                            <m:dPr>
                              <m:ctrlPr>
                                <a:rPr lang="en-US" sz="1800" i="1">
                                  <a:solidFill>
                                    <a:schemeClr val="bg1"/>
                                  </a:solidFill>
                                  <a:latin typeface="Cambria Math" panose="02040503050406030204" pitchFamily="18" charset="0"/>
                                </a:rPr>
                              </m:ctrlPr>
                            </m:dPr>
                            <m:e>
                              <m:r>
                                <a:rPr lang="en-US" sz="1800" i="1">
                                  <a:solidFill>
                                    <a:schemeClr val="bg1"/>
                                  </a:solidFill>
                                  <a:latin typeface="Cambria Math" panose="02040503050406030204" pitchFamily="18" charset="0"/>
                                </a:rPr>
                                <m:t>𝑦</m:t>
                              </m:r>
                              <m:r>
                                <a:rPr lang="en-US" sz="1800" i="1">
                                  <a:solidFill>
                                    <a:schemeClr val="bg1"/>
                                  </a:solidFill>
                                  <a:latin typeface="Cambria Math" panose="02040503050406030204" pitchFamily="18" charset="0"/>
                                </a:rPr>
                                <m:t>|</m:t>
                              </m:r>
                              <m:r>
                                <a:rPr lang="en-US" sz="1800" i="1">
                                  <a:solidFill>
                                    <a:schemeClr val="bg1"/>
                                  </a:solidFill>
                                  <a:latin typeface="Cambria Math" panose="02040503050406030204" pitchFamily="18" charset="0"/>
                                </a:rPr>
                                <m:t>𝑥</m:t>
                              </m:r>
                            </m:e>
                          </m:d>
                        </m:e>
                      </m:nary>
                      <m:r>
                        <a:rPr lang="en-US" sz="1800" i="1">
                          <a:solidFill>
                            <a:schemeClr val="bg1"/>
                          </a:solidFill>
                          <a:latin typeface="Cambria Math" panose="02040503050406030204" pitchFamily="18" charset="0"/>
                        </a:rPr>
                        <m:t> </m:t>
                      </m:r>
                      <m:r>
                        <a:rPr lang="en-US" sz="1800" i="1">
                          <a:solidFill>
                            <a:schemeClr val="bg1"/>
                          </a:solidFill>
                          <a:latin typeface="Cambria Math" panose="02040503050406030204" pitchFamily="18" charset="0"/>
                        </a:rPr>
                        <m:t>𝑑𝑦</m:t>
                      </m:r>
                      <m:r>
                        <a:rPr lang="en-US" sz="1800" b="0" i="1" smtClean="0">
                          <a:solidFill>
                            <a:schemeClr val="bg1"/>
                          </a:solidFill>
                          <a:latin typeface="Cambria Math" panose="02040503050406030204" pitchFamily="18" charset="0"/>
                        </a:rPr>
                        <m:t>= </m:t>
                      </m:r>
                      <m:nary>
                        <m:naryPr>
                          <m:ctrlPr>
                            <a:rPr lang="en-US" sz="1800" b="0" i="1" smtClean="0">
                              <a:solidFill>
                                <a:schemeClr val="bg1"/>
                              </a:solidFill>
                              <a:latin typeface="Cambria Math" panose="02040503050406030204" pitchFamily="18" charset="0"/>
                            </a:rPr>
                          </m:ctrlPr>
                        </m:naryPr>
                        <m:sub>
                          <m:r>
                            <m:rPr>
                              <m:brk m:alnAt="23"/>
                            </m:rPr>
                            <a:rPr lang="en-US" sz="1800" b="0" i="1" smtClean="0">
                              <a:solidFill>
                                <a:schemeClr val="bg1"/>
                              </a:solidFill>
                              <a:latin typeface="Cambria Math" panose="02040503050406030204" pitchFamily="18" charset="0"/>
                            </a:rPr>
                            <m:t>0</m:t>
                          </m:r>
                        </m:sub>
                        <m:sup>
                          <m:r>
                            <a:rPr lang="en-US" sz="1800" b="0" i="1" smtClean="0">
                              <a:solidFill>
                                <a:schemeClr val="bg1"/>
                              </a:solidFill>
                              <a:latin typeface="Cambria Math" panose="02040503050406030204" pitchFamily="18" charset="0"/>
                            </a:rPr>
                            <m:t>1</m:t>
                          </m:r>
                        </m:sup>
                        <m:e>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 ∗</m:t>
                          </m:r>
                          <m:f>
                            <m:fPr>
                              <m:ctrlPr>
                                <a:rPr lang="en-US" sz="1800" i="1">
                                  <a:solidFill>
                                    <a:schemeClr val="bg1"/>
                                  </a:solidFill>
                                  <a:latin typeface="Cambria Math" panose="02040503050406030204" pitchFamily="18" charset="0"/>
                                </a:rPr>
                              </m:ctrlPr>
                            </m:fPr>
                            <m:num>
                              <m:r>
                                <a:rPr lang="en-US" sz="1800" i="1">
                                  <a:solidFill>
                                    <a:schemeClr val="bg1"/>
                                  </a:solidFill>
                                  <a:latin typeface="Cambria Math" panose="02040503050406030204" pitchFamily="18" charset="0"/>
                                </a:rPr>
                                <m:t>4</m:t>
                              </m:r>
                              <m:r>
                                <a:rPr lang="en-US" sz="1800" i="1">
                                  <a:solidFill>
                                    <a:schemeClr val="bg1"/>
                                  </a:solidFill>
                                  <a:latin typeface="Cambria Math" panose="02040503050406030204" pitchFamily="18" charset="0"/>
                                </a:rPr>
                                <m:t>𝑥</m:t>
                              </m:r>
                              <m:r>
                                <a:rPr lang="en-US" sz="1800" i="1">
                                  <a:solidFill>
                                    <a:schemeClr val="bg1"/>
                                  </a:solidFill>
                                  <a:latin typeface="Cambria Math" panose="02040503050406030204" pitchFamily="18" charset="0"/>
                                </a:rPr>
                                <m:t>+6</m:t>
                              </m:r>
                              <m:r>
                                <a:rPr lang="en-US" sz="1800" i="1">
                                  <a:solidFill>
                                    <a:schemeClr val="bg1"/>
                                  </a:solidFill>
                                  <a:latin typeface="Cambria Math" panose="02040503050406030204" pitchFamily="18" charset="0"/>
                                </a:rPr>
                                <m:t>𝑦</m:t>
                              </m:r>
                            </m:num>
                            <m:den>
                              <m:r>
                                <a:rPr lang="en-US" sz="1800" i="1">
                                  <a:solidFill>
                                    <a:schemeClr val="bg1"/>
                                  </a:solidFill>
                                  <a:latin typeface="Cambria Math" panose="02040503050406030204" pitchFamily="18" charset="0"/>
                                </a:rPr>
                                <m:t>7</m:t>
                              </m:r>
                              <m:r>
                                <a:rPr lang="en-US" sz="1800" i="1">
                                  <a:solidFill>
                                    <a:schemeClr val="bg1"/>
                                  </a:solidFill>
                                  <a:latin typeface="Cambria Math" panose="02040503050406030204" pitchFamily="18" charset="0"/>
                                </a:rPr>
                                <m:t>𝑥</m:t>
                              </m:r>
                            </m:den>
                          </m:f>
                          <m:r>
                            <a:rPr lang="en-US" sz="1800" b="0" i="1" smtClean="0">
                              <a:solidFill>
                                <a:schemeClr val="bg1"/>
                              </a:solidFill>
                              <a:latin typeface="Cambria Math" panose="02040503050406030204" pitchFamily="18" charset="0"/>
                            </a:rPr>
                            <m:t>𝑑𝑦</m:t>
                          </m:r>
                        </m:e>
                      </m:nary>
                      <m:r>
                        <a:rPr lang="en-US" sz="1800" b="0" i="1" smtClean="0">
                          <a:solidFill>
                            <a:schemeClr val="bg1"/>
                          </a:solidFill>
                          <a:latin typeface="Cambria Math" panose="02040503050406030204" pitchFamily="18" charset="0"/>
                        </a:rPr>
                        <m:t>=</m:t>
                      </m:r>
                      <m:nary>
                        <m:naryPr>
                          <m:ctrlPr>
                            <a:rPr lang="en-US" sz="1800" i="1">
                              <a:solidFill>
                                <a:schemeClr val="bg1"/>
                              </a:solidFill>
                              <a:latin typeface="Cambria Math" panose="02040503050406030204" pitchFamily="18" charset="0"/>
                            </a:rPr>
                          </m:ctrlPr>
                        </m:naryPr>
                        <m:sub>
                          <m:r>
                            <m:rPr>
                              <m:brk m:alnAt="23"/>
                            </m:rPr>
                            <a:rPr lang="en-US" sz="1800" i="1">
                              <a:solidFill>
                                <a:schemeClr val="bg1"/>
                              </a:solidFill>
                              <a:latin typeface="Cambria Math" panose="02040503050406030204" pitchFamily="18" charset="0"/>
                            </a:rPr>
                            <m:t>0</m:t>
                          </m:r>
                        </m:sub>
                        <m:sup>
                          <m:r>
                            <a:rPr lang="en-US" sz="1800" i="1">
                              <a:solidFill>
                                <a:schemeClr val="bg1"/>
                              </a:solidFill>
                              <a:latin typeface="Cambria Math" panose="02040503050406030204" pitchFamily="18" charset="0"/>
                            </a:rPr>
                            <m:t>1</m:t>
                          </m:r>
                        </m:sup>
                        <m:e>
                          <m:f>
                            <m:fPr>
                              <m:ctrlPr>
                                <a:rPr lang="en-US" sz="1800" i="1">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4</m:t>
                              </m:r>
                              <m:r>
                                <a:rPr lang="en-US" sz="1800" b="0" i="1" smtClean="0">
                                  <a:solidFill>
                                    <a:schemeClr val="bg1"/>
                                  </a:solidFill>
                                  <a:latin typeface="Cambria Math" panose="02040503050406030204" pitchFamily="18" charset="0"/>
                                </a:rPr>
                                <m:t>𝑦𝑥</m:t>
                              </m:r>
                              <m:r>
                                <a:rPr lang="en-US" sz="1800" b="0" i="1" smtClean="0">
                                  <a:solidFill>
                                    <a:schemeClr val="bg1"/>
                                  </a:solidFill>
                                  <a:latin typeface="Cambria Math" panose="02040503050406030204" pitchFamily="18" charset="0"/>
                                </a:rPr>
                                <m:t>+6</m:t>
                              </m:r>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𝑦</m:t>
                                  </m:r>
                                </m:e>
                                <m:sup>
                                  <m:r>
                                    <a:rPr lang="en-US" sz="1800" b="0" i="1" smtClean="0">
                                      <a:solidFill>
                                        <a:schemeClr val="bg1"/>
                                      </a:solidFill>
                                      <a:latin typeface="Cambria Math" panose="02040503050406030204" pitchFamily="18" charset="0"/>
                                    </a:rPr>
                                    <m:t>2</m:t>
                                  </m:r>
                                </m:sup>
                              </m:sSup>
                            </m:num>
                            <m:den>
                              <m:r>
                                <a:rPr lang="en-US" sz="1800" b="0" i="1" smtClean="0">
                                  <a:solidFill>
                                    <a:schemeClr val="bg1"/>
                                  </a:solidFill>
                                  <a:latin typeface="Cambria Math" panose="02040503050406030204" pitchFamily="18" charset="0"/>
                                </a:rPr>
                                <m:t>7</m:t>
                              </m:r>
                              <m:r>
                                <a:rPr lang="en-US" sz="1800" b="0" i="1" smtClean="0">
                                  <a:solidFill>
                                    <a:schemeClr val="bg1"/>
                                  </a:solidFill>
                                  <a:latin typeface="Cambria Math" panose="02040503050406030204" pitchFamily="18" charset="0"/>
                                </a:rPr>
                                <m:t>𝑥</m:t>
                              </m:r>
                            </m:den>
                          </m:f>
                          <m:r>
                            <a:rPr lang="en-US" sz="1800" i="1">
                              <a:solidFill>
                                <a:schemeClr val="bg1"/>
                              </a:solidFill>
                              <a:latin typeface="Cambria Math" panose="02040503050406030204" pitchFamily="18" charset="0"/>
                            </a:rPr>
                            <m:t> </m:t>
                          </m:r>
                          <m:r>
                            <a:rPr lang="en-US" sz="1800" i="1">
                              <a:solidFill>
                                <a:schemeClr val="bg1"/>
                              </a:solidFill>
                              <a:latin typeface="Cambria Math" panose="02040503050406030204" pitchFamily="18" charset="0"/>
                            </a:rPr>
                            <m:t>𝑑𝑦</m:t>
                          </m:r>
                        </m:e>
                      </m:nary>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4</m:t>
                          </m:r>
                        </m:num>
                        <m:den>
                          <m:r>
                            <a:rPr lang="en-US" sz="1800" b="0" i="1" smtClean="0">
                              <a:solidFill>
                                <a:schemeClr val="bg1"/>
                              </a:solidFill>
                              <a:latin typeface="Cambria Math" panose="02040503050406030204" pitchFamily="18" charset="0"/>
                            </a:rPr>
                            <m:t>7</m:t>
                          </m:r>
                        </m:den>
                      </m:f>
                      <m:r>
                        <a:rPr lang="en-US" sz="1800" b="0" i="1" smtClean="0">
                          <a:solidFill>
                            <a:schemeClr val="bg1"/>
                          </a:solidFill>
                          <a:latin typeface="Cambria Math" panose="02040503050406030204" pitchFamily="18" charset="0"/>
                        </a:rPr>
                        <m:t> ∗</m:t>
                      </m:r>
                      <m:nary>
                        <m:naryPr>
                          <m:ctrlPr>
                            <a:rPr lang="en-US" sz="1800" i="1">
                              <a:solidFill>
                                <a:schemeClr val="bg1"/>
                              </a:solidFill>
                              <a:latin typeface="Cambria Math" panose="02040503050406030204" pitchFamily="18" charset="0"/>
                            </a:rPr>
                          </m:ctrlPr>
                        </m:naryPr>
                        <m:sub>
                          <m:r>
                            <m:rPr>
                              <m:brk m:alnAt="23"/>
                            </m:rPr>
                            <a:rPr lang="en-US" sz="1800" i="1">
                              <a:solidFill>
                                <a:schemeClr val="bg1"/>
                              </a:solidFill>
                              <a:latin typeface="Cambria Math" panose="02040503050406030204" pitchFamily="18" charset="0"/>
                            </a:rPr>
                            <m:t>0</m:t>
                          </m:r>
                        </m:sub>
                        <m:sup>
                          <m:r>
                            <a:rPr lang="en-US" sz="1800" i="1">
                              <a:solidFill>
                                <a:schemeClr val="bg1"/>
                              </a:solidFill>
                              <a:latin typeface="Cambria Math" panose="02040503050406030204" pitchFamily="18" charset="0"/>
                            </a:rPr>
                            <m:t>1</m:t>
                          </m:r>
                        </m:sup>
                        <m:e>
                          <m:r>
                            <a:rPr lang="en-US" sz="1800" b="0" i="1" smtClean="0">
                              <a:solidFill>
                                <a:schemeClr val="bg1"/>
                              </a:solidFill>
                              <a:latin typeface="Cambria Math" panose="02040503050406030204" pitchFamily="18" charset="0"/>
                            </a:rPr>
                            <m:t>𝑦</m:t>
                          </m:r>
                          <m:r>
                            <a:rPr lang="en-US" sz="1800" i="1">
                              <a:solidFill>
                                <a:schemeClr val="bg1"/>
                              </a:solidFill>
                              <a:latin typeface="Cambria Math" panose="02040503050406030204" pitchFamily="18" charset="0"/>
                            </a:rPr>
                            <m:t> </m:t>
                          </m:r>
                          <m:r>
                            <a:rPr lang="en-US" sz="1800" i="1">
                              <a:solidFill>
                                <a:schemeClr val="bg1"/>
                              </a:solidFill>
                              <a:latin typeface="Cambria Math" panose="02040503050406030204" pitchFamily="18" charset="0"/>
                            </a:rPr>
                            <m:t>𝑑𝑦</m:t>
                          </m:r>
                        </m:e>
                      </m:nary>
                      <m:r>
                        <a:rPr lang="en-US" sz="1800" b="0" i="1" smtClean="0">
                          <a:solidFill>
                            <a:schemeClr val="bg1"/>
                          </a:solidFill>
                          <a:latin typeface="Cambria Math" panose="02040503050406030204" pitchFamily="18" charset="0"/>
                        </a:rPr>
                        <m:t>+ </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6</m:t>
                          </m:r>
                        </m:num>
                        <m:den>
                          <m:r>
                            <a:rPr lang="en-US" sz="1800" b="0" i="1" smtClean="0">
                              <a:solidFill>
                                <a:schemeClr val="bg1"/>
                              </a:solidFill>
                              <a:latin typeface="Cambria Math" panose="02040503050406030204" pitchFamily="18" charset="0"/>
                            </a:rPr>
                            <m:t>7</m:t>
                          </m:r>
                          <m:r>
                            <a:rPr lang="en-US" sz="1800" b="0" i="1" smtClean="0">
                              <a:solidFill>
                                <a:schemeClr val="bg1"/>
                              </a:solidFill>
                              <a:latin typeface="Cambria Math" panose="02040503050406030204" pitchFamily="18" charset="0"/>
                            </a:rPr>
                            <m:t>𝑥</m:t>
                          </m:r>
                        </m:den>
                      </m:f>
                      <m:r>
                        <a:rPr lang="en-US" sz="1800" b="0" i="1" smtClean="0">
                          <a:solidFill>
                            <a:schemeClr val="bg1"/>
                          </a:solidFill>
                          <a:latin typeface="Cambria Math" panose="02040503050406030204" pitchFamily="18" charset="0"/>
                        </a:rPr>
                        <m:t> ∗</m:t>
                      </m:r>
                      <m:nary>
                        <m:naryPr>
                          <m:ctrlPr>
                            <a:rPr lang="en-US" sz="1800" i="1">
                              <a:solidFill>
                                <a:schemeClr val="bg1"/>
                              </a:solidFill>
                              <a:latin typeface="Cambria Math" panose="02040503050406030204" pitchFamily="18" charset="0"/>
                            </a:rPr>
                          </m:ctrlPr>
                        </m:naryPr>
                        <m:sub>
                          <m:r>
                            <m:rPr>
                              <m:brk m:alnAt="23"/>
                            </m:rPr>
                            <a:rPr lang="en-US" sz="1800" i="1">
                              <a:solidFill>
                                <a:schemeClr val="bg1"/>
                              </a:solidFill>
                              <a:latin typeface="Cambria Math" panose="02040503050406030204" pitchFamily="18" charset="0"/>
                            </a:rPr>
                            <m:t>0</m:t>
                          </m:r>
                        </m:sub>
                        <m:sup>
                          <m:r>
                            <a:rPr lang="en-US" sz="1800" i="1">
                              <a:solidFill>
                                <a:schemeClr val="bg1"/>
                              </a:solidFill>
                              <a:latin typeface="Cambria Math" panose="02040503050406030204" pitchFamily="18" charset="0"/>
                            </a:rPr>
                            <m:t>1</m:t>
                          </m:r>
                        </m:sup>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𝑦</m:t>
                              </m:r>
                            </m:e>
                            <m:sup>
                              <m:r>
                                <a:rPr lang="en-US" sz="1800" b="0" i="1" smtClean="0">
                                  <a:solidFill>
                                    <a:schemeClr val="bg1"/>
                                  </a:solidFill>
                                  <a:latin typeface="Cambria Math" panose="02040503050406030204" pitchFamily="18" charset="0"/>
                                </a:rPr>
                                <m:t>2</m:t>
                              </m:r>
                            </m:sup>
                          </m:sSup>
                          <m:r>
                            <a:rPr lang="en-US" sz="1800" i="1">
                              <a:solidFill>
                                <a:schemeClr val="bg1"/>
                              </a:solidFill>
                              <a:latin typeface="Cambria Math" panose="02040503050406030204" pitchFamily="18" charset="0"/>
                            </a:rPr>
                            <m:t> </m:t>
                          </m:r>
                          <m:r>
                            <a:rPr lang="en-US" sz="1800" i="1">
                              <a:solidFill>
                                <a:schemeClr val="bg1"/>
                              </a:solidFill>
                              <a:latin typeface="Cambria Math" panose="02040503050406030204" pitchFamily="18" charset="0"/>
                            </a:rPr>
                            <m:t>𝑑𝑦</m:t>
                          </m:r>
                        </m:e>
                      </m:nary>
                      <m:r>
                        <a:rPr lang="en-US" sz="1800" b="0" i="1" smtClean="0">
                          <a:solidFill>
                            <a:schemeClr val="bg1"/>
                          </a:solidFill>
                          <a:latin typeface="Cambria Math" panose="02040503050406030204" pitchFamily="18" charset="0"/>
                        </a:rPr>
                        <m:t>= </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4</m:t>
                          </m:r>
                        </m:num>
                        <m:den>
                          <m:r>
                            <a:rPr lang="en-US" sz="1800" b="0" i="1" smtClean="0">
                              <a:solidFill>
                                <a:schemeClr val="bg1"/>
                              </a:solidFill>
                              <a:latin typeface="Cambria Math" panose="02040503050406030204" pitchFamily="18" charset="0"/>
                            </a:rPr>
                            <m:t>14</m:t>
                          </m:r>
                        </m:den>
                      </m:f>
                      <m:r>
                        <a:rPr lang="en-US" sz="1800" b="0" i="1" smtClean="0">
                          <a:solidFill>
                            <a:schemeClr val="bg1"/>
                          </a:solidFill>
                          <a:latin typeface="Cambria Math" panose="02040503050406030204" pitchFamily="18" charset="0"/>
                        </a:rPr>
                        <m:t>+ </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6</m:t>
                          </m:r>
                        </m:num>
                        <m:den>
                          <m:r>
                            <a:rPr lang="en-US" sz="1800" b="0" i="1" smtClean="0">
                              <a:solidFill>
                                <a:schemeClr val="bg1"/>
                              </a:solidFill>
                              <a:latin typeface="Cambria Math" panose="02040503050406030204" pitchFamily="18" charset="0"/>
                            </a:rPr>
                            <m:t>21</m:t>
                          </m:r>
                          <m:r>
                            <a:rPr lang="en-US" sz="1800" b="0" i="1" smtClean="0">
                              <a:solidFill>
                                <a:schemeClr val="bg1"/>
                              </a:solidFill>
                              <a:latin typeface="Cambria Math" panose="02040503050406030204" pitchFamily="18" charset="0"/>
                            </a:rPr>
                            <m:t>𝑥</m:t>
                          </m:r>
                        </m:den>
                      </m:f>
                      <m:r>
                        <a:rPr lang="en-US" sz="1800" b="0" i="1" smtClean="0">
                          <a:solidFill>
                            <a:schemeClr val="bg1"/>
                          </a:solidFill>
                          <a:latin typeface="Cambria Math" panose="02040503050406030204" pitchFamily="18" charset="0"/>
                        </a:rPr>
                        <m:t>     </m:t>
                      </m:r>
                    </m:oMath>
                  </m:oMathPara>
                </a14:m>
                <a:endParaRPr lang="en-US" sz="1800" dirty="0">
                  <a:solidFill>
                    <a:schemeClr val="bg1"/>
                  </a:solidFill>
                  <a:latin typeface="Century Gothic" panose="020B0502020202020204" pitchFamily="34" charset="0"/>
                </a:endParaRPr>
              </a:p>
              <a:p>
                <a:pPr algn="just"/>
                <a:endParaRPr lang="en-US" sz="1800" dirty="0">
                  <a:solidFill>
                    <a:schemeClr val="bg1"/>
                  </a:solidFill>
                  <a:latin typeface="Century Gothic" panose="020B0502020202020204" pitchFamily="34" charset="0"/>
                </a:endParaRPr>
              </a:p>
              <a:p>
                <a:pPr algn="just"/>
                <a:r>
                  <a:rPr lang="en-US" sz="1800" dirty="0">
                    <a:solidFill>
                      <a:schemeClr val="bg1"/>
                    </a:solidFill>
                    <a:latin typeface="Century Gothic" panose="020B0502020202020204" pitchFamily="34" charset="0"/>
                  </a:rPr>
                  <a:t>Por lo tanto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𝜇</m:t>
                        </m:r>
                      </m:e>
                      <m:sub>
                        <m:r>
                          <a:rPr lang="en-US" sz="1800" b="0" i="1" smtClean="0">
                            <a:solidFill>
                              <a:schemeClr val="bg1"/>
                            </a:solidFill>
                            <a:latin typeface="Cambria Math" panose="02040503050406030204" pitchFamily="18" charset="0"/>
                          </a:rPr>
                          <m:t>𝑌</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sub>
                    </m:sSub>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1</m:t>
                        </m:r>
                      </m:num>
                      <m:den>
                        <m:r>
                          <a:rPr lang="en-US" sz="1800" b="0" i="1" smtClean="0">
                            <a:solidFill>
                              <a:schemeClr val="bg1"/>
                            </a:solidFill>
                            <a:latin typeface="Cambria Math" panose="02040503050406030204" pitchFamily="18" charset="0"/>
                          </a:rPr>
                          <m:t>7</m:t>
                        </m:r>
                      </m:den>
                    </m:f>
                    <m:r>
                      <a:rPr lang="en-US" sz="1800" b="0" i="1" smtClean="0">
                        <a:solidFill>
                          <a:schemeClr val="bg1"/>
                        </a:solidFill>
                        <a:latin typeface="Cambria Math" panose="02040503050406030204" pitchFamily="18" charset="0"/>
                      </a:rPr>
                      <m:t>+</m:t>
                    </m:r>
                    <m:f>
                      <m:fPr>
                        <m:ctrlPr>
                          <a:rPr lang="en-US" sz="1800" b="0" i="1" smtClean="0">
                            <a:solidFill>
                              <a:schemeClr val="bg1"/>
                            </a:solidFill>
                            <a:latin typeface="Cambria Math" panose="02040503050406030204" pitchFamily="18" charset="0"/>
                          </a:rPr>
                        </m:ctrlPr>
                      </m:fPr>
                      <m:num>
                        <m:r>
                          <a:rPr lang="en-US" sz="1800" b="0" i="1" smtClean="0">
                            <a:solidFill>
                              <a:schemeClr val="bg1"/>
                            </a:solidFill>
                            <a:latin typeface="Cambria Math" panose="02040503050406030204" pitchFamily="18" charset="0"/>
                          </a:rPr>
                          <m:t>1</m:t>
                        </m:r>
                      </m:num>
                      <m:den>
                        <m:r>
                          <a:rPr lang="en-US" sz="1800" b="0" i="1" smtClean="0">
                            <a:solidFill>
                              <a:schemeClr val="bg1"/>
                            </a:solidFill>
                            <a:latin typeface="Cambria Math" panose="02040503050406030204" pitchFamily="18" charset="0"/>
                          </a:rPr>
                          <m:t>3</m:t>
                        </m:r>
                        <m:r>
                          <a:rPr lang="en-US" sz="1800" b="0" i="1" smtClean="0">
                            <a:solidFill>
                              <a:schemeClr val="bg1"/>
                            </a:solidFill>
                            <a:latin typeface="Cambria Math" panose="02040503050406030204" pitchFamily="18" charset="0"/>
                          </a:rPr>
                          <m:t>𝑥</m:t>
                        </m:r>
                      </m:den>
                    </m:f>
                  </m:oMath>
                </a14:m>
                <a:endParaRPr lang="en-US" sz="1800" dirty="0">
                  <a:solidFill>
                    <a:schemeClr val="bg1"/>
                  </a:solidFill>
                  <a:latin typeface="Century Gothic" panose="020B0502020202020204" pitchFamily="34" charset="0"/>
                </a:endParaRPr>
              </a:p>
            </p:txBody>
          </p:sp>
        </mc:Choice>
        <mc:Fallback xmlns="">
          <p:sp>
            <p:nvSpPr>
              <p:cNvPr id="7" name="CuadroTexto 6">
                <a:extLst>
                  <a:ext uri="{FF2B5EF4-FFF2-40B4-BE49-F238E27FC236}">
                    <a16:creationId xmlns:a16="http://schemas.microsoft.com/office/drawing/2014/main" id="{0213EE10-82F8-112E-B416-28EEC75735C0}"/>
                  </a:ext>
                </a:extLst>
              </p:cNvPr>
              <p:cNvSpPr txBox="1">
                <a:spLocks noRot="1" noChangeAspect="1" noMove="1" noResize="1" noEditPoints="1" noAdjustHandles="1" noChangeArrowheads="1" noChangeShapeType="1" noTextEdit="1"/>
              </p:cNvSpPr>
              <p:nvPr/>
            </p:nvSpPr>
            <p:spPr>
              <a:xfrm>
                <a:off x="199869" y="4099337"/>
                <a:ext cx="11992131" cy="2457532"/>
              </a:xfrm>
              <a:prstGeom prst="rect">
                <a:avLst/>
              </a:prstGeom>
              <a:blipFill>
                <a:blip r:embed="rId5"/>
                <a:stretch>
                  <a:fillRect l="-458" t="-1238"/>
                </a:stretch>
              </a:blipFill>
            </p:spPr>
            <p:txBody>
              <a:bodyPr/>
              <a:lstStyle/>
              <a:p>
                <a:r>
                  <a:rPr lang="es-MX">
                    <a:noFill/>
                  </a:rPr>
                  <a:t> </a:t>
                </a:r>
              </a:p>
            </p:txBody>
          </p:sp>
        </mc:Fallback>
      </mc:AlternateContent>
    </p:spTree>
    <p:extLst>
      <p:ext uri="{BB962C8B-B14F-4D97-AF65-F5344CB8AC3E}">
        <p14:creationId xmlns:p14="http://schemas.microsoft.com/office/powerpoint/2010/main" val="2752025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7"/>
          <p:cNvSpPr txBox="1">
            <a:spLocks noGrp="1"/>
          </p:cNvSpPr>
          <p:nvPr>
            <p:ph type="title"/>
          </p:nvPr>
        </p:nvSpPr>
        <p:spPr>
          <a:xfrm>
            <a:off x="511200" y="281491"/>
            <a:ext cx="2321941" cy="800010"/>
          </a:xfrm>
        </p:spPr>
        <p:txBody>
          <a:bodyPr spcFirstLastPara="1" wrap="square" lIns="91425" tIns="45700" rIns="91425" bIns="45700" anchor="ctr" anchorCtr="0">
            <a:normAutofit/>
          </a:bodyPr>
          <a:lstStyle/>
          <a:p>
            <a:pPr marL="0" lvl="0" indent="0" rtl="0">
              <a:spcBef>
                <a:spcPts val="0"/>
              </a:spcBef>
              <a:spcAft>
                <a:spcPts val="0"/>
              </a:spcAft>
              <a:buClr>
                <a:schemeClr val="lt2"/>
              </a:buClr>
              <a:buSzPts val="4200"/>
              <a:buFont typeface="Century Gothic"/>
              <a:buNone/>
            </a:pPr>
            <a:r>
              <a:rPr lang="es-MX" dirty="0"/>
              <a:t>Modelo</a:t>
            </a:r>
          </a:p>
        </p:txBody>
      </p:sp>
      <p:sp>
        <p:nvSpPr>
          <p:cNvPr id="341" name="Google Shape;341;p47"/>
          <p:cNvSpPr txBox="1">
            <a:spLocks noGrp="1"/>
          </p:cNvSpPr>
          <p:nvPr>
            <p:ph type="body" idx="4294967295"/>
          </p:nvPr>
        </p:nvSpPr>
        <p:spPr>
          <a:xfrm>
            <a:off x="511200" y="1867325"/>
            <a:ext cx="6219384" cy="3381307"/>
          </a:xfrm>
        </p:spPr>
        <p:txBody>
          <a:bodyPr spcFirstLastPara="1" lIns="91425" tIns="45700" rIns="91425" bIns="45700" anchor="t" anchorCtr="0">
            <a:normAutofit/>
          </a:bodyPr>
          <a:lstStyle/>
          <a:p>
            <a:pPr marL="342900" lvl="0" indent="-342900">
              <a:lnSpc>
                <a:spcPct val="90000"/>
              </a:lnSpc>
              <a:spcBef>
                <a:spcPts val="0"/>
              </a:spcBef>
              <a:spcAft>
                <a:spcPts val="600"/>
              </a:spcAft>
              <a:buClr>
                <a:srgbClr val="000000"/>
              </a:buClr>
              <a:buSzPts val="1760"/>
              <a:buFont typeface="Arial"/>
              <a:buChar char="Ø"/>
            </a:pPr>
            <a:r>
              <a:rPr lang="en-US" sz="1900" b="0" i="0" u="none" strike="noStrike" cap="none" dirty="0" err="1">
                <a:solidFill>
                  <a:schemeClr val="lt2"/>
                </a:solidFill>
              </a:rPr>
              <a:t>Modelo</a:t>
            </a:r>
            <a:r>
              <a:rPr lang="en-US" sz="1900" b="0" i="0" u="none" strike="noStrike" cap="none" dirty="0">
                <a:solidFill>
                  <a:schemeClr val="lt2"/>
                </a:solidFill>
              </a:rPr>
              <a:t> es </a:t>
            </a:r>
            <a:r>
              <a:rPr lang="en-US" sz="1900" b="0" i="0" u="none" strike="noStrike" cap="none" dirty="0" err="1">
                <a:solidFill>
                  <a:schemeClr val="lt2"/>
                </a:solidFill>
              </a:rPr>
              <a:t>una</a:t>
            </a:r>
            <a:r>
              <a:rPr lang="en-US" sz="1900" b="0" i="0" u="none" strike="noStrike" cap="none" dirty="0">
                <a:solidFill>
                  <a:schemeClr val="lt2"/>
                </a:solidFill>
              </a:rPr>
              <a:t> </a:t>
            </a:r>
            <a:r>
              <a:rPr lang="en-US" sz="1900" b="0" i="0" u="none" strike="noStrike" cap="none" dirty="0" err="1">
                <a:solidFill>
                  <a:schemeClr val="lt2"/>
                </a:solidFill>
              </a:rPr>
              <a:t>simplificación</a:t>
            </a:r>
            <a:r>
              <a:rPr lang="en-US" sz="1900" b="0" i="0" u="none" strike="noStrike" cap="none" dirty="0">
                <a:solidFill>
                  <a:schemeClr val="lt2"/>
                </a:solidFill>
              </a:rPr>
              <a:t> (abstracta) de </a:t>
            </a:r>
            <a:r>
              <a:rPr lang="en-US" sz="1900" b="0" i="0" u="none" strike="noStrike" cap="none" dirty="0" err="1">
                <a:solidFill>
                  <a:schemeClr val="lt2"/>
                </a:solidFill>
              </a:rPr>
              <a:t>estructuras</a:t>
            </a:r>
            <a:r>
              <a:rPr lang="en-US" sz="1900" b="0" i="0" u="none" strike="noStrike" cap="none" dirty="0">
                <a:solidFill>
                  <a:schemeClr val="lt2"/>
                </a:solidFill>
              </a:rPr>
              <a:t> </a:t>
            </a:r>
            <a:r>
              <a:rPr lang="en-US" sz="1900" b="0" i="0" u="none" strike="noStrike" cap="none" dirty="0" err="1">
                <a:solidFill>
                  <a:schemeClr val="lt2"/>
                </a:solidFill>
              </a:rPr>
              <a:t>más</a:t>
            </a:r>
            <a:r>
              <a:rPr lang="en-US" sz="1900" b="0" i="0" u="none" strike="noStrike" cap="none" dirty="0">
                <a:solidFill>
                  <a:schemeClr val="lt2"/>
                </a:solidFill>
              </a:rPr>
              <a:t> </a:t>
            </a:r>
            <a:r>
              <a:rPr lang="en-US" sz="1900" b="0" i="0" u="none" strike="noStrike" cap="none" dirty="0" err="1">
                <a:solidFill>
                  <a:schemeClr val="lt2"/>
                </a:solidFill>
              </a:rPr>
              <a:t>complejas</a:t>
            </a:r>
            <a:r>
              <a:rPr lang="en-US" sz="1900" b="0" i="0" u="none" strike="noStrike" cap="none" dirty="0">
                <a:solidFill>
                  <a:schemeClr val="lt2"/>
                </a:solidFill>
              </a:rPr>
              <a:t> y </a:t>
            </a:r>
            <a:r>
              <a:rPr lang="en-US" sz="1900" b="0" i="0" u="none" strike="noStrike" cap="none" dirty="0" err="1">
                <a:solidFill>
                  <a:schemeClr val="lt2"/>
                </a:solidFill>
              </a:rPr>
              <a:t>desconocidas</a:t>
            </a:r>
            <a:r>
              <a:rPr lang="en-US" sz="1900" b="0" i="0" u="none" strike="noStrike" cap="none" dirty="0">
                <a:solidFill>
                  <a:schemeClr val="lt2"/>
                </a:solidFill>
              </a:rPr>
              <a:t> </a:t>
            </a:r>
            <a:r>
              <a:rPr lang="en-US" sz="1900" b="0" i="0" u="none" strike="noStrike" cap="none" dirty="0" err="1">
                <a:solidFill>
                  <a:schemeClr val="lt2"/>
                </a:solidFill>
              </a:rPr>
              <a:t>pero</a:t>
            </a:r>
            <a:r>
              <a:rPr lang="en-US" sz="1900" b="0" i="0" u="none" strike="noStrike" cap="none" dirty="0">
                <a:solidFill>
                  <a:schemeClr val="lt2"/>
                </a:solidFill>
              </a:rPr>
              <a:t> </a:t>
            </a:r>
            <a:r>
              <a:rPr lang="en-US" sz="1900" b="0" i="0" u="none" strike="noStrike" cap="none" dirty="0" err="1">
                <a:solidFill>
                  <a:schemeClr val="lt2"/>
                </a:solidFill>
              </a:rPr>
              <a:t>reales</a:t>
            </a:r>
            <a:r>
              <a:rPr lang="en-US" sz="1900" b="0" i="0" u="none" strike="noStrike" cap="none" dirty="0">
                <a:solidFill>
                  <a:schemeClr val="lt2"/>
                </a:solidFill>
              </a:rPr>
              <a:t> </a:t>
            </a:r>
            <a:r>
              <a:rPr lang="en-US" sz="1900" b="0" i="0" u="none" strike="noStrike" cap="none" dirty="0" err="1">
                <a:solidFill>
                  <a:schemeClr val="lt2"/>
                </a:solidFill>
              </a:rPr>
              <a:t>utilizando</a:t>
            </a:r>
            <a:r>
              <a:rPr lang="en-US" sz="1900" b="0" i="0" u="none" strike="noStrike" cap="none" dirty="0">
                <a:solidFill>
                  <a:schemeClr val="lt2"/>
                </a:solidFill>
              </a:rPr>
              <a:t> </a:t>
            </a:r>
            <a:r>
              <a:rPr lang="en-US" sz="1900" b="0" i="0" u="none" strike="noStrike" cap="none" dirty="0" err="1">
                <a:solidFill>
                  <a:schemeClr val="lt2"/>
                </a:solidFill>
              </a:rPr>
              <a:t>conceptos</a:t>
            </a:r>
            <a:r>
              <a:rPr lang="en-US" sz="1900" b="0" i="0" u="none" strike="noStrike" cap="none" dirty="0">
                <a:solidFill>
                  <a:schemeClr val="lt2"/>
                </a:solidFill>
              </a:rPr>
              <a:t> y </a:t>
            </a:r>
            <a:r>
              <a:rPr lang="en-US" sz="1900" b="0" i="0" u="none" strike="noStrike" cap="none" dirty="0" err="1">
                <a:solidFill>
                  <a:schemeClr val="lt2"/>
                </a:solidFill>
              </a:rPr>
              <a:t>herramientas</a:t>
            </a:r>
            <a:r>
              <a:rPr lang="en-US" sz="1900" b="0" i="0" u="none" strike="noStrike" cap="none" dirty="0">
                <a:solidFill>
                  <a:schemeClr val="lt2"/>
                </a:solidFill>
              </a:rPr>
              <a:t> </a:t>
            </a:r>
            <a:r>
              <a:rPr lang="en-US" sz="1900" b="0" i="0" u="none" strike="noStrike" cap="none" dirty="0" err="1">
                <a:solidFill>
                  <a:schemeClr val="lt2"/>
                </a:solidFill>
              </a:rPr>
              <a:t>matemáticas</a:t>
            </a:r>
            <a:r>
              <a:rPr lang="en-US" sz="1900" b="0" i="0" u="none" strike="noStrike" cap="none" dirty="0">
                <a:solidFill>
                  <a:schemeClr val="lt2"/>
                </a:solidFill>
              </a:rPr>
              <a:t>. </a:t>
            </a:r>
          </a:p>
          <a:p>
            <a:pPr marL="0" lvl="0" indent="0">
              <a:lnSpc>
                <a:spcPct val="90000"/>
              </a:lnSpc>
              <a:spcBef>
                <a:spcPts val="0"/>
              </a:spcBef>
              <a:spcAft>
                <a:spcPts val="600"/>
              </a:spcAft>
              <a:buClr>
                <a:srgbClr val="000000"/>
              </a:buClr>
              <a:buSzPts val="1760"/>
              <a:buNone/>
            </a:pPr>
            <a:endParaRPr lang="en-US" sz="1900" b="0" i="0" u="none" strike="noStrike" cap="none" dirty="0">
              <a:solidFill>
                <a:schemeClr val="lt2"/>
              </a:solidFill>
            </a:endParaRPr>
          </a:p>
          <a:p>
            <a:pPr marL="342900" lvl="0" indent="-342900">
              <a:lnSpc>
                <a:spcPct val="90000"/>
              </a:lnSpc>
              <a:spcBef>
                <a:spcPts val="0"/>
              </a:spcBef>
              <a:spcAft>
                <a:spcPts val="600"/>
              </a:spcAft>
              <a:buClr>
                <a:srgbClr val="000000"/>
              </a:buClr>
              <a:buSzPts val="1760"/>
              <a:buFont typeface="Arial"/>
              <a:buChar char="Ø"/>
            </a:pPr>
            <a:r>
              <a:rPr lang="en-US" sz="1900" b="0" i="0" u="none" strike="noStrike" cap="none" dirty="0">
                <a:solidFill>
                  <a:schemeClr val="lt2"/>
                </a:solidFill>
              </a:rPr>
              <a:t>Se </a:t>
            </a:r>
            <a:r>
              <a:rPr lang="en-US" sz="1900" b="0" i="0" u="none" strike="noStrike" cap="none" dirty="0" err="1">
                <a:solidFill>
                  <a:schemeClr val="lt2"/>
                </a:solidFill>
              </a:rPr>
              <a:t>construyen</a:t>
            </a:r>
            <a:r>
              <a:rPr lang="en-US" sz="1900" b="0" i="0" u="none" strike="noStrike" cap="none" dirty="0">
                <a:solidFill>
                  <a:schemeClr val="lt2"/>
                </a:solidFill>
              </a:rPr>
              <a:t> con </a:t>
            </a:r>
            <a:r>
              <a:rPr lang="en-US" sz="1900" b="0" i="0" u="none" strike="noStrike" cap="none" dirty="0" err="1">
                <a:solidFill>
                  <a:schemeClr val="lt2"/>
                </a:solidFill>
              </a:rPr>
              <a:t>el</a:t>
            </a:r>
            <a:r>
              <a:rPr lang="en-US" sz="1900" b="0" i="0" u="none" strike="noStrike" cap="none" dirty="0">
                <a:solidFill>
                  <a:schemeClr val="lt2"/>
                </a:solidFill>
              </a:rPr>
              <a:t> </a:t>
            </a:r>
            <a:r>
              <a:rPr lang="en-US" sz="1900" b="0" i="0" u="none" strike="noStrike" cap="none" dirty="0" err="1">
                <a:solidFill>
                  <a:schemeClr val="lt2"/>
                </a:solidFill>
              </a:rPr>
              <a:t>objetivo</a:t>
            </a:r>
            <a:r>
              <a:rPr lang="en-US" sz="1900" b="0" i="0" u="none" strike="noStrike" cap="none" dirty="0">
                <a:solidFill>
                  <a:schemeClr val="lt2"/>
                </a:solidFill>
              </a:rPr>
              <a:t> de </a:t>
            </a:r>
            <a:r>
              <a:rPr lang="en-US" sz="1900" b="0" i="0" u="none" strike="noStrike" cap="none" dirty="0" err="1">
                <a:solidFill>
                  <a:schemeClr val="lt2"/>
                </a:solidFill>
              </a:rPr>
              <a:t>comprender</a:t>
            </a:r>
            <a:r>
              <a:rPr lang="en-US" sz="1900" b="0" i="0" u="none" strike="noStrike" cap="none" dirty="0">
                <a:solidFill>
                  <a:schemeClr val="lt2"/>
                </a:solidFill>
              </a:rPr>
              <a:t>, </a:t>
            </a:r>
            <a:r>
              <a:rPr lang="en-US" sz="1900" b="0" i="0" u="none" strike="noStrike" cap="none" dirty="0" err="1">
                <a:solidFill>
                  <a:schemeClr val="lt2"/>
                </a:solidFill>
              </a:rPr>
              <a:t>predecir</a:t>
            </a:r>
            <a:r>
              <a:rPr lang="en-US" sz="1900" b="0" i="0" u="none" strike="noStrike" cap="none" dirty="0">
                <a:solidFill>
                  <a:schemeClr val="lt2"/>
                </a:solidFill>
              </a:rPr>
              <a:t> o </a:t>
            </a:r>
            <a:r>
              <a:rPr lang="en-US" sz="1900" b="0" i="0" u="none" strike="noStrike" cap="none" dirty="0" err="1">
                <a:solidFill>
                  <a:schemeClr val="lt2"/>
                </a:solidFill>
              </a:rPr>
              <a:t>controlar</a:t>
            </a:r>
            <a:r>
              <a:rPr lang="en-US" sz="1900" b="0" i="0" u="none" strike="noStrike" cap="none" dirty="0">
                <a:solidFill>
                  <a:schemeClr val="lt2"/>
                </a:solidFill>
              </a:rPr>
              <a:t> </a:t>
            </a:r>
            <a:r>
              <a:rPr lang="en-US" sz="1900" b="0" i="0" u="none" strike="noStrike" cap="none" dirty="0" err="1">
                <a:solidFill>
                  <a:schemeClr val="lt2"/>
                </a:solidFill>
              </a:rPr>
              <a:t>el</a:t>
            </a:r>
            <a:r>
              <a:rPr lang="en-US" sz="1900" b="0" i="0" u="none" strike="noStrike" cap="none" dirty="0">
                <a:solidFill>
                  <a:schemeClr val="lt2"/>
                </a:solidFill>
              </a:rPr>
              <a:t> </a:t>
            </a:r>
            <a:r>
              <a:rPr lang="en-US" sz="1900" b="0" i="0" u="none" strike="noStrike" cap="none" dirty="0" err="1">
                <a:solidFill>
                  <a:schemeClr val="lt2"/>
                </a:solidFill>
              </a:rPr>
              <a:t>comportamiento</a:t>
            </a:r>
            <a:r>
              <a:rPr lang="en-US" sz="1900" b="0" i="0" u="none" strike="noStrike" cap="none" dirty="0">
                <a:solidFill>
                  <a:schemeClr val="lt2"/>
                </a:solidFill>
              </a:rPr>
              <a:t> del </a:t>
            </a:r>
            <a:r>
              <a:rPr lang="en-US" sz="1900" b="0" i="0" u="none" strike="noStrike" cap="none" dirty="0" err="1">
                <a:solidFill>
                  <a:schemeClr val="lt2"/>
                </a:solidFill>
              </a:rPr>
              <a:t>sistema</a:t>
            </a:r>
            <a:r>
              <a:rPr lang="en-US" sz="1900" b="0" i="0" u="none" strike="noStrike" cap="none" dirty="0">
                <a:solidFill>
                  <a:schemeClr val="lt2"/>
                </a:solidFill>
              </a:rPr>
              <a:t> </a:t>
            </a:r>
            <a:r>
              <a:rPr lang="en-US" sz="1900" b="0" i="0" u="none" strike="noStrike" cap="none" dirty="0" err="1">
                <a:solidFill>
                  <a:schemeClr val="lt2"/>
                </a:solidFill>
              </a:rPr>
              <a:t>en</a:t>
            </a:r>
            <a:r>
              <a:rPr lang="en-US" sz="1900" b="0" i="0" u="none" strike="noStrike" cap="none" dirty="0">
                <a:solidFill>
                  <a:schemeClr val="lt2"/>
                </a:solidFill>
              </a:rPr>
              <a:t> </a:t>
            </a:r>
            <a:r>
              <a:rPr lang="en-US" sz="1900" b="0" i="0" u="none" strike="noStrike" cap="none" dirty="0" err="1">
                <a:solidFill>
                  <a:schemeClr val="lt2"/>
                </a:solidFill>
              </a:rPr>
              <a:t>cuestión</a:t>
            </a:r>
            <a:r>
              <a:rPr lang="en-US" sz="1900" b="0" i="0" u="none" strike="noStrike" cap="none" dirty="0">
                <a:solidFill>
                  <a:schemeClr val="lt2"/>
                </a:solidFill>
              </a:rPr>
              <a:t> (</a:t>
            </a:r>
            <a:r>
              <a:rPr lang="en-US" sz="1900" b="0" i="0" u="none" strike="noStrike" cap="none" dirty="0" err="1">
                <a:solidFill>
                  <a:schemeClr val="lt2"/>
                </a:solidFill>
              </a:rPr>
              <a:t>adoptan</a:t>
            </a:r>
            <a:r>
              <a:rPr lang="en-US" sz="1900" b="0" i="0" u="none" strike="noStrike" cap="none" dirty="0">
                <a:solidFill>
                  <a:schemeClr val="lt2"/>
                </a:solidFill>
              </a:rPr>
              <a:t> </a:t>
            </a:r>
            <a:r>
              <a:rPr lang="en-US" sz="1900" b="0" i="0" u="none" strike="noStrike" cap="none" dirty="0" err="1">
                <a:solidFill>
                  <a:schemeClr val="lt2"/>
                </a:solidFill>
              </a:rPr>
              <a:t>diversas</a:t>
            </a:r>
            <a:r>
              <a:rPr lang="en-US" sz="1900" b="0" i="0" u="none" strike="noStrike" cap="none" dirty="0">
                <a:solidFill>
                  <a:schemeClr val="lt2"/>
                </a:solidFill>
              </a:rPr>
              <a:t> </a:t>
            </a:r>
            <a:r>
              <a:rPr lang="en-US" sz="1900" b="0" i="0" u="none" strike="noStrike" cap="none" dirty="0" err="1">
                <a:solidFill>
                  <a:schemeClr val="lt2"/>
                </a:solidFill>
              </a:rPr>
              <a:t>formas</a:t>
            </a:r>
            <a:r>
              <a:rPr lang="en-US" sz="1900" b="0" i="0" u="none" strike="noStrike" cap="none" dirty="0">
                <a:solidFill>
                  <a:schemeClr val="lt2"/>
                </a:solidFill>
              </a:rPr>
              <a:t>: </a:t>
            </a:r>
            <a:r>
              <a:rPr lang="en-US" sz="1900" b="0" i="0" u="none" strike="noStrike" cap="none" dirty="0" err="1">
                <a:solidFill>
                  <a:schemeClr val="lt2"/>
                </a:solidFill>
              </a:rPr>
              <a:t>como</a:t>
            </a:r>
            <a:r>
              <a:rPr lang="en-US" sz="1900" b="0" i="0" u="none" strike="noStrike" cap="none" dirty="0">
                <a:solidFill>
                  <a:schemeClr val="lt2"/>
                </a:solidFill>
              </a:rPr>
              <a:t> </a:t>
            </a:r>
            <a:r>
              <a:rPr lang="en-US" sz="1900" b="0" i="0" u="none" strike="noStrike" cap="none" dirty="0" err="1">
                <a:solidFill>
                  <a:schemeClr val="lt2"/>
                </a:solidFill>
              </a:rPr>
              <a:t>ecuaciones</a:t>
            </a:r>
            <a:r>
              <a:rPr lang="en-US" sz="1900" b="0" i="0" u="none" strike="noStrike" cap="none" dirty="0">
                <a:solidFill>
                  <a:schemeClr val="lt2"/>
                </a:solidFill>
              </a:rPr>
              <a:t> </a:t>
            </a:r>
            <a:r>
              <a:rPr lang="en-US" sz="1900" b="0" i="0" u="none" strike="noStrike" cap="none" dirty="0" err="1">
                <a:solidFill>
                  <a:schemeClr val="lt2"/>
                </a:solidFill>
              </a:rPr>
              <a:t>algebraicas</a:t>
            </a:r>
            <a:r>
              <a:rPr lang="en-US" sz="1900" b="0" i="0" u="none" strike="noStrike" cap="none" dirty="0">
                <a:solidFill>
                  <a:schemeClr val="lt2"/>
                </a:solidFill>
              </a:rPr>
              <a:t>, </a:t>
            </a:r>
            <a:r>
              <a:rPr lang="en-US" sz="1900" b="0" i="0" u="none" strike="noStrike" cap="none" dirty="0" err="1">
                <a:solidFill>
                  <a:schemeClr val="lt2"/>
                </a:solidFill>
              </a:rPr>
              <a:t>ecuaciones</a:t>
            </a:r>
            <a:r>
              <a:rPr lang="en-US" sz="1900" b="0" i="0" u="none" strike="noStrike" cap="none" dirty="0">
                <a:solidFill>
                  <a:schemeClr val="lt2"/>
                </a:solidFill>
              </a:rPr>
              <a:t> </a:t>
            </a:r>
            <a:r>
              <a:rPr lang="en-US" sz="1900" b="0" i="0" u="none" strike="noStrike" cap="none" dirty="0" err="1">
                <a:solidFill>
                  <a:schemeClr val="lt2"/>
                </a:solidFill>
              </a:rPr>
              <a:t>diferenciales</a:t>
            </a:r>
            <a:r>
              <a:rPr lang="en-US" sz="1900" b="0" i="0" u="none" strike="noStrike" cap="none" dirty="0">
                <a:solidFill>
                  <a:schemeClr val="lt2"/>
                </a:solidFill>
              </a:rPr>
              <a:t>, </a:t>
            </a:r>
            <a:r>
              <a:rPr lang="en-US" sz="1900" b="0" i="0" u="none" strike="noStrike" cap="none" dirty="0" err="1">
                <a:solidFill>
                  <a:schemeClr val="lt2"/>
                </a:solidFill>
              </a:rPr>
              <a:t>sistemas</a:t>
            </a:r>
            <a:r>
              <a:rPr lang="en-US" sz="1900" b="0" i="0" u="none" strike="noStrike" cap="none" dirty="0">
                <a:solidFill>
                  <a:schemeClr val="lt2"/>
                </a:solidFill>
              </a:rPr>
              <a:t> de </a:t>
            </a:r>
            <a:r>
              <a:rPr lang="en-US" sz="1900" b="0" i="0" u="none" strike="noStrike" cap="none" dirty="0" err="1">
                <a:solidFill>
                  <a:schemeClr val="lt2"/>
                </a:solidFill>
              </a:rPr>
              <a:t>ecuaciones</a:t>
            </a:r>
            <a:r>
              <a:rPr lang="en-US" sz="1900" b="0" i="0" u="none" strike="noStrike" cap="none" dirty="0">
                <a:solidFill>
                  <a:schemeClr val="lt2"/>
                </a:solidFill>
              </a:rPr>
              <a:t>, </a:t>
            </a:r>
            <a:r>
              <a:rPr lang="en-US" sz="1900" b="0" i="0" u="none" strike="noStrike" cap="none" dirty="0" err="1">
                <a:solidFill>
                  <a:schemeClr val="lt2"/>
                </a:solidFill>
              </a:rPr>
              <a:t>modelos</a:t>
            </a:r>
            <a:r>
              <a:rPr lang="en-US" sz="1900" b="0" i="0" u="none" strike="noStrike" cap="none" dirty="0">
                <a:solidFill>
                  <a:schemeClr val="lt2"/>
                </a:solidFill>
              </a:rPr>
              <a:t> </a:t>
            </a:r>
            <a:r>
              <a:rPr lang="en-US" sz="1900" b="0" i="0" u="none" strike="noStrike" cap="none" dirty="0" err="1">
                <a:solidFill>
                  <a:schemeClr val="lt2"/>
                </a:solidFill>
              </a:rPr>
              <a:t>probabilísticos</a:t>
            </a:r>
            <a:r>
              <a:rPr lang="en-US" sz="1900" b="0" i="0" u="none" strike="noStrike" cap="none" dirty="0">
                <a:solidFill>
                  <a:schemeClr val="lt2"/>
                </a:solidFill>
              </a:rPr>
              <a:t>, </a:t>
            </a:r>
            <a:r>
              <a:rPr lang="en-US" sz="1900" b="0" i="0" u="none" strike="noStrike" cap="none" dirty="0" err="1">
                <a:solidFill>
                  <a:schemeClr val="lt2"/>
                </a:solidFill>
              </a:rPr>
              <a:t>modelos</a:t>
            </a:r>
            <a:r>
              <a:rPr lang="en-US" sz="1900" b="0" i="0" u="none" strike="noStrike" cap="none" dirty="0">
                <a:solidFill>
                  <a:schemeClr val="lt2"/>
                </a:solidFill>
              </a:rPr>
              <a:t> </a:t>
            </a:r>
            <a:r>
              <a:rPr lang="en-US" sz="1900" b="0" i="0" u="none" strike="noStrike" cap="none" dirty="0" err="1">
                <a:solidFill>
                  <a:schemeClr val="lt2"/>
                </a:solidFill>
              </a:rPr>
              <a:t>estadísticos</a:t>
            </a:r>
            <a:r>
              <a:rPr lang="en-US" sz="1900" b="0" i="0" u="none" strike="noStrike" cap="none" dirty="0">
                <a:solidFill>
                  <a:schemeClr val="lt2"/>
                </a:solidFill>
              </a:rPr>
              <a:t>, etc.)</a:t>
            </a:r>
          </a:p>
        </p:txBody>
      </p:sp>
      <p:pic>
        <p:nvPicPr>
          <p:cNvPr id="8194" name="Picture 2" descr="Icono de la máquina abstracta industrial, del estilo de dibujos ...">
            <a:extLst>
              <a:ext uri="{FF2B5EF4-FFF2-40B4-BE49-F238E27FC236}">
                <a16:creationId xmlns:a16="http://schemas.microsoft.com/office/drawing/2014/main" id="{68FB026E-364B-0D52-DDAC-C70EF10EBF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02" r="6851" b="-4"/>
          <a:stretch/>
        </p:blipFill>
        <p:spPr bwMode="auto">
          <a:xfrm>
            <a:off x="7034028" y="1252728"/>
            <a:ext cx="4511861" cy="4352544"/>
          </a:xfrm>
          <a:prstGeom prst="rect">
            <a:avLst/>
          </a:prstGeom>
          <a:solidFill>
            <a:srgbClr val="FFFFFF"/>
          </a:solid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8"/>
          <p:cNvSpPr txBox="1">
            <a:spLocks noGrp="1"/>
          </p:cNvSpPr>
          <p:nvPr>
            <p:ph type="title"/>
          </p:nvPr>
        </p:nvSpPr>
        <p:spPr>
          <a:xfrm>
            <a:off x="401713" y="382250"/>
            <a:ext cx="11388573" cy="677022"/>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2"/>
              </a:buClr>
              <a:buSzPts val="3200"/>
              <a:buFont typeface="Century Gothic"/>
              <a:buNone/>
            </a:pPr>
            <a:r>
              <a:rPr lang="es-MX" sz="3200" dirty="0"/>
              <a:t>Modelo de Regresión simple y requerimientos regresión</a:t>
            </a:r>
            <a:endParaRPr dirty="0"/>
          </a:p>
        </p:txBody>
      </p:sp>
      <p:sp>
        <p:nvSpPr>
          <p:cNvPr id="4" name="Google Shape;348;p48">
            <a:extLst>
              <a:ext uri="{FF2B5EF4-FFF2-40B4-BE49-F238E27FC236}">
                <a16:creationId xmlns:a16="http://schemas.microsoft.com/office/drawing/2014/main" id="{E66CB2BA-9E72-71A2-6128-C1D6D56C707A}"/>
              </a:ext>
            </a:extLst>
          </p:cNvPr>
          <p:cNvSpPr txBox="1">
            <a:spLocks noGrp="1"/>
          </p:cNvSpPr>
          <p:nvPr>
            <p:ph type="body" idx="1"/>
          </p:nvPr>
        </p:nvSpPr>
        <p:spPr>
          <a:xfrm>
            <a:off x="540775" y="1059272"/>
            <a:ext cx="11110450" cy="5621311"/>
          </a:xfrm>
          <a:prstGeom prst="rect">
            <a:avLst/>
          </a:prstGeom>
          <a:blipFill rotWithShape="1">
            <a:blip r:embed="rId3">
              <a:alphaModFix/>
            </a:blip>
            <a:stretch>
              <a:fillRect l="-713" t="-5760" b="-2160"/>
            </a:stretch>
          </a:blip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dirty="0"/>
              <a:t> </a:t>
            </a:r>
            <a:endParaRPr dirty="0"/>
          </a:p>
        </p:txBody>
      </p:sp>
      <p:sp>
        <p:nvSpPr>
          <p:cNvPr id="5" name="CuadroTexto 4">
            <a:extLst>
              <a:ext uri="{FF2B5EF4-FFF2-40B4-BE49-F238E27FC236}">
                <a16:creationId xmlns:a16="http://schemas.microsoft.com/office/drawing/2014/main" id="{F0D8FA63-4637-B5A6-8203-3C392A1B8BFD}"/>
              </a:ext>
            </a:extLst>
          </p:cNvPr>
          <p:cNvSpPr txBox="1"/>
          <p:nvPr/>
        </p:nvSpPr>
        <p:spPr>
          <a:xfrm>
            <a:off x="401713" y="3312827"/>
            <a:ext cx="3976261" cy="738664"/>
          </a:xfrm>
          <a:prstGeom prst="rect">
            <a:avLst/>
          </a:prstGeom>
          <a:noFill/>
        </p:spPr>
        <p:txBody>
          <a:bodyPr wrap="square" rtlCol="0">
            <a:spAutoFit/>
          </a:bodyPr>
          <a:lstStyle/>
          <a:p>
            <a:pPr algn="ctr"/>
            <a:r>
              <a:rPr lang="en-US" dirty="0" err="1">
                <a:solidFill>
                  <a:srgbClr val="FFFF00"/>
                </a:solidFill>
              </a:rPr>
              <a:t>Recordemos</a:t>
            </a:r>
            <a:r>
              <a:rPr lang="en-US" dirty="0">
                <a:solidFill>
                  <a:srgbClr val="FFFF00"/>
                </a:solidFill>
              </a:rPr>
              <a:t> que la regression es </a:t>
            </a:r>
            <a:r>
              <a:rPr lang="en-US" dirty="0" err="1">
                <a:solidFill>
                  <a:srgbClr val="FFFF00"/>
                </a:solidFill>
              </a:rPr>
              <a:t>el</a:t>
            </a:r>
            <a:r>
              <a:rPr lang="en-US" dirty="0">
                <a:solidFill>
                  <a:srgbClr val="FFFF00"/>
                </a:solidFill>
              </a:rPr>
              <a:t> </a:t>
            </a:r>
            <a:r>
              <a:rPr lang="en-US" dirty="0" err="1">
                <a:solidFill>
                  <a:srgbClr val="FFFF00"/>
                </a:solidFill>
              </a:rPr>
              <a:t>promedio</a:t>
            </a:r>
            <a:r>
              <a:rPr lang="en-US" dirty="0">
                <a:solidFill>
                  <a:srgbClr val="FFFF00"/>
                </a:solidFill>
              </a:rPr>
              <a:t> de </a:t>
            </a:r>
            <a:r>
              <a:rPr lang="en-US" dirty="0" err="1">
                <a:solidFill>
                  <a:srgbClr val="FFFF00"/>
                </a:solidFill>
              </a:rPr>
              <a:t>los</a:t>
            </a:r>
            <a:r>
              <a:rPr lang="en-US" dirty="0">
                <a:solidFill>
                  <a:srgbClr val="FFFF00"/>
                </a:solidFill>
              </a:rPr>
              <a:t> </a:t>
            </a:r>
            <a:r>
              <a:rPr lang="en-US" dirty="0" err="1">
                <a:solidFill>
                  <a:srgbClr val="FFFF00"/>
                </a:solidFill>
              </a:rPr>
              <a:t>valores</a:t>
            </a:r>
            <a:r>
              <a:rPr lang="en-US" dirty="0">
                <a:solidFill>
                  <a:srgbClr val="FFFF00"/>
                </a:solidFill>
              </a:rPr>
              <a:t> de </a:t>
            </a:r>
            <a:r>
              <a:rPr lang="en-US" dirty="0" err="1">
                <a:solidFill>
                  <a:srgbClr val="FFFF00"/>
                </a:solidFill>
              </a:rPr>
              <a:t>los</a:t>
            </a:r>
            <a:r>
              <a:rPr lang="en-US" dirty="0">
                <a:solidFill>
                  <a:srgbClr val="FFFF00"/>
                </a:solidFill>
              </a:rPr>
              <a:t> </a:t>
            </a:r>
            <a:r>
              <a:rPr lang="en-US" dirty="0" err="1">
                <a:solidFill>
                  <a:srgbClr val="FFFF00"/>
                </a:solidFill>
              </a:rPr>
              <a:t>datos</a:t>
            </a:r>
            <a:r>
              <a:rPr lang="en-US" dirty="0">
                <a:solidFill>
                  <a:srgbClr val="FFFF00"/>
                </a:solidFill>
              </a:rPr>
              <a:t> (no tanto de </a:t>
            </a:r>
            <a:r>
              <a:rPr lang="en-US" dirty="0" err="1">
                <a:solidFill>
                  <a:srgbClr val="FFFF00"/>
                </a:solidFill>
              </a:rPr>
              <a:t>dar</a:t>
            </a:r>
            <a:r>
              <a:rPr lang="en-US" dirty="0">
                <a:solidFill>
                  <a:srgbClr val="FFFF00"/>
                </a:solidFill>
              </a:rPr>
              <a:t> un </a:t>
            </a:r>
            <a:r>
              <a:rPr lang="en-US" dirty="0" err="1">
                <a:solidFill>
                  <a:srgbClr val="FFFF00"/>
                </a:solidFill>
              </a:rPr>
              <a:t>recorrido</a:t>
            </a:r>
            <a:r>
              <a:rPr lang="en-US" dirty="0">
                <a:solidFill>
                  <a:srgbClr val="FFFF00"/>
                </a:solidFill>
              </a:rPr>
              <a:t> </a:t>
            </a:r>
            <a:r>
              <a:rPr lang="en-US" dirty="0" err="1">
                <a:solidFill>
                  <a:srgbClr val="FFFF00"/>
                </a:solidFill>
              </a:rPr>
              <a:t>en</a:t>
            </a:r>
            <a:r>
              <a:rPr lang="en-US" dirty="0">
                <a:solidFill>
                  <a:srgbClr val="FFFF00"/>
                </a:solidFill>
              </a:rPr>
              <a:t> </a:t>
            </a:r>
            <a:r>
              <a:rPr lang="en-US" dirty="0" err="1">
                <a:solidFill>
                  <a:srgbClr val="FFFF00"/>
                </a:solidFill>
              </a:rPr>
              <a:t>los</a:t>
            </a:r>
            <a:r>
              <a:rPr lang="en-US" dirty="0">
                <a:solidFill>
                  <a:srgbClr val="FFFF00"/>
                </a:solidFill>
              </a:rPr>
              <a:t> puntos </a:t>
            </a:r>
            <a:r>
              <a:rPr lang="en-US" dirty="0" err="1">
                <a:solidFill>
                  <a:srgbClr val="FFFF00"/>
                </a:solidFill>
              </a:rPr>
              <a:t>existente</a:t>
            </a:r>
            <a:r>
              <a:rPr lang="en-US" dirty="0">
                <a:solidFill>
                  <a:srgbClr val="FFFF00"/>
                </a:solidFill>
              </a:rPr>
              <a:t>)</a:t>
            </a:r>
            <a:endParaRPr lang="es-MX" dirty="0">
              <a:solidFill>
                <a:srgbClr val="FFFF00"/>
              </a:solidFill>
            </a:endParaRPr>
          </a:p>
        </p:txBody>
      </p:sp>
      <p:sp>
        <p:nvSpPr>
          <p:cNvPr id="6" name="CuadroTexto 5">
            <a:extLst>
              <a:ext uri="{FF2B5EF4-FFF2-40B4-BE49-F238E27FC236}">
                <a16:creationId xmlns:a16="http://schemas.microsoft.com/office/drawing/2014/main" id="{30897944-6833-3D57-E785-4BC8C6204FBB}"/>
              </a:ext>
            </a:extLst>
          </p:cNvPr>
          <p:cNvSpPr txBox="1"/>
          <p:nvPr/>
        </p:nvSpPr>
        <p:spPr>
          <a:xfrm>
            <a:off x="6700080" y="5429396"/>
            <a:ext cx="3976261" cy="1169551"/>
          </a:xfrm>
          <a:prstGeom prst="rect">
            <a:avLst/>
          </a:prstGeom>
          <a:noFill/>
        </p:spPr>
        <p:txBody>
          <a:bodyPr wrap="square" rtlCol="0">
            <a:spAutoFit/>
          </a:bodyPr>
          <a:lstStyle/>
          <a:p>
            <a:pPr algn="ctr"/>
            <a:r>
              <a:rPr lang="en-US" dirty="0">
                <a:solidFill>
                  <a:srgbClr val="FFFF00"/>
                </a:solidFill>
              </a:rPr>
              <a:t>Si </a:t>
            </a:r>
            <a:r>
              <a:rPr lang="en-US" dirty="0" err="1">
                <a:solidFill>
                  <a:srgbClr val="FFFF00"/>
                </a:solidFill>
              </a:rPr>
              <a:t>el</a:t>
            </a:r>
            <a:r>
              <a:rPr lang="en-US" dirty="0">
                <a:solidFill>
                  <a:srgbClr val="FFFF00"/>
                </a:solidFill>
              </a:rPr>
              <a:t> error se </a:t>
            </a:r>
            <a:r>
              <a:rPr lang="en-US" dirty="0" err="1">
                <a:solidFill>
                  <a:srgbClr val="FFFF00"/>
                </a:solidFill>
              </a:rPr>
              <a:t>comporta</a:t>
            </a:r>
            <a:r>
              <a:rPr lang="en-US" dirty="0">
                <a:solidFill>
                  <a:srgbClr val="FFFF00"/>
                </a:solidFill>
              </a:rPr>
              <a:t> </a:t>
            </a:r>
            <a:r>
              <a:rPr lang="en-US" dirty="0" err="1">
                <a:solidFill>
                  <a:srgbClr val="FFFF00"/>
                </a:solidFill>
              </a:rPr>
              <a:t>como</a:t>
            </a:r>
            <a:r>
              <a:rPr lang="en-US" dirty="0">
                <a:solidFill>
                  <a:srgbClr val="FFFF00"/>
                </a:solidFill>
              </a:rPr>
              <a:t> lo </a:t>
            </a:r>
            <a:r>
              <a:rPr lang="en-US" dirty="0" err="1">
                <a:solidFill>
                  <a:srgbClr val="FFFF00"/>
                </a:solidFill>
              </a:rPr>
              <a:t>pedimos</a:t>
            </a:r>
            <a:r>
              <a:rPr lang="en-US" dirty="0">
                <a:solidFill>
                  <a:srgbClr val="FFFF00"/>
                </a:solidFill>
              </a:rPr>
              <a:t> </a:t>
            </a:r>
            <a:r>
              <a:rPr lang="en-US" dirty="0" err="1">
                <a:solidFill>
                  <a:srgbClr val="FFFF00"/>
                </a:solidFill>
              </a:rPr>
              <a:t>en</a:t>
            </a:r>
            <a:r>
              <a:rPr lang="en-US" dirty="0">
                <a:solidFill>
                  <a:srgbClr val="FFFF00"/>
                </a:solidFill>
              </a:rPr>
              <a:t> la </a:t>
            </a:r>
            <a:r>
              <a:rPr lang="en-US" dirty="0" err="1">
                <a:solidFill>
                  <a:srgbClr val="FFFF00"/>
                </a:solidFill>
              </a:rPr>
              <a:t>definicion</a:t>
            </a:r>
            <a:r>
              <a:rPr lang="en-US" dirty="0">
                <a:solidFill>
                  <a:srgbClr val="FFFF00"/>
                </a:solidFill>
              </a:rPr>
              <a:t>; Podemos </a:t>
            </a:r>
            <a:r>
              <a:rPr lang="en-US" dirty="0" err="1">
                <a:solidFill>
                  <a:srgbClr val="FFFF00"/>
                </a:solidFill>
              </a:rPr>
              <a:t>llamarlo</a:t>
            </a:r>
            <a:r>
              <a:rPr lang="en-US" dirty="0">
                <a:solidFill>
                  <a:srgbClr val="FFFF00"/>
                </a:solidFill>
              </a:rPr>
              <a:t> “</a:t>
            </a:r>
            <a:r>
              <a:rPr lang="en-US" dirty="0" err="1">
                <a:solidFill>
                  <a:srgbClr val="FFFF00"/>
                </a:solidFill>
              </a:rPr>
              <a:t>Ruido</a:t>
            </a:r>
            <a:r>
              <a:rPr lang="en-US" dirty="0">
                <a:solidFill>
                  <a:srgbClr val="FFFF00"/>
                </a:solidFill>
              </a:rPr>
              <a:t> </a:t>
            </a:r>
            <a:r>
              <a:rPr lang="en-US" dirty="0" err="1">
                <a:solidFill>
                  <a:srgbClr val="FFFF00"/>
                </a:solidFill>
              </a:rPr>
              <a:t>blanco</a:t>
            </a:r>
            <a:r>
              <a:rPr lang="en-US" dirty="0">
                <a:solidFill>
                  <a:srgbClr val="FFFF00"/>
                </a:solidFill>
              </a:rPr>
              <a:t>” </a:t>
            </a:r>
            <a:r>
              <a:rPr lang="en-US" dirty="0" err="1">
                <a:solidFill>
                  <a:srgbClr val="FFFF00"/>
                </a:solidFill>
              </a:rPr>
              <a:t>ya</a:t>
            </a:r>
            <a:r>
              <a:rPr lang="en-US" dirty="0">
                <a:solidFill>
                  <a:srgbClr val="FFFF00"/>
                </a:solidFill>
              </a:rPr>
              <a:t> que no es </a:t>
            </a:r>
            <a:r>
              <a:rPr lang="en-US" dirty="0" err="1">
                <a:solidFill>
                  <a:srgbClr val="FFFF00"/>
                </a:solidFill>
              </a:rPr>
              <a:t>necesario</a:t>
            </a:r>
            <a:r>
              <a:rPr lang="en-US" dirty="0">
                <a:solidFill>
                  <a:srgbClr val="FFFF00"/>
                </a:solidFill>
              </a:rPr>
              <a:t> de </a:t>
            </a:r>
            <a:r>
              <a:rPr lang="en-US" dirty="0" err="1">
                <a:solidFill>
                  <a:srgbClr val="FFFF00"/>
                </a:solidFill>
              </a:rPr>
              <a:t>incluirlo</a:t>
            </a:r>
            <a:r>
              <a:rPr lang="en-US" dirty="0">
                <a:solidFill>
                  <a:srgbClr val="FFFF00"/>
                </a:solidFill>
              </a:rPr>
              <a:t> </a:t>
            </a:r>
            <a:r>
              <a:rPr lang="en-US" dirty="0" err="1">
                <a:solidFill>
                  <a:srgbClr val="FFFF00"/>
                </a:solidFill>
              </a:rPr>
              <a:t>en</a:t>
            </a:r>
            <a:r>
              <a:rPr lang="en-US" dirty="0">
                <a:solidFill>
                  <a:srgbClr val="FFFF00"/>
                </a:solidFill>
              </a:rPr>
              <a:t> la regression que </a:t>
            </a:r>
            <a:r>
              <a:rPr lang="en-US" dirty="0" err="1">
                <a:solidFill>
                  <a:srgbClr val="FFFF00"/>
                </a:solidFill>
              </a:rPr>
              <a:t>realizamos</a:t>
            </a:r>
            <a:r>
              <a:rPr lang="en-US" dirty="0">
                <a:solidFill>
                  <a:srgbClr val="FFFF00"/>
                </a:solidFill>
              </a:rPr>
              <a:t> y se </a:t>
            </a:r>
            <a:r>
              <a:rPr lang="en-US" dirty="0" err="1">
                <a:solidFill>
                  <a:srgbClr val="FFFF00"/>
                </a:solidFill>
              </a:rPr>
              <a:t>comportaria</a:t>
            </a:r>
            <a:r>
              <a:rPr lang="en-US" dirty="0">
                <a:solidFill>
                  <a:srgbClr val="FFFF00"/>
                </a:solidFill>
              </a:rPr>
              <a:t> </a:t>
            </a:r>
            <a:r>
              <a:rPr lang="en-US" dirty="0" err="1">
                <a:solidFill>
                  <a:srgbClr val="FFFF00"/>
                </a:solidFill>
              </a:rPr>
              <a:t>como</a:t>
            </a:r>
            <a:r>
              <a:rPr lang="en-US" dirty="0">
                <a:solidFill>
                  <a:srgbClr val="FFFF00"/>
                </a:solidFill>
              </a:rPr>
              <a:t> lo </a:t>
            </a:r>
            <a:r>
              <a:rPr lang="en-US" dirty="0" err="1">
                <a:solidFill>
                  <a:srgbClr val="FFFF00"/>
                </a:solidFill>
              </a:rPr>
              <a:t>deseamos</a:t>
            </a:r>
            <a:endParaRPr lang="es-MX" dirty="0">
              <a:solidFill>
                <a:srgbClr val="FFFF00"/>
              </a:solidFill>
            </a:endParaRPr>
          </a:p>
        </p:txBody>
      </p:sp>
      <p:sp>
        <p:nvSpPr>
          <p:cNvPr id="7" name="CuadroTexto 6">
            <a:extLst>
              <a:ext uri="{FF2B5EF4-FFF2-40B4-BE49-F238E27FC236}">
                <a16:creationId xmlns:a16="http://schemas.microsoft.com/office/drawing/2014/main" id="{30897944-6833-3D57-E785-4BC8C6204FBB}"/>
              </a:ext>
            </a:extLst>
          </p:cNvPr>
          <p:cNvSpPr txBox="1"/>
          <p:nvPr/>
        </p:nvSpPr>
        <p:spPr>
          <a:xfrm>
            <a:off x="8208930" y="2603574"/>
            <a:ext cx="2605250" cy="954107"/>
          </a:xfrm>
          <a:prstGeom prst="rect">
            <a:avLst/>
          </a:prstGeom>
          <a:noFill/>
        </p:spPr>
        <p:txBody>
          <a:bodyPr wrap="square" rtlCol="0">
            <a:spAutoFit/>
          </a:bodyPr>
          <a:lstStyle/>
          <a:p>
            <a:pPr algn="ctr"/>
            <a:r>
              <a:rPr lang="es-MX" dirty="0">
                <a:solidFill>
                  <a:srgbClr val="FFFF00"/>
                </a:solidFill>
              </a:rPr>
              <a:t>El error es la diferencia entre lo estimado y el valor real y por se variado podemos verla como V.A.</a:t>
            </a:r>
          </a:p>
        </p:txBody>
      </p:sp>
      <p:sp>
        <p:nvSpPr>
          <p:cNvPr id="2" name="Rectángulo 1"/>
          <p:cNvSpPr/>
          <p:nvPr/>
        </p:nvSpPr>
        <p:spPr>
          <a:xfrm>
            <a:off x="7408506" y="3392874"/>
            <a:ext cx="429208" cy="5912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9"/>
          <p:cNvSpPr txBox="1">
            <a:spLocks noGrp="1"/>
          </p:cNvSpPr>
          <p:nvPr>
            <p:ph type="title"/>
          </p:nvPr>
        </p:nvSpPr>
        <p:spPr>
          <a:xfrm>
            <a:off x="1155776" y="677792"/>
            <a:ext cx="8243056" cy="55162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sz="2400" b="1" dirty="0"/>
              <a:t>Requerimientos para la implementación paramétrica </a:t>
            </a:r>
            <a:endParaRPr sz="2400" b="1" dirty="0"/>
          </a:p>
        </p:txBody>
      </p:sp>
      <p:sp>
        <p:nvSpPr>
          <p:cNvPr id="354" name="Google Shape;354;p49"/>
          <p:cNvSpPr txBox="1">
            <a:spLocks noGrp="1"/>
          </p:cNvSpPr>
          <p:nvPr>
            <p:ph type="body" idx="1"/>
          </p:nvPr>
        </p:nvSpPr>
        <p:spPr>
          <a:xfrm>
            <a:off x="1717908" y="1229415"/>
            <a:ext cx="6886445" cy="1904484"/>
          </a:xfrm>
          <a:prstGeom prst="rect">
            <a:avLst/>
          </a:prstGeom>
          <a:blipFill rotWithShape="1">
            <a:blip r:embed="rId3">
              <a:alphaModFix/>
            </a:blip>
            <a:stretch>
              <a:fillRect l="-439" t="-1554" r="-3621" b="-52900"/>
            </a:stretch>
          </a:blip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endParaRPr lang="en-US" dirty="0"/>
          </a:p>
          <a:p>
            <a:pPr marL="0" lvl="0" indent="0" algn="l" rtl="0">
              <a:spcBef>
                <a:spcPts val="0"/>
              </a:spcBef>
              <a:spcAft>
                <a:spcPts val="0"/>
              </a:spcAft>
              <a:buSzPts val="1600"/>
              <a:buNone/>
            </a:pPr>
            <a:endParaRPr dirty="0"/>
          </a:p>
        </p:txBody>
      </p:sp>
      <mc:AlternateContent xmlns:mc="http://schemas.openxmlformats.org/markup-compatibility/2006" xmlns:a14="http://schemas.microsoft.com/office/drawing/2010/main">
        <mc:Choice Requires="a14">
          <p:sp>
            <p:nvSpPr>
              <p:cNvPr id="2" name="Google Shape;341;p47">
                <a:extLst>
                  <a:ext uri="{FF2B5EF4-FFF2-40B4-BE49-F238E27FC236}">
                    <a16:creationId xmlns:a16="http://schemas.microsoft.com/office/drawing/2014/main" id="{FAC0BF07-804D-C55E-3586-6693724010CE}"/>
                  </a:ext>
                </a:extLst>
              </p:cNvPr>
              <p:cNvSpPr txBox="1">
                <a:spLocks/>
              </p:cNvSpPr>
              <p:nvPr/>
            </p:nvSpPr>
            <p:spPr>
              <a:xfrm>
                <a:off x="383784" y="294295"/>
                <a:ext cx="6556662" cy="383497"/>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30200" algn="l" rtl="0">
                  <a:lnSpc>
                    <a:spcPct val="100000"/>
                  </a:lnSpc>
                  <a:spcBef>
                    <a:spcPts val="1000"/>
                  </a:spcBef>
                  <a:spcAft>
                    <a:spcPts val="0"/>
                  </a:spcAft>
                  <a:buClr>
                    <a:srgbClr val="86D1D8"/>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lnSpc>
                    <a:spcPct val="100000"/>
                  </a:lnSpc>
                  <a:spcBef>
                    <a:spcPts val="1000"/>
                  </a:spcBef>
                  <a:spcAft>
                    <a:spcPts val="0"/>
                  </a:spcAft>
                  <a:buClr>
                    <a:srgbClr val="86D1D8"/>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lnSpc>
                    <a:spcPct val="100000"/>
                  </a:lnSpc>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nSpc>
                    <a:spcPct val="90000"/>
                  </a:lnSpc>
                  <a:spcBef>
                    <a:spcPts val="0"/>
                  </a:spcBef>
                  <a:spcAft>
                    <a:spcPts val="600"/>
                  </a:spcAft>
                  <a:buClr>
                    <a:srgbClr val="000000"/>
                  </a:buClr>
                  <a:buSzPts val="1760"/>
                  <a:buNone/>
                </a:pPr>
                <a:r>
                  <a:rPr lang="en-US" sz="1900" dirty="0">
                    <a:solidFill>
                      <a:schemeClr val="lt2"/>
                    </a:solidFill>
                  </a:rPr>
                  <a:t>La idea es </a:t>
                </a:r>
                <a:r>
                  <a:rPr lang="en-US" sz="1900" dirty="0" err="1">
                    <a:solidFill>
                      <a:schemeClr val="lt2"/>
                    </a:solidFill>
                  </a:rPr>
                  <a:t>ver</a:t>
                </a:r>
                <a:r>
                  <a:rPr lang="en-US" sz="1900" dirty="0">
                    <a:solidFill>
                      <a:schemeClr val="lt2"/>
                    </a:solidFill>
                  </a:rPr>
                  <a:t> y </a:t>
                </a:r>
                <a:r>
                  <a:rPr lang="en-US" sz="1900" dirty="0" err="1">
                    <a:solidFill>
                      <a:schemeClr val="lt2"/>
                    </a:solidFill>
                  </a:rPr>
                  <a:t>establecer</a:t>
                </a:r>
                <a:r>
                  <a:rPr lang="en-US" sz="1900" dirty="0">
                    <a:solidFill>
                      <a:schemeClr val="lt2"/>
                    </a:solidFill>
                  </a:rPr>
                  <a:t> </a:t>
                </a:r>
                <a:r>
                  <a:rPr lang="en-US" sz="1900" dirty="0" err="1">
                    <a:solidFill>
                      <a:schemeClr val="lt2"/>
                    </a:solidFill>
                  </a:rPr>
                  <a:t>los</a:t>
                </a:r>
                <a:r>
                  <a:rPr lang="en-US" sz="1900" dirty="0">
                    <a:solidFill>
                      <a:schemeClr val="lt2"/>
                    </a:solidFill>
                  </a:rPr>
                  <a:t> </a:t>
                </a:r>
                <a:r>
                  <a:rPr lang="en-US" sz="1900" dirty="0" err="1">
                    <a:solidFill>
                      <a:schemeClr val="lt2"/>
                    </a:solidFill>
                  </a:rPr>
                  <a:t>estimadores</a:t>
                </a:r>
                <a:r>
                  <a:rPr lang="en-US" sz="1900" dirty="0">
                    <a:solidFill>
                      <a:schemeClr val="lt2"/>
                    </a:solidFill>
                  </a:rPr>
                  <a:t> de </a:t>
                </a:r>
                <a14:m>
                  <m:oMath xmlns:m="http://schemas.openxmlformats.org/officeDocument/2006/math">
                    <m:sSub>
                      <m:sSubPr>
                        <m:ctrlPr>
                          <a:rPr lang="en-US" sz="1900" b="0" i="1" smtClean="0">
                            <a:solidFill>
                              <a:schemeClr val="lt2"/>
                            </a:solidFill>
                            <a:latin typeface="Cambria Math" panose="02040503050406030204" pitchFamily="18" charset="0"/>
                          </a:rPr>
                        </m:ctrlPr>
                      </m:sSubPr>
                      <m:e>
                        <m:r>
                          <a:rPr lang="en-US" sz="1900" b="0" i="1" smtClean="0">
                            <a:solidFill>
                              <a:schemeClr val="lt2"/>
                            </a:solidFill>
                            <a:latin typeface="Cambria Math" panose="02040503050406030204" pitchFamily="18" charset="0"/>
                          </a:rPr>
                          <m:t>𝛽</m:t>
                        </m:r>
                      </m:e>
                      <m:sub>
                        <m:r>
                          <a:rPr lang="en-US" sz="1900" b="0" i="1" smtClean="0">
                            <a:solidFill>
                              <a:schemeClr val="lt2"/>
                            </a:solidFill>
                            <a:latin typeface="Cambria Math" panose="02040503050406030204" pitchFamily="18" charset="0"/>
                          </a:rPr>
                          <m:t>0</m:t>
                        </m:r>
                      </m:sub>
                    </m:sSub>
                    <m:r>
                      <a:rPr lang="en-US" sz="1900" b="0" i="1" smtClean="0">
                        <a:solidFill>
                          <a:schemeClr val="lt2"/>
                        </a:solidFill>
                        <a:latin typeface="Cambria Math" panose="02040503050406030204" pitchFamily="18" charset="0"/>
                      </a:rPr>
                      <m:t> </m:t>
                    </m:r>
                    <m:r>
                      <a:rPr lang="en-US" sz="1900" b="0" i="1" smtClean="0">
                        <a:solidFill>
                          <a:schemeClr val="lt2"/>
                        </a:solidFill>
                        <a:latin typeface="Cambria Math" panose="02040503050406030204" pitchFamily="18" charset="0"/>
                      </a:rPr>
                      <m:t>𝑒</m:t>
                    </m:r>
                    <m:r>
                      <a:rPr lang="en-US" sz="1900" b="0" i="1" smtClean="0">
                        <a:solidFill>
                          <a:schemeClr val="lt2"/>
                        </a:solidFill>
                        <a:latin typeface="Cambria Math" panose="02040503050406030204" pitchFamily="18" charset="0"/>
                      </a:rPr>
                      <m:t> </m:t>
                    </m:r>
                    <m:sSub>
                      <m:sSubPr>
                        <m:ctrlPr>
                          <a:rPr lang="en-US" sz="1900" b="0" i="1" smtClean="0">
                            <a:solidFill>
                              <a:schemeClr val="lt2"/>
                            </a:solidFill>
                            <a:latin typeface="Cambria Math" panose="02040503050406030204" pitchFamily="18" charset="0"/>
                          </a:rPr>
                        </m:ctrlPr>
                      </m:sSubPr>
                      <m:e>
                        <m:r>
                          <a:rPr lang="en-US" sz="1900" b="0" i="1" smtClean="0">
                            <a:solidFill>
                              <a:schemeClr val="lt2"/>
                            </a:solidFill>
                            <a:latin typeface="Cambria Math" panose="02040503050406030204" pitchFamily="18" charset="0"/>
                          </a:rPr>
                          <m:t>𝛽</m:t>
                        </m:r>
                      </m:e>
                      <m:sub>
                        <m:r>
                          <a:rPr lang="en-US" sz="1900" b="0" i="1" smtClean="0">
                            <a:solidFill>
                              <a:schemeClr val="lt2"/>
                            </a:solidFill>
                            <a:latin typeface="Cambria Math" panose="02040503050406030204" pitchFamily="18" charset="0"/>
                          </a:rPr>
                          <m:t>1</m:t>
                        </m:r>
                      </m:sub>
                    </m:sSub>
                  </m:oMath>
                </a14:m>
                <a:endParaRPr lang="en-US" sz="1900" dirty="0">
                  <a:solidFill>
                    <a:schemeClr val="lt2"/>
                  </a:solidFill>
                </a:endParaRPr>
              </a:p>
            </p:txBody>
          </p:sp>
        </mc:Choice>
        <mc:Fallback xmlns="">
          <p:sp>
            <p:nvSpPr>
              <p:cNvPr id="2" name="Google Shape;341;p47">
                <a:extLst>
                  <a:ext uri="{FF2B5EF4-FFF2-40B4-BE49-F238E27FC236}">
                    <a16:creationId xmlns:a16="http://schemas.microsoft.com/office/drawing/2014/main" id="{FAC0BF07-804D-C55E-3586-6693724010CE}"/>
                  </a:ext>
                </a:extLst>
              </p:cNvPr>
              <p:cNvSpPr txBox="1">
                <a:spLocks noRot="1" noChangeAspect="1" noMove="1" noResize="1" noEditPoints="1" noAdjustHandles="1" noChangeArrowheads="1" noChangeShapeType="1" noTextEdit="1"/>
              </p:cNvSpPr>
              <p:nvPr/>
            </p:nvSpPr>
            <p:spPr>
              <a:xfrm>
                <a:off x="383784" y="294295"/>
                <a:ext cx="6556662" cy="383497"/>
              </a:xfrm>
              <a:prstGeom prst="rect">
                <a:avLst/>
              </a:prstGeom>
              <a:blipFill>
                <a:blip r:embed="rId4"/>
                <a:stretch>
                  <a:fillRect l="-836" t="-28571"/>
                </a:stretch>
              </a:blipFill>
              <a:ln>
                <a:noFill/>
              </a:ln>
            </p:spPr>
            <p:txBody>
              <a:bodyPr/>
              <a:lstStyle/>
              <a:p>
                <a:r>
                  <a:rPr lang="es-MX">
                    <a:noFill/>
                  </a:rPr>
                  <a:t> </a:t>
                </a:r>
              </a:p>
            </p:txBody>
          </p:sp>
        </mc:Fallback>
      </mc:AlternateContent>
      <p:sp>
        <p:nvSpPr>
          <p:cNvPr id="3" name="CuadroTexto 2">
            <a:extLst>
              <a:ext uri="{FF2B5EF4-FFF2-40B4-BE49-F238E27FC236}">
                <a16:creationId xmlns:a16="http://schemas.microsoft.com/office/drawing/2014/main" id="{B289A307-8319-5693-A0DB-F717CF61CECA}"/>
              </a:ext>
            </a:extLst>
          </p:cNvPr>
          <p:cNvSpPr txBox="1"/>
          <p:nvPr/>
        </p:nvSpPr>
        <p:spPr>
          <a:xfrm>
            <a:off x="4632948" y="2339661"/>
            <a:ext cx="2926103" cy="523220"/>
          </a:xfrm>
          <a:prstGeom prst="rect">
            <a:avLst/>
          </a:prstGeom>
          <a:noFill/>
        </p:spPr>
        <p:txBody>
          <a:bodyPr wrap="square" rtlCol="0">
            <a:spAutoFit/>
          </a:bodyPr>
          <a:lstStyle/>
          <a:p>
            <a:pPr algn="ctr"/>
            <a:r>
              <a:rPr lang="en-US" dirty="0"/>
              <a:t>La </a:t>
            </a:r>
            <a:r>
              <a:rPr lang="en-US" dirty="0" err="1"/>
              <a:t>parte</a:t>
            </a:r>
            <a:r>
              <a:rPr lang="en-US" dirty="0"/>
              <a:t> del error </a:t>
            </a:r>
            <a:r>
              <a:rPr lang="en-US" dirty="0" err="1"/>
              <a:t>debe</a:t>
            </a:r>
            <a:r>
              <a:rPr lang="en-US" dirty="0"/>
              <a:t> </a:t>
            </a:r>
            <a:r>
              <a:rPr lang="en-US" dirty="0" err="1"/>
              <a:t>cumplir</a:t>
            </a:r>
            <a:r>
              <a:rPr lang="en-US" dirty="0"/>
              <a:t> </a:t>
            </a:r>
            <a:r>
              <a:rPr lang="en-US" dirty="0" err="1"/>
              <a:t>estas</a:t>
            </a:r>
            <a:r>
              <a:rPr lang="en-US" dirty="0"/>
              <a:t> </a:t>
            </a:r>
            <a:r>
              <a:rPr lang="en-US" dirty="0" err="1"/>
              <a:t>condiciones</a:t>
            </a:r>
            <a:endParaRPr lang="es-MX" dirty="0"/>
          </a:p>
        </p:txBody>
      </p:sp>
      <p:sp>
        <p:nvSpPr>
          <p:cNvPr id="4" name="Cerrar llave 3">
            <a:extLst>
              <a:ext uri="{FF2B5EF4-FFF2-40B4-BE49-F238E27FC236}">
                <a16:creationId xmlns:a16="http://schemas.microsoft.com/office/drawing/2014/main" id="{411D4805-24B5-BF5B-8A6D-5749F8B6DBF5}"/>
              </a:ext>
            </a:extLst>
          </p:cNvPr>
          <p:cNvSpPr/>
          <p:nvPr/>
        </p:nvSpPr>
        <p:spPr>
          <a:xfrm>
            <a:off x="4107305" y="2068643"/>
            <a:ext cx="674557" cy="10652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61" name="Google Shape;361;p50"/>
          <p:cNvSpPr txBox="1">
            <a:spLocks/>
          </p:cNvSpPr>
          <p:nvPr/>
        </p:nvSpPr>
        <p:spPr>
          <a:xfrm>
            <a:off x="7948796" y="2038663"/>
            <a:ext cx="3683572" cy="242096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342900" indent="-342900">
              <a:spcBef>
                <a:spcPts val="0"/>
              </a:spcBef>
              <a:buSzPts val="1600"/>
            </a:pPr>
            <a:r>
              <a:rPr lang="es-MX" sz="1800" dirty="0"/>
              <a:t>¿Qué es la Inferencia Estadística? </a:t>
            </a:r>
          </a:p>
          <a:p>
            <a:pPr marL="342900" indent="-342900">
              <a:spcBef>
                <a:spcPts val="0"/>
              </a:spcBef>
              <a:buSzPts val="1600"/>
            </a:pPr>
            <a:endParaRPr lang="es-MX" sz="1800" dirty="0"/>
          </a:p>
          <a:p>
            <a:pPr marL="0" indent="0">
              <a:spcBef>
                <a:spcPts val="0"/>
              </a:spcBef>
              <a:buSzPts val="1600"/>
              <a:buNone/>
            </a:pPr>
            <a:r>
              <a:rPr lang="es-MX" sz="1800" dirty="0"/>
              <a:t>Es la forma de estimar los parámetros de una población por medio de estimaciones paramétricas basadas en un muestra aleatoria.</a:t>
            </a:r>
          </a:p>
        </p:txBody>
      </p:sp>
      <p:sp>
        <p:nvSpPr>
          <p:cNvPr id="5" name="Google Shape;361;p50">
            <a:extLst>
              <a:ext uri="{FF2B5EF4-FFF2-40B4-BE49-F238E27FC236}">
                <a16:creationId xmlns:a16="http://schemas.microsoft.com/office/drawing/2014/main" id="{43731E15-9E52-5EA2-9661-E41150E713F3}"/>
              </a:ext>
            </a:extLst>
          </p:cNvPr>
          <p:cNvSpPr txBox="1">
            <a:spLocks/>
          </p:cNvSpPr>
          <p:nvPr/>
        </p:nvSpPr>
        <p:spPr>
          <a:xfrm>
            <a:off x="672606" y="3249147"/>
            <a:ext cx="6886445" cy="2420969"/>
          </a:xfrm>
          <a:prstGeom prst="rect">
            <a:avLst/>
          </a:prstGeom>
          <a:solidFill>
            <a:schemeClr val="accent2"/>
          </a:solid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buSzPts val="1600"/>
              <a:buNone/>
            </a:pPr>
            <a:r>
              <a:rPr lang="es-MX" sz="1800" b="1" dirty="0"/>
              <a:t>Nota:</a:t>
            </a:r>
          </a:p>
          <a:p>
            <a:pPr marL="0" indent="0">
              <a:spcBef>
                <a:spcPts val="0"/>
              </a:spcBef>
              <a:buSzPts val="1600"/>
              <a:buNone/>
            </a:pPr>
            <a:endParaRPr lang="es-MX" sz="1800" b="1" dirty="0"/>
          </a:p>
          <a:p>
            <a:pPr marL="0" indent="0">
              <a:spcBef>
                <a:spcPts val="0"/>
              </a:spcBef>
              <a:buSzPts val="1600"/>
              <a:buNone/>
            </a:pPr>
            <a:r>
              <a:rPr lang="es-MX" sz="1800" b="1" dirty="0"/>
              <a:t>La inferencia estadística: </a:t>
            </a:r>
          </a:p>
          <a:p>
            <a:pPr marL="0" indent="0">
              <a:spcBef>
                <a:spcPts val="0"/>
              </a:spcBef>
              <a:buSzPts val="1600"/>
              <a:buNone/>
            </a:pPr>
            <a:r>
              <a:rPr lang="es-MX" sz="1800" i="1" dirty="0"/>
              <a:t>De la muestra podemos conocer el universo o población.</a:t>
            </a:r>
          </a:p>
          <a:p>
            <a:pPr marL="0" indent="0">
              <a:spcBef>
                <a:spcPts val="0"/>
              </a:spcBef>
              <a:buSzPts val="1600"/>
              <a:buNone/>
            </a:pPr>
            <a:endParaRPr lang="es-MX" sz="1800" b="1" dirty="0"/>
          </a:p>
          <a:p>
            <a:pPr marL="0" indent="0">
              <a:spcBef>
                <a:spcPts val="0"/>
              </a:spcBef>
              <a:buSzPts val="1600"/>
              <a:buNone/>
            </a:pPr>
            <a:r>
              <a:rPr lang="es-MX" sz="1800" b="1" dirty="0"/>
              <a:t>Aprendizaje Maquina estadística:</a:t>
            </a:r>
          </a:p>
          <a:p>
            <a:pPr marL="0" indent="0">
              <a:spcBef>
                <a:spcPts val="0"/>
              </a:spcBef>
              <a:buSzPts val="1600"/>
              <a:buNone/>
            </a:pPr>
            <a:r>
              <a:rPr lang="es-MX" sz="1800" i="1" dirty="0"/>
              <a:t>Del universo o población podemos hacer deducciones para conocer caso particulares y la inferencia </a:t>
            </a:r>
            <a:r>
              <a:rPr lang="es-MX" sz="1800" i="1" dirty="0" err="1"/>
              <a:t>estadistica</a:t>
            </a:r>
            <a:endParaRPr lang="es-MX" sz="18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0"/>
          <p:cNvSpPr txBox="1">
            <a:spLocks noGrp="1"/>
          </p:cNvSpPr>
          <p:nvPr>
            <p:ph type="title"/>
          </p:nvPr>
        </p:nvSpPr>
        <p:spPr>
          <a:xfrm>
            <a:off x="646111" y="452718"/>
            <a:ext cx="6654099" cy="7824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Concepto de Estimación </a:t>
            </a:r>
            <a:endParaRPr dirty="0"/>
          </a:p>
        </p:txBody>
      </p:sp>
      <p:sp>
        <p:nvSpPr>
          <p:cNvPr id="362" name="Google Shape;362;p50"/>
          <p:cNvSpPr txBox="1"/>
          <p:nvPr/>
        </p:nvSpPr>
        <p:spPr>
          <a:xfrm>
            <a:off x="624544" y="1620072"/>
            <a:ext cx="10500720" cy="1015663"/>
          </a:xfrm>
          <a:prstGeom prst="rect">
            <a:avLst/>
          </a:prstGeom>
          <a:blipFill rotWithShape="1">
            <a:blip r:embed="rId3">
              <a:alphaModFix/>
            </a:blip>
            <a:stretch>
              <a:fillRect l="-638" t="-2993" r="-578" b="-957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dirty="0">
                <a:latin typeface="Century Gothic"/>
                <a:ea typeface="Century Gothic"/>
                <a:cs typeface="Century Gothic"/>
                <a:sym typeface="Century Gothic"/>
              </a:rPr>
              <a:t> </a:t>
            </a:r>
            <a:endParaRPr dirty="0"/>
          </a:p>
        </p:txBody>
      </p:sp>
      <p:sp>
        <p:nvSpPr>
          <p:cNvPr id="363" name="Google Shape;363;p50"/>
          <p:cNvSpPr txBox="1"/>
          <p:nvPr/>
        </p:nvSpPr>
        <p:spPr>
          <a:xfrm>
            <a:off x="4759829" y="2589715"/>
            <a:ext cx="2949678" cy="430887"/>
          </a:xfrm>
          <a:prstGeom prst="rect">
            <a:avLst/>
          </a:prstGeom>
          <a:blipFill rotWithShape="1">
            <a:blip r:embed="rId4">
              <a:alphaModFix/>
            </a:blip>
            <a:stretch>
              <a:fillRect b="-428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364" name="Google Shape;364;p50"/>
          <p:cNvSpPr txBox="1"/>
          <p:nvPr/>
        </p:nvSpPr>
        <p:spPr>
          <a:xfrm>
            <a:off x="659972" y="3089167"/>
            <a:ext cx="10429863" cy="1107996"/>
          </a:xfrm>
          <a:prstGeom prst="rect">
            <a:avLst/>
          </a:prstGeom>
          <a:blipFill rotWithShape="1">
            <a:blip r:embed="rId5">
              <a:alphaModFix/>
            </a:blip>
            <a:stretch>
              <a:fillRect l="-758" t="-3296" b="-1043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365" name="Google Shape;365;p50"/>
          <p:cNvSpPr txBox="1"/>
          <p:nvPr/>
        </p:nvSpPr>
        <p:spPr>
          <a:xfrm>
            <a:off x="659972" y="4265728"/>
            <a:ext cx="11040492" cy="847540"/>
          </a:xfrm>
          <a:prstGeom prst="rect">
            <a:avLst/>
          </a:prstGeom>
          <a:blipFill rotWithShape="1">
            <a:blip r:embed="rId6">
              <a:alphaModFix/>
            </a:blip>
            <a:stretch>
              <a:fillRect l="-71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366" name="Google Shape;366;p50"/>
          <p:cNvSpPr txBox="1"/>
          <p:nvPr/>
        </p:nvSpPr>
        <p:spPr>
          <a:xfrm>
            <a:off x="615414" y="5181833"/>
            <a:ext cx="10961171" cy="769441"/>
          </a:xfrm>
          <a:prstGeom prst="rect">
            <a:avLst/>
          </a:prstGeom>
          <a:blipFill rotWithShape="1">
            <a:blip r:embed="rId7">
              <a:alphaModFix/>
            </a:blip>
            <a:stretch>
              <a:fillRect l="-721" t="-5555" b="-1507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66"/>
                                        </p:tgtEl>
                                        <p:attrNameLst>
                                          <p:attrName>style.visibility</p:attrName>
                                        </p:attrNameLst>
                                      </p:cBhvr>
                                      <p:to>
                                        <p:strVal val="visible"/>
                                      </p:to>
                                    </p:set>
                                    <p:animEffect transition="in" filter="fade">
                                      <p:cBhvr>
                                        <p:cTn id="23" dur="10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72;p51">
            <a:extLst>
              <a:ext uri="{FF2B5EF4-FFF2-40B4-BE49-F238E27FC236}">
                <a16:creationId xmlns:a16="http://schemas.microsoft.com/office/drawing/2014/main" id="{A524E074-E320-8E55-C3B1-F78BF72D94BC}"/>
              </a:ext>
            </a:extLst>
          </p:cNvPr>
          <p:cNvSpPr txBox="1">
            <a:spLocks noGrp="1"/>
          </p:cNvSpPr>
          <p:nvPr>
            <p:ph type="title"/>
          </p:nvPr>
        </p:nvSpPr>
        <p:spPr>
          <a:xfrm>
            <a:off x="900943" y="272836"/>
            <a:ext cx="10806375" cy="80645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dirty="0"/>
              <a:t>Método de Máxima </a:t>
            </a:r>
            <a:r>
              <a:rPr lang="es-MX" dirty="0" err="1"/>
              <a:t>Verosimílitud</a:t>
            </a:r>
            <a:r>
              <a:rPr lang="es-MX" dirty="0"/>
              <a:t> (M.M.V.)</a:t>
            </a:r>
            <a:endParaRPr dirty="0"/>
          </a:p>
        </p:txBody>
      </p:sp>
      <p:sp>
        <p:nvSpPr>
          <p:cNvPr id="5" name="Google Shape;373;p51">
            <a:extLst>
              <a:ext uri="{FF2B5EF4-FFF2-40B4-BE49-F238E27FC236}">
                <a16:creationId xmlns:a16="http://schemas.microsoft.com/office/drawing/2014/main" id="{E29CC9EC-D7CA-8295-9344-484C84A48907}"/>
              </a:ext>
            </a:extLst>
          </p:cNvPr>
          <p:cNvSpPr txBox="1">
            <a:spLocks noGrp="1"/>
          </p:cNvSpPr>
          <p:nvPr>
            <p:ph type="body" idx="1"/>
          </p:nvPr>
        </p:nvSpPr>
        <p:spPr>
          <a:xfrm>
            <a:off x="617860" y="1169233"/>
            <a:ext cx="10956277" cy="188876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760"/>
            </a:pPr>
            <a:r>
              <a:rPr lang="es-MX" sz="1800" dirty="0">
                <a:solidFill>
                  <a:schemeClr val="bg1"/>
                </a:solidFill>
              </a:rPr>
              <a:t>Utiliza conocimiento de la distribución poblacional explicita. </a:t>
            </a:r>
          </a:p>
          <a:p>
            <a:pPr marL="0" lvl="0" indent="0" algn="just" rtl="0">
              <a:spcBef>
                <a:spcPts val="0"/>
              </a:spcBef>
              <a:spcAft>
                <a:spcPts val="0"/>
              </a:spcAft>
              <a:buSzPts val="1760"/>
            </a:pPr>
            <a:endParaRPr lang="es-MX" sz="1800" dirty="0">
              <a:solidFill>
                <a:schemeClr val="bg1"/>
              </a:solidFill>
            </a:endParaRPr>
          </a:p>
          <a:p>
            <a:pPr marL="0" lvl="0" indent="0" algn="just" rtl="0">
              <a:spcBef>
                <a:spcPts val="0"/>
              </a:spcBef>
              <a:spcAft>
                <a:spcPts val="0"/>
              </a:spcAft>
              <a:buSzPts val="1760"/>
            </a:pPr>
            <a:r>
              <a:rPr lang="es-MX" sz="1800" b="1" dirty="0">
                <a:solidFill>
                  <a:schemeClr val="bg1"/>
                </a:solidFill>
              </a:rPr>
              <a:t>Su característica:</a:t>
            </a:r>
            <a:r>
              <a:rPr lang="es-MX" sz="1800" dirty="0">
                <a:solidFill>
                  <a:schemeClr val="bg1"/>
                </a:solidFill>
              </a:rPr>
              <a:t>  Varios sucesos que pueden tener lugar y admitimos que aparecerá el más probable, es decir, el valor más verosímil o plausible.</a:t>
            </a:r>
          </a:p>
          <a:p>
            <a:pPr marL="0" lvl="0" indent="0" algn="just" rtl="0">
              <a:spcBef>
                <a:spcPts val="0"/>
              </a:spcBef>
              <a:spcAft>
                <a:spcPts val="0"/>
              </a:spcAft>
              <a:buSzPts val="1760"/>
            </a:pPr>
            <a:endParaRPr lang="es-MX" sz="1800" dirty="0">
              <a:solidFill>
                <a:schemeClr val="bg1"/>
              </a:solidFill>
            </a:endParaRPr>
          </a:p>
          <a:p>
            <a:pPr marL="0" lvl="0" indent="0" algn="just" rtl="0">
              <a:spcBef>
                <a:spcPts val="0"/>
              </a:spcBef>
              <a:spcAft>
                <a:spcPts val="0"/>
              </a:spcAft>
              <a:buSzPts val="1760"/>
            </a:pPr>
            <a:r>
              <a:rPr lang="en-US" sz="1800" dirty="0">
                <a:solidFill>
                  <a:schemeClr val="bg1"/>
                </a:solidFill>
              </a:rPr>
              <a:t>Ya </a:t>
            </a:r>
            <a:r>
              <a:rPr lang="en-US" sz="1800" dirty="0" err="1">
                <a:solidFill>
                  <a:schemeClr val="bg1"/>
                </a:solidFill>
              </a:rPr>
              <a:t>hemos</a:t>
            </a:r>
            <a:r>
              <a:rPr lang="en-US" sz="1800" dirty="0">
                <a:solidFill>
                  <a:schemeClr val="bg1"/>
                </a:solidFill>
              </a:rPr>
              <a:t> visto </a:t>
            </a:r>
            <a:r>
              <a:rPr lang="en-US" sz="1800" dirty="0" err="1">
                <a:solidFill>
                  <a:schemeClr val="bg1"/>
                </a:solidFill>
              </a:rPr>
              <a:t>este</a:t>
            </a:r>
            <a:r>
              <a:rPr lang="en-US" sz="1800" dirty="0">
                <a:solidFill>
                  <a:schemeClr val="bg1"/>
                </a:solidFill>
              </a:rPr>
              <a:t> </a:t>
            </a:r>
            <a:r>
              <a:rPr lang="en-US" sz="1800" dirty="0" err="1">
                <a:solidFill>
                  <a:schemeClr val="bg1"/>
                </a:solidFill>
              </a:rPr>
              <a:t>metodo</a:t>
            </a:r>
            <a:r>
              <a:rPr lang="en-US" sz="1800" dirty="0">
                <a:solidFill>
                  <a:schemeClr val="bg1"/>
                </a:solidFill>
              </a:rPr>
              <a:t> </a:t>
            </a:r>
            <a:r>
              <a:rPr lang="en-US" sz="1800" dirty="0" err="1">
                <a:solidFill>
                  <a:schemeClr val="bg1"/>
                </a:solidFill>
              </a:rPr>
              <a:t>pero</a:t>
            </a:r>
            <a:r>
              <a:rPr lang="en-US" sz="1800" dirty="0">
                <a:solidFill>
                  <a:schemeClr val="bg1"/>
                </a:solidFill>
              </a:rPr>
              <a:t> lo </a:t>
            </a:r>
            <a:r>
              <a:rPr lang="en-US" sz="1800" dirty="0" err="1">
                <a:solidFill>
                  <a:schemeClr val="bg1"/>
                </a:solidFill>
              </a:rPr>
              <a:t>veremos</a:t>
            </a:r>
            <a:r>
              <a:rPr lang="en-US" sz="1800" dirty="0">
                <a:solidFill>
                  <a:schemeClr val="bg1"/>
                </a:solidFill>
              </a:rPr>
              <a:t> mas </a:t>
            </a:r>
            <a:r>
              <a:rPr lang="en-US" sz="1800" dirty="0" err="1">
                <a:solidFill>
                  <a:schemeClr val="bg1"/>
                </a:solidFill>
              </a:rPr>
              <a:t>practico</a:t>
            </a:r>
            <a:r>
              <a:rPr lang="en-US" sz="1800" dirty="0">
                <a:solidFill>
                  <a:schemeClr val="bg1"/>
                </a:solidFill>
              </a:rPr>
              <a:t>…</a:t>
            </a:r>
            <a:endParaRPr sz="1800" dirty="0">
              <a:solidFill>
                <a:schemeClr val="bg1"/>
              </a:solidFill>
            </a:endParaRPr>
          </a:p>
        </p:txBody>
      </p:sp>
      <p:sp>
        <p:nvSpPr>
          <p:cNvPr id="6" name="Google Shape;381;p52">
            <a:extLst>
              <a:ext uri="{FF2B5EF4-FFF2-40B4-BE49-F238E27FC236}">
                <a16:creationId xmlns:a16="http://schemas.microsoft.com/office/drawing/2014/main" id="{913330F5-B8F5-02B8-49FE-FF7A83E30F25}"/>
              </a:ext>
            </a:extLst>
          </p:cNvPr>
          <p:cNvSpPr txBox="1">
            <a:spLocks/>
          </p:cNvSpPr>
          <p:nvPr/>
        </p:nvSpPr>
        <p:spPr>
          <a:xfrm>
            <a:off x="422987" y="3147934"/>
            <a:ext cx="11346024" cy="2932102"/>
          </a:xfrm>
          <a:prstGeom prst="rect">
            <a:avLst/>
          </a:prstGeom>
          <a:blipFill rotWithShape="1">
            <a:blip r:embed="rId2">
              <a:alphaModFix/>
            </a:blip>
            <a:stretch>
              <a:fillRect l="-643" t="-17455" r="-589" b="-88290"/>
            </a:stretch>
          </a:blip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1000"/>
              </a:spcBef>
              <a:spcAft>
                <a:spcPts val="0"/>
              </a:spcAft>
              <a:buClr>
                <a:srgbClr val="86D1D8"/>
              </a:buClr>
              <a:buSzPts val="1600"/>
              <a:buFont typeface="Noto Sans Symbols"/>
              <a:buNone/>
              <a:defRPr sz="2000" b="0" i="0" u="none" strike="noStrike" cap="none">
                <a:solidFill>
                  <a:srgbClr val="86D1D8"/>
                </a:solidFill>
                <a:latin typeface="Century Gothic"/>
                <a:ea typeface="Century Gothic"/>
                <a:cs typeface="Century Gothic"/>
                <a:sym typeface="Century Gothic"/>
              </a:defRPr>
            </a:lvl1pPr>
            <a:lvl2pPr marL="914400" marR="0" lvl="1" indent="-228600" algn="l" rtl="0">
              <a:lnSpc>
                <a:spcPct val="100000"/>
              </a:lnSpc>
              <a:spcBef>
                <a:spcPts val="1000"/>
              </a:spcBef>
              <a:spcAft>
                <a:spcPts val="0"/>
              </a:spcAft>
              <a:buClr>
                <a:srgbClr val="86D1D8"/>
              </a:buClr>
              <a:buSzPts val="1440"/>
              <a:buFont typeface="Noto Sans Symbols"/>
              <a:buNone/>
              <a:defRPr sz="1800" b="0" i="0" u="none" strike="noStrike" cap="none">
                <a:solidFill>
                  <a:schemeClr val="lt1"/>
                </a:solidFill>
                <a:latin typeface="Century Gothic"/>
                <a:ea typeface="Century Gothic"/>
                <a:cs typeface="Century Gothic"/>
                <a:sym typeface="Century Gothic"/>
              </a:defRPr>
            </a:lvl2pPr>
            <a:lvl3pPr marL="1371600" marR="0" lvl="2" indent="-228600" algn="l" rtl="0">
              <a:lnSpc>
                <a:spcPct val="100000"/>
              </a:lnSpc>
              <a:spcBef>
                <a:spcPts val="1000"/>
              </a:spcBef>
              <a:spcAft>
                <a:spcPts val="0"/>
              </a:spcAft>
              <a:buClr>
                <a:srgbClr val="86D1D8"/>
              </a:buClr>
              <a:buSzPts val="1280"/>
              <a:buFont typeface="Noto Sans Symbols"/>
              <a:buNone/>
              <a:defRPr sz="1600" b="0" i="0" u="none" strike="noStrike" cap="none">
                <a:solidFill>
                  <a:schemeClr val="lt1"/>
                </a:solidFill>
                <a:latin typeface="Century Gothic"/>
                <a:ea typeface="Century Gothic"/>
                <a:cs typeface="Century Gothic"/>
                <a:sym typeface="Century Gothic"/>
              </a:defRPr>
            </a:lvl3pPr>
            <a:lvl4pPr marL="1828800" marR="0" lvl="3"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4pPr>
            <a:lvl5pPr marL="2286000" marR="0" lvl="4"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5pPr>
            <a:lvl6pPr marL="2743200" marR="0" lvl="5"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6pPr>
            <a:lvl7pPr marL="3200400" marR="0" lvl="6"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7pPr>
            <a:lvl8pPr marL="3657600" marR="0" lvl="7"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8pPr>
            <a:lvl9pPr marL="4114800" marR="0" lvl="8"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pPr>
            <a:r>
              <a:rPr lang="en-US" dirty="0"/>
              <a:t>  </a:t>
            </a:r>
          </a:p>
        </p:txBody>
      </p:sp>
    </p:spTree>
    <p:extLst>
      <p:ext uri="{BB962C8B-B14F-4D97-AF65-F5344CB8AC3E}">
        <p14:creationId xmlns:p14="http://schemas.microsoft.com/office/powerpoint/2010/main" val="1519901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4" name="Google Shape;381;p52"/>
          <p:cNvSpPr txBox="1">
            <a:spLocks/>
          </p:cNvSpPr>
          <p:nvPr/>
        </p:nvSpPr>
        <p:spPr>
          <a:xfrm>
            <a:off x="422988" y="239842"/>
            <a:ext cx="11346024" cy="2383437"/>
          </a:xfrm>
          <a:prstGeom prst="rect">
            <a:avLst/>
          </a:prstGeom>
          <a:blipFill rotWithShape="1">
            <a:blip r:embed="rId3">
              <a:alphaModFix/>
            </a:blip>
            <a:stretch>
              <a:fillRect l="-643" t="-147009" r="-589" b="-6098"/>
            </a:stretch>
          </a:blip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1000"/>
              </a:spcBef>
              <a:spcAft>
                <a:spcPts val="0"/>
              </a:spcAft>
              <a:buClr>
                <a:srgbClr val="86D1D8"/>
              </a:buClr>
              <a:buSzPts val="1600"/>
              <a:buFont typeface="Noto Sans Symbols"/>
              <a:buNone/>
              <a:defRPr sz="2000" b="0" i="0" u="none" strike="noStrike" cap="none">
                <a:solidFill>
                  <a:srgbClr val="86D1D8"/>
                </a:solidFill>
                <a:latin typeface="Century Gothic"/>
                <a:ea typeface="Century Gothic"/>
                <a:cs typeface="Century Gothic"/>
                <a:sym typeface="Century Gothic"/>
              </a:defRPr>
            </a:lvl1pPr>
            <a:lvl2pPr marL="914400" marR="0" lvl="1" indent="-228600" algn="l" rtl="0">
              <a:lnSpc>
                <a:spcPct val="100000"/>
              </a:lnSpc>
              <a:spcBef>
                <a:spcPts val="1000"/>
              </a:spcBef>
              <a:spcAft>
                <a:spcPts val="0"/>
              </a:spcAft>
              <a:buClr>
                <a:srgbClr val="86D1D8"/>
              </a:buClr>
              <a:buSzPts val="1440"/>
              <a:buFont typeface="Noto Sans Symbols"/>
              <a:buNone/>
              <a:defRPr sz="1800" b="0" i="0" u="none" strike="noStrike" cap="none">
                <a:solidFill>
                  <a:schemeClr val="lt1"/>
                </a:solidFill>
                <a:latin typeface="Century Gothic"/>
                <a:ea typeface="Century Gothic"/>
                <a:cs typeface="Century Gothic"/>
                <a:sym typeface="Century Gothic"/>
              </a:defRPr>
            </a:lvl2pPr>
            <a:lvl3pPr marL="1371600" marR="0" lvl="2" indent="-228600" algn="l" rtl="0">
              <a:lnSpc>
                <a:spcPct val="100000"/>
              </a:lnSpc>
              <a:spcBef>
                <a:spcPts val="1000"/>
              </a:spcBef>
              <a:spcAft>
                <a:spcPts val="0"/>
              </a:spcAft>
              <a:buClr>
                <a:srgbClr val="86D1D8"/>
              </a:buClr>
              <a:buSzPts val="1280"/>
              <a:buFont typeface="Noto Sans Symbols"/>
              <a:buNone/>
              <a:defRPr sz="1600" b="0" i="0" u="none" strike="noStrike" cap="none">
                <a:solidFill>
                  <a:schemeClr val="lt1"/>
                </a:solidFill>
                <a:latin typeface="Century Gothic"/>
                <a:ea typeface="Century Gothic"/>
                <a:cs typeface="Century Gothic"/>
                <a:sym typeface="Century Gothic"/>
              </a:defRPr>
            </a:lvl3pPr>
            <a:lvl4pPr marL="1828800" marR="0" lvl="3"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4pPr>
            <a:lvl5pPr marL="2286000" marR="0" lvl="4"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5pPr>
            <a:lvl6pPr marL="2743200" marR="0" lvl="5"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6pPr>
            <a:lvl7pPr marL="3200400" marR="0" lvl="6"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7pPr>
            <a:lvl8pPr marL="3657600" marR="0" lvl="7"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8pPr>
            <a:lvl9pPr marL="4114800" marR="0" lvl="8" indent="-228600" algn="l" rtl="0">
              <a:lnSpc>
                <a:spcPct val="100000"/>
              </a:lnSpc>
              <a:spcBef>
                <a:spcPts val="1000"/>
              </a:spcBef>
              <a:spcAft>
                <a:spcPts val="0"/>
              </a:spcAft>
              <a:buClr>
                <a:srgbClr val="86D1D8"/>
              </a:buClr>
              <a:buSzPts val="1120"/>
              <a:buFont typeface="Noto Sans Symbols"/>
              <a:buNone/>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pPr>
            <a:r>
              <a:rPr lang="en-US" dirty="0"/>
              <a:t>  </a:t>
            </a:r>
          </a:p>
        </p:txBody>
      </p:sp>
      <p:sp>
        <p:nvSpPr>
          <p:cNvPr id="388" name="Google Shape;388;p53"/>
          <p:cNvSpPr txBox="1">
            <a:spLocks noGrp="1"/>
          </p:cNvSpPr>
          <p:nvPr>
            <p:ph type="body" idx="1"/>
          </p:nvPr>
        </p:nvSpPr>
        <p:spPr>
          <a:xfrm>
            <a:off x="645910" y="2864887"/>
            <a:ext cx="11123102" cy="3753271"/>
          </a:xfrm>
          <a:prstGeom prst="rect">
            <a:avLst/>
          </a:prstGeom>
          <a:blipFill rotWithShape="1">
            <a:blip r:embed="rId4">
              <a:alphaModFix/>
            </a:blip>
            <a:stretch>
              <a:fillRect l="-602" t="-12996" b="-11783"/>
            </a:stretch>
          </a:blip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US" dirty="0"/>
              <a:t> </a:t>
            </a:r>
            <a:endParaRPr dirty="0"/>
          </a:p>
        </p:txBody>
      </p:sp>
      <p:sp>
        <p:nvSpPr>
          <p:cNvPr id="387" name="Google Shape;387;p53"/>
          <p:cNvSpPr txBox="1">
            <a:spLocks noGrp="1"/>
          </p:cNvSpPr>
          <p:nvPr>
            <p:ph type="title"/>
          </p:nvPr>
        </p:nvSpPr>
        <p:spPr>
          <a:xfrm>
            <a:off x="5542898" y="2478588"/>
            <a:ext cx="2881574" cy="53099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sz="2800" b="1" dirty="0" err="1"/>
              <a:t>Procedimiento</a:t>
            </a:r>
            <a:r>
              <a:rPr lang="en-US" sz="2800" b="1" dirty="0"/>
              <a:t>:</a:t>
            </a:r>
            <a:endParaRPr sz="28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505864" y="4291576"/>
            <a:ext cx="9860447" cy="765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sz="4000" dirty="0"/>
              <a:t>Mínimos Cuadrados Ordinales (M.C.O.) </a:t>
            </a:r>
            <a:endParaRPr sz="4000" dirty="0"/>
          </a:p>
        </p:txBody>
      </p:sp>
      <p:sp>
        <p:nvSpPr>
          <p:cNvPr id="373" name="Google Shape;373;p51"/>
          <p:cNvSpPr txBox="1">
            <a:spLocks noGrp="1"/>
          </p:cNvSpPr>
          <p:nvPr>
            <p:ph type="body" idx="1"/>
          </p:nvPr>
        </p:nvSpPr>
        <p:spPr>
          <a:xfrm>
            <a:off x="505864" y="5172885"/>
            <a:ext cx="11259753" cy="748804"/>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760"/>
              <a:buNone/>
            </a:pPr>
            <a:r>
              <a:rPr lang="es-MX" sz="1800" dirty="0"/>
              <a:t>La minimización de distancias </a:t>
            </a:r>
            <a:r>
              <a:rPr lang="es-MX" sz="1800" dirty="0" err="1"/>
              <a:t>euclideanas</a:t>
            </a:r>
            <a:r>
              <a:rPr lang="es-MX" sz="1800" dirty="0"/>
              <a:t>. Su cualidad se parte de una muestra de valores (nube de puntos) y se pretende que la función ajustada pase lo más cerca posible a todos ellos.</a:t>
            </a:r>
            <a:endParaRPr sz="1600" dirty="0"/>
          </a:p>
        </p:txBody>
      </p:sp>
      <p:sp>
        <p:nvSpPr>
          <p:cNvPr id="374" name="Google Shape;374;p51"/>
          <p:cNvSpPr txBox="1"/>
          <p:nvPr/>
        </p:nvSpPr>
        <p:spPr>
          <a:xfrm>
            <a:off x="375524" y="146095"/>
            <a:ext cx="8507219" cy="1281489"/>
          </a:xfrm>
          <a:prstGeom prst="rect">
            <a:avLst/>
          </a:prstGeom>
          <a:blipFill rotWithShape="1">
            <a:blip r:embed="rId3">
              <a:alphaModFix/>
            </a:blip>
            <a:stretch>
              <a:fillRect l="-474" t="-2537" r="-532" b="-45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pic>
        <p:nvPicPr>
          <p:cNvPr id="1026" name="Picture 2" descr="9.1 Máxima verosimilitud | Estadística Computacion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9681" y="1294027"/>
            <a:ext cx="7213061" cy="24043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5" name="Google Shape;395;p54"/>
          <p:cNvSpPr txBox="1">
            <a:spLocks noGrp="1"/>
          </p:cNvSpPr>
          <p:nvPr>
            <p:ph type="body" idx="1"/>
          </p:nvPr>
        </p:nvSpPr>
        <p:spPr>
          <a:xfrm>
            <a:off x="481781" y="265170"/>
            <a:ext cx="11228437" cy="4891547"/>
          </a:xfrm>
          <a:prstGeom prst="rect">
            <a:avLst/>
          </a:prstGeom>
          <a:blipFill rotWithShape="1">
            <a:blip r:embed="rId3">
              <a:alphaModFix/>
            </a:blip>
            <a:stretch>
              <a:fillRect l="-813" t="-747" r="-595"/>
            </a:stretch>
          </a:blip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s-MX"/>
              <a:t> </a:t>
            </a:r>
            <a:endParaRPr/>
          </a:p>
        </p:txBody>
      </p:sp>
      <p:sp>
        <p:nvSpPr>
          <p:cNvPr id="3" name="Rectángulo 2"/>
          <p:cNvSpPr/>
          <p:nvPr/>
        </p:nvSpPr>
        <p:spPr>
          <a:xfrm>
            <a:off x="7940351" y="2715208"/>
            <a:ext cx="737118"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cuyos</a:t>
            </a:r>
          </a:p>
        </p:txBody>
      </p:sp>
      <p:sp>
        <p:nvSpPr>
          <p:cNvPr id="6" name="Google Shape;400;p55"/>
          <p:cNvSpPr txBox="1">
            <a:spLocks noGrp="1"/>
          </p:cNvSpPr>
          <p:nvPr>
            <p:ph type="title"/>
          </p:nvPr>
        </p:nvSpPr>
        <p:spPr>
          <a:xfrm>
            <a:off x="481781" y="4943167"/>
            <a:ext cx="2432991" cy="48034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sz="2400" b="1" dirty="0">
                <a:solidFill>
                  <a:srgbClr val="FF0000"/>
                </a:solidFill>
              </a:rPr>
              <a:t>Demostración:</a:t>
            </a:r>
            <a:endParaRPr sz="2400" b="1" dirty="0">
              <a:solidFill>
                <a:srgbClr val="FF0000"/>
              </a:solidFill>
            </a:endParaRPr>
          </a:p>
        </p:txBody>
      </p:sp>
      <p:sp>
        <p:nvSpPr>
          <p:cNvPr id="7" name="Google Shape;401;p55"/>
          <p:cNvSpPr txBox="1">
            <a:spLocks/>
          </p:cNvSpPr>
          <p:nvPr/>
        </p:nvSpPr>
        <p:spPr>
          <a:xfrm>
            <a:off x="573273" y="5722090"/>
            <a:ext cx="6378033" cy="445445"/>
          </a:xfrm>
          <a:prstGeom prst="rect">
            <a:avLst/>
          </a:prstGeom>
          <a:blipFill rotWithShape="1">
            <a:blip r:embed="rId4">
              <a:alphaModFix/>
            </a:blip>
            <a:srcRect/>
            <a:stretch>
              <a:fillRect l="-459" t="-7775" r="-34965" b="-191664"/>
            </a:stretch>
          </a:blip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buSzPts val="1600"/>
              <a:buNone/>
            </a:pPr>
            <a:r>
              <a:rPr lang="es-MX" dirty="0"/>
              <a:t> </a:t>
            </a:r>
          </a:p>
          <a:p>
            <a:pPr marL="0" indent="0">
              <a:spcBef>
                <a:spcPts val="0"/>
              </a:spcBef>
              <a:buSzPts val="1600"/>
              <a:buNone/>
            </a:pPr>
            <a:r>
              <a:rPr lang="es-MX" dirty="0"/>
              <a:t> </a:t>
            </a:r>
          </a:p>
        </p:txBody>
      </p:sp>
      <p:sp>
        <p:nvSpPr>
          <p:cNvPr id="8" name="Google Shape;401;p55"/>
          <p:cNvSpPr txBox="1">
            <a:spLocks/>
          </p:cNvSpPr>
          <p:nvPr/>
        </p:nvSpPr>
        <p:spPr>
          <a:xfrm>
            <a:off x="6951306" y="5302213"/>
            <a:ext cx="3116423" cy="1069294"/>
          </a:xfrm>
          <a:prstGeom prst="rect">
            <a:avLst/>
          </a:prstGeom>
          <a:blipFill rotWithShape="1">
            <a:blip r:embed="rId4">
              <a:alphaModFix/>
            </a:blip>
            <a:srcRect/>
            <a:stretch>
              <a:fillRect l="-116578" t="-80906" r="-117611"/>
            </a:stretch>
          </a:blip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buSzPts val="1600"/>
              <a:buNone/>
            </a:pPr>
            <a:r>
              <a:rPr lang="es-MX" dirty="0"/>
              <a:t> </a:t>
            </a:r>
          </a:p>
          <a:p>
            <a:pPr marL="0" indent="0">
              <a:spcBef>
                <a:spcPts val="0"/>
              </a:spcBef>
              <a:buSzPts val="1600"/>
              <a:buNone/>
            </a:pPr>
            <a:r>
              <a:rPr lang="es-MX" dirty="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2" name="Google Shape;402;p55"/>
          <p:cNvSpPr txBox="1"/>
          <p:nvPr/>
        </p:nvSpPr>
        <p:spPr>
          <a:xfrm>
            <a:off x="293352" y="404335"/>
            <a:ext cx="9771165" cy="1004587"/>
          </a:xfrm>
          <a:prstGeom prst="rect">
            <a:avLst/>
          </a:prstGeom>
          <a:blipFill rotWithShape="1">
            <a:blip r:embed="rId3">
              <a:alphaModFix/>
            </a:blip>
            <a:srcRect/>
            <a:stretch>
              <a:fillRect l="-560" t="-3024" b="-470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403" name="Google Shape;403;p55"/>
          <p:cNvSpPr txBox="1"/>
          <p:nvPr/>
        </p:nvSpPr>
        <p:spPr>
          <a:xfrm>
            <a:off x="2491274" y="1275174"/>
            <a:ext cx="4058816" cy="964173"/>
          </a:xfrm>
          <a:prstGeom prst="rect">
            <a:avLst/>
          </a:prstGeom>
          <a:blipFill rotWithShape="1">
            <a:blip r:embed="rId4">
              <a:alphaModFix/>
            </a:blip>
            <a:srcRect/>
            <a:stretch>
              <a:fillRect l="-32349" r="-33104" b="-194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8" name="CuadroTexto 7">
            <a:extLst>
              <a:ext uri="{FF2B5EF4-FFF2-40B4-BE49-F238E27FC236}">
                <a16:creationId xmlns:a16="http://schemas.microsoft.com/office/drawing/2014/main" id="{30897944-6833-3D57-E785-4BC8C6204FBB}"/>
              </a:ext>
            </a:extLst>
          </p:cNvPr>
          <p:cNvSpPr txBox="1"/>
          <p:nvPr/>
        </p:nvSpPr>
        <p:spPr>
          <a:xfrm>
            <a:off x="6874652" y="1172484"/>
            <a:ext cx="4620661" cy="830997"/>
          </a:xfrm>
          <a:prstGeom prst="rect">
            <a:avLst/>
          </a:prstGeom>
          <a:noFill/>
        </p:spPr>
        <p:txBody>
          <a:bodyPr wrap="square" rtlCol="0">
            <a:spAutoFit/>
          </a:bodyPr>
          <a:lstStyle/>
          <a:p>
            <a:pPr algn="ctr"/>
            <a:r>
              <a:rPr lang="es-MX" sz="1200" dirty="0">
                <a:solidFill>
                  <a:srgbClr val="FFFF00"/>
                </a:solidFill>
              </a:rPr>
              <a:t>La razón por la cual sacamos cuadrado de la igualdad es por el hecho de que los errores pueden ser pequeños y no lo podemos detectar en su forma simple. Por lo que el cuadrado revierte es </a:t>
            </a:r>
            <a:r>
              <a:rPr lang="es-MX" sz="1200" dirty="0" err="1">
                <a:solidFill>
                  <a:srgbClr val="FFFF00"/>
                </a:solidFill>
              </a:rPr>
              <a:t>situacion</a:t>
            </a:r>
            <a:endParaRPr lang="es-MX" sz="1200" dirty="0">
              <a:solidFill>
                <a:srgbClr val="FFFF00"/>
              </a:solidFill>
            </a:endParaRPr>
          </a:p>
        </p:txBody>
      </p:sp>
      <p:sp>
        <p:nvSpPr>
          <p:cNvPr id="9" name="CuadroTexto 8">
            <a:extLst>
              <a:ext uri="{FF2B5EF4-FFF2-40B4-BE49-F238E27FC236}">
                <a16:creationId xmlns:a16="http://schemas.microsoft.com/office/drawing/2014/main" id="{30897944-6833-3D57-E785-4BC8C6204FBB}"/>
              </a:ext>
            </a:extLst>
          </p:cNvPr>
          <p:cNvSpPr txBox="1"/>
          <p:nvPr/>
        </p:nvSpPr>
        <p:spPr>
          <a:xfrm>
            <a:off x="576532" y="1587982"/>
            <a:ext cx="2004980" cy="1015663"/>
          </a:xfrm>
          <a:prstGeom prst="rect">
            <a:avLst/>
          </a:prstGeom>
          <a:noFill/>
        </p:spPr>
        <p:txBody>
          <a:bodyPr wrap="square" rtlCol="0">
            <a:spAutoFit/>
          </a:bodyPr>
          <a:lstStyle/>
          <a:p>
            <a:pPr algn="ctr"/>
            <a:r>
              <a:rPr lang="es-MX" sz="1200" dirty="0">
                <a:solidFill>
                  <a:srgbClr val="FFFF00"/>
                </a:solidFill>
              </a:rPr>
              <a:t>Por eso el método tiene ese nombre, ya que vamos a minimizar este cuadrados por medio de estimaciones</a:t>
            </a:r>
          </a:p>
        </p:txBody>
      </p:sp>
      <p:sp>
        <p:nvSpPr>
          <p:cNvPr id="10" name="Google Shape;373;p51"/>
          <p:cNvSpPr txBox="1">
            <a:spLocks noGrp="1"/>
          </p:cNvSpPr>
          <p:nvPr>
            <p:ph type="body" idx="1"/>
          </p:nvPr>
        </p:nvSpPr>
        <p:spPr>
          <a:xfrm>
            <a:off x="293352" y="2782705"/>
            <a:ext cx="9009268" cy="677409"/>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760"/>
              <a:buNone/>
            </a:pPr>
            <a:r>
              <a:rPr lang="es-MX" sz="1800" dirty="0"/>
              <a:t>Al igual que en el método de máxima verosimilitud; derivamos por el termino de la derecha. Obteniendo derivadas parciales para parámetro:</a:t>
            </a:r>
            <a:endParaRPr sz="1800" dirty="0"/>
          </a:p>
        </p:txBody>
      </p:sp>
      <p:sp>
        <p:nvSpPr>
          <p:cNvPr id="11" name="Google Shape;408;p56"/>
          <p:cNvSpPr txBox="1">
            <a:spLocks/>
          </p:cNvSpPr>
          <p:nvPr/>
        </p:nvSpPr>
        <p:spPr>
          <a:xfrm>
            <a:off x="9346059" y="2382234"/>
            <a:ext cx="1474237" cy="1478349"/>
          </a:xfrm>
          <a:prstGeom prst="rect">
            <a:avLst/>
          </a:prstGeom>
          <a:blipFill rotWithShape="1">
            <a:blip r:embed="rId5">
              <a:alphaModFix/>
            </a:blip>
            <a:srcRect/>
            <a:stretch>
              <a:fillRect l="-264561" t="-22280" r="-246424" b="-31613"/>
            </a:stretch>
          </a:blip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spcBef>
                <a:spcPts val="0"/>
              </a:spcBef>
              <a:buSzPts val="1600"/>
              <a:buNone/>
            </a:pPr>
            <a:r>
              <a:rPr lang="es-MX" dirty="0"/>
              <a:t> </a:t>
            </a:r>
          </a:p>
        </p:txBody>
      </p:sp>
      <p:sp>
        <p:nvSpPr>
          <p:cNvPr id="13" name="Google Shape;373;p51"/>
          <p:cNvSpPr txBox="1">
            <a:spLocks/>
          </p:cNvSpPr>
          <p:nvPr/>
        </p:nvSpPr>
        <p:spPr>
          <a:xfrm>
            <a:off x="217304" y="3649253"/>
            <a:ext cx="4303378" cy="42266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gn="ctr">
              <a:spcBef>
                <a:spcPts val="0"/>
              </a:spcBef>
              <a:buSzPts val="1760"/>
              <a:buFont typeface="Noto Sans Symbols"/>
              <a:buNone/>
            </a:pPr>
            <a:r>
              <a:rPr lang="es-MX" sz="1800" dirty="0"/>
              <a:t>Igualamos a cero cada igualdad…</a:t>
            </a:r>
          </a:p>
        </p:txBody>
      </p:sp>
      <p:sp>
        <p:nvSpPr>
          <p:cNvPr id="14" name="Google Shape;409;p56"/>
          <p:cNvSpPr txBox="1"/>
          <p:nvPr/>
        </p:nvSpPr>
        <p:spPr>
          <a:xfrm>
            <a:off x="293352" y="4071913"/>
            <a:ext cx="3956180" cy="1772816"/>
          </a:xfrm>
          <a:prstGeom prst="rect">
            <a:avLst/>
          </a:prstGeom>
          <a:blipFill rotWithShape="1">
            <a:blip r:embed="rId6">
              <a:alphaModFix/>
            </a:blip>
            <a:srcRect/>
            <a:stretch>
              <a:fillRect l="-63052" t="-30792" r="-58808" b="-2721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15" name="Google Shape;373;p51"/>
          <p:cNvSpPr txBox="1">
            <a:spLocks/>
          </p:cNvSpPr>
          <p:nvPr/>
        </p:nvSpPr>
        <p:spPr>
          <a:xfrm>
            <a:off x="4520682" y="4113001"/>
            <a:ext cx="7080241" cy="42266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gn="ctr">
              <a:spcBef>
                <a:spcPts val="0"/>
              </a:spcBef>
              <a:buSzPts val="1760"/>
              <a:buFont typeface="Noto Sans Symbols"/>
              <a:buNone/>
            </a:pPr>
            <a:r>
              <a:rPr lang="es-MX" sz="1800" dirty="0"/>
              <a:t>Reorganizando cada igualdad; podemos establecer un sistema de ecuaciones de 2x2 a resolver:</a:t>
            </a:r>
          </a:p>
        </p:txBody>
      </p:sp>
      <p:sp>
        <p:nvSpPr>
          <p:cNvPr id="16" name="Google Shape;410;p56"/>
          <p:cNvSpPr txBox="1"/>
          <p:nvPr/>
        </p:nvSpPr>
        <p:spPr>
          <a:xfrm>
            <a:off x="5912985" y="4833897"/>
            <a:ext cx="4630994" cy="1649362"/>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03"/>
                                        </p:tgtEl>
                                        <p:attrNameLst>
                                          <p:attrName>style.visibility</p:attrName>
                                        </p:attrNameLst>
                                      </p:cBhvr>
                                      <p:to>
                                        <p:strVal val="visible"/>
                                      </p:to>
                                    </p:set>
                                    <p:anim calcmode="lin" valueType="num">
                                      <p:cBhvr additive="base">
                                        <p:cTn id="11" dur="500"/>
                                        <p:tgtEl>
                                          <p:spTgt spid="403"/>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7"/>
          <p:cNvSpPr txBox="1">
            <a:spLocks noGrp="1"/>
          </p:cNvSpPr>
          <p:nvPr>
            <p:ph type="title"/>
          </p:nvPr>
        </p:nvSpPr>
        <p:spPr>
          <a:xfrm>
            <a:off x="419878" y="844604"/>
            <a:ext cx="1455576" cy="3564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sz="2000" b="1" i="1" dirty="0">
                <a:solidFill>
                  <a:srgbClr val="FF0000"/>
                </a:solidFill>
              </a:rPr>
              <a:t>Solución:</a:t>
            </a:r>
            <a:br>
              <a:rPr lang="es-MX" sz="2000" b="1" i="1" dirty="0">
                <a:solidFill>
                  <a:srgbClr val="FF0000"/>
                </a:solidFill>
              </a:rPr>
            </a:br>
            <a:endParaRPr sz="2000" b="1" i="1" dirty="0">
              <a:solidFill>
                <a:srgbClr val="FF0000"/>
              </a:solidFill>
            </a:endParaRPr>
          </a:p>
        </p:txBody>
      </p:sp>
      <p:sp>
        <p:nvSpPr>
          <p:cNvPr id="417" name="Google Shape;417;p57"/>
          <p:cNvSpPr txBox="1">
            <a:spLocks noGrp="1"/>
          </p:cNvSpPr>
          <p:nvPr>
            <p:ph type="body" idx="1"/>
          </p:nvPr>
        </p:nvSpPr>
        <p:spPr>
          <a:xfrm>
            <a:off x="1942472" y="193334"/>
            <a:ext cx="2948474" cy="1659000"/>
          </a:xfrm>
          <a:prstGeom prst="rect">
            <a:avLst/>
          </a:prstGeom>
          <a:blipFill rotWithShape="1">
            <a:blip r:embed="rId3">
              <a:alphaModFix/>
            </a:blip>
            <a:srcRect/>
            <a:stretch>
              <a:fillRect l="-103164" r="-100266" b="-16014"/>
            </a:stretch>
          </a:blip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s-MX" dirty="0"/>
              <a:t>  </a:t>
            </a:r>
            <a:endParaRPr dirty="0"/>
          </a:p>
        </p:txBody>
      </p:sp>
      <p:sp>
        <p:nvSpPr>
          <p:cNvPr id="418" name="Google Shape;418;p57"/>
          <p:cNvSpPr txBox="1"/>
          <p:nvPr/>
        </p:nvSpPr>
        <p:spPr>
          <a:xfrm>
            <a:off x="6092890" y="1234164"/>
            <a:ext cx="5290458" cy="1581135"/>
          </a:xfrm>
          <a:prstGeom prst="rect">
            <a:avLst/>
          </a:prstGeom>
          <a:blipFill rotWithShape="1">
            <a:blip r:embed="rId4">
              <a:alphaModFix/>
            </a:blip>
            <a:srcRect/>
            <a:stretch>
              <a:fillRect l="-28690" t="-35172" r="-27862" b="-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420" name="Google Shape;420;p57"/>
          <p:cNvSpPr txBox="1"/>
          <p:nvPr/>
        </p:nvSpPr>
        <p:spPr>
          <a:xfrm>
            <a:off x="6775729" y="3587340"/>
            <a:ext cx="4460033" cy="882101"/>
          </a:xfrm>
          <a:prstGeom prst="rect">
            <a:avLst/>
          </a:prstGeom>
          <a:blipFill rotWithShape="1">
            <a:blip r:embed="rId5">
              <a:alphaModFix/>
            </a:blip>
            <a:srcRect/>
            <a:stretch>
              <a:fillRect l="-17891" r="-1879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MX" sz="1800">
                <a:latin typeface="Century Gothic"/>
                <a:ea typeface="Century Gothic"/>
                <a:cs typeface="Century Gothic"/>
                <a:sym typeface="Century Gothic"/>
              </a:rPr>
              <a:t> </a:t>
            </a:r>
            <a:endParaRPr/>
          </a:p>
        </p:txBody>
      </p:sp>
      <p:sp>
        <p:nvSpPr>
          <p:cNvPr id="7" name="Google Shape;373;p51"/>
          <p:cNvSpPr txBox="1">
            <a:spLocks/>
          </p:cNvSpPr>
          <p:nvPr/>
        </p:nvSpPr>
        <p:spPr>
          <a:xfrm>
            <a:off x="4724698" y="811504"/>
            <a:ext cx="7349115" cy="42266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gn="ctr">
              <a:spcBef>
                <a:spcPts val="0"/>
              </a:spcBef>
              <a:buSzPts val="1760"/>
              <a:buFont typeface="Noto Sans Symbols"/>
              <a:buNone/>
            </a:pPr>
            <a:r>
              <a:rPr lang="es-MX" sz="1800" dirty="0"/>
              <a:t>Simplificando algunos términos tenemos los términos siguientes:</a:t>
            </a:r>
          </a:p>
        </p:txBody>
      </p:sp>
      <mc:AlternateContent xmlns:mc="http://schemas.openxmlformats.org/markup-compatibility/2006" xmlns:a14="http://schemas.microsoft.com/office/drawing/2010/main">
        <mc:Choice Requires="a14">
          <p:sp>
            <p:nvSpPr>
              <p:cNvPr id="8" name="Google Shape;373;p51"/>
              <p:cNvSpPr txBox="1">
                <a:spLocks/>
              </p:cNvSpPr>
              <p:nvPr/>
            </p:nvSpPr>
            <p:spPr>
              <a:xfrm>
                <a:off x="6092890" y="2815299"/>
                <a:ext cx="5626359" cy="6371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gn="ctr">
                  <a:spcBef>
                    <a:spcPts val="0"/>
                  </a:spcBef>
                  <a:buSzPts val="1760"/>
                  <a:buFont typeface="Noto Sans Symbols"/>
                  <a:buNone/>
                </a:pPr>
                <a:r>
                  <a:rPr lang="es-MX" sz="1200" dirty="0">
                    <a:solidFill>
                      <a:srgbClr val="FFFF00"/>
                    </a:solidFill>
                  </a:rPr>
                  <a:t>Curiosamente se para mucho a las desviaciones estándar de la V.A. conjunta </a:t>
                </a:r>
                <a14:m>
                  <m:oMath xmlns:m="http://schemas.openxmlformats.org/officeDocument/2006/math">
                    <m:d>
                      <m:dPr>
                        <m:ctrlPr>
                          <a:rPr lang="es-MX" sz="1200" b="0" i="1" smtClean="0">
                            <a:solidFill>
                              <a:srgbClr val="FFFF00"/>
                            </a:solidFill>
                            <a:latin typeface="Cambria Math" panose="02040503050406030204" pitchFamily="18" charset="0"/>
                          </a:rPr>
                        </m:ctrlPr>
                      </m:dPr>
                      <m:e>
                        <m:r>
                          <a:rPr lang="es-MX" sz="1200" b="0" i="1" smtClean="0">
                            <a:solidFill>
                              <a:srgbClr val="FFFF00"/>
                            </a:solidFill>
                            <a:latin typeface="Cambria Math" panose="02040503050406030204" pitchFamily="18" charset="0"/>
                          </a:rPr>
                          <m:t>𝑋</m:t>
                        </m:r>
                        <m:r>
                          <a:rPr lang="es-MX" sz="1200" b="0" i="1" smtClean="0">
                            <a:solidFill>
                              <a:srgbClr val="FFFF00"/>
                            </a:solidFill>
                            <a:latin typeface="Cambria Math" panose="02040503050406030204" pitchFamily="18" charset="0"/>
                          </a:rPr>
                          <m:t>,</m:t>
                        </m:r>
                        <m:r>
                          <a:rPr lang="es-MX" sz="1200" b="0" i="1" smtClean="0">
                            <a:solidFill>
                              <a:srgbClr val="FFFF00"/>
                            </a:solidFill>
                            <a:latin typeface="Cambria Math" panose="02040503050406030204" pitchFamily="18" charset="0"/>
                          </a:rPr>
                          <m:t>𝑌</m:t>
                        </m:r>
                      </m:e>
                    </m:d>
                  </m:oMath>
                </a14:m>
                <a:r>
                  <a:rPr lang="es-MX" sz="1200" dirty="0">
                    <a:solidFill>
                      <a:srgbClr val="FFFF00"/>
                    </a:solidFill>
                  </a:rPr>
                  <a:t>. Pero serán las “estimaciones de los errores al cuadrado” de la V.A. (si es X es V.A. explicativa e Y es V.A. respuesta)</a:t>
                </a:r>
              </a:p>
            </p:txBody>
          </p:sp>
        </mc:Choice>
        <mc:Fallback xmlns="">
          <p:sp>
            <p:nvSpPr>
              <p:cNvPr id="8" name="Google Shape;373;p51"/>
              <p:cNvSpPr txBox="1">
                <a:spLocks noRot="1" noChangeAspect="1" noMove="1" noResize="1" noEditPoints="1" noAdjustHandles="1" noChangeArrowheads="1" noChangeShapeType="1" noTextEdit="1"/>
              </p:cNvSpPr>
              <p:nvPr/>
            </p:nvSpPr>
            <p:spPr>
              <a:xfrm>
                <a:off x="6092890" y="2815299"/>
                <a:ext cx="5626359" cy="637151"/>
              </a:xfrm>
              <a:prstGeom prst="rect">
                <a:avLst/>
              </a:prstGeom>
              <a:blipFill>
                <a:blip r:embed="rId6"/>
                <a:stretch>
                  <a:fillRect t="-962" b="-8654"/>
                </a:stretch>
              </a:blipFill>
              <a:ln>
                <a:noFill/>
              </a:ln>
            </p:spPr>
            <p:txBody>
              <a:bodyPr/>
              <a:lstStyle/>
              <a:p>
                <a:r>
                  <a:rPr lang="es-MX">
                    <a:noFill/>
                  </a:rPr>
                  <a:t> </a:t>
                </a:r>
              </a:p>
            </p:txBody>
          </p:sp>
        </mc:Fallback>
      </mc:AlternateContent>
      <p:sp>
        <p:nvSpPr>
          <p:cNvPr id="9" name="Google Shape;425;p58"/>
          <p:cNvSpPr txBox="1">
            <a:spLocks/>
          </p:cNvSpPr>
          <p:nvPr/>
        </p:nvSpPr>
        <p:spPr>
          <a:xfrm>
            <a:off x="310764" y="1805455"/>
            <a:ext cx="1882485" cy="4385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8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buSzPts val="4200"/>
            </a:pPr>
            <a:r>
              <a:rPr lang="es-MX" sz="2000" dirty="0"/>
              <a:t>Visualmente:</a:t>
            </a:r>
          </a:p>
        </p:txBody>
      </p:sp>
      <p:pic>
        <p:nvPicPr>
          <p:cNvPr id="2" name="Imagen 1"/>
          <p:cNvPicPr>
            <a:picLocks noChangeAspect="1"/>
          </p:cNvPicPr>
          <p:nvPr/>
        </p:nvPicPr>
        <p:blipFill>
          <a:blip r:embed="rId7"/>
          <a:stretch>
            <a:fillRect/>
          </a:stretch>
        </p:blipFill>
        <p:spPr>
          <a:xfrm>
            <a:off x="310763" y="2259332"/>
            <a:ext cx="5446225" cy="4343751"/>
          </a:xfrm>
          <a:prstGeom prst="rect">
            <a:avLst/>
          </a:prstGeom>
        </p:spPr>
      </p:pic>
      <mc:AlternateContent xmlns:mc="http://schemas.openxmlformats.org/markup-compatibility/2006" xmlns:a14="http://schemas.microsoft.com/office/drawing/2010/main">
        <mc:Choice Requires="a14">
          <p:sp>
            <p:nvSpPr>
              <p:cNvPr id="11" name="Google Shape;373;p51"/>
              <p:cNvSpPr txBox="1">
                <a:spLocks/>
              </p:cNvSpPr>
              <p:nvPr/>
            </p:nvSpPr>
            <p:spPr>
              <a:xfrm>
                <a:off x="3416709" y="4753667"/>
                <a:ext cx="497333" cy="4154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rgbClr val="86D1D8"/>
                  </a:buClr>
                  <a:buSzPts val="144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lnSpc>
                    <a:spcPct val="100000"/>
                  </a:lnSpc>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100000"/>
                  </a:lnSpc>
                  <a:spcBef>
                    <a:spcPts val="1000"/>
                  </a:spcBef>
                  <a:spcAft>
                    <a:spcPts val="0"/>
                  </a:spcAft>
                  <a:buClr>
                    <a:srgbClr val="86D1D8"/>
                  </a:buClr>
                  <a:buSzPts val="144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320039"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320040" algn="l" rtl="0">
                  <a:lnSpc>
                    <a:spcPct val="100000"/>
                  </a:lnSpc>
                  <a:spcBef>
                    <a:spcPts val="1000"/>
                  </a:spcBef>
                  <a:spcAft>
                    <a:spcPts val="0"/>
                  </a:spcAft>
                  <a:buClr>
                    <a:srgbClr val="86D1D8"/>
                  </a:buClr>
                  <a:buSzPts val="144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pPr marL="0" indent="0" algn="ctr">
                  <a:spcBef>
                    <a:spcPts val="0"/>
                  </a:spcBef>
                  <a:buSzPts val="1760"/>
                  <a:buFont typeface="Noto Sans Symbols"/>
                  <a:buNone/>
                </a:pPr>
                <a14:m>
                  <m:oMathPara xmlns:m="http://schemas.openxmlformats.org/officeDocument/2006/math">
                    <m:oMathParaPr>
                      <m:jc m:val="centerGroup"/>
                    </m:oMathParaPr>
                    <m:oMath xmlns:m="http://schemas.openxmlformats.org/officeDocument/2006/math">
                      <m:sSub>
                        <m:sSubPr>
                          <m:ctrlPr>
                            <a:rPr lang="es-MX" sz="1800" b="1" i="1" smtClean="0">
                              <a:solidFill>
                                <a:schemeClr val="tx1"/>
                              </a:solidFill>
                              <a:latin typeface="Cambria Math" panose="02040503050406030204" pitchFamily="18" charset="0"/>
                            </a:rPr>
                          </m:ctrlPr>
                        </m:sSubPr>
                        <m:e>
                          <m:r>
                            <a:rPr lang="es-MX" sz="1800" b="1" i="1" smtClean="0">
                              <a:solidFill>
                                <a:schemeClr val="tx1"/>
                              </a:solidFill>
                              <a:latin typeface="Cambria Math" panose="02040503050406030204" pitchFamily="18" charset="0"/>
                            </a:rPr>
                            <m:t>𝒚</m:t>
                          </m:r>
                        </m:e>
                        <m:sub>
                          <m:r>
                            <a:rPr lang="es-MX" sz="1800" b="1" i="1" smtClean="0">
                              <a:solidFill>
                                <a:schemeClr val="tx1"/>
                              </a:solidFill>
                              <a:latin typeface="Cambria Math" panose="02040503050406030204" pitchFamily="18" charset="0"/>
                            </a:rPr>
                            <m:t>𝒊</m:t>
                          </m:r>
                        </m:sub>
                      </m:sSub>
                    </m:oMath>
                  </m:oMathPara>
                </a14:m>
                <a:endParaRPr lang="es-MX" sz="1800" b="1" i="1" dirty="0">
                  <a:solidFill>
                    <a:schemeClr val="tx1"/>
                  </a:solidFill>
                </a:endParaRPr>
              </a:p>
            </p:txBody>
          </p:sp>
        </mc:Choice>
        <mc:Fallback xmlns="">
          <p:sp>
            <p:nvSpPr>
              <p:cNvPr id="11" name="Google Shape;373;p51"/>
              <p:cNvSpPr txBox="1">
                <a:spLocks noRot="1" noChangeAspect="1" noMove="1" noResize="1" noEditPoints="1" noAdjustHandles="1" noChangeArrowheads="1" noChangeShapeType="1" noTextEdit="1"/>
              </p:cNvSpPr>
              <p:nvPr/>
            </p:nvSpPr>
            <p:spPr>
              <a:xfrm>
                <a:off x="3416709" y="4753667"/>
                <a:ext cx="497333" cy="415493"/>
              </a:xfrm>
              <a:prstGeom prst="rect">
                <a:avLst/>
              </a:prstGeom>
              <a:blipFill>
                <a:blip r:embed="rId8"/>
                <a:stretch>
                  <a:fillRect/>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Rectángulo 2"/>
              <p:cNvSpPr/>
              <p:nvPr/>
            </p:nvSpPr>
            <p:spPr>
              <a:xfrm>
                <a:off x="2586380" y="3913912"/>
                <a:ext cx="4474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MX" sz="1800" b="1" i="1" smtClean="0">
                              <a:latin typeface="Cambria Math" panose="02040503050406030204" pitchFamily="18" charset="0"/>
                            </a:rPr>
                          </m:ctrlPr>
                        </m:sSubPr>
                        <m:e>
                          <m:r>
                            <a:rPr lang="es-MX" sz="1800" b="1" i="1" smtClean="0">
                              <a:latin typeface="Cambria Math" panose="02040503050406030204" pitchFamily="18" charset="0"/>
                            </a:rPr>
                            <m:t>𝒆</m:t>
                          </m:r>
                        </m:e>
                        <m:sub>
                          <m:r>
                            <a:rPr lang="es-MX" sz="1800" b="1" i="1">
                              <a:latin typeface="Cambria Math" panose="02040503050406030204" pitchFamily="18" charset="0"/>
                            </a:rPr>
                            <m:t>𝒊</m:t>
                          </m:r>
                        </m:sub>
                      </m:sSub>
                    </m:oMath>
                  </m:oMathPara>
                </a14:m>
                <a:endParaRPr lang="es-MX" sz="1800" b="1" dirty="0"/>
              </a:p>
            </p:txBody>
          </p:sp>
        </mc:Choice>
        <mc:Fallback xmlns="">
          <p:sp>
            <p:nvSpPr>
              <p:cNvPr id="3" name="Rectángulo 2"/>
              <p:cNvSpPr>
                <a:spLocks noRot="1" noChangeAspect="1" noMove="1" noResize="1" noEditPoints="1" noAdjustHandles="1" noChangeArrowheads="1" noChangeShapeType="1" noTextEdit="1"/>
              </p:cNvSpPr>
              <p:nvPr/>
            </p:nvSpPr>
            <p:spPr>
              <a:xfrm>
                <a:off x="2586380" y="3913912"/>
                <a:ext cx="447495" cy="369332"/>
              </a:xfrm>
              <a:prstGeom prst="rect">
                <a:avLst/>
              </a:prstGeom>
              <a:blipFill>
                <a:blip r:embed="rId9"/>
                <a:stretch>
                  <a:fillRect b="-163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1573763" y="4905288"/>
                <a:ext cx="1582293" cy="403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MX" sz="1800" b="1" i="1" smtClean="0">
                          <a:latin typeface="Cambria Math" panose="02040503050406030204" pitchFamily="18" charset="0"/>
                        </a:rPr>
                        <m:t> </m:t>
                      </m:r>
                      <m:acc>
                        <m:accPr>
                          <m:chr m:val="̂"/>
                          <m:ctrlPr>
                            <a:rPr lang="es-MX" sz="1800" b="1" i="1" smtClean="0">
                              <a:latin typeface="Cambria Math" panose="02040503050406030204" pitchFamily="18" charset="0"/>
                            </a:rPr>
                          </m:ctrlPr>
                        </m:accPr>
                        <m:e>
                          <m:sSub>
                            <m:sSubPr>
                              <m:ctrlPr>
                                <a:rPr lang="es-MX" sz="1800" b="1" i="1" smtClean="0">
                                  <a:latin typeface="Cambria Math" panose="02040503050406030204" pitchFamily="18" charset="0"/>
                                </a:rPr>
                              </m:ctrlPr>
                            </m:sSubPr>
                            <m:e>
                              <m:r>
                                <a:rPr lang="es-MX" sz="1800" b="1" i="1" smtClean="0">
                                  <a:latin typeface="Cambria Math" panose="02040503050406030204" pitchFamily="18" charset="0"/>
                                </a:rPr>
                                <m:t>𝜷</m:t>
                              </m:r>
                            </m:e>
                            <m:sub>
                              <m:r>
                                <a:rPr lang="es-MX" sz="1800" b="1" i="1" smtClean="0">
                                  <a:latin typeface="Cambria Math" panose="02040503050406030204" pitchFamily="18" charset="0"/>
                                </a:rPr>
                                <m:t>𝟎</m:t>
                              </m:r>
                            </m:sub>
                          </m:sSub>
                        </m:e>
                      </m:acc>
                      <m:r>
                        <a:rPr lang="es-MX" sz="1800" b="1" i="1" smtClean="0">
                          <a:latin typeface="Cambria Math" panose="02040503050406030204" pitchFamily="18" charset="0"/>
                        </a:rPr>
                        <m:t>+</m:t>
                      </m:r>
                      <m:sSub>
                        <m:sSubPr>
                          <m:ctrlPr>
                            <a:rPr lang="es-MX" sz="1800" b="1" i="1" smtClean="0">
                              <a:latin typeface="Cambria Math" panose="02040503050406030204" pitchFamily="18" charset="0"/>
                            </a:rPr>
                          </m:ctrlPr>
                        </m:sSubPr>
                        <m:e>
                          <m:r>
                            <a:rPr lang="es-MX" sz="1800" b="1" i="1" smtClean="0">
                              <a:latin typeface="Cambria Math" panose="02040503050406030204" pitchFamily="18" charset="0"/>
                            </a:rPr>
                            <m:t>𝒙</m:t>
                          </m:r>
                        </m:e>
                        <m:sub>
                          <m:r>
                            <a:rPr lang="es-MX" sz="1800" b="1" i="1" smtClean="0">
                              <a:latin typeface="Cambria Math" panose="02040503050406030204" pitchFamily="18" charset="0"/>
                            </a:rPr>
                            <m:t>𝒊</m:t>
                          </m:r>
                        </m:sub>
                      </m:sSub>
                      <m:r>
                        <a:rPr lang="es-MX" sz="1800" b="1" i="1" smtClean="0">
                          <a:latin typeface="Cambria Math" panose="02040503050406030204" pitchFamily="18" charset="0"/>
                        </a:rPr>
                        <m:t>∗</m:t>
                      </m:r>
                      <m:acc>
                        <m:accPr>
                          <m:chr m:val="̂"/>
                          <m:ctrlPr>
                            <a:rPr lang="es-MX" sz="1800" b="1" i="1" smtClean="0">
                              <a:latin typeface="Cambria Math" panose="02040503050406030204" pitchFamily="18" charset="0"/>
                            </a:rPr>
                          </m:ctrlPr>
                        </m:accPr>
                        <m:e>
                          <m:sSub>
                            <m:sSubPr>
                              <m:ctrlPr>
                                <a:rPr lang="es-MX" sz="1800" b="1" i="1" smtClean="0">
                                  <a:latin typeface="Cambria Math" panose="02040503050406030204" pitchFamily="18" charset="0"/>
                                </a:rPr>
                              </m:ctrlPr>
                            </m:sSubPr>
                            <m:e>
                              <m:r>
                                <a:rPr lang="es-MX" sz="1800" b="1" i="1" smtClean="0">
                                  <a:latin typeface="Cambria Math" panose="02040503050406030204" pitchFamily="18" charset="0"/>
                                </a:rPr>
                                <m:t>𝜷</m:t>
                              </m:r>
                            </m:e>
                            <m:sub>
                              <m:r>
                                <a:rPr lang="es-MX" sz="1800" b="1" i="1" smtClean="0">
                                  <a:latin typeface="Cambria Math" panose="02040503050406030204" pitchFamily="18" charset="0"/>
                                </a:rPr>
                                <m:t>𝟏</m:t>
                              </m:r>
                            </m:sub>
                          </m:sSub>
                        </m:e>
                      </m:acc>
                    </m:oMath>
                  </m:oMathPara>
                </a14:m>
                <a:endParaRPr lang="es-MX" sz="1800" b="1" dirty="0"/>
              </a:p>
            </p:txBody>
          </p:sp>
        </mc:Choice>
        <mc:Fallback xmlns="">
          <p:sp>
            <p:nvSpPr>
              <p:cNvPr id="13" name="Rectángulo 12"/>
              <p:cNvSpPr>
                <a:spLocks noRot="1" noChangeAspect="1" noMove="1" noResize="1" noEditPoints="1" noAdjustHandles="1" noChangeArrowheads="1" noChangeShapeType="1" noTextEdit="1"/>
              </p:cNvSpPr>
              <p:nvPr/>
            </p:nvSpPr>
            <p:spPr>
              <a:xfrm>
                <a:off x="1573763" y="4905288"/>
                <a:ext cx="1582293" cy="403124"/>
              </a:xfrm>
              <a:prstGeom prst="rect">
                <a:avLst/>
              </a:prstGeom>
              <a:blipFill>
                <a:blip r:embed="rId10"/>
                <a:stretch>
                  <a:fillRect t="-1515" r="-34231" b="-2272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4578621" y="2936769"/>
                <a:ext cx="803810" cy="3942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MX" sz="1800" b="1" i="1" smtClean="0">
                              <a:latin typeface="Cambria Math" panose="02040503050406030204" pitchFamily="18" charset="0"/>
                            </a:rPr>
                          </m:ctrlPr>
                        </m:sSubPr>
                        <m:e>
                          <m:r>
                            <a:rPr lang="es-MX" sz="1800" b="1" i="1" smtClean="0">
                              <a:latin typeface="Cambria Math" panose="02040503050406030204" pitchFamily="18" charset="0"/>
                            </a:rPr>
                            <m:t>𝝁</m:t>
                          </m:r>
                        </m:e>
                        <m:sub>
                          <m:d>
                            <m:dPr>
                              <m:ctrlPr>
                                <a:rPr lang="es-MX" sz="1800" b="1" i="1" smtClean="0">
                                  <a:latin typeface="Cambria Math" panose="02040503050406030204" pitchFamily="18" charset="0"/>
                                </a:rPr>
                              </m:ctrlPr>
                            </m:dPr>
                            <m:e>
                              <m:r>
                                <a:rPr lang="es-MX" sz="1800" b="1" i="1" smtClean="0">
                                  <a:latin typeface="Cambria Math" panose="02040503050406030204" pitchFamily="18" charset="0"/>
                                </a:rPr>
                                <m:t>𝒀</m:t>
                              </m:r>
                              <m:r>
                                <a:rPr lang="es-MX" sz="1800" b="1" i="1" smtClean="0">
                                  <a:latin typeface="Cambria Math" panose="02040503050406030204" pitchFamily="18" charset="0"/>
                                </a:rPr>
                                <m:t>|</m:t>
                              </m:r>
                              <m:r>
                                <a:rPr lang="es-MX" sz="1800" b="1" i="1" smtClean="0">
                                  <a:latin typeface="Cambria Math" panose="02040503050406030204" pitchFamily="18" charset="0"/>
                                </a:rPr>
                                <m:t>𝒙</m:t>
                              </m:r>
                            </m:e>
                          </m:d>
                        </m:sub>
                      </m:sSub>
                    </m:oMath>
                  </m:oMathPara>
                </a14:m>
                <a:endParaRPr lang="es-MX" sz="1800" b="1" dirty="0"/>
              </a:p>
            </p:txBody>
          </p:sp>
        </mc:Choice>
        <mc:Fallback xmlns="">
          <p:sp>
            <p:nvSpPr>
              <p:cNvPr id="14" name="Rectángulo 13"/>
              <p:cNvSpPr>
                <a:spLocks noRot="1" noChangeAspect="1" noMove="1" noResize="1" noEditPoints="1" noAdjustHandles="1" noChangeArrowheads="1" noChangeShapeType="1" noTextEdit="1"/>
              </p:cNvSpPr>
              <p:nvPr/>
            </p:nvSpPr>
            <p:spPr>
              <a:xfrm>
                <a:off x="4578621" y="2936769"/>
                <a:ext cx="803810" cy="394210"/>
              </a:xfrm>
              <a:prstGeom prst="rect">
                <a:avLst/>
              </a:prstGeom>
              <a:blipFill>
                <a:blip r:embed="rId11"/>
                <a:stretch>
                  <a:fillRect b="-10938"/>
                </a:stretch>
              </a:blipFill>
            </p:spPr>
            <p:txBody>
              <a:bodyPr/>
              <a:lstStyle/>
              <a:p>
                <a:r>
                  <a:rPr lang="es-MX">
                    <a:noFill/>
                  </a:rPr>
                  <a:t> </a:t>
                </a:r>
              </a:p>
            </p:txBody>
          </p:sp>
        </mc:Fallback>
      </mc:AlternateContent>
      <p:sp>
        <p:nvSpPr>
          <p:cNvPr id="15" name="Google Shape;425;p58"/>
          <p:cNvSpPr txBox="1">
            <a:spLocks/>
          </p:cNvSpPr>
          <p:nvPr/>
        </p:nvSpPr>
        <p:spPr>
          <a:xfrm>
            <a:off x="5924938" y="4785538"/>
            <a:ext cx="5962261" cy="10457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8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lgn="ctr">
              <a:buSzPts val="4200"/>
            </a:pPr>
            <a:r>
              <a:rPr lang="es-MX" sz="1800" dirty="0"/>
              <a:t>Como puede verse el error se minimizara por medio de este método y con ello es necesario que se cumpla con los criterio que habíamos visto…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a:t>Validación y error</a:t>
            </a:r>
            <a:endParaRPr/>
          </a:p>
        </p:txBody>
      </p:sp>
      <p:sp>
        <p:nvSpPr>
          <p:cNvPr id="437" name="Google Shape;437;p59"/>
          <p:cNvSpPr txBox="1">
            <a:spLocks noGrp="1"/>
          </p:cNvSpPr>
          <p:nvPr>
            <p:ph type="body" idx="1"/>
          </p:nvPr>
        </p:nvSpPr>
        <p:spPr>
          <a:xfrm>
            <a:off x="816077" y="2052918"/>
            <a:ext cx="10540181" cy="4195481"/>
          </a:xfrm>
          <a:prstGeom prst="rect">
            <a:avLst/>
          </a:prstGeom>
          <a:blipFill rotWithShape="1">
            <a:blip r:embed="rId3">
              <a:alphaModFix/>
            </a:blip>
            <a:stretch>
              <a:fillRect l="-403" t="-1016" r="-751"/>
            </a:stretch>
          </a:blip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s-MX"/>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60"/>
          <p:cNvSpPr txBox="1">
            <a:spLocks noGrp="1"/>
          </p:cNvSpPr>
          <p:nvPr>
            <p:ph type="title"/>
          </p:nvPr>
        </p:nvSpPr>
        <p:spPr>
          <a:xfrm>
            <a:off x="646111" y="187249"/>
            <a:ext cx="9404723" cy="91396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s-MX"/>
              <a:t>PRONóSTICO (modelo)</a:t>
            </a:r>
            <a:br>
              <a:rPr lang="es-MX"/>
            </a:br>
            <a:endParaRPr/>
          </a:p>
        </p:txBody>
      </p:sp>
      <p:sp>
        <p:nvSpPr>
          <p:cNvPr id="443" name="Google Shape;443;p60"/>
          <p:cNvSpPr txBox="1">
            <a:spLocks noGrp="1"/>
          </p:cNvSpPr>
          <p:nvPr>
            <p:ph type="body" idx="1"/>
          </p:nvPr>
        </p:nvSpPr>
        <p:spPr>
          <a:xfrm>
            <a:off x="412956" y="1170039"/>
            <a:ext cx="11366090" cy="5427405"/>
          </a:xfrm>
          <a:prstGeom prst="rect">
            <a:avLst/>
          </a:prstGeom>
          <a:blipFill rotWithShape="1">
            <a:blip r:embed="rId3">
              <a:alphaModFix/>
            </a:blip>
            <a:stretch>
              <a:fillRect l="-267" t="-447" r="-535"/>
            </a:stretch>
          </a:blip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s-MX"/>
              <a:t> </a:t>
            </a:r>
            <a:endParaRPr/>
          </a:p>
        </p:txBody>
      </p:sp>
    </p:spTree>
  </p:cSld>
  <p:clrMapOvr>
    <a:masterClrMapping/>
  </p:clrMapOvr>
</p:sld>
</file>

<file path=ppt/theme/theme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3207</TotalTime>
  <Words>3332</Words>
  <Application>Microsoft Office PowerPoint</Application>
  <PresentationFormat>Panorámica</PresentationFormat>
  <Paragraphs>289</Paragraphs>
  <Slides>37</Slides>
  <Notes>24</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37</vt:i4>
      </vt:variant>
    </vt:vector>
  </HeadingPairs>
  <TitlesOfParts>
    <vt:vector size="45" baseType="lpstr">
      <vt:lpstr>Noto Sans Symbols</vt:lpstr>
      <vt:lpstr>Cambria Math</vt:lpstr>
      <vt:lpstr>Wingdings</vt:lpstr>
      <vt:lpstr>Arial</vt:lpstr>
      <vt:lpstr>Century Gothic</vt:lpstr>
      <vt:lpstr>Courier New</vt:lpstr>
      <vt:lpstr>Ion</vt:lpstr>
      <vt:lpstr>Ion</vt:lpstr>
      <vt:lpstr>Tema 1: Análisis de regresión</vt:lpstr>
      <vt:lpstr>Temas vistos en el modulo anterior….</vt:lpstr>
      <vt:lpstr>Presentación de PowerPoint</vt:lpstr>
      <vt:lpstr>Ejemplo de una Muestra Aleatoria</vt:lpstr>
      <vt:lpstr>Prueba de Hipotesis</vt:lpstr>
      <vt:lpstr>Presentación de PowerPoint</vt:lpstr>
      <vt:lpstr>Presentación de PowerPoint</vt:lpstr>
      <vt:lpstr>Presentación de PowerPoint</vt:lpstr>
      <vt:lpstr>Presentación de PowerPoint</vt:lpstr>
      <vt:lpstr>Presentación de PowerPoint</vt:lpstr>
      <vt:lpstr>Correlación</vt:lpstr>
      <vt:lpstr>Coeficiente de correlación (muestral)</vt:lpstr>
      <vt:lpstr>Presentación de PowerPoint</vt:lpstr>
      <vt:lpstr>Algunos de los modelos de correlación más comunes incluyen: </vt:lpstr>
      <vt:lpstr>Correlación (resumen)</vt:lpstr>
      <vt:lpstr>Datos Atipicos</vt:lpstr>
      <vt:lpstr>Presentación de PowerPoint</vt:lpstr>
      <vt:lpstr>Presentación de PowerPoint</vt:lpstr>
      <vt:lpstr>Presentación de PowerPoint</vt:lpstr>
      <vt:lpstr>Visualización de datos bivariados</vt:lpstr>
      <vt:lpstr>Presentación de PowerPoint</vt:lpstr>
      <vt:lpstr>Datos Influyentes</vt:lpstr>
      <vt:lpstr>Presentación de PowerPoint</vt:lpstr>
      <vt:lpstr>Regresión bivariada</vt:lpstr>
      <vt:lpstr>Presentación de PowerPoint</vt:lpstr>
      <vt:lpstr>Modelo</vt:lpstr>
      <vt:lpstr>Modelo de Regresión simple y requerimientos regresión</vt:lpstr>
      <vt:lpstr>Requerimientos para la implementación paramétrica </vt:lpstr>
      <vt:lpstr>Concepto de Estimación </vt:lpstr>
      <vt:lpstr>Método de Máxima Verosimílitud (M.M.V.)</vt:lpstr>
      <vt:lpstr>Procedimiento:</vt:lpstr>
      <vt:lpstr>Mínimos Cuadrados Ordinales (M.C.O.) </vt:lpstr>
      <vt:lpstr>Demostración:</vt:lpstr>
      <vt:lpstr>Presentación de PowerPoint</vt:lpstr>
      <vt:lpstr>Solución: </vt:lpstr>
      <vt:lpstr>Validación y error</vt:lpstr>
      <vt:lpstr>PRONóSTICO (modelo)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Temas vistos en el modulo anterior….</dc:title>
  <cp:lastModifiedBy>DAVID MENDIETA LOPEZ</cp:lastModifiedBy>
  <cp:revision>20</cp:revision>
  <dcterms:modified xsi:type="dcterms:W3CDTF">2025-05-20T03:06:38Z</dcterms:modified>
</cp:coreProperties>
</file>